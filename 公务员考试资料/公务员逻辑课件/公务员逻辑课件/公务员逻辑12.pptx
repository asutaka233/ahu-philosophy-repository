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0"/>
  </p:handoutMasterIdLst>
  <p:sldIdLst>
    <p:sldId id="256" r:id="rId3"/>
    <p:sldId id="257" r:id="rId5"/>
    <p:sldId id="271" r:id="rId6"/>
    <p:sldId id="272"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8" d="100"/>
          <a:sy n="78" d="100"/>
        </p:scale>
        <p:origin x="654" y="54"/>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en-US" b="1"/>
              <a:t>公务员考试中的逻辑学</a:t>
            </a:r>
            <a:endParaRPr lang="zh-CN" altLang="en-US" b="1"/>
          </a:p>
        </p:txBody>
      </p:sp>
      <p:sp>
        <p:nvSpPr>
          <p:cNvPr id="3" name="副标题 2"/>
          <p:cNvSpPr>
            <a:spLocks noGrp="1"/>
          </p:cNvSpPr>
          <p:nvPr>
            <p:ph type="subTitle" idx="1"/>
            <p:custDataLst>
              <p:tags r:id="rId2"/>
            </p:custDataLst>
          </p:nvPr>
        </p:nvSpPr>
        <p:spPr>
          <a:xfrm>
            <a:off x="669882" y="4159250"/>
            <a:ext cx="10852237" cy="950984"/>
          </a:xfrm>
        </p:spPr>
        <p:txBody>
          <a:bodyPr/>
          <a:lstStyle/>
          <a:p>
            <a:r>
              <a:rPr lang="zh-CN" altLang="en-US" sz="4000" b="1"/>
              <a:t>第二讲</a:t>
            </a:r>
            <a:endParaRPr lang="zh-CN" altLang="en-US" sz="4000" b="1"/>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真题</a:t>
            </a:r>
            <a:r>
              <a:rPr lang="en-US" altLang="zh-CN"/>
              <a:t>5</a:t>
            </a:r>
            <a:r>
              <a:t>：定义判断</a:t>
            </a:r>
          </a:p>
        </p:txBody>
      </p:sp>
      <p:sp>
        <p:nvSpPr>
          <p:cNvPr id="3" name="内容占位符 2"/>
          <p:cNvSpPr>
            <a:spLocks noGrp="1"/>
          </p:cNvSpPr>
          <p:nvPr>
            <p:ph idx="1"/>
          </p:nvPr>
        </p:nvSpPr>
        <p:spPr>
          <a:xfrm>
            <a:off x="669925" y="1296035"/>
            <a:ext cx="10980420" cy="5041265"/>
          </a:xfrm>
        </p:spPr>
        <p:txBody>
          <a:bodyPr/>
          <a:p>
            <a:pPr marL="0" indent="0">
              <a:lnSpc>
                <a:spcPct val="135000"/>
              </a:lnSpc>
              <a:spcAft>
                <a:spcPts val="1200"/>
              </a:spcAft>
              <a:buNone/>
            </a:pPr>
            <a:r>
              <a:rPr sz="2400" b="1">
                <a:sym typeface="+mn-ea"/>
              </a:rPr>
              <a:t>行政授权是指法律、法规将行政职权及行政职责的一部分或全部授给非行政机关的社会组织来行使的法律行为。</a:t>
            </a:r>
            <a:endParaRPr lang="zh-CN" altLang="en-US" sz="2400" b="1" dirty="0"/>
          </a:p>
          <a:p>
            <a:pPr marL="0" indent="0">
              <a:lnSpc>
                <a:spcPct val="135000"/>
              </a:lnSpc>
              <a:spcAft>
                <a:spcPts val="1200"/>
              </a:spcAft>
              <a:buNone/>
            </a:pPr>
            <a:r>
              <a:rPr sz="2400" b="1">
                <a:sym typeface="+mn-ea"/>
              </a:rPr>
              <a:t> 根据以上定义</a:t>
            </a:r>
            <a:r>
              <a:rPr lang="en-US" altLang="zh-CN" sz="2400" b="1">
                <a:sym typeface="+mn-ea"/>
              </a:rPr>
              <a:t>,</a:t>
            </a:r>
            <a:r>
              <a:rPr sz="2400" b="1">
                <a:sym typeface="+mn-ea"/>
              </a:rPr>
              <a:t>下列属于行政授权的是</a:t>
            </a:r>
            <a:r>
              <a:rPr lang="en-US" altLang="zh-CN" sz="2400" b="1">
                <a:sym typeface="+mn-ea"/>
              </a:rPr>
              <a:t>【    】     </a:t>
            </a:r>
            <a:endParaRPr lang="en-US" altLang="zh-CN" sz="2400" b="1"/>
          </a:p>
          <a:p>
            <a:pPr marL="0" indent="0">
              <a:lnSpc>
                <a:spcPct val="135000"/>
              </a:lnSpc>
              <a:spcAft>
                <a:spcPts val="1200"/>
              </a:spcAft>
              <a:buNone/>
            </a:pPr>
            <a:r>
              <a:rPr lang="en-US" altLang="zh-CN" sz="2400" b="1">
                <a:sym typeface="+mn-ea"/>
              </a:rPr>
              <a:t>A</a:t>
            </a:r>
            <a:r>
              <a:rPr sz="2400" b="1">
                <a:solidFill>
                  <a:schemeClr val="tx1"/>
                </a:solidFill>
                <a:sym typeface="+mn-ea"/>
              </a:rPr>
              <a:t>．</a:t>
            </a:r>
            <a:r>
              <a:rPr sz="2400" b="1">
                <a:sym typeface="+mn-ea"/>
              </a:rPr>
              <a:t>某县政府文件规定</a:t>
            </a:r>
            <a:r>
              <a:rPr lang="en-US" altLang="zh-CN" sz="2400" b="1">
                <a:sym typeface="+mn-ea"/>
              </a:rPr>
              <a:t>,</a:t>
            </a:r>
            <a:r>
              <a:rPr sz="2400" b="1">
                <a:sym typeface="+mn-ea"/>
              </a:rPr>
              <a:t>县自来水公司行使节约用水、计划用水的行政执法权</a:t>
            </a:r>
            <a:endParaRPr lang="zh-CN" altLang="en-US" sz="2400" b="1" dirty="0"/>
          </a:p>
          <a:p>
            <a:pPr marL="0" indent="0">
              <a:lnSpc>
                <a:spcPct val="135000"/>
              </a:lnSpc>
              <a:spcAft>
                <a:spcPts val="1200"/>
              </a:spcAft>
              <a:buNone/>
            </a:pPr>
            <a:r>
              <a:rPr lang="en-US" altLang="zh-CN" sz="2400" b="1">
                <a:sym typeface="+mn-ea"/>
              </a:rPr>
              <a:t>B</a:t>
            </a:r>
            <a:r>
              <a:rPr sz="2400" b="1">
                <a:sym typeface="+mn-ea"/>
              </a:rPr>
              <a:t>．宪法规定国务院行使省、自治区、直辖市范围内部分地区的戒严权</a:t>
            </a:r>
            <a:endParaRPr lang="zh-CN" altLang="en-US" sz="2400" b="1" dirty="0"/>
          </a:p>
          <a:p>
            <a:pPr marL="0" indent="0">
              <a:lnSpc>
                <a:spcPct val="135000"/>
              </a:lnSpc>
              <a:spcAft>
                <a:spcPts val="1200"/>
              </a:spcAft>
              <a:buNone/>
            </a:pPr>
            <a:r>
              <a:rPr lang="en-US" altLang="zh-CN" sz="2400" b="1">
                <a:sym typeface="+mn-ea"/>
              </a:rPr>
              <a:t>C.《</a:t>
            </a:r>
            <a:r>
              <a:rPr sz="2400" b="1">
                <a:sym typeface="+mn-ea"/>
              </a:rPr>
              <a:t>植物检疫条例</a:t>
            </a:r>
            <a:r>
              <a:rPr lang="en-US" altLang="zh-CN" sz="2400" b="1">
                <a:sym typeface="+mn-ea"/>
              </a:rPr>
              <a:t>》</a:t>
            </a:r>
            <a:r>
              <a:rPr sz="2400" b="1">
                <a:sym typeface="+mn-ea"/>
              </a:rPr>
              <a:t>规定</a:t>
            </a:r>
            <a:r>
              <a:rPr lang="en-US" altLang="zh-CN" sz="2400" b="1">
                <a:sym typeface="+mn-ea"/>
              </a:rPr>
              <a:t>,</a:t>
            </a:r>
            <a:r>
              <a:rPr sz="2400" b="1">
                <a:sym typeface="+mn-ea"/>
              </a:rPr>
              <a:t>县级以上地方各级农业部门所属的植物检疫机构</a:t>
            </a:r>
            <a:endParaRPr sz="2400" b="1">
              <a:sym typeface="+mn-ea"/>
            </a:endParaRPr>
          </a:p>
          <a:p>
            <a:pPr marL="0" indent="0">
              <a:lnSpc>
                <a:spcPct val="135000"/>
              </a:lnSpc>
              <a:spcAft>
                <a:spcPts val="1200"/>
              </a:spcAft>
              <a:buNone/>
            </a:pPr>
            <a:r>
              <a:rPr sz="2400" b="1">
                <a:sym typeface="+mn-ea"/>
              </a:rPr>
              <a:t>    负责行使植物检疫权</a:t>
            </a:r>
            <a:endParaRPr lang="zh-CN" altLang="en-US" sz="2400" b="1" dirty="0"/>
          </a:p>
          <a:p>
            <a:pPr marL="0" indent="0">
              <a:lnSpc>
                <a:spcPct val="135000"/>
              </a:lnSpc>
              <a:spcAft>
                <a:spcPts val="1200"/>
              </a:spcAft>
              <a:buNone/>
            </a:pPr>
            <a:r>
              <a:rPr lang="en-US" altLang="zh-CN" sz="2400" b="1">
                <a:sym typeface="+mn-ea"/>
              </a:rPr>
              <a:t>D</a:t>
            </a:r>
            <a:r>
              <a:rPr sz="2400" b="1">
                <a:sym typeface="+mn-ea"/>
              </a:rPr>
              <a:t>．县环保局局长要求一副局长代行其外出期间的局长职务</a:t>
            </a:r>
            <a:endParaRPr lang="zh-CN" altLang="en-US" sz="2400" b="1" dirty="0"/>
          </a:p>
          <a:p>
            <a:endParaRPr lang="zh-CN" altLang="en-US" sz="240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209115"/>
            <a:ext cx="10852237" cy="648000"/>
          </a:xfrm>
        </p:spPr>
        <p:txBody>
          <a:bodyPr/>
          <a:p>
            <a:r>
              <a:rPr lang="zh-CN" altLang="en-US"/>
              <a:t>真题</a:t>
            </a:r>
            <a:r>
              <a:rPr lang="en-US" altLang="zh-CN"/>
              <a:t>5</a:t>
            </a:r>
            <a:r>
              <a:t>精讲</a:t>
            </a:r>
          </a:p>
        </p:txBody>
      </p:sp>
      <p:sp>
        <p:nvSpPr>
          <p:cNvPr id="3" name="内容占位符 2"/>
          <p:cNvSpPr>
            <a:spLocks noGrp="1"/>
          </p:cNvSpPr>
          <p:nvPr>
            <p:ph idx="1"/>
          </p:nvPr>
        </p:nvSpPr>
        <p:spPr>
          <a:xfrm>
            <a:off x="669925" y="944245"/>
            <a:ext cx="10980420" cy="5393055"/>
          </a:xfrm>
        </p:spPr>
        <p:txBody>
          <a:bodyPr/>
          <a:p>
            <a:pPr marL="0" indent="0">
              <a:lnSpc>
                <a:spcPct val="125000"/>
              </a:lnSpc>
              <a:spcAft>
                <a:spcPts val="800"/>
              </a:spcAft>
              <a:buNone/>
            </a:pPr>
            <a:r>
              <a:rPr sz="2400" b="1">
                <a:sym typeface="+mn-ea"/>
              </a:rPr>
              <a:t>行政授权是指法律、法规</a:t>
            </a:r>
            <a:r>
              <a:rPr sz="2400" b="1">
                <a:solidFill>
                  <a:srgbClr val="FF0000"/>
                </a:solidFill>
                <a:sym typeface="+mn-ea"/>
              </a:rPr>
              <a:t>将行政职权</a:t>
            </a:r>
            <a:r>
              <a:rPr sz="2400" b="1">
                <a:sym typeface="+mn-ea"/>
              </a:rPr>
              <a:t>及行政职责的一部分或全部</a:t>
            </a:r>
            <a:r>
              <a:rPr sz="2400" b="1">
                <a:solidFill>
                  <a:srgbClr val="FF0000"/>
                </a:solidFill>
                <a:sym typeface="+mn-ea"/>
              </a:rPr>
              <a:t>授给</a:t>
            </a:r>
            <a:r>
              <a:rPr sz="2400" b="1">
                <a:solidFill>
                  <a:srgbClr val="FF0000"/>
                </a:solidFill>
                <a:sym typeface="+mn-ea"/>
              </a:rPr>
              <a:t>非行政机关</a:t>
            </a:r>
            <a:r>
              <a:rPr sz="2400" b="1">
                <a:sym typeface="+mn-ea"/>
              </a:rPr>
              <a:t>的社会组织来行使的法律行为。</a:t>
            </a:r>
            <a:endParaRPr lang="zh-CN" altLang="en-US" sz="2400" b="1" dirty="0"/>
          </a:p>
          <a:p>
            <a:pPr marL="0" indent="0">
              <a:lnSpc>
                <a:spcPct val="125000"/>
              </a:lnSpc>
              <a:spcAft>
                <a:spcPts val="800"/>
              </a:spcAft>
              <a:buNone/>
            </a:pPr>
            <a:r>
              <a:rPr sz="2400" b="1">
                <a:sym typeface="+mn-ea"/>
              </a:rPr>
              <a:t> 根据以上定义</a:t>
            </a:r>
            <a:r>
              <a:rPr lang="en-US" altLang="zh-CN" sz="2400" b="1">
                <a:sym typeface="+mn-ea"/>
              </a:rPr>
              <a:t>,</a:t>
            </a:r>
            <a:r>
              <a:rPr sz="2400" b="1">
                <a:sym typeface="+mn-ea"/>
              </a:rPr>
              <a:t>下列属于行政授权的是</a:t>
            </a:r>
            <a:r>
              <a:rPr lang="en-US" altLang="zh-CN" sz="2400" b="1">
                <a:sym typeface="+mn-ea"/>
              </a:rPr>
              <a:t>【 A  】     </a:t>
            </a:r>
            <a:endParaRPr lang="en-US" altLang="zh-CN" sz="2400" b="1"/>
          </a:p>
          <a:p>
            <a:pPr marL="0" indent="0">
              <a:lnSpc>
                <a:spcPct val="125000"/>
              </a:lnSpc>
              <a:spcAft>
                <a:spcPts val="800"/>
              </a:spcAft>
              <a:buNone/>
            </a:pPr>
            <a:r>
              <a:rPr lang="en-US" altLang="zh-CN" sz="2400" b="1">
                <a:sym typeface="+mn-ea"/>
              </a:rPr>
              <a:t>A</a:t>
            </a:r>
            <a:r>
              <a:rPr sz="2400" b="1">
                <a:solidFill>
                  <a:schemeClr val="tx1"/>
                </a:solidFill>
                <a:sym typeface="+mn-ea"/>
              </a:rPr>
              <a:t>．</a:t>
            </a:r>
            <a:r>
              <a:rPr sz="2400" b="1">
                <a:sym typeface="+mn-ea"/>
              </a:rPr>
              <a:t>某县政府文件规定</a:t>
            </a:r>
            <a:r>
              <a:rPr lang="en-US" altLang="zh-CN" sz="2400" b="1">
                <a:sym typeface="+mn-ea"/>
              </a:rPr>
              <a:t>,</a:t>
            </a:r>
            <a:r>
              <a:rPr sz="2400" b="1">
                <a:sym typeface="+mn-ea"/>
              </a:rPr>
              <a:t>县</a:t>
            </a:r>
            <a:r>
              <a:rPr sz="2400" b="1">
                <a:solidFill>
                  <a:srgbClr val="FF0000"/>
                </a:solidFill>
                <a:sym typeface="+mn-ea"/>
              </a:rPr>
              <a:t>自来水公司</a:t>
            </a:r>
            <a:r>
              <a:rPr sz="2400" b="1">
                <a:sym typeface="+mn-ea"/>
              </a:rPr>
              <a:t>行使节约用水、计划用水的</a:t>
            </a:r>
            <a:r>
              <a:rPr sz="2400" b="1">
                <a:solidFill>
                  <a:srgbClr val="FF0000"/>
                </a:solidFill>
                <a:sym typeface="+mn-ea"/>
              </a:rPr>
              <a:t>行政执法权</a:t>
            </a:r>
            <a:endParaRPr lang="zh-CN" altLang="en-US" sz="2400" b="1" dirty="0"/>
          </a:p>
          <a:p>
            <a:pPr marL="0" indent="0">
              <a:lnSpc>
                <a:spcPct val="125000"/>
              </a:lnSpc>
              <a:spcAft>
                <a:spcPts val="800"/>
              </a:spcAft>
              <a:buNone/>
            </a:pPr>
            <a:r>
              <a:rPr lang="en-US" altLang="zh-CN" sz="2400" b="1">
                <a:sym typeface="+mn-ea"/>
              </a:rPr>
              <a:t>B</a:t>
            </a:r>
            <a:r>
              <a:rPr sz="2400" b="1">
                <a:sym typeface="+mn-ea"/>
              </a:rPr>
              <a:t>．宪法规定国务院行使省、自治区、直辖市范围内部分地区的戒严权</a:t>
            </a:r>
            <a:endParaRPr lang="zh-CN" altLang="en-US" sz="2400" b="1" dirty="0"/>
          </a:p>
          <a:p>
            <a:pPr marL="0" indent="0">
              <a:lnSpc>
                <a:spcPct val="125000"/>
              </a:lnSpc>
              <a:spcAft>
                <a:spcPts val="800"/>
              </a:spcAft>
              <a:buNone/>
            </a:pPr>
            <a:r>
              <a:rPr lang="en-US" altLang="zh-CN" sz="2400" b="1">
                <a:sym typeface="+mn-ea"/>
              </a:rPr>
              <a:t>C.《</a:t>
            </a:r>
            <a:r>
              <a:rPr sz="2400" b="1">
                <a:sym typeface="+mn-ea"/>
              </a:rPr>
              <a:t>植物检疫条例</a:t>
            </a:r>
            <a:r>
              <a:rPr lang="en-US" altLang="zh-CN" sz="2400" b="1">
                <a:sym typeface="+mn-ea"/>
              </a:rPr>
              <a:t>》</a:t>
            </a:r>
            <a:r>
              <a:rPr sz="2400" b="1">
                <a:sym typeface="+mn-ea"/>
              </a:rPr>
              <a:t>规定</a:t>
            </a:r>
            <a:r>
              <a:rPr lang="en-US" altLang="zh-CN" sz="2400" b="1">
                <a:sym typeface="+mn-ea"/>
              </a:rPr>
              <a:t>,</a:t>
            </a:r>
            <a:r>
              <a:rPr sz="2400" b="1">
                <a:sym typeface="+mn-ea"/>
              </a:rPr>
              <a:t>县级以上地方各级</a:t>
            </a:r>
            <a:r>
              <a:rPr sz="2400" b="1">
                <a:solidFill>
                  <a:schemeClr val="tx1"/>
                </a:solidFill>
                <a:sym typeface="+mn-ea"/>
              </a:rPr>
              <a:t>农业部门所属</a:t>
            </a:r>
            <a:r>
              <a:rPr sz="2400" b="1">
                <a:sym typeface="+mn-ea"/>
              </a:rPr>
              <a:t>的植物检疫机构</a:t>
            </a:r>
            <a:endParaRPr sz="2400" b="1">
              <a:sym typeface="+mn-ea"/>
            </a:endParaRPr>
          </a:p>
          <a:p>
            <a:pPr marL="0" indent="0">
              <a:lnSpc>
                <a:spcPct val="125000"/>
              </a:lnSpc>
              <a:spcAft>
                <a:spcPts val="800"/>
              </a:spcAft>
              <a:buNone/>
            </a:pPr>
            <a:r>
              <a:rPr sz="2400" b="1">
                <a:sym typeface="+mn-ea"/>
              </a:rPr>
              <a:t>    负责行使</a:t>
            </a:r>
            <a:r>
              <a:rPr sz="2400" b="1">
                <a:solidFill>
                  <a:srgbClr val="FF0000"/>
                </a:solidFill>
                <a:sym typeface="+mn-ea"/>
              </a:rPr>
              <a:t>植物检疫权</a:t>
            </a:r>
            <a:endParaRPr lang="zh-CN" altLang="en-US" sz="2400" b="1" dirty="0"/>
          </a:p>
          <a:p>
            <a:pPr marL="0" indent="0">
              <a:lnSpc>
                <a:spcPct val="125000"/>
              </a:lnSpc>
              <a:spcAft>
                <a:spcPts val="800"/>
              </a:spcAft>
              <a:buNone/>
            </a:pPr>
            <a:r>
              <a:rPr lang="en-US" altLang="zh-CN" sz="2400" b="1">
                <a:sym typeface="+mn-ea"/>
              </a:rPr>
              <a:t>D</a:t>
            </a:r>
            <a:r>
              <a:rPr sz="2400" b="1">
                <a:sym typeface="+mn-ea"/>
              </a:rPr>
              <a:t>．县环保局局长要求一副局长代行其外出期间的局长职务</a:t>
            </a:r>
            <a:endParaRPr sz="2400" b="1">
              <a:sym typeface="+mn-ea"/>
            </a:endParaRPr>
          </a:p>
          <a:p>
            <a:pPr marL="0" indent="0">
              <a:lnSpc>
                <a:spcPct val="125000"/>
              </a:lnSpc>
              <a:spcAft>
                <a:spcPts val="800"/>
              </a:spcAft>
              <a:buNone/>
            </a:pPr>
            <a:r>
              <a:rPr lang="zh-CN" altLang="en-US" sz="2400" b="1" dirty="0"/>
              <a:t>分析：根据授予</a:t>
            </a:r>
            <a:r>
              <a:rPr lang="en-US" altLang="zh-CN" sz="2400" b="1" dirty="0"/>
              <a:t>“</a:t>
            </a:r>
            <a:r>
              <a:rPr sz="2400" b="1" dirty="0"/>
              <a:t>非行政机关</a:t>
            </a:r>
            <a:r>
              <a:rPr lang="en-US" altLang="zh-CN" sz="2400" b="1" dirty="0"/>
              <a:t>”</a:t>
            </a:r>
            <a:r>
              <a:rPr sz="2400" b="1" dirty="0"/>
              <a:t>排除</a:t>
            </a:r>
            <a:r>
              <a:rPr lang="en-US" altLang="zh-CN" sz="2400" b="1" dirty="0"/>
              <a:t>B</a:t>
            </a:r>
            <a:r>
              <a:rPr sz="2400" b="1" dirty="0"/>
              <a:t>与</a:t>
            </a:r>
            <a:r>
              <a:rPr lang="en-US" altLang="zh-CN" sz="2400" b="1" dirty="0"/>
              <a:t>D</a:t>
            </a:r>
            <a:r>
              <a:rPr sz="2400" b="1" dirty="0"/>
              <a:t>，根据</a:t>
            </a:r>
            <a:r>
              <a:rPr lang="en-US" altLang="zh-CN" sz="2400" b="1" dirty="0"/>
              <a:t>“</a:t>
            </a:r>
            <a:r>
              <a:rPr sz="2400" b="1" dirty="0"/>
              <a:t>行政职权</a:t>
            </a:r>
            <a:r>
              <a:rPr lang="en-US" altLang="zh-CN" sz="2400" b="1" dirty="0"/>
              <a:t>”</a:t>
            </a:r>
            <a:r>
              <a:rPr sz="2400" b="1" dirty="0"/>
              <a:t>排除</a:t>
            </a:r>
            <a:r>
              <a:rPr lang="en-US" altLang="zh-CN" sz="2400" b="1" dirty="0"/>
              <a:t>C,</a:t>
            </a:r>
            <a:r>
              <a:rPr sz="2400" b="1" dirty="0"/>
              <a:t>根据</a:t>
            </a:r>
            <a:r>
              <a:rPr lang="en-US" altLang="zh-CN" sz="2400" b="1" dirty="0"/>
              <a:t>A</a:t>
            </a:r>
            <a:r>
              <a:rPr sz="2400" b="1" dirty="0"/>
              <a:t>中红色字可知选</a:t>
            </a:r>
            <a:r>
              <a:rPr lang="en-US" altLang="zh-CN" sz="2400" b="1" dirty="0"/>
              <a:t>A</a:t>
            </a:r>
            <a:endParaRPr lang="zh-CN" altLang="en-US" sz="2400" b="1" dirty="0"/>
          </a:p>
          <a:p>
            <a:endParaRPr lang="zh-CN" altLang="en-US" sz="240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UNIT_ISCONTENTSTITLE" val="0"/>
  <p:tag name="KSO_WM_UNIT_PRESET_TEXT" val="空白演示"/>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187308_1*a*1"/>
  <p:tag name="KSO_WM_TEMPLATE_CATEGORY" val="custom"/>
  <p:tag name="KSO_WM_TEMPLATE_INDEX" val="20187308"/>
  <p:tag name="KSO_WM_UNIT_LAYERLEVEL" val="1"/>
  <p:tag name="KSO_WM_TAG_VERSION" val="1.0"/>
  <p:tag name="KSO_WM_BEAUTIFY_FLAG" val="#wm#"/>
</p:tagLst>
</file>

<file path=ppt/tags/tag63.xml><?xml version="1.0" encoding="utf-8"?>
<p:tagLst xmlns:p="http://schemas.openxmlformats.org/presentationml/2006/main">
  <p:tag name="KSO_WM_UNIT_ISCONTENTSTITLE" val="0"/>
  <p:tag name="KSO_WM_UNIT_PRESET_TEXT" val="在此输入您的封面副标题"/>
  <p:tag name="KSO_WM_UNIT_NOCLEAR" val="0"/>
  <p:tag name="KSO_WM_UNIT_VALUE" val="156"/>
  <p:tag name="KSO_WM_UNIT_HIGHLIGHT" val="0"/>
  <p:tag name="KSO_WM_UNIT_COMPATIBLE" val="0"/>
  <p:tag name="KSO_WM_UNIT_DIAGRAM_ISNUMVISUAL" val="0"/>
  <p:tag name="KSO_WM_UNIT_DIAGRAM_ISREFERUNIT" val="0"/>
  <p:tag name="KSO_WM_UNIT_TYPE" val="b"/>
  <p:tag name="KSO_WM_UNIT_INDEX" val="1"/>
  <p:tag name="KSO_WM_UNIT_ID" val="custom20187308_1*b*1"/>
  <p:tag name="KSO_WM_TEMPLATE_CATEGORY" val="custom"/>
  <p:tag name="KSO_WM_TEMPLATE_INDEX" val="20187308"/>
  <p:tag name="KSO_WM_UNIT_LAYERLEVEL" val="1"/>
  <p:tag name="KSO_WM_TAG_VERSION" val="1.0"/>
  <p:tag name="KSO_WM_BEAUTIFY_FLAG" val="#wm#"/>
</p:tagLst>
</file>

<file path=ppt/tags/tag64.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5.xml><?xml version="1.0" encoding="utf-8"?>
<p:tagLst xmlns:p="http://schemas.openxmlformats.org/presentationml/2006/main">
  <p:tag name="KSO_WM_BEAUTIFY_FLAG" val="#wm#"/>
  <p:tag name="KSO_WM_TEMPLATE_CATEGORY" val="custom"/>
  <p:tag name="KSO_WM_TEMPLATE_INDEX" val="20187308"/>
</p:tagLst>
</file>

<file path=ppt/tags/tag66.xml><?xml version="1.0" encoding="utf-8"?>
<p:tagLst xmlns:p="http://schemas.openxmlformats.org/presentationml/2006/main">
  <p:tag name="KSO_WM_BEAUTIFY_FLAG" val="#wm#"/>
  <p:tag name="KSO_WM_TEMPLATE_CATEGORY" val="custom"/>
  <p:tag name="KSO_WM_TEMPLATE_INDEX" val="20187308"/>
</p:tagLst>
</file>

<file path=ppt/tags/tag67.xml><?xml version="1.0" encoding="utf-8"?>
<p:tagLst xmlns:p="http://schemas.openxmlformats.org/presentationml/2006/main">
  <p:tag name="KSO_WM_BEAUTIFY_FLAG" val="#wm#"/>
  <p:tag name="KSO_WM_TEMPLATE_CATEGORY" val="custom"/>
  <p:tag name="KSO_WM_TEMPLATE_INDEX" val="20187308"/>
</p:tagLst>
</file>

<file path=ppt/tags/tag68.xml><?xml version="1.0" encoding="utf-8"?>
<p:tagLst xmlns:p="http://schemas.openxmlformats.org/presentationml/2006/main">
  <p:tag name="KSO_WM_BEAUTIFY_FLAG" val="#wm#"/>
  <p:tag name="KSO_WM_TEMPLATE_CATEGORY" val="custom"/>
  <p:tag name="KSO_WM_TEMPLATE_INDEX" val="20187308"/>
</p:tagLst>
</file>

<file path=ppt/tags/tag69.xml><?xml version="1.0" encoding="utf-8"?>
<p:tagLst xmlns:p="http://schemas.openxmlformats.org/presentationml/2006/main">
  <p:tag name="KSO_WM_BEAUTIFY_FLAG" val="#wm#"/>
  <p:tag name="KSO_WM_TEMPLATE_CATEGORY" val="custom"/>
  <p:tag name="KSO_WM_TEMPLATE_INDEX" val="20187308"/>
</p:tagLst>
</file>

<file path=ppt/tags/tag70.xml><?xml version="1.0" encoding="utf-8"?>
<p:tagLst xmlns:p="http://schemas.openxmlformats.org/presentationml/2006/main">
  <p:tag name="KSO_WM_BEAUTIFY_FLAG" val="#wm#"/>
  <p:tag name="KSO_WM_TEMPLATE_CATEGORY" val="custom"/>
  <p:tag name="KSO_WM_TEMPLATE_INDEX" val="20187308"/>
</p:tagLst>
</file>

<file path=ppt/tags/tag71.xml><?xml version="1.0" encoding="utf-8"?>
<p:tagLst xmlns:p="http://schemas.openxmlformats.org/presentationml/2006/main">
  <p:tag name="KSO_WM_BEAUTIFY_FLAG" val="#wm#"/>
  <p:tag name="KSO_WM_TEMPLATE_CATEGORY" val="custom"/>
  <p:tag name="KSO_WM_TEMPLATE_INDEX" val="20187308"/>
</p:tagLst>
</file>

<file path=ppt/tags/tag72.xml><?xml version="1.0" encoding="utf-8"?>
<p:tagLst xmlns:p="http://schemas.openxmlformats.org/presentationml/2006/main">
  <p:tag name="KSO_WM_BEAUTIFY_FLAG" val="#wm#"/>
  <p:tag name="KSO_WM_TEMPLATE_CATEGORY" val="custom"/>
  <p:tag name="KSO_WM_TEMPLATE_INDEX" val="20187308"/>
</p:tagLst>
</file>

<file path=ppt/tags/tag73.xml><?xml version="1.0" encoding="utf-8"?>
<p:tagLst xmlns:p="http://schemas.openxmlformats.org/presentationml/2006/main">
  <p:tag name="KSO_WM_BEAUTIFY_FLAG" val="#wm#"/>
  <p:tag name="KSO_WM_TEMPLATE_CATEGORY" val="custom"/>
  <p:tag name="KSO_WM_TEMPLATE_INDEX" val="20187308"/>
</p:tagLst>
</file>

<file path=ppt/tags/tag74.xml><?xml version="1.0" encoding="utf-8"?>
<p:tagLst xmlns:p="http://schemas.openxmlformats.org/presentationml/2006/main">
  <p:tag name="KSO_WM_BEAUTIFY_FLAG" val="#wm#"/>
  <p:tag name="KSO_WM_TEMPLATE_CATEGORY" val="custom"/>
  <p:tag name="KSO_WM_TEMPLATE_INDEX" val="20187308"/>
</p:tagLst>
</file>

<file path=ppt/tags/tag75.xml><?xml version="1.0" encoding="utf-8"?>
<p:tagLst xmlns:p="http://schemas.openxmlformats.org/presentationml/2006/main">
  <p:tag name="KSO_WM_BEAUTIFY_FLAG" val="#wm#"/>
  <p:tag name="KSO_WM_TEMPLATE_CATEGORY" val="custom"/>
  <p:tag name="KSO_WM_TEMPLATE_INDEX" val="20187308"/>
</p:tagLst>
</file>

<file path=ppt/tags/tag76.xml><?xml version="1.0" encoding="utf-8"?>
<p:tagLst xmlns:p="http://schemas.openxmlformats.org/presentationml/2006/main">
  <p:tag name="KSO_WM_BEAUTIFY_FLAG" val="#wm#"/>
  <p:tag name="KSO_WM_TEMPLATE_CATEGORY" val="custom"/>
  <p:tag name="KSO_WM_TEMPLATE_INDEX" val="20187308"/>
</p:tagLst>
</file>

<file path=ppt/tags/tag77.xml><?xml version="1.0" encoding="utf-8"?>
<p:tagLst xmlns:p="http://schemas.openxmlformats.org/presentationml/2006/main">
  <p:tag name="KSO_WM_BEAUTIFY_FLAG" val="#wm#"/>
  <p:tag name="KSO_WM_TEMPLATE_CATEGORY" val="custom"/>
  <p:tag name="KSO_WM_TEMPLATE_INDEX" val="20187308"/>
</p:tagLst>
</file>

<file path=ppt/tags/tag78.xml><?xml version="1.0" encoding="utf-8"?>
<p:tagLst xmlns:p="http://schemas.openxmlformats.org/presentationml/2006/main">
  <p:tag name="KSO_WM_BEAUTIFY_FLAG" val="#wm#"/>
  <p:tag name="KSO_WM_TEMPLATE_CATEGORY" val="custom"/>
  <p:tag name="KSO_WM_TEMPLATE_INDEX" val="20187308"/>
</p:tagLst>
</file>

<file path=ppt/tags/tag79.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501</Words>
  <Application>WPS 演示</Application>
  <PresentationFormat>宽屏</PresentationFormat>
  <Paragraphs>27</Paragraphs>
  <Slides>16</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Arial</vt:lpstr>
      <vt:lpstr>宋体</vt:lpstr>
      <vt:lpstr>Wingdings</vt:lpstr>
      <vt:lpstr>微软雅黑</vt:lpstr>
      <vt:lpstr>Arial Unicode MS</vt:lpstr>
      <vt:lpstr>Office 主题​​</vt:lpstr>
      <vt:lpstr>公务员考试中的逻辑学</vt:lpstr>
      <vt:lpstr>PowerPoint 演示文稿</vt:lpstr>
      <vt:lpstr>真题5：定义判断</vt:lpstr>
      <vt:lpstr>真题5精讲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36</cp:revision>
  <dcterms:created xsi:type="dcterms:W3CDTF">2019-06-19T02:08:00Z</dcterms:created>
  <dcterms:modified xsi:type="dcterms:W3CDTF">2020-02-17T01:57:10Z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2052-11.1.0.9339</vt:lpwstr>
  </property>
</Properties>
</file>