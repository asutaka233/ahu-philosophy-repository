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56" r:id="rId3"/>
    <p:sldId id="312" r:id="rId5"/>
    <p:sldId id="313" r:id="rId6"/>
    <p:sldId id="314" r:id="rId7"/>
    <p:sldId id="315" r:id="rId8"/>
    <p:sldId id="357" r:id="rId9"/>
    <p:sldId id="359" r:id="rId10"/>
    <p:sldId id="360" r:id="rId11"/>
    <p:sldId id="358" r:id="rId12"/>
    <p:sldId id="316" r:id="rId13"/>
    <p:sldId id="257" r:id="rId14"/>
    <p:sldId id="259" r:id="rId15"/>
    <p:sldId id="403" r:id="rId16"/>
    <p:sldId id="285" r:id="rId17"/>
    <p:sldId id="404" r:id="rId18"/>
    <p:sldId id="286" r:id="rId19"/>
    <p:sldId id="443" r:id="rId20"/>
    <p:sldId id="287" r:id="rId21"/>
    <p:sldId id="481" r:id="rId22"/>
    <p:sldId id="289" r:id="rId23"/>
    <p:sldId id="482" r:id="rId24"/>
    <p:sldId id="291" r:id="rId25"/>
    <p:sldId id="484" r:id="rId26"/>
    <p:sldId id="487" r:id="rId27"/>
    <p:sldId id="488" r:id="rId28"/>
    <p:sldId id="263" r:id="rId29"/>
    <p:sldId id="480" r:id="rId30"/>
    <p:sldId id="4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151"/>
        <p:guide pos="381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b="1"/>
              <a:t>公务员考试中的逻辑学</a:t>
            </a:r>
            <a:endParaRPr lang="zh-CN" altLang="en-US" b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69925" y="4159250"/>
            <a:ext cx="10852150" cy="1853565"/>
          </a:xfrm>
        </p:spPr>
        <p:txBody>
          <a:bodyPr/>
          <a:lstStyle/>
          <a:p>
            <a:r>
              <a:rPr lang="zh-CN" altLang="en-US" sz="4000" b="1"/>
              <a:t>第七讲：复合命题推理综合练习</a:t>
            </a:r>
            <a:endParaRPr lang="zh-CN" altLang="en-US" sz="4000" b="1"/>
          </a:p>
          <a:p>
            <a:r>
              <a:rPr lang="zh-CN" altLang="en-US" sz="3600" b="1">
                <a:solidFill>
                  <a:srgbClr val="FF0000"/>
                </a:solidFill>
                <a:sym typeface="+mn-ea"/>
              </a:rPr>
              <a:t>结合：《逻辑思维训练课件》中的逻辑</a:t>
            </a:r>
            <a:r>
              <a:rPr lang="en-US" altLang="zh-CN" sz="3600" b="1">
                <a:solidFill>
                  <a:srgbClr val="FF0000"/>
                </a:solidFill>
                <a:sym typeface="+mn-ea"/>
              </a:rPr>
              <a:t>3-</a:t>
            </a:r>
            <a:r>
              <a:rPr sz="3600" b="1">
                <a:solidFill>
                  <a:srgbClr val="FF0000"/>
                </a:solidFill>
                <a:sym typeface="+mn-ea"/>
              </a:rPr>
              <a:t>逻辑</a:t>
            </a:r>
            <a:r>
              <a:rPr lang="en-US" altLang="zh-CN" sz="3600" b="1">
                <a:solidFill>
                  <a:srgbClr val="FF0000"/>
                </a:solidFill>
                <a:sym typeface="+mn-ea"/>
              </a:rPr>
              <a:t>6</a:t>
            </a:r>
            <a:endParaRPr lang="en-US" altLang="zh-CN" sz="4000" b="1">
              <a:solidFill>
                <a:schemeClr val="tx1"/>
              </a:solidFill>
            </a:endParaRPr>
          </a:p>
          <a:p>
            <a:endParaRPr lang="en-US" altLang="zh-CN" sz="4000" b="1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chemeClr val="tx1"/>
                </a:solidFill>
                <a:sym typeface="+mn-ea"/>
              </a:rPr>
              <a:t>作业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1—</a:t>
            </a:r>
            <a:r>
              <a:rPr>
                <a:solidFill>
                  <a:schemeClr val="tx1"/>
                </a:solidFill>
                <a:sym typeface="+mn-ea"/>
              </a:rPr>
              <a:t>真题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106</a:t>
            </a:r>
            <a:r>
              <a:rPr>
                <a:solidFill>
                  <a:schemeClr val="tx1"/>
                </a:solidFill>
                <a:sym typeface="+mn-ea"/>
              </a:rPr>
              <a:t>分析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2400" b="1">
                <a:sym typeface="+mn-ea"/>
              </a:rPr>
              <a:t>混合物：空气</a:t>
            </a:r>
            <a:endParaRPr lang="zh-CN" altLang="en-US" sz="2400" b="1"/>
          </a:p>
          <a:p>
            <a:r>
              <a:rPr sz="2400" b="1">
                <a:sym typeface="+mn-ea"/>
              </a:rPr>
              <a:t>A.财务报表：利润表            B.金属：绝缘体  </a:t>
            </a:r>
            <a:endParaRPr lang="zh-CN" altLang="en-US" sz="2400" b="1"/>
          </a:p>
          <a:p>
            <a:r>
              <a:rPr sz="2400" b="1">
                <a:sym typeface="+mn-ea"/>
              </a:rPr>
              <a:t>C.合唱团：团员                  D.满族：维吾尔族</a:t>
            </a:r>
            <a:endParaRPr sz="2400" b="1">
              <a:sym typeface="+mn-ea"/>
            </a:endParaRPr>
          </a:p>
          <a:p>
            <a:r>
              <a:rPr lang="zh-CN" altLang="en-US" sz="2400" b="1"/>
              <a:t>分析：</a:t>
            </a:r>
            <a:r>
              <a:rPr sz="2400" b="1">
                <a:sym typeface="+mn-ea"/>
              </a:rPr>
              <a:t>混合物与空气是属种关系。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A</a:t>
            </a:r>
            <a:r>
              <a:rPr sz="2400" b="1">
                <a:solidFill>
                  <a:srgbClr val="00B050"/>
                </a:solidFill>
                <a:sym typeface="+mn-ea"/>
              </a:rPr>
              <a:t>财务报表与利润表是属种关系</a:t>
            </a:r>
            <a:r>
              <a:rPr sz="2400" b="1">
                <a:sym typeface="+mn-ea"/>
              </a:rPr>
              <a:t>。 </a:t>
            </a:r>
            <a:r>
              <a:rPr lang="en-US" altLang="zh-CN" sz="2400" b="1">
                <a:sym typeface="+mn-ea"/>
              </a:rPr>
              <a:t>B</a:t>
            </a:r>
            <a:r>
              <a:rPr sz="2400" b="1">
                <a:sym typeface="+mn-ea"/>
              </a:rPr>
              <a:t>金属与绝缘体是全异关系。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C</a:t>
            </a:r>
            <a:r>
              <a:rPr sz="2400" b="1">
                <a:solidFill>
                  <a:srgbClr val="00B050"/>
                </a:solidFill>
                <a:sym typeface="+mn-ea"/>
              </a:rPr>
              <a:t>合唱团不是团员，团员也不是合唱团，二者是全异关系。</a:t>
            </a:r>
            <a:r>
              <a:rPr lang="en-US" altLang="zh-CN" sz="2400" b="1">
                <a:sym typeface="+mn-ea"/>
              </a:rPr>
              <a:t>D</a:t>
            </a:r>
            <a:r>
              <a:rPr sz="2400" b="1">
                <a:sym typeface="+mn-ea"/>
              </a:rPr>
              <a:t>满族与维吾尔族是全异关系。故选</a:t>
            </a:r>
            <a:r>
              <a:rPr lang="en-US" altLang="zh-CN" sz="2400" b="1">
                <a:sym typeface="+mn-ea"/>
              </a:rPr>
              <a:t>A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endParaRPr sz="2400" b="1">
              <a:sym typeface="+mn-ea"/>
            </a:endParaRPr>
          </a:p>
          <a:p>
            <a:endParaRPr lang="zh-CN" altLang="en-US" sz="2400" b="1"/>
          </a:p>
          <a:p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作业</a:t>
            </a:r>
            <a:r>
              <a:rPr lang="en-US" altLang="zh-CN">
                <a:sym typeface="+mn-ea"/>
              </a:rPr>
              <a:t>2</a:t>
            </a:r>
            <a:r>
              <a:rPr lang="en-US" altLang="zh-CN">
                <a:sym typeface="+mn-ea"/>
              </a:rPr>
              <a:t>—</a:t>
            </a:r>
            <a:r>
              <a:rPr lang="zh-CN" altLang="en-US">
                <a:solidFill>
                  <a:schemeClr val="tx1"/>
                </a:solidFill>
              </a:rPr>
              <a:t>真题</a:t>
            </a:r>
            <a:r>
              <a:rPr lang="en-US" altLang="zh-CN">
                <a:solidFill>
                  <a:schemeClr val="tx1"/>
                </a:solidFill>
              </a:rPr>
              <a:t>107</a:t>
            </a:r>
            <a:r>
              <a:rPr>
                <a:solidFill>
                  <a:schemeClr val="tx1"/>
                </a:solidFill>
              </a:rPr>
              <a:t>分析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2400" b="1">
                <a:sym typeface="+mn-ea"/>
              </a:rPr>
              <a:t>口试：笔试：招聘</a:t>
            </a:r>
            <a:endParaRPr lang="zh-CN" altLang="en-US" sz="2400" b="1"/>
          </a:p>
          <a:p>
            <a:r>
              <a:rPr sz="2400" b="1">
                <a:sym typeface="+mn-ea"/>
              </a:rPr>
              <a:t>A.摄影：购物：旅游        B.招标：中标：建设  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C.批发：零售：销售        D.出口：内销：商品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分析：</a:t>
            </a:r>
            <a:r>
              <a:rPr sz="2400" b="1">
                <a:solidFill>
                  <a:srgbClr val="00B050"/>
                </a:solidFill>
                <a:sym typeface="+mn-ea"/>
              </a:rPr>
              <a:t>口试与笔试是招聘采用的两种不同形式</a:t>
            </a:r>
            <a:r>
              <a:rPr sz="2400" b="1">
                <a:sym typeface="+mn-ea"/>
              </a:rPr>
              <a:t>，批发与零售是销售采用的两种不同形式。故选</a:t>
            </a:r>
            <a:r>
              <a:rPr lang="en-US" altLang="zh-CN" sz="2400" b="1">
                <a:sym typeface="+mn-ea"/>
              </a:rPr>
              <a:t>C</a:t>
            </a:r>
            <a:r>
              <a:rPr sz="2400" b="1">
                <a:sym typeface="+mn-ea"/>
              </a:rPr>
              <a:t>。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作业</a:t>
            </a:r>
            <a:r>
              <a:rPr lang="en-US" altLang="zh-CN">
                <a:sym typeface="+mn-ea"/>
              </a:rPr>
              <a:t>3</a:t>
            </a:r>
            <a:r>
              <a:rPr lang="en-US" altLang="zh-CN">
                <a:sym typeface="+mn-ea"/>
              </a:rPr>
              <a:t>—</a:t>
            </a:r>
            <a:r>
              <a:rPr lang="zh-CN" altLang="en-US">
                <a:solidFill>
                  <a:schemeClr val="tx1"/>
                </a:solidFill>
              </a:rPr>
              <a:t>真题</a:t>
            </a:r>
            <a:r>
              <a:rPr lang="en-US" altLang="zh-CN">
                <a:solidFill>
                  <a:schemeClr val="tx1"/>
                </a:solidFill>
              </a:rPr>
              <a:t>108</a:t>
            </a:r>
            <a:r>
              <a:rPr>
                <a:solidFill>
                  <a:schemeClr val="tx1"/>
                </a:solidFill>
              </a:rPr>
              <a:t>分析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2400" b="1">
                <a:sym typeface="+mn-ea"/>
              </a:rPr>
              <a:t>游轮对于（）相当于（）对于 宣传</a:t>
            </a:r>
            <a:endParaRPr lang="zh-CN" altLang="en-US" sz="2400" b="1"/>
          </a:p>
          <a:p>
            <a:r>
              <a:rPr sz="2400" b="1">
                <a:sym typeface="+mn-ea"/>
              </a:rPr>
              <a:t>A.观光：海报         B.航行：飞机  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C.客轮：讲座         D.港口：广告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分析：</a:t>
            </a:r>
            <a:r>
              <a:rPr sz="2400" b="1">
                <a:solidFill>
                  <a:srgbClr val="00B050"/>
                </a:solidFill>
                <a:sym typeface="+mn-ea"/>
              </a:rPr>
              <a:t>游轮用于观光。海报用于宣传</a:t>
            </a:r>
            <a:r>
              <a:rPr sz="2400" b="1">
                <a:sym typeface="+mn-ea"/>
              </a:rPr>
              <a:t>，故选</a:t>
            </a:r>
            <a:r>
              <a:rPr lang="en-US" altLang="zh-CN" sz="2400" b="1">
                <a:sym typeface="+mn-ea"/>
              </a:rPr>
              <a:t>A</a:t>
            </a:r>
            <a:r>
              <a:rPr sz="2400" b="1">
                <a:sym typeface="+mn-ea"/>
              </a:rPr>
              <a:t>。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作业</a:t>
            </a:r>
            <a:r>
              <a:rPr lang="en-US" altLang="zh-CN">
                <a:sym typeface="+mn-ea"/>
              </a:rPr>
              <a:t>4—</a:t>
            </a:r>
            <a:r>
              <a:rPr lang="zh-CN" altLang="en-US">
                <a:solidFill>
                  <a:schemeClr val="tx1"/>
                </a:solidFill>
              </a:rPr>
              <a:t>真题</a:t>
            </a:r>
            <a:r>
              <a:rPr lang="en-US" altLang="zh-CN">
                <a:solidFill>
                  <a:schemeClr val="tx1"/>
                </a:solidFill>
              </a:rPr>
              <a:t>109</a:t>
            </a:r>
            <a:r>
              <a:rPr>
                <a:solidFill>
                  <a:schemeClr val="tx1"/>
                </a:solidFill>
              </a:rPr>
              <a:t>分析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/>
              <a:t>中山陵：金陵</a:t>
            </a:r>
            <a:endParaRPr lang="zh-CN" altLang="en-US" sz="2400" b="1"/>
          </a:p>
          <a:p>
            <a:r>
              <a:rPr lang="zh-CN" altLang="en-US" sz="2400" b="1"/>
              <a:t>A.城隍庙：寺庙      B.青海湖：青海  </a:t>
            </a:r>
            <a:endParaRPr lang="zh-CN" altLang="en-US" sz="2400" b="1"/>
          </a:p>
          <a:p>
            <a:r>
              <a:rPr lang="zh-CN" altLang="en-US" sz="2400" b="1"/>
              <a:t>C.碧云天：青天      D.钱塘江：长江</a:t>
            </a:r>
            <a:endParaRPr lang="zh-CN" altLang="en-US" sz="2400" b="1"/>
          </a:p>
          <a:p>
            <a:r>
              <a:rPr lang="zh-CN" altLang="en-US" sz="2400" b="1"/>
              <a:t>分析：遣词造句法。</a:t>
            </a:r>
            <a:endParaRPr lang="zh-CN" altLang="en-US" sz="2400" b="1"/>
          </a:p>
          <a:p>
            <a:r>
              <a:rPr sz="2400" b="1">
                <a:solidFill>
                  <a:srgbClr val="00B050"/>
                </a:solidFill>
                <a:sym typeface="+mn-ea"/>
              </a:rPr>
              <a:t>中山陵</a:t>
            </a:r>
            <a:r>
              <a:rPr sz="2400" b="1">
                <a:solidFill>
                  <a:srgbClr val="FF0000"/>
                </a:solidFill>
                <a:sym typeface="+mn-ea"/>
              </a:rPr>
              <a:t>位于</a:t>
            </a:r>
            <a:r>
              <a:rPr sz="2400" b="1">
                <a:solidFill>
                  <a:srgbClr val="00B050"/>
                </a:solidFill>
                <a:sym typeface="+mn-ea"/>
              </a:rPr>
              <a:t>金陵（今南京），青海湖</a:t>
            </a:r>
            <a:r>
              <a:rPr sz="2400" b="1">
                <a:solidFill>
                  <a:srgbClr val="FF0000"/>
                </a:solidFill>
                <a:sym typeface="+mn-ea"/>
              </a:rPr>
              <a:t>位于</a:t>
            </a:r>
            <a:r>
              <a:rPr sz="2400" b="1">
                <a:solidFill>
                  <a:srgbClr val="00B050"/>
                </a:solidFill>
                <a:sym typeface="+mn-ea"/>
              </a:rPr>
              <a:t>青海</a:t>
            </a:r>
            <a:r>
              <a:rPr sz="2400" b="1">
                <a:sym typeface="+mn-ea"/>
              </a:rPr>
              <a:t>，故选</a:t>
            </a:r>
            <a:r>
              <a:rPr lang="en-US" altLang="zh-CN" sz="2400" b="1">
                <a:sym typeface="+mn-ea"/>
              </a:rPr>
              <a:t>B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379930"/>
            <a:ext cx="10852237" cy="648000"/>
          </a:xfrm>
        </p:spPr>
        <p:txBody>
          <a:bodyPr/>
          <a:p>
            <a:r>
              <a:rPr lang="zh-CN" altLang="en-US"/>
              <a:t>作业</a:t>
            </a:r>
            <a:r>
              <a:rPr lang="en-US" altLang="zh-CN"/>
              <a:t>5</a:t>
            </a:r>
            <a:r>
              <a:rPr lang="en-US" altLang="zh-CN">
                <a:sym typeface="+mn-ea"/>
              </a:rPr>
              <a:t>—</a:t>
            </a:r>
            <a:r>
              <a:rPr>
                <a:sym typeface="+mn-ea"/>
              </a:rPr>
              <a:t>真题</a:t>
            </a:r>
            <a:r>
              <a:rPr lang="en-US" altLang="zh-CN">
                <a:sym typeface="+mn-ea"/>
              </a:rPr>
              <a:t>110</a:t>
            </a:r>
            <a:r>
              <a:rPr>
                <a:sym typeface="+mn-ea"/>
              </a:rPr>
              <a:t>分析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59840"/>
            <a:ext cx="10852150" cy="5273040"/>
          </a:xfrm>
        </p:spPr>
        <p:txBody>
          <a:bodyPr/>
          <a:p>
            <a:r>
              <a:rPr lang="zh-CN" altLang="en-US" sz="2400" b="1"/>
              <a:t>风：风车：旋转</a:t>
            </a:r>
            <a:endParaRPr lang="zh-CN" altLang="en-US" sz="2400" b="1"/>
          </a:p>
          <a:p>
            <a:r>
              <a:rPr lang="zh-CN" altLang="en-US" sz="2400" b="1"/>
              <a:t>A.水：金鱼：游动           B.雷：闪电：暴雨  </a:t>
            </a:r>
            <a:endParaRPr lang="zh-CN" altLang="en-US" sz="2400" b="1"/>
          </a:p>
          <a:p>
            <a:r>
              <a:rPr lang="zh-CN" altLang="en-US" sz="2400" b="1"/>
              <a:t>C.电：电车：行驶           D.火：木柴：燃烧</a:t>
            </a:r>
            <a:endParaRPr lang="zh-CN" altLang="en-US" sz="2400" b="1"/>
          </a:p>
          <a:p>
            <a:r>
              <a:rPr lang="zh-CN" altLang="en-US" sz="2400" b="1"/>
              <a:t>分析：遣词造句法。</a:t>
            </a:r>
            <a:endParaRPr lang="zh-CN" altLang="en-US" sz="2400" b="1"/>
          </a:p>
          <a:p>
            <a:r>
              <a:rPr sz="2400" b="1">
                <a:sym typeface="+mn-ea"/>
              </a:rPr>
              <a:t>风</a:t>
            </a:r>
            <a:r>
              <a:rPr sz="2400" b="1">
                <a:solidFill>
                  <a:srgbClr val="00B050"/>
                </a:solidFill>
                <a:sym typeface="+mn-ea"/>
              </a:rPr>
              <a:t>为</a:t>
            </a:r>
            <a:r>
              <a:rPr sz="2400" b="1">
                <a:sym typeface="+mn-ea"/>
              </a:rPr>
              <a:t>风车旋转</a:t>
            </a:r>
            <a:r>
              <a:rPr sz="2400" b="1">
                <a:solidFill>
                  <a:srgbClr val="00B050"/>
                </a:solidFill>
                <a:sym typeface="+mn-ea"/>
              </a:rPr>
              <a:t>提供动力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电</a:t>
            </a:r>
            <a:r>
              <a:rPr sz="2400" b="1">
                <a:solidFill>
                  <a:srgbClr val="00B050"/>
                </a:solidFill>
                <a:sym typeface="+mn-ea"/>
              </a:rPr>
              <a:t>为</a:t>
            </a:r>
            <a:r>
              <a:rPr sz="2400" b="1">
                <a:sym typeface="+mn-ea"/>
              </a:rPr>
              <a:t>电车行驶</a:t>
            </a:r>
            <a:r>
              <a:rPr sz="2400" b="1">
                <a:solidFill>
                  <a:srgbClr val="00B050"/>
                </a:solidFill>
                <a:sym typeface="+mn-ea"/>
              </a:rPr>
              <a:t>提供动力。</a:t>
            </a:r>
            <a:endParaRPr sz="2400" b="1">
              <a:solidFill>
                <a:srgbClr val="00B050"/>
              </a:solidFill>
              <a:sym typeface="+mn-ea"/>
            </a:endParaRPr>
          </a:p>
          <a:p>
            <a:r>
              <a:rPr sz="2400" b="1">
                <a:solidFill>
                  <a:schemeClr val="tx1"/>
                </a:solidFill>
                <a:sym typeface="+mn-ea"/>
              </a:rPr>
              <a:t>故选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C</a:t>
            </a:r>
            <a:r>
              <a:rPr sz="2400" b="1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2400" b="1">
              <a:solidFill>
                <a:schemeClr val="tx1"/>
              </a:solidFill>
            </a:endParaRPr>
          </a:p>
          <a:p>
            <a:endParaRPr lang="zh-CN" altLang="en-US" sz="2400" b="1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379930"/>
            <a:ext cx="10852237" cy="648000"/>
          </a:xfrm>
        </p:spPr>
        <p:txBody>
          <a:bodyPr/>
          <a:p>
            <a:r>
              <a:rPr lang="zh-CN" altLang="en-US"/>
              <a:t>作业</a:t>
            </a:r>
            <a:r>
              <a:rPr lang="en-US" altLang="zh-CN"/>
              <a:t>6</a:t>
            </a:r>
            <a:r>
              <a:rPr lang="en-US" altLang="zh-CN">
                <a:sym typeface="+mn-ea"/>
              </a:rPr>
              <a:t>—</a:t>
            </a:r>
            <a:r>
              <a:rPr>
                <a:sym typeface="+mn-ea"/>
              </a:rPr>
              <a:t>真题</a:t>
            </a:r>
            <a:r>
              <a:rPr lang="en-US" altLang="zh-CN">
                <a:sym typeface="+mn-ea"/>
              </a:rPr>
              <a:t>111</a:t>
            </a:r>
            <a:r>
              <a:rPr>
                <a:sym typeface="+mn-ea"/>
              </a:rPr>
              <a:t>分析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59840"/>
            <a:ext cx="10852150" cy="5273040"/>
          </a:xfrm>
        </p:spPr>
        <p:txBody>
          <a:bodyPr/>
          <a:p>
            <a:r>
              <a:rPr lang="zh-CN" altLang="en-US" sz="2400" b="1"/>
              <a:t>自行车：出行：环保</a:t>
            </a:r>
            <a:endParaRPr lang="zh-CN" altLang="en-US" sz="2400" b="1"/>
          </a:p>
          <a:p>
            <a:r>
              <a:rPr lang="zh-CN" altLang="en-US" sz="2400" b="1"/>
              <a:t>A.蔬菜：食品：健康        B.台灯：灯泡：节能  </a:t>
            </a:r>
            <a:endParaRPr lang="zh-CN" altLang="en-US" sz="2400" b="1"/>
          </a:p>
          <a:p>
            <a:r>
              <a:rPr lang="zh-CN" altLang="en-US" sz="2400" b="1"/>
              <a:t>C.手表：时间：指针        D.货车：运输：载体</a:t>
            </a:r>
            <a:endParaRPr lang="zh-CN" altLang="en-US" sz="2400" b="1"/>
          </a:p>
          <a:p>
            <a:r>
              <a:rPr lang="zh-CN" altLang="en-US" sz="2400" b="1"/>
              <a:t>分析：遣词造句法。</a:t>
            </a:r>
            <a:endParaRPr lang="zh-CN" altLang="en-US" sz="2400" b="1"/>
          </a:p>
          <a:p>
            <a:r>
              <a:rPr sz="2400" b="1">
                <a:sym typeface="+mn-ea"/>
              </a:rPr>
              <a:t>自行车</a:t>
            </a:r>
            <a:r>
              <a:rPr sz="2400" b="1">
                <a:solidFill>
                  <a:srgbClr val="FF0000"/>
                </a:solidFill>
                <a:sym typeface="+mn-ea"/>
              </a:rPr>
              <a:t>是一种</a:t>
            </a:r>
            <a:r>
              <a:rPr sz="2400" b="1">
                <a:sym typeface="+mn-ea"/>
              </a:rPr>
              <a:t>环保</a:t>
            </a:r>
            <a:r>
              <a:rPr sz="2400" b="1">
                <a:sym typeface="+mn-ea"/>
              </a:rPr>
              <a:t>出行方式。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蔬菜</a:t>
            </a:r>
            <a:r>
              <a:rPr sz="2400" b="1">
                <a:solidFill>
                  <a:srgbClr val="FF0000"/>
                </a:solidFill>
                <a:sym typeface="+mn-ea"/>
              </a:rPr>
              <a:t>是一种</a:t>
            </a:r>
            <a:r>
              <a:rPr sz="2400" b="1">
                <a:sym typeface="+mn-ea"/>
              </a:rPr>
              <a:t>健康食品。</a:t>
            </a:r>
            <a:endParaRPr sz="2400" b="1">
              <a:sym typeface="+mn-ea"/>
            </a:endParaRPr>
          </a:p>
          <a:p>
            <a:r>
              <a:rPr lang="zh-CN" altLang="en-US" sz="2400" b="1"/>
              <a:t>故选</a:t>
            </a:r>
            <a:r>
              <a:rPr lang="en-US" altLang="zh-CN" sz="2400" b="1"/>
              <a:t>A</a:t>
            </a:r>
            <a:r>
              <a:rPr sz="2400" b="1"/>
              <a:t>。</a:t>
            </a:r>
            <a:endParaRPr sz="2400" b="1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作业</a:t>
            </a:r>
            <a:r>
              <a:rPr lang="en-US" altLang="zh-CN"/>
              <a:t>7</a:t>
            </a:r>
            <a:r>
              <a:rPr lang="en-US" altLang="zh-CN">
                <a:sym typeface="+mn-ea"/>
              </a:rPr>
              <a:t>—</a:t>
            </a:r>
            <a:r>
              <a:rPr>
                <a:sym typeface="+mn-ea"/>
              </a:rPr>
              <a:t>真题</a:t>
            </a:r>
            <a:r>
              <a:rPr lang="en-US" altLang="zh-CN">
                <a:sym typeface="+mn-ea"/>
              </a:rPr>
              <a:t>112</a:t>
            </a:r>
            <a:r>
              <a:rPr>
                <a:sym typeface="+mn-ea"/>
              </a:rPr>
              <a:t>分析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2400" b="1">
                <a:sym typeface="+mn-ea"/>
              </a:rPr>
              <a:t>演员：公园：演出</a:t>
            </a:r>
            <a:endParaRPr lang="zh-CN" altLang="en-US" sz="2400" b="1"/>
          </a:p>
          <a:p>
            <a:r>
              <a:rPr sz="2400" b="1">
                <a:sym typeface="+mn-ea"/>
              </a:rPr>
              <a:t>A.谣言：微信：查处       B.股民：股市：投资  </a:t>
            </a:r>
            <a:endParaRPr lang="zh-CN" altLang="en-US" sz="2400" b="1"/>
          </a:p>
          <a:p>
            <a:r>
              <a:rPr sz="2400" b="1">
                <a:sym typeface="+mn-ea"/>
              </a:rPr>
              <a:t>C.士兵：战争：升迁  D.信息：卫星：定位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分析：遣词造句法。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演员</a:t>
            </a:r>
            <a:r>
              <a:rPr sz="2400" b="1">
                <a:solidFill>
                  <a:srgbClr val="FF0000"/>
                </a:solidFill>
                <a:sym typeface="+mn-ea"/>
              </a:rPr>
              <a:t>在</a:t>
            </a:r>
            <a:r>
              <a:rPr sz="2400" b="1">
                <a:sym typeface="+mn-ea"/>
              </a:rPr>
              <a:t>公园</a:t>
            </a:r>
            <a:r>
              <a:rPr sz="2400" b="1">
                <a:solidFill>
                  <a:srgbClr val="FF0000"/>
                </a:solidFill>
                <a:sym typeface="+mn-ea"/>
              </a:rPr>
              <a:t>里</a:t>
            </a:r>
            <a:r>
              <a:rPr sz="2400" b="1">
                <a:sym typeface="+mn-ea"/>
              </a:rPr>
              <a:t>演出。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股民</a:t>
            </a:r>
            <a:r>
              <a:rPr sz="2400" b="1">
                <a:solidFill>
                  <a:srgbClr val="FF0000"/>
                </a:solidFill>
                <a:sym typeface="+mn-ea"/>
              </a:rPr>
              <a:t>在</a:t>
            </a:r>
            <a:r>
              <a:rPr sz="2400" b="1">
                <a:sym typeface="+mn-ea"/>
              </a:rPr>
              <a:t>股市</a:t>
            </a:r>
            <a:r>
              <a:rPr sz="2400" b="1">
                <a:solidFill>
                  <a:srgbClr val="FF0000"/>
                </a:solidFill>
                <a:sym typeface="+mn-ea"/>
              </a:rPr>
              <a:t>里</a:t>
            </a:r>
            <a:r>
              <a:rPr sz="2400" b="1">
                <a:sym typeface="+mn-ea"/>
              </a:rPr>
              <a:t>投资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故选</a:t>
            </a:r>
            <a:r>
              <a:rPr lang="en-US" altLang="zh-CN" sz="2400" b="1">
                <a:sym typeface="+mn-ea"/>
              </a:rPr>
              <a:t>B</a:t>
            </a:r>
            <a:r>
              <a:rPr sz="2400" b="1">
                <a:sym typeface="+mn-ea"/>
              </a:rPr>
              <a:t>。</a:t>
            </a:r>
            <a:endParaRPr lang="zh-CN" altLang="en-US" sz="2400" b="1"/>
          </a:p>
          <a:p>
            <a:endParaRPr lang="zh-CN" altLang="en-US" sz="2400" b="1"/>
          </a:p>
          <a:p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3520" y="523875"/>
            <a:ext cx="11736705" cy="5813425"/>
          </a:xfrm>
        </p:spPr>
        <p:txBody>
          <a:bodyPr/>
          <a:p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作业</a:t>
            </a:r>
            <a:r>
              <a:rPr lang="en-US" altLang="zh-CN"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8</a:t>
            </a:r>
            <a:r>
              <a:rPr lang="en-US" altLang="zh-CN"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—</a:t>
            </a:r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113</a:t>
            </a:r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分析</a:t>
            </a:r>
            <a:r>
              <a:rPr sz="2400">
                <a:sym typeface="+mn-ea"/>
              </a:rPr>
              <a:t>：</a:t>
            </a:r>
            <a:r>
              <a:rPr lang="zh-CN" altLang="en-US" sz="2400" b="1"/>
              <a:t>快餐：中式快餐：日式快餐</a:t>
            </a:r>
            <a:endParaRPr lang="zh-CN" altLang="en-US" sz="2400" b="1"/>
          </a:p>
          <a:p>
            <a:r>
              <a:rPr lang="zh-CN" altLang="en-US" sz="2400" b="1"/>
              <a:t>A.团队：队长：队员        B.行为：合法行为：非法行为</a:t>
            </a:r>
            <a:endParaRPr lang="zh-CN" altLang="en-US" sz="2400" b="1"/>
          </a:p>
          <a:p>
            <a:r>
              <a:rPr lang="zh-CN" altLang="en-US" sz="2400" b="1"/>
              <a:t>C.颜色：黑色：白色        D.体育课：音乐课：英语课</a:t>
            </a:r>
            <a:endParaRPr lang="zh-CN" altLang="en-US" sz="2400" b="1"/>
          </a:p>
          <a:p>
            <a:r>
              <a:rPr lang="zh-CN" altLang="en-US" sz="2400" b="1"/>
              <a:t>分析：</a:t>
            </a:r>
            <a:r>
              <a:rPr sz="2400" b="1">
                <a:solidFill>
                  <a:srgbClr val="00B050"/>
                </a:solidFill>
                <a:sym typeface="+mn-ea"/>
              </a:rPr>
              <a:t>快餐与中式快餐是属种关系</a:t>
            </a:r>
            <a:r>
              <a:rPr sz="2400" b="1">
                <a:sym typeface="+mn-ea"/>
              </a:rPr>
              <a:t>；</a:t>
            </a:r>
            <a:r>
              <a:rPr sz="2400" b="1">
                <a:sym typeface="+mn-ea"/>
              </a:rPr>
              <a:t>快餐与日式快餐是属种关系，</a:t>
            </a:r>
            <a:r>
              <a:rPr sz="2400" b="1">
                <a:solidFill>
                  <a:srgbClr val="00B050"/>
                </a:solidFill>
                <a:sym typeface="+mn-ea"/>
              </a:rPr>
              <a:t>中式快餐与日式快餐是对立关系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r>
              <a:rPr lang="en-US" altLang="zh-CN" sz="2400" b="1">
                <a:sym typeface="+mn-ea"/>
              </a:rPr>
              <a:t>A.</a:t>
            </a:r>
            <a:r>
              <a:rPr sz="2400" b="1">
                <a:sym typeface="+mn-ea"/>
              </a:rPr>
              <a:t>团队与队长是全异关系，</a:t>
            </a:r>
            <a:r>
              <a:rPr sz="2400" b="1">
                <a:sym typeface="+mn-ea"/>
              </a:rPr>
              <a:t>团队与</a:t>
            </a:r>
            <a:r>
              <a:rPr sz="2400" b="1">
                <a:sym typeface="+mn-ea"/>
              </a:rPr>
              <a:t>队员</a:t>
            </a:r>
            <a:r>
              <a:rPr sz="2400" b="1">
                <a:sym typeface="+mn-ea"/>
              </a:rPr>
              <a:t>是全异关系，</a:t>
            </a:r>
            <a:r>
              <a:rPr sz="2400" b="1">
                <a:sym typeface="+mn-ea"/>
              </a:rPr>
              <a:t>队长与队员是交叉关系</a:t>
            </a:r>
            <a:endParaRPr sz="2400" b="1">
              <a:sym typeface="+mn-ea"/>
            </a:endParaRPr>
          </a:p>
          <a:p>
            <a:r>
              <a:rPr lang="en-US" altLang="zh-CN" sz="2400" b="1">
                <a:sym typeface="+mn-ea"/>
              </a:rPr>
              <a:t>B.</a:t>
            </a:r>
            <a:r>
              <a:rPr sz="2400" b="1">
                <a:sym typeface="+mn-ea"/>
              </a:rPr>
              <a:t>行为与合法行为</a:t>
            </a:r>
            <a:r>
              <a:rPr sz="2400" b="1">
                <a:sym typeface="+mn-ea"/>
              </a:rPr>
              <a:t>是属种关系；行为与非合法行为是属种关系；</a:t>
            </a:r>
            <a:r>
              <a:rPr sz="2400" b="1">
                <a:sym typeface="+mn-ea"/>
              </a:rPr>
              <a:t>合法行为与非法行为是矛盾关系。</a:t>
            </a:r>
            <a:endParaRPr lang="zh-CN" altLang="en-US" sz="2400" b="1"/>
          </a:p>
          <a:p>
            <a:r>
              <a:rPr lang="en-US" altLang="zh-CN" sz="2400" b="1">
                <a:sym typeface="+mn-ea"/>
              </a:rPr>
              <a:t>C.</a:t>
            </a:r>
            <a:r>
              <a:rPr sz="2400" b="1">
                <a:solidFill>
                  <a:srgbClr val="00B050"/>
                </a:solidFill>
                <a:sym typeface="+mn-ea"/>
              </a:rPr>
              <a:t>颜色与黑色</a:t>
            </a:r>
            <a:r>
              <a:rPr sz="2400" b="1">
                <a:solidFill>
                  <a:srgbClr val="00B050"/>
                </a:solidFill>
                <a:sym typeface="+mn-ea"/>
              </a:rPr>
              <a:t>是属种关系</a:t>
            </a:r>
            <a:r>
              <a:rPr sz="2400" b="1">
                <a:sym typeface="+mn-ea"/>
              </a:rPr>
              <a:t>；颜色与黑色是属种关系，</a:t>
            </a:r>
            <a:r>
              <a:rPr sz="2400" b="1">
                <a:solidFill>
                  <a:srgbClr val="00B050"/>
                </a:solidFill>
                <a:sym typeface="+mn-ea"/>
              </a:rPr>
              <a:t>黑色与白色</a:t>
            </a:r>
            <a:r>
              <a:rPr sz="2400" b="1">
                <a:solidFill>
                  <a:srgbClr val="00B050"/>
                </a:solidFill>
                <a:sym typeface="+mn-ea"/>
              </a:rPr>
              <a:t>是对立关系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r>
              <a:rPr lang="en-US" altLang="zh-CN" sz="2400" b="1">
                <a:sym typeface="+mn-ea"/>
              </a:rPr>
              <a:t>D. </a:t>
            </a:r>
            <a:r>
              <a:rPr sz="2400" b="1">
                <a:sym typeface="+mn-ea"/>
              </a:rPr>
              <a:t>体育课、音乐课与英语课两两之间是对立关系。故选</a:t>
            </a:r>
            <a:r>
              <a:rPr lang="en-US" altLang="zh-CN" sz="2400" b="1">
                <a:sym typeface="+mn-ea"/>
              </a:rPr>
              <a:t>C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405" y="213360"/>
            <a:ext cx="11444605" cy="6123940"/>
          </a:xfrm>
        </p:spPr>
        <p:txBody>
          <a:bodyPr/>
          <a:p>
            <a:pPr>
              <a:spcAft>
                <a:spcPts val="500"/>
              </a:spcAft>
            </a:pPr>
            <a:r>
              <a:rPr sz="2400" b="1">
                <a:solidFill>
                  <a:srgbClr val="00B050"/>
                </a:solidFill>
                <a:sym typeface="+mn-ea"/>
              </a:rPr>
              <a:t>作业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9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—</a:t>
            </a:r>
            <a:r>
              <a:rPr sz="2400" b="1">
                <a:solidFill>
                  <a:srgbClr val="00B050"/>
                </a:solidFill>
                <a:sym typeface="+mn-ea"/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114</a:t>
            </a:r>
            <a:r>
              <a:rPr sz="2400" b="1">
                <a:solidFill>
                  <a:srgbClr val="00B050"/>
                </a:solidFill>
                <a:sym typeface="+mn-ea"/>
              </a:rPr>
              <a:t>（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2019</a:t>
            </a:r>
            <a:r>
              <a:rPr sz="2400" b="1">
                <a:solidFill>
                  <a:srgbClr val="00B050"/>
                </a:solidFill>
                <a:sym typeface="+mn-ea"/>
              </a:rPr>
              <a:t>下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-</a:t>
            </a:r>
            <a:r>
              <a:rPr sz="2400" b="1">
                <a:solidFill>
                  <a:srgbClr val="00B050"/>
                </a:solidFill>
                <a:sym typeface="+mn-ea"/>
              </a:rPr>
              <a:t>73）分析</a:t>
            </a:r>
            <a:r>
              <a:rPr sz="2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400" b="1"/>
              <a:t>红颜：蛾眉：女性</a:t>
            </a:r>
            <a:endParaRPr lang="zh-CN" altLang="en-US" sz="2400" b="1"/>
          </a:p>
          <a:p>
            <a:pPr>
              <a:spcAft>
                <a:spcPts val="500"/>
              </a:spcAft>
            </a:pPr>
            <a:r>
              <a:rPr lang="en-US" altLang="zh-CN" sz="2400" b="1"/>
              <a:t>A.</a:t>
            </a:r>
            <a:r>
              <a:rPr lang="zh-CN" altLang="en-US" sz="2400" b="1"/>
              <a:t>襁褓：垂髫：幼儿          B.花甲：耄耋：老人  </a:t>
            </a:r>
            <a:endParaRPr lang="zh-CN" altLang="en-US" sz="2400" b="1"/>
          </a:p>
          <a:p>
            <a:pPr>
              <a:spcAft>
                <a:spcPts val="500"/>
              </a:spcAft>
            </a:pPr>
            <a:r>
              <a:rPr lang="zh-CN" altLang="en-US" sz="2400" b="1"/>
              <a:t>C.四海：八荒：天下          D.婵娟：玉盘：月亮</a:t>
            </a:r>
            <a:endParaRPr lang="zh-CN" altLang="en-US" sz="2400" b="1"/>
          </a:p>
          <a:p>
            <a:pPr>
              <a:spcAft>
                <a:spcPts val="500"/>
              </a:spcAft>
            </a:pPr>
            <a:r>
              <a:rPr sz="2400" b="1">
                <a:sym typeface="+mn-ea"/>
              </a:rPr>
              <a:t>分析：</a:t>
            </a:r>
            <a:r>
              <a:rPr sz="2400" b="1">
                <a:sym typeface="+mn-ea"/>
              </a:rPr>
              <a:t>红颜与蛾眉都可以指代美丽的女性。</a:t>
            </a:r>
            <a:r>
              <a:rPr sz="2400" b="1">
                <a:solidFill>
                  <a:srgbClr val="00B050"/>
                </a:solidFill>
                <a:sym typeface="+mn-ea"/>
              </a:rPr>
              <a:t>红颜与蛾眉是全同关系，二者分别与女性是种属关系。</a:t>
            </a:r>
            <a:endParaRPr sz="2400" b="1">
              <a:solidFill>
                <a:srgbClr val="00B050"/>
              </a:solidFill>
              <a:sym typeface="+mn-ea"/>
            </a:endParaRPr>
          </a:p>
          <a:p>
            <a:pPr>
              <a:spcAft>
                <a:spcPts val="500"/>
              </a:spcAft>
            </a:pPr>
            <a:r>
              <a:rPr lang="en-US" altLang="zh-CN" sz="2400" b="1">
                <a:sym typeface="+mn-ea"/>
              </a:rPr>
              <a:t>A.</a:t>
            </a:r>
            <a:r>
              <a:rPr sz="2400" b="1">
                <a:sym typeface="+mn-ea"/>
              </a:rPr>
              <a:t>襁褓指未满周岁婴儿，垂髫（</a:t>
            </a:r>
            <a:r>
              <a:rPr lang="en-US" altLang="zh-CN" sz="2400" b="1">
                <a:sym typeface="+mn-ea"/>
              </a:rPr>
              <a:t>tiao</a:t>
            </a:r>
            <a:r>
              <a:rPr sz="2400" b="1">
                <a:sym typeface="+mn-ea"/>
              </a:rPr>
              <a:t>，儿童下垂的头发）指三四岁至七八岁的儿童，幼儿指一至六岁的孩子，襁褓与垂髫不能指代幼儿，</a:t>
            </a:r>
            <a:r>
              <a:rPr sz="2400" b="1">
                <a:solidFill>
                  <a:srgbClr val="00B050"/>
                </a:solidFill>
                <a:sym typeface="+mn-ea"/>
              </a:rPr>
              <a:t>与题干关系不一致</a:t>
            </a:r>
            <a:r>
              <a:rPr sz="2400" b="1">
                <a:sym typeface="+mn-ea"/>
              </a:rPr>
              <a:t>。</a:t>
            </a:r>
            <a:r>
              <a:rPr lang="en-US" altLang="zh-CN" sz="2400" b="1">
                <a:sym typeface="+mn-ea"/>
              </a:rPr>
              <a:t>B.</a:t>
            </a:r>
            <a:r>
              <a:rPr sz="2400" b="1">
                <a:sym typeface="+mn-ea"/>
              </a:rPr>
              <a:t>花甲指</a:t>
            </a:r>
            <a:r>
              <a:rPr lang="en-US" altLang="zh-CN" sz="2400" b="1">
                <a:sym typeface="+mn-ea"/>
              </a:rPr>
              <a:t>60</a:t>
            </a:r>
            <a:r>
              <a:rPr sz="2400" b="1">
                <a:sym typeface="+mn-ea"/>
              </a:rPr>
              <a:t>岁，耄耋（</a:t>
            </a:r>
            <a:r>
              <a:rPr lang="en-US" altLang="zh-CN" sz="2400" b="1">
                <a:sym typeface="+mn-ea"/>
              </a:rPr>
              <a:t>maodie )</a:t>
            </a:r>
            <a:r>
              <a:rPr sz="2400" b="1">
                <a:sym typeface="+mn-ea"/>
              </a:rPr>
              <a:t>指八十至九十岁，</a:t>
            </a:r>
            <a:r>
              <a:rPr sz="2400" b="1">
                <a:solidFill>
                  <a:schemeClr val="tx1"/>
                </a:solidFill>
                <a:latin typeface="+mn-ea"/>
                <a:sym typeface="+mn-ea"/>
              </a:rPr>
              <a:t>二者均特指某个年龄段的老人</a:t>
            </a:r>
            <a:r>
              <a:rPr sz="2400" b="1">
                <a:solidFill>
                  <a:schemeClr val="tx1"/>
                </a:solidFill>
                <a:sym typeface="+mn-ea"/>
              </a:rPr>
              <a:t>，</a:t>
            </a:r>
            <a:r>
              <a:rPr sz="2400" b="1">
                <a:solidFill>
                  <a:srgbClr val="00B050"/>
                </a:solidFill>
                <a:sym typeface="+mn-ea"/>
              </a:rPr>
              <a:t>不能泛指老人</a:t>
            </a:r>
            <a:r>
              <a:rPr sz="2400" b="1">
                <a:sym typeface="+mn-ea"/>
              </a:rPr>
              <a:t>，</a:t>
            </a:r>
            <a:r>
              <a:rPr sz="2400" b="1">
                <a:sym typeface="+mn-ea"/>
              </a:rPr>
              <a:t>与题干关系不一致。</a:t>
            </a:r>
            <a:endParaRPr sz="2400" b="1">
              <a:sym typeface="+mn-ea"/>
            </a:endParaRPr>
          </a:p>
          <a:p>
            <a:pPr>
              <a:spcAft>
                <a:spcPts val="500"/>
              </a:spcAft>
            </a:pPr>
            <a:r>
              <a:rPr sz="2400" b="1">
                <a:sym typeface="+mn-ea"/>
              </a:rPr>
              <a:t>C.四海与八荒均意为天下，</a:t>
            </a:r>
            <a:r>
              <a:rPr sz="2400" b="1">
                <a:solidFill>
                  <a:srgbClr val="00B050"/>
                </a:solidFill>
                <a:sym typeface="+mn-ea"/>
              </a:rPr>
              <a:t>三者是</a:t>
            </a:r>
            <a:r>
              <a:rPr sz="2400" b="1">
                <a:solidFill>
                  <a:srgbClr val="00B050"/>
                </a:solidFill>
                <a:sym typeface="+mn-ea"/>
              </a:rPr>
              <a:t>是全同关系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pPr>
              <a:spcAft>
                <a:spcPts val="500"/>
              </a:spcAft>
            </a:pPr>
            <a:r>
              <a:rPr sz="2400" b="1">
                <a:sym typeface="+mn-ea"/>
              </a:rPr>
              <a:t>D.婵娟与玉盘均指皎洁圆滑的月亮，</a:t>
            </a:r>
            <a:r>
              <a:rPr sz="2400" b="1">
                <a:solidFill>
                  <a:srgbClr val="00B050"/>
                </a:solidFill>
                <a:sym typeface="+mn-ea"/>
              </a:rPr>
              <a:t>婵娟与玉盘是全同关系，二者分别与月亮是种属关系。故选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D.</a:t>
            </a:r>
            <a:endParaRPr lang="en-US" altLang="zh-CN" sz="2400" b="1">
              <a:solidFill>
                <a:srgbClr val="00B050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6390" y="505460"/>
            <a:ext cx="11487150" cy="5831840"/>
          </a:xfrm>
        </p:spPr>
        <p:txBody>
          <a:bodyPr/>
          <a:p>
            <a:r>
              <a:rPr sz="2400" b="1">
                <a:solidFill>
                  <a:srgbClr val="00B050"/>
                </a:solidFill>
                <a:sym typeface="+mn-ea"/>
              </a:rPr>
              <a:t>作业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10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—</a:t>
            </a:r>
            <a:r>
              <a:rPr sz="2400" b="1">
                <a:solidFill>
                  <a:srgbClr val="00B050"/>
                </a:solidFill>
                <a:sym typeface="+mn-ea"/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115</a:t>
            </a:r>
            <a:r>
              <a:rPr sz="2400" b="1">
                <a:solidFill>
                  <a:srgbClr val="00B050"/>
                </a:solidFill>
                <a:sym typeface="+mn-ea"/>
              </a:rPr>
              <a:t>（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2019</a:t>
            </a:r>
            <a:r>
              <a:rPr sz="2400" b="1">
                <a:solidFill>
                  <a:srgbClr val="00B050"/>
                </a:solidFill>
                <a:sym typeface="+mn-ea"/>
              </a:rPr>
              <a:t>下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-</a:t>
            </a:r>
            <a:r>
              <a:rPr sz="2400" b="1">
                <a:solidFill>
                  <a:srgbClr val="00B050"/>
                </a:solidFill>
                <a:sym typeface="+mn-ea"/>
              </a:rPr>
              <a:t>7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4</a:t>
            </a:r>
            <a:r>
              <a:rPr sz="2400" b="1">
                <a:solidFill>
                  <a:srgbClr val="00B050"/>
                </a:solidFill>
                <a:sym typeface="+mn-ea"/>
              </a:rPr>
              <a:t>）分析</a:t>
            </a:r>
            <a:r>
              <a:rPr sz="2400">
                <a:sym typeface="+mn-ea"/>
              </a:rPr>
              <a:t>：</a:t>
            </a:r>
            <a:r>
              <a:rPr sz="2400" b="1">
                <a:sym typeface="+mn-ea"/>
              </a:rPr>
              <a:t>页面设置：页边距：文字方向</a:t>
            </a:r>
            <a:endParaRPr lang="zh-CN" altLang="en-US" sz="2400" b="1"/>
          </a:p>
          <a:p>
            <a:r>
              <a:rPr sz="2400" b="1">
                <a:sym typeface="+mn-ea"/>
              </a:rPr>
              <a:t>A.插入图片：公式：页码        B.字体设置：宋体：黑体  </a:t>
            </a:r>
            <a:endParaRPr lang="zh-CN" altLang="en-US" sz="2400" b="1"/>
          </a:p>
          <a:p>
            <a:r>
              <a:rPr lang="en-US" altLang="zh-CN" sz="2400" b="1">
                <a:sym typeface="+mn-ea"/>
              </a:rPr>
              <a:t>C</a:t>
            </a:r>
            <a:r>
              <a:rPr sz="2400" b="1">
                <a:sym typeface="+mn-ea"/>
              </a:rPr>
              <a:t>.邮件发送：附件：正文        D.保存文档：硬盘：手机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分析：</a:t>
            </a:r>
            <a:r>
              <a:rPr sz="2400" b="1">
                <a:solidFill>
                  <a:srgbClr val="00B050"/>
                </a:solidFill>
                <a:sym typeface="+mn-ea"/>
              </a:rPr>
              <a:t>页面设置包括页边距与文字方向，页边距与文字方向是并列关系。</a:t>
            </a:r>
            <a:endParaRPr sz="2400" b="1">
              <a:sym typeface="+mn-ea"/>
            </a:endParaRPr>
          </a:p>
          <a:p>
            <a:r>
              <a:rPr lang="en-US" altLang="zh-CN" sz="2400" b="1">
                <a:sym typeface="+mn-ea"/>
              </a:rPr>
              <a:t>A.</a:t>
            </a:r>
            <a:r>
              <a:rPr sz="2400" b="1">
                <a:sym typeface="+mn-ea"/>
              </a:rPr>
              <a:t>公式与页码都是插入功能下的具体内容，二者是并列关系，插入图片是具体操作过程，与题干关系不一致。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B.</a:t>
            </a:r>
            <a:r>
              <a:rPr sz="2400" b="1">
                <a:solidFill>
                  <a:srgbClr val="00B050"/>
                </a:solidFill>
                <a:sym typeface="+mn-ea"/>
              </a:rPr>
              <a:t>字体设置与宋体和黑体是具体设置的对应关系，与题干中的包含关系不同</a:t>
            </a:r>
            <a:endParaRPr sz="2400" b="1">
              <a:solidFill>
                <a:srgbClr val="00B050"/>
              </a:solidFill>
              <a:sym typeface="+mn-ea"/>
            </a:endParaRPr>
          </a:p>
          <a:p>
            <a:r>
              <a:rPr lang="en-US" altLang="zh-CN" sz="2400" b="1">
                <a:sym typeface="+mn-ea"/>
              </a:rPr>
              <a:t>C</a:t>
            </a:r>
            <a:r>
              <a:rPr sz="2400" b="1">
                <a:sym typeface="+mn-ea"/>
              </a:rPr>
              <a:t>.邮件发送包括附件与正文，附件与正文是并列关系，与题干关系一致。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D.</a:t>
            </a:r>
            <a:r>
              <a:rPr sz="2400" b="1">
                <a:solidFill>
                  <a:srgbClr val="00B050"/>
                </a:solidFill>
                <a:sym typeface="+mn-ea"/>
              </a:rPr>
              <a:t>硬盘与手机用于保存文档，是功能关系，与题干包含关系不同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故选</a:t>
            </a:r>
            <a:r>
              <a:rPr lang="en-US" altLang="zh-CN" sz="2400" b="1">
                <a:sym typeface="+mn-ea"/>
              </a:rPr>
              <a:t>C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endParaRPr lang="zh-CN" altLang="en-US" sz="2400" b="1"/>
          </a:p>
          <a:p>
            <a:endParaRPr lang="zh-CN" altLang="en-US" sz="2400" b="1"/>
          </a:p>
          <a:p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一、复合命题推理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>
                <a:solidFill>
                  <a:srgbClr val="FF0000"/>
                </a:solidFill>
              </a:rPr>
              <a:t>基础知识参见：《逻辑思维训练课件》中的逻辑</a:t>
            </a:r>
            <a:r>
              <a:rPr lang="en-US" altLang="zh-CN" sz="2400" b="1">
                <a:solidFill>
                  <a:srgbClr val="FF0000"/>
                </a:solidFill>
              </a:rPr>
              <a:t>3-</a:t>
            </a:r>
            <a:r>
              <a:rPr sz="2400" b="1">
                <a:solidFill>
                  <a:srgbClr val="FF0000"/>
                </a:solidFill>
              </a:rPr>
              <a:t>逻辑</a:t>
            </a:r>
            <a:r>
              <a:rPr lang="en-US" altLang="zh-CN" sz="2400" b="1">
                <a:solidFill>
                  <a:srgbClr val="FF0000"/>
                </a:solidFill>
              </a:rPr>
              <a:t>6</a:t>
            </a:r>
            <a:endParaRPr lang="en-US" altLang="zh-CN" sz="2400" b="1">
              <a:solidFill>
                <a:srgbClr val="FF0000"/>
              </a:solidFill>
            </a:endParaRPr>
          </a:p>
          <a:p>
            <a:r>
              <a:rPr lang="en-US" altLang="zh-CN" sz="2400" b="1">
                <a:solidFill>
                  <a:srgbClr val="00B050"/>
                </a:solidFill>
              </a:rPr>
              <a:t>真题116</a:t>
            </a:r>
            <a:r>
              <a:rPr sz="2400" b="1">
                <a:solidFill>
                  <a:srgbClr val="00B050"/>
                </a:solidFill>
              </a:rPr>
              <a:t>（联言命题）</a:t>
            </a:r>
            <a:r>
              <a:rPr sz="2400" b="1">
                <a:solidFill>
                  <a:schemeClr val="tx1"/>
                </a:solidFill>
              </a:rPr>
              <a:t>：</a:t>
            </a:r>
            <a:r>
              <a:rPr lang="en-US" altLang="zh-CN" sz="2400" b="1">
                <a:solidFill>
                  <a:schemeClr val="tx1"/>
                </a:solidFill>
              </a:rPr>
              <a:t>某研究所人员结构状况如下：所有女性都拥有博士学位，有的男博士有高级职称，但所里也存在既没有博士学位也没有高级职称的人员。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根据以上陈述，可以推出以下哪项：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A.有的男性没有高级职称                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B.有的女性没有高级职称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C.所有男性都拥有高级职称             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D.有的女性没有高级职称</a:t>
            </a:r>
            <a:endParaRPr sz="2400" b="1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00B050"/>
                </a:solidFill>
                <a:sym typeface="+mn-ea"/>
              </a:rPr>
              <a:t>真题116</a:t>
            </a:r>
            <a:r>
              <a:rPr>
                <a:solidFill>
                  <a:srgbClr val="00B050"/>
                </a:solidFill>
                <a:sym typeface="+mn-ea"/>
              </a:rPr>
              <a:t>（联言命题）</a:t>
            </a:r>
            <a:r>
              <a:rPr>
                <a:solidFill>
                  <a:srgbClr val="00B050"/>
                </a:solidFill>
                <a:sym typeface="+mn-ea"/>
              </a:rPr>
              <a:t>分析</a:t>
            </a:r>
            <a:endParaRPr>
              <a:solidFill>
                <a:srgbClr val="00B05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400" b="1">
                <a:solidFill>
                  <a:schemeClr val="tx1"/>
                </a:solidFill>
              </a:rPr>
              <a:t>某研究所人员结构状况如下：</a:t>
            </a:r>
            <a:r>
              <a:rPr lang="en-US" altLang="zh-CN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sz="2400" b="1">
                <a:solidFill>
                  <a:srgbClr val="00B050"/>
                </a:solidFill>
              </a:rPr>
              <a:t>所有女性都拥有博士学位</a:t>
            </a:r>
            <a:r>
              <a:rPr lang="en-US" altLang="zh-CN" sz="2400" b="1">
                <a:solidFill>
                  <a:schemeClr val="tx1"/>
                </a:solidFill>
              </a:rPr>
              <a:t>，有的男博士有高级职称，但所里也存在</a:t>
            </a:r>
            <a:r>
              <a:rPr lang="en-US" altLang="zh-CN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US" altLang="zh-CN" sz="2400" b="1">
                <a:solidFill>
                  <a:srgbClr val="00B050"/>
                </a:solidFill>
              </a:rPr>
              <a:t>既没有博士学位也没有高级职称的人员</a:t>
            </a:r>
            <a:r>
              <a:rPr lang="en-US" altLang="zh-CN" sz="2400" b="1">
                <a:solidFill>
                  <a:schemeClr val="tx1"/>
                </a:solidFill>
              </a:rPr>
              <a:t>。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根据以上陈述，可以推出以下哪项：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A.有的男性没有高级职称              B.有的女性没有高级职称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lang="en-US" altLang="zh-CN" sz="2400" b="1">
                <a:solidFill>
                  <a:schemeClr val="tx1"/>
                </a:solidFill>
              </a:rPr>
              <a:t>C.所有男性都拥有高级职称           D.有的女性没有高级职称</a:t>
            </a:r>
            <a:endParaRPr lang="en-US" altLang="zh-CN" sz="2400" b="1">
              <a:solidFill>
                <a:schemeClr val="tx1"/>
              </a:solidFill>
            </a:endParaRPr>
          </a:p>
          <a:p>
            <a:r>
              <a:rPr sz="2400" b="1">
                <a:solidFill>
                  <a:schemeClr val="tx1"/>
                </a:solidFill>
              </a:rPr>
              <a:t>分析：</a:t>
            </a:r>
            <a:r>
              <a:rPr sz="2400" b="1">
                <a:solidFill>
                  <a:srgbClr val="00B050"/>
                </a:solidFill>
                <a:latin typeface="+mn-ea"/>
                <a:sym typeface="+mn-ea"/>
              </a:rPr>
              <a:t>联言命题否定一个支命题则否定整个命题</a:t>
            </a:r>
            <a:r>
              <a:rPr sz="2400" b="1">
                <a:solidFill>
                  <a:schemeClr val="tx1"/>
                </a:solidFill>
                <a:latin typeface="+mn-ea"/>
                <a:sym typeface="+mn-ea"/>
              </a:rPr>
              <a:t>，根据</a:t>
            </a:r>
            <a:r>
              <a:rPr lang="en-US" altLang="zh-CN" sz="2400" b="1">
                <a:solidFill>
                  <a:schemeClr val="tx1"/>
                </a:solidFill>
                <a:latin typeface="+mn-ea"/>
                <a:sym typeface="+mn-ea"/>
              </a:rPr>
              <a:t>①</a:t>
            </a:r>
            <a:r>
              <a:rPr sz="2400" b="1">
                <a:solidFill>
                  <a:schemeClr val="tx1"/>
                </a:solidFill>
                <a:latin typeface="+mn-ea"/>
                <a:sym typeface="+mn-ea"/>
              </a:rPr>
              <a:t>可知：</a:t>
            </a:r>
            <a:r>
              <a:rPr lang="en-US" altLang="zh-CN" sz="2400" b="1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</a:t>
            </a:r>
            <a:r>
              <a:rPr lang="en-US" altLang="zh-CN" sz="2400" b="1">
                <a:solidFill>
                  <a:schemeClr val="tx1"/>
                </a:solidFill>
                <a:latin typeface="+mn-ea"/>
                <a:sym typeface="+mn-ea"/>
              </a:rPr>
              <a:t>既没有博士学位也没有高级职称的人员</a:t>
            </a:r>
            <a:r>
              <a:rPr sz="2400" b="1">
                <a:solidFill>
                  <a:schemeClr val="tx1"/>
                </a:solidFill>
                <a:latin typeface="+mn-ea"/>
                <a:sym typeface="+mn-ea"/>
              </a:rPr>
              <a:t>只能够是男性，</a:t>
            </a:r>
            <a:r>
              <a:rPr sz="2400" b="1">
                <a:solidFill>
                  <a:srgbClr val="00B050"/>
                </a:solidFill>
                <a:latin typeface="+mn-ea"/>
                <a:sym typeface="+mn-ea"/>
              </a:rPr>
              <a:t>肯定</a:t>
            </a:r>
            <a:r>
              <a:rPr sz="2400" b="1">
                <a:solidFill>
                  <a:srgbClr val="00B050"/>
                </a:solidFill>
                <a:latin typeface="+mn-ea"/>
                <a:sym typeface="+mn-ea"/>
              </a:rPr>
              <a:t>联言命题就可以肯定所有支命题</a:t>
            </a:r>
            <a:r>
              <a:rPr sz="2400" b="1">
                <a:solidFill>
                  <a:schemeClr val="tx1"/>
                </a:solidFill>
                <a:latin typeface="+mn-ea"/>
                <a:sym typeface="+mn-ea"/>
              </a:rPr>
              <a:t>，因此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有的男性没有高级职称</a:t>
            </a:r>
            <a:r>
              <a:rPr sz="2400" b="1">
                <a:solidFill>
                  <a:schemeClr val="tx1"/>
                </a:solidFill>
                <a:sym typeface="+mn-ea"/>
              </a:rPr>
              <a:t>，故选</a:t>
            </a:r>
            <a:r>
              <a:rPr lang="en-US" altLang="zh-CN" sz="2400" b="1">
                <a:solidFill>
                  <a:schemeClr val="tx1"/>
                </a:solidFill>
                <a:sym typeface="+mn-ea"/>
              </a:rPr>
              <a:t>A</a:t>
            </a:r>
            <a:r>
              <a:rPr sz="2400" b="1">
                <a:solidFill>
                  <a:schemeClr val="tx1"/>
                </a:solidFill>
                <a:sym typeface="+mn-ea"/>
              </a:rPr>
              <a:t>。</a:t>
            </a:r>
            <a:endParaRPr sz="2400" b="1">
              <a:solidFill>
                <a:schemeClr val="tx1"/>
              </a:solidFill>
              <a:latin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真题</a:t>
            </a:r>
            <a:r>
              <a:rPr lang="en-US" altLang="zh-CN">
                <a:solidFill>
                  <a:srgbClr val="00B050"/>
                </a:solidFill>
              </a:rPr>
              <a:t>117</a:t>
            </a:r>
            <a:r>
              <a:rPr>
                <a:solidFill>
                  <a:srgbClr val="00B050"/>
                </a:solidFill>
              </a:rPr>
              <a:t>（选言命题）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/>
              <a:t>有两种农产品甲和乙，甲不能生长在干旱的气候里，乙不能生长在寒冷的气候里。在某个国家的大部分地区，或者可以种植农产品甲，或者可以种植农产品乙。</a:t>
            </a:r>
            <a:endParaRPr lang="zh-CN" altLang="en-US" sz="2400" b="1"/>
          </a:p>
          <a:p>
            <a:r>
              <a:rPr lang="zh-CN" altLang="en-US" sz="2400" b="1"/>
              <a:t>如果以上陈述为真，则以下哪项一定为假？</a:t>
            </a:r>
            <a:endParaRPr lang="zh-CN" altLang="en-US" sz="2400" b="1"/>
          </a:p>
          <a:p>
            <a:r>
              <a:rPr lang="zh-CN" altLang="en-US" sz="2400" b="1"/>
              <a:t>A.这个国家有一半地区的气候既干旱又寒冷</a:t>
            </a:r>
            <a:endParaRPr lang="zh-CN" altLang="en-US" sz="2400" b="1"/>
          </a:p>
          <a:p>
            <a:r>
              <a:rPr lang="zh-CN" altLang="en-US" sz="2400" b="1"/>
              <a:t>B.这个国家大部分地区的气候是非常寒冷的</a:t>
            </a:r>
            <a:endParaRPr lang="zh-CN" altLang="en-US" sz="2400" b="1"/>
          </a:p>
          <a:p>
            <a:r>
              <a:rPr lang="zh-CN" altLang="en-US" sz="2400" b="1"/>
              <a:t>C.这个国家根本不种植农产品甲</a:t>
            </a:r>
            <a:endParaRPr lang="zh-CN" altLang="en-US" sz="2400" b="1"/>
          </a:p>
          <a:p>
            <a:r>
              <a:rPr lang="zh-CN" altLang="en-US" sz="2400" b="1"/>
              <a:t>D.这个国家只能种植农产品甲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419735"/>
            <a:ext cx="10852150" cy="5917565"/>
          </a:xfrm>
        </p:spPr>
        <p:txBody>
          <a:bodyPr/>
          <a:p>
            <a:r>
              <a:rPr sz="2400" b="1">
                <a:solidFill>
                  <a:srgbClr val="00B050"/>
                </a:solidFill>
                <a:sym typeface="+mn-ea"/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117</a:t>
            </a:r>
            <a:r>
              <a:rPr sz="2400" b="1">
                <a:solidFill>
                  <a:srgbClr val="00B050"/>
                </a:solidFill>
                <a:sym typeface="+mn-ea"/>
              </a:rPr>
              <a:t>分析</a:t>
            </a:r>
            <a:r>
              <a:rPr sz="2400" b="1">
                <a:solidFill>
                  <a:srgbClr val="00B050"/>
                </a:solidFill>
                <a:sym typeface="+mn-ea"/>
              </a:rPr>
              <a:t>（选言命题）：</a:t>
            </a:r>
            <a:endParaRPr sz="2400">
              <a:solidFill>
                <a:srgbClr val="00B050"/>
              </a:solidFill>
            </a:endParaRPr>
          </a:p>
          <a:p>
            <a:r>
              <a:rPr lang="zh-CN" altLang="en-US" sz="2400" b="1"/>
              <a:t>有两种农产品甲和乙，</a:t>
            </a:r>
            <a:r>
              <a:rPr lang="zh-CN" altLang="en-US" sz="2400" b="1">
                <a:solidFill>
                  <a:srgbClr val="FF0000"/>
                </a:solidFill>
              </a:rPr>
              <a:t>甲不能生长在干旱</a:t>
            </a:r>
            <a:r>
              <a:rPr lang="zh-CN" altLang="en-US" sz="2400" b="1"/>
              <a:t>的气候里，</a:t>
            </a:r>
            <a:r>
              <a:rPr lang="zh-CN" altLang="en-US" sz="2400" b="1">
                <a:solidFill>
                  <a:srgbClr val="FF0000"/>
                </a:solidFill>
              </a:rPr>
              <a:t>乙不能生长在寒冷</a:t>
            </a:r>
            <a:r>
              <a:rPr lang="zh-CN" altLang="en-US" sz="2400" b="1"/>
              <a:t>的气候里。在某个国家的</a:t>
            </a:r>
            <a:r>
              <a:rPr lang="zh-CN" altLang="en-US" sz="2400" b="1">
                <a:solidFill>
                  <a:srgbClr val="FF0000"/>
                </a:solidFill>
              </a:rPr>
              <a:t>大部分地区，或者可以种植农产品甲，或者可以种植农产品乙</a:t>
            </a:r>
            <a:r>
              <a:rPr lang="zh-CN" altLang="en-US" sz="2400" b="1"/>
              <a:t>。如果以上陈述为真，则以下哪项一定为假？</a:t>
            </a:r>
            <a:endParaRPr lang="zh-CN" altLang="en-US" sz="2400" b="1"/>
          </a:p>
          <a:p>
            <a:r>
              <a:rPr lang="zh-CN" altLang="en-US" sz="2400" b="1"/>
              <a:t>A.这个国家有一半地区的气候既干旱又寒冷</a:t>
            </a:r>
            <a:endParaRPr lang="zh-CN" altLang="en-US" sz="2400" b="1"/>
          </a:p>
          <a:p>
            <a:r>
              <a:rPr lang="zh-CN" altLang="en-US" sz="2400" b="1"/>
              <a:t>B.这个国家大部分地区的气候是非常寒冷的</a:t>
            </a:r>
            <a:endParaRPr lang="zh-CN" altLang="en-US" sz="2400" b="1"/>
          </a:p>
          <a:p>
            <a:r>
              <a:rPr lang="zh-CN" altLang="en-US" sz="2400" b="1"/>
              <a:t>C.这个国家根本不种植农产品甲        D.这个国家只能种植农产品甲</a:t>
            </a:r>
            <a:endParaRPr lang="zh-CN" altLang="en-US" sz="2400" b="1"/>
          </a:p>
          <a:p>
            <a:r>
              <a:rPr lang="zh-CN" altLang="en-US" sz="2400" b="1"/>
              <a:t>分析：种植甲的地方不干旱，种植乙</a:t>
            </a:r>
            <a:r>
              <a:rPr sz="2400" b="1">
                <a:sym typeface="+mn-ea"/>
              </a:rPr>
              <a:t>的地方不寒冷。该国大部分地区，或者可以种植甲，或者可以种植乙，因此</a:t>
            </a:r>
            <a:r>
              <a:rPr sz="2400" b="1">
                <a:sym typeface="+mn-ea"/>
              </a:rPr>
              <a:t>该国大部分地区，</a:t>
            </a:r>
            <a:r>
              <a:rPr sz="2400" b="1">
                <a:solidFill>
                  <a:srgbClr val="FF0000"/>
                </a:solidFill>
                <a:sym typeface="+mn-ea"/>
              </a:rPr>
              <a:t>或者</a:t>
            </a:r>
            <a:r>
              <a:rPr sz="2400" b="1">
                <a:solidFill>
                  <a:srgbClr val="FF0000"/>
                </a:solidFill>
                <a:sym typeface="+mn-ea"/>
              </a:rPr>
              <a:t>不干旱或者不寒冷</a:t>
            </a:r>
            <a:r>
              <a:rPr sz="2400" b="1">
                <a:sym typeface="+mn-ea"/>
              </a:rPr>
              <a:t>，这一选言命题的否定命题就是</a:t>
            </a:r>
            <a:r>
              <a:rPr lang="en-US" altLang="zh-CN" sz="2400" b="1">
                <a:sym typeface="+mn-ea"/>
              </a:rPr>
              <a:t>A</a:t>
            </a:r>
            <a:r>
              <a:rPr sz="2400" b="1">
                <a:sym typeface="+mn-ea"/>
              </a:rPr>
              <a:t>，故</a:t>
            </a:r>
            <a:r>
              <a:rPr lang="en-US" altLang="zh-CN" sz="2400" b="1">
                <a:sym typeface="+mn-ea"/>
              </a:rPr>
              <a:t>A</a:t>
            </a:r>
            <a:r>
              <a:rPr sz="2400" b="1">
                <a:sym typeface="+mn-ea"/>
              </a:rPr>
              <a:t>项一定为假。</a:t>
            </a:r>
            <a:r>
              <a:rPr lang="en-US" altLang="zh-CN" sz="2400" b="1">
                <a:sym typeface="+mn-ea"/>
              </a:rPr>
              <a:t>B</a:t>
            </a:r>
            <a:r>
              <a:rPr sz="2400" b="1">
                <a:sym typeface="+mn-ea"/>
              </a:rPr>
              <a:t>、</a:t>
            </a:r>
            <a:r>
              <a:rPr lang="en-US" altLang="zh-CN" sz="2400" b="1">
                <a:sym typeface="+mn-ea"/>
              </a:rPr>
              <a:t>C</a:t>
            </a:r>
            <a:r>
              <a:rPr sz="2400" b="1">
                <a:sym typeface="+mn-ea"/>
              </a:rPr>
              <a:t>、</a:t>
            </a:r>
            <a:r>
              <a:rPr lang="en-US" altLang="zh-CN" sz="2400" b="1">
                <a:sym typeface="+mn-ea"/>
              </a:rPr>
              <a:t>D</a:t>
            </a:r>
            <a:r>
              <a:rPr sz="2400" b="1">
                <a:sym typeface="+mn-ea"/>
              </a:rPr>
              <a:t>三项真假不定，故选</a:t>
            </a:r>
            <a:r>
              <a:rPr lang="en-US" altLang="zh-CN" sz="2400" b="1">
                <a:sym typeface="+mn-ea"/>
              </a:rPr>
              <a:t>A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强化训练</a:t>
            </a:r>
            <a:r>
              <a:rPr lang="en-US" altLang="zh-CN">
                <a:solidFill>
                  <a:srgbClr val="00B050"/>
                </a:solidFill>
              </a:rPr>
              <a:t>1</a:t>
            </a:r>
            <a:r>
              <a:rPr>
                <a:solidFill>
                  <a:srgbClr val="00B050"/>
                </a:solidFill>
              </a:rPr>
              <a:t>（必要条件假言命题）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/>
              <a:t>亚里士多德学院的门口竖着一块牌子，上面写着“不懂逻辑者不得入内”。这天，来了一群人，他们都是懂逻辑的人。则可以推出：</a:t>
            </a:r>
            <a:endParaRPr lang="zh-CN" altLang="en-US" sz="2400" b="1"/>
          </a:p>
          <a:p>
            <a:r>
              <a:rPr lang="zh-CN" altLang="en-US" sz="2400" b="1"/>
              <a:t>A.他们可能不会被允许进入</a:t>
            </a:r>
            <a:endParaRPr lang="zh-CN" altLang="en-US" sz="2400" b="1"/>
          </a:p>
          <a:p>
            <a:r>
              <a:rPr lang="zh-CN" altLang="en-US" sz="2400" b="1"/>
              <a:t>B.他们一定不会被允许进入</a:t>
            </a:r>
            <a:endParaRPr lang="zh-CN" altLang="en-US" sz="2400" b="1"/>
          </a:p>
          <a:p>
            <a:r>
              <a:rPr lang="zh-CN" altLang="en-US" sz="2400" b="1"/>
              <a:t>C.他们一定会被允许进入</a:t>
            </a:r>
            <a:endParaRPr lang="zh-CN" altLang="en-US" sz="2400" b="1"/>
          </a:p>
          <a:p>
            <a:r>
              <a:rPr lang="zh-CN" altLang="en-US" sz="2400" b="1"/>
              <a:t>D.他们不可能被允许进入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367665"/>
            <a:ext cx="10852150" cy="5969635"/>
          </a:xfrm>
        </p:spPr>
        <p:txBody>
          <a:bodyPr/>
          <a:p>
            <a:r>
              <a:rPr sz="2400" b="1">
                <a:solidFill>
                  <a:srgbClr val="00B050"/>
                </a:solidFill>
                <a:sym typeface="+mn-ea"/>
              </a:rPr>
              <a:t>强化训练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1</a:t>
            </a:r>
            <a:r>
              <a:rPr sz="2400" b="1">
                <a:solidFill>
                  <a:srgbClr val="00B050"/>
                </a:solidFill>
                <a:sym typeface="+mn-ea"/>
              </a:rPr>
              <a:t>分析</a:t>
            </a:r>
            <a:r>
              <a:rPr sz="2400" b="1">
                <a:solidFill>
                  <a:srgbClr val="00B050"/>
                </a:solidFill>
                <a:sym typeface="+mn-ea"/>
              </a:rPr>
              <a:t>（必要条件假言命题）</a:t>
            </a:r>
            <a:r>
              <a:rPr sz="2400" b="1">
                <a:solidFill>
                  <a:srgbClr val="00B050"/>
                </a:solidFill>
                <a:sym typeface="+mn-ea"/>
              </a:rPr>
              <a:t>：</a:t>
            </a:r>
            <a:endParaRPr sz="2400" b="1">
              <a:solidFill>
                <a:srgbClr val="00B050"/>
              </a:solidFill>
              <a:sym typeface="+mn-ea"/>
            </a:endParaRPr>
          </a:p>
          <a:p>
            <a:r>
              <a:rPr lang="zh-CN" altLang="en-US" sz="2400" b="1"/>
              <a:t>亚里士多德学院的门口竖着一块牌子，上面写着“不懂逻辑者不得入内”。这天，来了一群人，他们都是懂逻辑的人。则可以推出：</a:t>
            </a:r>
            <a:endParaRPr lang="zh-CN" altLang="en-US" sz="2400" b="1"/>
          </a:p>
          <a:p>
            <a:r>
              <a:rPr lang="zh-CN" altLang="en-US" sz="2400" b="1"/>
              <a:t>A.他们可能不会被允许进入        B.他们一定不会被允许进入</a:t>
            </a:r>
            <a:endParaRPr lang="zh-CN" altLang="en-US" sz="2400" b="1"/>
          </a:p>
          <a:p>
            <a:r>
              <a:rPr lang="zh-CN" altLang="en-US" sz="2400" b="1"/>
              <a:t>C.他们一定会被允许进入           D.他们不可能被允许进入</a:t>
            </a:r>
            <a:endParaRPr lang="zh-CN" altLang="en-US" sz="2400" b="1"/>
          </a:p>
          <a:p>
            <a:r>
              <a:rPr lang="zh-CN" altLang="en-US" sz="2400" b="1"/>
              <a:t>分析：</a:t>
            </a:r>
            <a:r>
              <a:rPr sz="2400" b="1">
                <a:sym typeface="+mn-ea"/>
              </a:rPr>
              <a:t>“不懂逻辑者不得入内”</a:t>
            </a:r>
            <a:r>
              <a:rPr lang="en-US" altLang="zh-CN" sz="2400" b="1">
                <a:sym typeface="+mn-ea"/>
              </a:rPr>
              <a:t>=“</a:t>
            </a:r>
            <a:r>
              <a:rPr sz="2400" b="1">
                <a:sym typeface="+mn-ea"/>
              </a:rPr>
              <a:t>只有懂逻辑，才能够入内</a:t>
            </a:r>
            <a:r>
              <a:rPr lang="en-US" altLang="zh-CN" sz="2400" b="1">
                <a:sym typeface="+mn-ea"/>
              </a:rPr>
              <a:t>”</a:t>
            </a:r>
            <a:r>
              <a:rPr sz="2400" b="1">
                <a:sym typeface="+mn-ea"/>
              </a:rPr>
              <a:t>。</a:t>
            </a:r>
            <a:endParaRPr sz="2400" b="1">
              <a:sym typeface="+mn-ea"/>
            </a:endParaRPr>
          </a:p>
          <a:p>
            <a:r>
              <a:rPr lang="en-US" altLang="zh-CN" sz="2400" b="1">
                <a:sym typeface="+mn-ea"/>
              </a:rPr>
              <a:t>                              </a:t>
            </a:r>
            <a:r>
              <a:rPr sz="2400" b="1">
                <a:sym typeface="+mn-ea"/>
              </a:rPr>
              <a:t>令</a:t>
            </a:r>
            <a:r>
              <a:rPr lang="en-US" altLang="zh-CN" sz="2400" b="1">
                <a:sym typeface="+mn-ea"/>
              </a:rPr>
              <a:t>p</a:t>
            </a:r>
            <a:r>
              <a:rPr sz="2400" b="1">
                <a:sym typeface="+mn-ea"/>
              </a:rPr>
              <a:t>表示</a:t>
            </a:r>
            <a:r>
              <a:rPr sz="2400" b="1">
                <a:sym typeface="+mn-ea"/>
              </a:rPr>
              <a:t>懂逻辑者，</a:t>
            </a:r>
            <a:r>
              <a:rPr lang="en-US" altLang="zh-CN" sz="2400" b="1">
                <a:sym typeface="+mn-ea"/>
              </a:rPr>
              <a:t>q</a:t>
            </a:r>
            <a:r>
              <a:rPr sz="2400" b="1">
                <a:sym typeface="+mn-ea"/>
              </a:rPr>
              <a:t>表示可以入内的人</a:t>
            </a:r>
            <a:endParaRPr sz="2400" b="1">
              <a:sym typeface="+mn-ea"/>
            </a:endParaRPr>
          </a:p>
          <a:p>
            <a:r>
              <a:rPr sz="2400" b="1">
                <a:sym typeface="+mn-ea"/>
              </a:rPr>
              <a:t>                             </a:t>
            </a:r>
            <a:r>
              <a:rPr lang="en-US" altLang="zh-CN" sz="2400" b="1">
                <a:sym typeface="+mn-ea"/>
              </a:rPr>
              <a:t>“</a:t>
            </a:r>
            <a:r>
              <a:rPr sz="2400" b="1">
                <a:sym typeface="+mn-ea"/>
              </a:rPr>
              <a:t>只有懂逻辑，才能够入内</a:t>
            </a:r>
            <a:r>
              <a:rPr lang="en-US" altLang="zh-CN" sz="2400" b="1">
                <a:sym typeface="+mn-ea"/>
              </a:rPr>
              <a:t>”</a:t>
            </a:r>
            <a:r>
              <a:rPr sz="2400" b="1">
                <a:sym typeface="+mn-ea"/>
              </a:rPr>
              <a:t>可以表示为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p</a:t>
            </a:r>
            <a:r>
              <a:rPr lang="en-US" altLang="zh-CN" sz="2400" b="1">
                <a:latin typeface="+mn-ea"/>
                <a:cs typeface="+mn-ea"/>
                <a:sym typeface="Symbol" panose="05050102010706020507" charset="0"/>
              </a:rPr>
              <a:t>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q</a:t>
            </a:r>
            <a:r>
              <a:rPr sz="2400" b="1">
                <a:latin typeface="+mn-ea"/>
                <a:cs typeface="+mn-ea"/>
                <a:sym typeface="+mn-ea"/>
              </a:rPr>
              <a:t>，</a:t>
            </a:r>
            <a:endParaRPr sz="2400" b="1">
              <a:latin typeface="+mn-ea"/>
              <a:cs typeface="+mn-ea"/>
              <a:sym typeface="+mn-ea"/>
            </a:endParaRPr>
          </a:p>
          <a:p>
            <a:r>
              <a:rPr sz="2400" b="1">
                <a:latin typeface="+mn-ea"/>
                <a:cs typeface="+mn-ea"/>
                <a:sym typeface="+mn-ea"/>
              </a:rPr>
              <a:t>                            在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p</a:t>
            </a:r>
            <a:r>
              <a:rPr sz="2400" b="1">
                <a:latin typeface="+mn-ea"/>
                <a:cs typeface="+mn-ea"/>
                <a:sym typeface="+mn-ea"/>
              </a:rPr>
              <a:t>和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p</a:t>
            </a:r>
            <a:r>
              <a:rPr lang="en-US" altLang="zh-CN" sz="2400" b="1">
                <a:latin typeface="+mn-ea"/>
                <a:cs typeface="+mn-ea"/>
                <a:sym typeface="Symbol" panose="05050102010706020507" charset="0"/>
              </a:rPr>
              <a:t>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q</a:t>
            </a:r>
            <a:r>
              <a:rPr sz="2400" b="1">
                <a:latin typeface="+mn-ea"/>
                <a:cs typeface="+mn-ea"/>
                <a:sym typeface="+mn-ea"/>
              </a:rPr>
              <a:t>均为真时，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q</a:t>
            </a:r>
            <a:r>
              <a:rPr sz="2400" b="1">
                <a:latin typeface="+mn-ea"/>
                <a:cs typeface="+mn-ea"/>
                <a:sym typeface="+mn-ea"/>
              </a:rPr>
              <a:t>可以真可以假，故选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A</a:t>
            </a:r>
            <a:r>
              <a:rPr sz="2400" b="1">
                <a:latin typeface="+mn-ea"/>
                <a:cs typeface="+mn-ea"/>
                <a:sym typeface="+mn-ea"/>
              </a:rPr>
              <a:t>。</a:t>
            </a:r>
            <a:endParaRPr sz="2400" b="1">
              <a:latin typeface="+mn-ea"/>
              <a:cs typeface="+mn-ea"/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05840" y="3685540"/>
          <a:ext cx="27914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190"/>
                <a:gridCol w="638175"/>
                <a:gridCol w="152209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  p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q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  <a:cs typeface="+mn-ea"/>
                        </a:rPr>
                        <a:t>p</a:t>
                      </a:r>
                      <a:r>
                        <a:rPr lang="en-US" altLang="zh-CN" sz="2400" b="1">
                          <a:latin typeface="+mn-ea"/>
                          <a:cs typeface="+mn-ea"/>
                          <a:sym typeface="Symbol" panose="05050102010706020507" charset="0"/>
                        </a:rPr>
                        <a:t></a:t>
                      </a:r>
                      <a:r>
                        <a:rPr lang="en-US" altLang="zh-CN" sz="2400" b="1">
                          <a:latin typeface="+mn-ea"/>
                          <a:cs typeface="+mn-ea"/>
                        </a:rPr>
                        <a:t>q</a:t>
                      </a:r>
                      <a:endParaRPr lang="en-US" altLang="zh-CN" sz="2400" b="1">
                        <a:latin typeface="+mn-ea"/>
                        <a:cs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1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1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1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1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0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1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0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1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0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0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0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+mn-ea"/>
                        </a:rPr>
                        <a:t>1</a:t>
                      </a:r>
                      <a:endParaRPr lang="en-US" altLang="zh-CN" sz="2400" b="1">
                        <a:latin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强化训练</a:t>
            </a:r>
            <a:r>
              <a:rPr lang="en-US" altLang="zh-CN">
                <a:solidFill>
                  <a:srgbClr val="00B050"/>
                </a:solidFill>
              </a:rPr>
              <a:t>2</a:t>
            </a:r>
            <a:r>
              <a:rPr>
                <a:solidFill>
                  <a:srgbClr val="00B050"/>
                </a:solidFill>
                <a:sym typeface="+mn-ea"/>
              </a:rPr>
              <a:t>（充分条件假言命题）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/>
              <a:t>如果不能从工艺和配料方面进行改良，月饼的味道再好，也不能符合现代人对营养方面的需求。由此不能推出的是：</a:t>
            </a:r>
            <a:endParaRPr lang="zh-CN" altLang="en-US" sz="2400" b="1"/>
          </a:p>
          <a:p>
            <a:r>
              <a:rPr lang="zh-CN" altLang="en-US" sz="2400" b="1"/>
              <a:t>A.只有从工艺和配料方面改良了月饼，才能符合现代人对营养方面的需求</a:t>
            </a:r>
            <a:endParaRPr lang="zh-CN" altLang="en-US" sz="2400" b="1"/>
          </a:p>
          <a:p>
            <a:r>
              <a:rPr lang="zh-CN" altLang="en-US" sz="2400" b="1"/>
              <a:t>B.如果月饼符合了现代人对营养方面的需求，说明一定从工艺和配料方面进行了改良</a:t>
            </a:r>
            <a:endParaRPr lang="zh-CN" altLang="en-US" sz="2400" b="1"/>
          </a:p>
          <a:p>
            <a:r>
              <a:rPr lang="zh-CN" altLang="en-US" sz="2400" b="1"/>
              <a:t>C.只要从工艺和配料方面改良了月饼，即使口味不好，也能符合现代人对营养方面的需求</a:t>
            </a:r>
            <a:endParaRPr lang="zh-CN" altLang="en-US" sz="2400" b="1"/>
          </a:p>
          <a:p>
            <a:r>
              <a:rPr lang="zh-CN" altLang="en-US" sz="2400" b="1"/>
              <a:t>D.没有从工艺和配料方面改良月饼，却能符合现代人对营养方面需求的情况是不可能存在的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6845"/>
            <a:ext cx="10852150" cy="6170295"/>
          </a:xfrm>
        </p:spPr>
        <p:txBody>
          <a:bodyPr/>
          <a:p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训练</a:t>
            </a:r>
            <a:r>
              <a:rPr lang="en-US" altLang="zh-CN"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2</a:t>
            </a:r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分析：</a:t>
            </a:r>
            <a:r>
              <a:rPr lang="zh-CN" altLang="en-US" sz="2400" b="1"/>
              <a:t>如果不能从工艺和配料方面进行改良，月饼的味道再好，也不能符合现代人对营养方面的需求。由此不能推出的是：</a:t>
            </a:r>
            <a:endParaRPr lang="zh-CN" altLang="en-US" sz="2400" b="1"/>
          </a:p>
          <a:p>
            <a:r>
              <a:rPr lang="zh-CN" altLang="en-US" sz="2400" b="1"/>
              <a:t>A.只有从工艺和配料方面改良了月饼，才能符合现代人对营养方面的需求</a:t>
            </a:r>
            <a:endParaRPr lang="zh-CN" altLang="en-US" sz="2400" b="1"/>
          </a:p>
          <a:p>
            <a:r>
              <a:rPr lang="zh-CN" altLang="en-US" sz="2400" b="1"/>
              <a:t>B.如果月饼符合了现代人对营养方面的需求，说明一定从工艺和配料方面进行了改良；    C.只要从工艺和配料方面改良了月饼，即使口味不好，也能符合现代人对营养方面的需求；    D.没有从工艺和配料方面改良月饼，却能符合现代人对营养方面需求的情况是不可能存在的</a:t>
            </a:r>
            <a:endParaRPr lang="zh-CN" altLang="en-US" sz="2400" b="1"/>
          </a:p>
          <a:p>
            <a:r>
              <a:rPr lang="zh-CN" altLang="en-US" sz="2400" b="1">
                <a:solidFill>
                  <a:srgbClr val="FF0000"/>
                </a:solidFill>
              </a:rPr>
              <a:t>分析：</a:t>
            </a:r>
            <a:r>
              <a:rPr lang="en-US" altLang="zh-CN" sz="2400" b="1">
                <a:solidFill>
                  <a:srgbClr val="FF0000"/>
                </a:solidFill>
              </a:rPr>
              <a:t>“</a:t>
            </a:r>
            <a:r>
              <a:rPr sz="2400" b="1">
                <a:solidFill>
                  <a:srgbClr val="FF0000"/>
                </a:solidFill>
                <a:sym typeface="+mn-ea"/>
              </a:rPr>
              <a:t>月饼的味道好与不好</a:t>
            </a:r>
            <a:r>
              <a:rPr lang="en-US" altLang="zh-CN" sz="2400" b="1">
                <a:solidFill>
                  <a:srgbClr val="FF0000"/>
                </a:solidFill>
              </a:rPr>
              <a:t>”</a:t>
            </a:r>
            <a:r>
              <a:rPr sz="2400" b="1">
                <a:solidFill>
                  <a:srgbClr val="FF0000"/>
                </a:solidFill>
              </a:rPr>
              <a:t>都不影响题干的前提和结论，可以不管。</a:t>
            </a:r>
            <a:r>
              <a:rPr sz="3200" b="1"/>
              <a:t>（</a:t>
            </a:r>
            <a:r>
              <a:rPr lang="en-US" altLang="zh-CN" sz="3200" b="1"/>
              <a:t>p</a:t>
            </a:r>
            <a:r>
              <a:rPr lang="en-US" altLang="zh-CN" sz="3200" b="1">
                <a:sym typeface="Symbol" panose="05050102010706020507" charset="0"/>
              </a:rPr>
              <a:t></a:t>
            </a:r>
            <a:r>
              <a:rPr lang="en-US" altLang="zh-CN" sz="3200" b="1"/>
              <a:t>q)</a:t>
            </a:r>
            <a:r>
              <a:rPr sz="2400" b="1"/>
              <a:t>（题干）</a:t>
            </a:r>
            <a:r>
              <a:rPr lang="en-US" altLang="zh-CN" sz="3200" b="1">
                <a:sym typeface="Symbol" panose="05050102010706020507" charset="0"/>
              </a:rPr>
              <a:t> (</a:t>
            </a:r>
            <a:r>
              <a:rPr lang="en-US" altLang="zh-CN" sz="3200" b="1">
                <a:sym typeface="+mn-ea"/>
              </a:rPr>
              <a:t>q</a:t>
            </a:r>
            <a:r>
              <a:rPr lang="en-US" altLang="zh-CN" sz="3200" b="1">
                <a:sym typeface="Symbol" panose="05050102010706020507" charset="0"/>
              </a:rPr>
              <a:t>p)</a:t>
            </a:r>
            <a:r>
              <a:rPr sz="2400" b="1">
                <a:sym typeface="Symbol" panose="05050102010706020507" charset="0"/>
              </a:rPr>
              <a:t>（即</a:t>
            </a:r>
            <a:r>
              <a:rPr lang="en-US" altLang="zh-CN" sz="2400" b="1">
                <a:sym typeface="Symbol" panose="05050102010706020507" charset="0"/>
              </a:rPr>
              <a:t>B</a:t>
            </a:r>
            <a:r>
              <a:rPr sz="2400" b="1">
                <a:sym typeface="Symbol" panose="05050102010706020507" charset="0"/>
              </a:rPr>
              <a:t>，</a:t>
            </a:r>
            <a:r>
              <a:rPr sz="2400" b="1">
                <a:solidFill>
                  <a:srgbClr val="FF0000"/>
                </a:solidFill>
                <a:sym typeface="Symbol" panose="05050102010706020507" charset="0"/>
              </a:rPr>
              <a:t>否定后件可以否定前件</a:t>
            </a:r>
            <a:r>
              <a:rPr sz="3200" b="1">
                <a:sym typeface="Symbol" panose="05050102010706020507" charset="0"/>
              </a:rPr>
              <a:t>）</a:t>
            </a:r>
            <a:r>
              <a:rPr lang="en-US" altLang="zh-CN" sz="3200" b="1">
                <a:sym typeface="Symbol" panose="05050102010706020507" charset="0"/>
              </a:rPr>
              <a:t> (pq)</a:t>
            </a:r>
            <a:r>
              <a:rPr lang="en-US" altLang="zh-CN" sz="2400" b="1">
                <a:sym typeface="Symbol" panose="05050102010706020507" charset="0"/>
              </a:rPr>
              <a:t>(</a:t>
            </a:r>
            <a:r>
              <a:rPr sz="2400" b="1">
                <a:sym typeface="Symbol" panose="05050102010706020507" charset="0"/>
              </a:rPr>
              <a:t>即</a:t>
            </a:r>
            <a:r>
              <a:rPr lang="en-US" altLang="zh-CN" sz="2400" b="1">
                <a:sym typeface="Symbol" panose="05050102010706020507" charset="0"/>
              </a:rPr>
              <a:t>A)</a:t>
            </a:r>
            <a:r>
              <a:rPr lang="en-US" altLang="zh-CN" sz="3200" b="1">
                <a:sym typeface="Symbol" panose="05050102010706020507" charset="0"/>
              </a:rPr>
              <a:t>;</a:t>
            </a:r>
            <a:r>
              <a:rPr sz="3200" b="1">
                <a:sym typeface="+mn-ea"/>
              </a:rPr>
              <a:t>（</a:t>
            </a:r>
            <a:r>
              <a:rPr lang="en-US" altLang="zh-CN" sz="3200" b="1">
                <a:sym typeface="+mn-ea"/>
              </a:rPr>
              <a:t>p</a:t>
            </a:r>
            <a:r>
              <a:rPr lang="en-US" altLang="zh-CN" sz="3200" b="1">
                <a:sym typeface="Symbol" panose="05050102010706020507" charset="0"/>
              </a:rPr>
              <a:t></a:t>
            </a:r>
            <a:r>
              <a:rPr lang="en-US" altLang="zh-CN" sz="3200" b="1">
                <a:sym typeface="+mn-ea"/>
              </a:rPr>
              <a:t>q) </a:t>
            </a:r>
            <a:r>
              <a:rPr lang="en-US" altLang="zh-CN" sz="3200" b="1">
                <a:sym typeface="Symbol" panose="05050102010706020507" charset="0"/>
              </a:rPr>
              <a:t>(pq)(pq) (pq)</a:t>
            </a:r>
            <a:r>
              <a:rPr sz="2400" b="1">
                <a:sym typeface="Symbol" panose="05050102010706020507" charset="0"/>
              </a:rPr>
              <a:t>（即</a:t>
            </a:r>
            <a:r>
              <a:rPr lang="en-US" altLang="zh-CN" sz="2400" b="1">
                <a:sym typeface="Symbol" panose="05050102010706020507" charset="0"/>
              </a:rPr>
              <a:t>D)</a:t>
            </a:r>
            <a:r>
              <a:rPr sz="3200" b="1">
                <a:sym typeface="Symbol" panose="05050102010706020507" charset="0"/>
              </a:rPr>
              <a:t>，</a:t>
            </a:r>
            <a:r>
              <a:rPr sz="2400" b="1">
                <a:solidFill>
                  <a:srgbClr val="FF0000"/>
                </a:solidFill>
                <a:sym typeface="Symbol" panose="05050102010706020507" charset="0"/>
              </a:rPr>
              <a:t>故选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charset="0"/>
              </a:rPr>
              <a:t>C</a:t>
            </a:r>
            <a:r>
              <a:rPr sz="2400" b="1">
                <a:solidFill>
                  <a:srgbClr val="FF0000"/>
                </a:solidFill>
                <a:sym typeface="Symbol" panose="05050102010706020507" charset="0"/>
              </a:rPr>
              <a:t>（否定前件不能够否定后件）</a:t>
            </a:r>
            <a:r>
              <a:rPr sz="3200" b="1">
                <a:sym typeface="Symbol" panose="05050102010706020507" charset="0"/>
              </a:rPr>
              <a:t>。</a:t>
            </a:r>
            <a:endParaRPr sz="3200" b="1">
              <a:sym typeface="Symbol" panose="05050102010706020507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B050"/>
                </a:solidFill>
                <a:sym typeface="+mn-ea"/>
              </a:rPr>
              <a:t>强化训练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3</a:t>
            </a:r>
            <a:r>
              <a:rPr>
                <a:solidFill>
                  <a:srgbClr val="00B050"/>
                </a:solidFill>
                <a:sym typeface="+mn-ea"/>
              </a:rPr>
              <a:t>（二难推理）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/>
              <a:t>试分析以下叙述中蕴含的推理过程：</a:t>
            </a:r>
            <a:endParaRPr lang="zh-CN" altLang="en-US" sz="2400" b="1"/>
          </a:p>
          <a:p>
            <a:r>
              <a:rPr lang="zh-CN" altLang="en-US" sz="2400" b="1"/>
              <a:t>唐太宗时期，松赞干布想娶文成公主，文成公主很有内涵，要试一下这个小伙子是不是足够聪明智慧，就称：如果松赞干布问一个她答不上来的问题，自己就随他远嫁吐蕃。松赞干布冥思苦想了好久终于想出了一个问题，松赞干布问：“公主啊，我要问一个什么样的问题你才会答不出来呢？”文成公主回答不出。松赞干布就这样娶到了美丽的公主。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56210"/>
            <a:ext cx="10852150" cy="6181090"/>
          </a:xfrm>
        </p:spPr>
        <p:txBody>
          <a:bodyPr/>
          <a:p>
            <a:r>
              <a:rPr lang="zh-CN" altLang="en-US" sz="2400" b="1"/>
              <a:t>试分析以下叙述中蕴含的推理过程：</a:t>
            </a:r>
            <a:endParaRPr lang="zh-CN" altLang="en-US" sz="2400" b="1"/>
          </a:p>
          <a:p>
            <a:r>
              <a:rPr sz="2400" b="1">
                <a:solidFill>
                  <a:srgbClr val="00B050"/>
                </a:solidFill>
                <a:sym typeface="+mn-ea"/>
              </a:rPr>
              <a:t>训练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3</a:t>
            </a:r>
            <a:r>
              <a:rPr sz="2400" b="1">
                <a:solidFill>
                  <a:srgbClr val="00B050"/>
                </a:solidFill>
                <a:sym typeface="+mn-ea"/>
              </a:rPr>
              <a:t>分析：</a:t>
            </a:r>
            <a:r>
              <a:rPr lang="zh-CN" altLang="en-US" sz="2400" b="1"/>
              <a:t>唐太宗时期，松赞干布想娶文成公主，文成公主很有内涵，要试一下这个小伙子是不是足够聪明智慧，就称：如果松赞干布问一个她答不上来的问题，自己就随他远嫁吐蕃。松赞干布冥思苦想了好久终于想出了一个问题，松赞干布问：“公主啊，我要问一个什么样的问题你才会答不出来呢？”文成公主回答不出。松赞干布就这样娶到了美丽的公主。</a:t>
            </a:r>
            <a:endParaRPr lang="zh-CN" altLang="en-US" sz="2400" b="1"/>
          </a:p>
          <a:p>
            <a:r>
              <a:rPr lang="zh-CN" altLang="en-US" sz="2400" b="1"/>
              <a:t>分析：如果有这样的问题，</a:t>
            </a:r>
            <a:r>
              <a:rPr sz="2400" b="1">
                <a:sym typeface="+mn-ea"/>
              </a:rPr>
              <a:t>文成公主回答不出；          </a:t>
            </a:r>
            <a:r>
              <a:rPr sz="24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p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charset="0"/>
              </a:rPr>
              <a:t>r</a:t>
            </a:r>
            <a:endParaRPr sz="2400" b="1">
              <a:solidFill>
                <a:srgbClr val="FF0000"/>
              </a:solidFill>
              <a:sym typeface="+mn-ea"/>
            </a:endParaRPr>
          </a:p>
          <a:p>
            <a:r>
              <a:rPr sz="2400" b="1">
                <a:sym typeface="+mn-ea"/>
              </a:rPr>
              <a:t>         如果没有这样的问题，</a:t>
            </a:r>
            <a:r>
              <a:rPr sz="2400" b="1">
                <a:sym typeface="+mn-ea"/>
              </a:rPr>
              <a:t>文成公主回答不出；        </a:t>
            </a:r>
            <a:r>
              <a:rPr lang="en-US" altLang="zh-CN" sz="2400" b="1">
                <a:solidFill>
                  <a:srgbClr val="FF0000"/>
                </a:solidFill>
                <a:sym typeface="+mn-ea"/>
              </a:rPr>
              <a:t>q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charset="0"/>
              </a:rPr>
              <a:t>r</a:t>
            </a:r>
            <a:endParaRPr sz="2400" b="1">
              <a:sym typeface="+mn-ea"/>
            </a:endParaRPr>
          </a:p>
          <a:p>
            <a:r>
              <a:rPr lang="zh-CN" altLang="en-US" sz="2400" b="1"/>
              <a:t>        </a:t>
            </a:r>
            <a:r>
              <a:rPr lang="zh-CN" altLang="en-US" sz="2400" b="1" u="sng">
                <a:latin typeface="Times New Roman" panose="02020603050405020304" charset="0"/>
                <a:cs typeface="Times New Roman" panose="02020603050405020304" charset="0"/>
              </a:rPr>
              <a:t> 或者有这样的问题，或者</a:t>
            </a:r>
            <a:r>
              <a:rPr sz="2400" b="1" u="sng">
                <a:latin typeface="Times New Roman" panose="02020603050405020304" charset="0"/>
                <a:cs typeface="Times New Roman" panose="02020603050405020304" charset="0"/>
                <a:sym typeface="+mn-ea"/>
              </a:rPr>
              <a:t>没有这样的问题；</a:t>
            </a:r>
            <a:r>
              <a:rPr sz="2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</a:t>
            </a:r>
            <a:r>
              <a:rPr sz="24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4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24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Symbol" panose="05050102010706020507" charset="0"/>
              </a:rPr>
              <a:t></a:t>
            </a:r>
            <a:r>
              <a:rPr lang="en-US" altLang="zh-CN" sz="2400" b="1" u="sng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</a:t>
            </a:r>
            <a:endParaRPr sz="2400" b="1" u="sng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sz="2400" b="1">
                <a:sym typeface="+mn-ea"/>
              </a:rPr>
              <a:t>         因此，文成公主回答不出                                 </a:t>
            </a:r>
            <a:r>
              <a:rPr sz="2400" b="1">
                <a:solidFill>
                  <a:srgbClr val="FF0000"/>
                </a:solidFill>
                <a:sym typeface="+mn-ea"/>
              </a:rPr>
              <a:t> </a:t>
            </a:r>
            <a:r>
              <a:rPr sz="2400" b="1">
                <a:solidFill>
                  <a:srgbClr val="FF0000"/>
                </a:solidFill>
                <a:sym typeface="Symbol" panose="05050102010706020507" charset="0"/>
              </a:rPr>
              <a:t></a:t>
            </a:r>
            <a:r>
              <a:rPr lang="en-US" altLang="zh-CN" sz="2400" b="1">
                <a:solidFill>
                  <a:srgbClr val="FF0000"/>
                </a:solidFill>
                <a:sym typeface="Symbol" panose="05050102010706020507" charset="0"/>
              </a:rPr>
              <a:t>r</a:t>
            </a:r>
            <a:endParaRPr lang="en-US" altLang="zh-CN" sz="2400" b="1" u="sng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Symbol" panose="05050102010706020507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00B050"/>
                </a:solidFill>
              </a:rPr>
              <a:t>真题</a:t>
            </a:r>
            <a:r>
              <a:rPr lang="en-US" altLang="zh-CN">
                <a:solidFill>
                  <a:srgbClr val="00B050"/>
                </a:solidFill>
              </a:rPr>
              <a:t>118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296035"/>
            <a:ext cx="11108690" cy="5041265"/>
          </a:xfrm>
        </p:spPr>
        <p:txBody>
          <a:bodyPr/>
          <a:p>
            <a:r>
              <a:rPr lang="zh-CN" altLang="en-US" sz="2400" b="1"/>
              <a:t>近日来。南方某地持续降雨，导致很多人工养鱼池被淹。因此，有几位养鱼专家就鲫鱼和鲤鱼的价格走势进行预测：</a:t>
            </a:r>
            <a:endParaRPr lang="zh-CN" altLang="en-US" sz="2400" b="1"/>
          </a:p>
          <a:p>
            <a:r>
              <a:rPr lang="zh-CN" altLang="en-US" sz="2400" b="1"/>
              <a:t>李强说：“只有鲫鱼价格上涨，鲤鱼价格才会上涨。”</a:t>
            </a:r>
            <a:endParaRPr lang="zh-CN" altLang="en-US" sz="2400" b="1"/>
          </a:p>
          <a:p>
            <a:r>
              <a:rPr lang="zh-CN" altLang="en-US" sz="2400" b="1"/>
              <a:t>孙振说：“鲫鱼和鲤鱼的价格至少有一种会上涨。”</a:t>
            </a:r>
            <a:endParaRPr lang="zh-CN" altLang="en-US" sz="2400" b="1"/>
          </a:p>
          <a:p>
            <a:r>
              <a:rPr lang="zh-CN" altLang="en-US" sz="2400" b="1"/>
              <a:t>王刚说：“只有鲤鱼价格不上涨，鲫鱼价格才不会上涨；并且如果鲤鱼价格不上涨，则鲫鱼价格不上涨。”</a:t>
            </a:r>
            <a:endParaRPr lang="zh-CN" altLang="en-US" sz="2400" b="1"/>
          </a:p>
          <a:p>
            <a:r>
              <a:rPr lang="zh-CN" altLang="en-US" sz="2400" b="1"/>
              <a:t>假如事实证明三位专家的预测均为真，则以下哪项必须为真？</a:t>
            </a:r>
            <a:endParaRPr lang="zh-CN" altLang="en-US" sz="2400" b="1"/>
          </a:p>
          <a:p>
            <a:r>
              <a:rPr lang="zh-CN" altLang="en-US" sz="2400" b="1"/>
              <a:t>A.鲫鱼价格上涨，鲤鱼价格不上涨       B.鲫鱼价格不上涨，鲤鱼价格上涨</a:t>
            </a:r>
            <a:endParaRPr lang="zh-CN" altLang="en-US" sz="2400" b="1"/>
          </a:p>
          <a:p>
            <a:r>
              <a:rPr lang="zh-CN" altLang="en-US" sz="2400" b="1"/>
              <a:t>C.鲫鱼和鲤鱼的价格都上涨                D.鲫鱼和鲤鱼的价格都不上涨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27330"/>
            <a:ext cx="11108690" cy="610997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z="2400" b="1">
                <a:solidFill>
                  <a:srgbClr val="00B050"/>
                </a:solidFill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</a:rPr>
              <a:t>118</a:t>
            </a:r>
            <a:r>
              <a:rPr sz="2400" b="1">
                <a:solidFill>
                  <a:srgbClr val="00B050"/>
                </a:solidFill>
              </a:rPr>
              <a:t>分析</a:t>
            </a:r>
            <a:r>
              <a:rPr sz="2400" b="1"/>
              <a:t>：</a:t>
            </a:r>
            <a:r>
              <a:rPr lang="zh-CN" altLang="en-US" sz="2400" b="1"/>
              <a:t>近日来，南方某地持续降雨，导致很多人工养鱼池被淹。因此，有几位养鱼专家就鲫鱼和鲤鱼的价格走势进行预测：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李强说：“只有鲫鱼价格上涨，鲤鱼价格才会上涨。”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孙振说：“鲫鱼和鲤鱼的价格至少有一种会上涨。”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王刚说：“只有鲤鱼价格不上涨，鲫鱼价格才不会上涨；并且如果鲤鱼价格不上涨，则鲫鱼价格不上涨。”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假如事实证明三位专家的预测均为真，则以下哪项必须为真？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A.鲫鱼价格上涨，鲤鱼价格不上涨       B.鲫鱼价格不上涨，鲤鱼价格上涨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C.鲫鱼和鲤鱼的价格都上涨                D.鲫鱼和鲤鱼的价格都不上涨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分析：李预测：鲫</a:t>
            </a:r>
            <a:r>
              <a:rPr sz="2400" b="1">
                <a:sym typeface="+mn-ea"/>
              </a:rPr>
              <a:t>鱼涨价</a:t>
            </a:r>
            <a:r>
              <a:rPr sz="2400" b="1">
                <a:sym typeface="Symbol" panose="05050102010706020507" charset="0"/>
              </a:rPr>
              <a:t></a:t>
            </a:r>
            <a:r>
              <a:rPr sz="2400" b="1">
                <a:sym typeface="+mn-ea"/>
              </a:rPr>
              <a:t>鲤鱼涨价；孙预测：</a:t>
            </a:r>
            <a:r>
              <a:rPr sz="2400" b="1">
                <a:solidFill>
                  <a:srgbClr val="00B050"/>
                </a:solidFill>
                <a:sym typeface="+mn-ea"/>
              </a:rPr>
              <a:t>鲫</a:t>
            </a:r>
            <a:r>
              <a:rPr sz="2400" b="1">
                <a:solidFill>
                  <a:srgbClr val="00B050"/>
                </a:solidFill>
                <a:sym typeface="+mn-ea"/>
              </a:rPr>
              <a:t>鱼涨价或鲤鱼涨价</a:t>
            </a:r>
            <a:r>
              <a:rPr sz="2400" b="1">
                <a:sym typeface="+mn-ea"/>
              </a:rPr>
              <a:t>；王预测：</a:t>
            </a:r>
            <a:r>
              <a:rPr lang="en-US" altLang="zh-CN" sz="2400" b="1">
                <a:sym typeface="+mn-ea"/>
              </a:rPr>
              <a:t>“</a:t>
            </a:r>
            <a:r>
              <a:rPr sz="2400" b="1">
                <a:sym typeface="+mn-ea"/>
              </a:rPr>
              <a:t>鲤鱼不涨价</a:t>
            </a:r>
            <a:r>
              <a:rPr sz="2400" b="1">
                <a:sym typeface="Symbol" panose="05050102010706020507" charset="0"/>
              </a:rPr>
              <a:t>鲫鱼</a:t>
            </a:r>
            <a:r>
              <a:rPr sz="2400" b="1">
                <a:sym typeface="+mn-ea"/>
              </a:rPr>
              <a:t>不涨价</a:t>
            </a:r>
            <a:r>
              <a:rPr lang="en-US" altLang="zh-CN" sz="2400" b="1">
                <a:sym typeface="+mn-ea"/>
              </a:rPr>
              <a:t>”</a:t>
            </a:r>
            <a:r>
              <a:rPr sz="2400" b="1">
                <a:sym typeface="+mn-ea"/>
              </a:rPr>
              <a:t>并且</a:t>
            </a:r>
            <a:r>
              <a:rPr lang="en-US" altLang="zh-CN" sz="2400" b="1">
                <a:sym typeface="+mn-ea"/>
              </a:rPr>
              <a:t>“</a:t>
            </a:r>
            <a:r>
              <a:rPr sz="2400" b="1">
                <a:sym typeface="+mn-ea"/>
              </a:rPr>
              <a:t>鲤鱼不涨价</a:t>
            </a:r>
            <a:r>
              <a:rPr sz="2400" b="1">
                <a:sym typeface="Symbol" panose="05050102010706020507" charset="0"/>
              </a:rPr>
              <a:t>鲫鱼</a:t>
            </a:r>
            <a:r>
              <a:rPr sz="2400" b="1">
                <a:sym typeface="+mn-ea"/>
              </a:rPr>
              <a:t>不涨价</a:t>
            </a:r>
            <a:r>
              <a:rPr lang="en-US" altLang="zh-CN" sz="2400" b="1">
                <a:sym typeface="+mn-ea"/>
              </a:rPr>
              <a:t>”</a:t>
            </a:r>
            <a:r>
              <a:rPr sz="2400" b="1">
                <a:sym typeface="+mn-ea"/>
              </a:rPr>
              <a:t>，即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“</a:t>
            </a:r>
            <a:r>
              <a:rPr sz="2400" b="1">
                <a:solidFill>
                  <a:srgbClr val="00B050"/>
                </a:solidFill>
                <a:sym typeface="+mn-ea"/>
              </a:rPr>
              <a:t>鲤鱼不涨价，当且仅当，</a:t>
            </a:r>
            <a:r>
              <a:rPr sz="2400" b="1">
                <a:solidFill>
                  <a:srgbClr val="00B050"/>
                </a:solidFill>
                <a:sym typeface="Symbol" panose="05050102010706020507" charset="0"/>
              </a:rPr>
              <a:t>鲫鱼</a:t>
            </a:r>
            <a:r>
              <a:rPr sz="2400" b="1">
                <a:solidFill>
                  <a:srgbClr val="00B050"/>
                </a:solidFill>
                <a:sym typeface="+mn-ea"/>
              </a:rPr>
              <a:t>不涨价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”</a:t>
            </a:r>
            <a:r>
              <a:rPr sz="2400" b="1">
                <a:sym typeface="+mn-ea"/>
              </a:rPr>
              <a:t>，如果</a:t>
            </a:r>
            <a:r>
              <a:rPr lang="en-US" altLang="zh-CN" sz="2400" b="1">
                <a:sym typeface="+mn-ea"/>
              </a:rPr>
              <a:t>AB</a:t>
            </a:r>
            <a:r>
              <a:rPr sz="2400" b="1">
                <a:sym typeface="+mn-ea"/>
              </a:rPr>
              <a:t>项为真，则王预测假；</a:t>
            </a:r>
            <a:r>
              <a:rPr sz="2400" b="1">
                <a:solidFill>
                  <a:srgbClr val="00B050"/>
                </a:solidFill>
                <a:sym typeface="+mn-ea"/>
              </a:rPr>
              <a:t>如果</a:t>
            </a:r>
            <a:r>
              <a:rPr lang="en-US" altLang="zh-CN" sz="2400" b="1">
                <a:solidFill>
                  <a:srgbClr val="00B050"/>
                </a:solidFill>
                <a:sym typeface="+mn-ea"/>
              </a:rPr>
              <a:t>D</a:t>
            </a:r>
            <a:r>
              <a:rPr sz="2400" b="1">
                <a:solidFill>
                  <a:srgbClr val="00B050"/>
                </a:solidFill>
                <a:sym typeface="+mn-ea"/>
              </a:rPr>
              <a:t>项真，则孙预测假</a:t>
            </a:r>
            <a:r>
              <a:rPr sz="2400" b="1">
                <a:sym typeface="+mn-ea"/>
              </a:rPr>
              <a:t>，只有</a:t>
            </a:r>
            <a:r>
              <a:rPr lang="en-US" altLang="zh-CN" sz="2400" b="1">
                <a:sym typeface="+mn-ea"/>
              </a:rPr>
              <a:t>C</a:t>
            </a:r>
            <a:r>
              <a:rPr sz="2400" b="1">
                <a:sym typeface="+mn-ea"/>
              </a:rPr>
              <a:t>真时，三人预测为真。</a:t>
            </a:r>
            <a:endParaRPr sz="24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103070"/>
            <a:ext cx="10852237" cy="648000"/>
          </a:xfrm>
        </p:spPr>
        <p:txBody>
          <a:bodyPr/>
          <a:p>
            <a:r>
              <a:rPr>
                <a:solidFill>
                  <a:srgbClr val="00B050"/>
                </a:solidFill>
              </a:rPr>
              <a:t>真题</a:t>
            </a:r>
            <a:r>
              <a:rPr lang="en-US" altLang="zh-CN">
                <a:solidFill>
                  <a:srgbClr val="00B050"/>
                </a:solidFill>
              </a:rPr>
              <a:t>119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749935"/>
            <a:ext cx="10852150" cy="5875020"/>
          </a:xfrm>
        </p:spPr>
        <p:txBody>
          <a:bodyPr/>
          <a:p>
            <a:r>
              <a:rPr lang="zh-CN" altLang="en-US" sz="2400" b="1"/>
              <a:t>某考生正在填报志愿，有法律、管理、经济、金融、审计和会计6个专业供选择，但是所填报志愿必须满足以下条件：</a:t>
            </a:r>
            <a:endParaRPr lang="zh-CN" altLang="en-US" sz="2400" b="1"/>
          </a:p>
          <a:p>
            <a:r>
              <a:rPr lang="zh-CN" altLang="en-US" sz="2400" b="1"/>
              <a:t>（1）如果填报法律专业，那么就不填报管理专业，但要填报会计专业。</a:t>
            </a:r>
            <a:endParaRPr lang="zh-CN" altLang="en-US" sz="2400" b="1"/>
          </a:p>
          <a:p>
            <a:r>
              <a:rPr lang="zh-CN" altLang="en-US" sz="2400" b="1"/>
              <a:t>（2）只有不填报审计专业时时，才填报金融或经济专业。</a:t>
            </a:r>
            <a:endParaRPr lang="zh-CN" altLang="en-US" sz="2400" b="1"/>
          </a:p>
          <a:p>
            <a:r>
              <a:rPr lang="zh-CN" altLang="en-US" sz="2400" b="1"/>
              <a:t>（3）如果不填报经济专业，那么也不填报会计专业。</a:t>
            </a:r>
            <a:endParaRPr lang="zh-CN" altLang="en-US" sz="2400" b="1"/>
          </a:p>
          <a:p>
            <a:r>
              <a:rPr lang="zh-CN" altLang="en-US" sz="2400" b="1"/>
              <a:t>（4）法律专业一直是自己想读的专业，一定要填。</a:t>
            </a:r>
            <a:endParaRPr lang="zh-CN" altLang="en-US" sz="2400" b="1"/>
          </a:p>
          <a:p>
            <a:r>
              <a:rPr lang="zh-CN" altLang="en-US" sz="2400" b="1"/>
              <a:t>因此可以推出该考生：</a:t>
            </a:r>
            <a:endParaRPr lang="zh-CN" altLang="en-US" sz="2400" b="1"/>
          </a:p>
          <a:p>
            <a:r>
              <a:rPr lang="zh-CN" altLang="en-US" sz="2400" b="1"/>
              <a:t>A.填报了金融和经济专业    B.管理专业和经济专业都没有填报</a:t>
            </a:r>
            <a:endParaRPr lang="zh-CN" altLang="en-US" sz="2400" b="1"/>
          </a:p>
          <a:p>
            <a:r>
              <a:rPr lang="zh-CN" altLang="en-US" sz="2400" b="1"/>
              <a:t>C.填报了法律专业，还填报了金融专业   </a:t>
            </a:r>
            <a:endParaRPr lang="zh-CN" altLang="en-US" sz="2400" b="1"/>
          </a:p>
          <a:p>
            <a:r>
              <a:rPr lang="zh-CN" altLang="en-US" sz="2400" b="1"/>
              <a:t>D.填报了会计专业。但没填报审计专业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2715" y="205740"/>
            <a:ext cx="11841480" cy="6562725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z="2400" b="1">
                <a:solidFill>
                  <a:srgbClr val="00B050"/>
                </a:solidFill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</a:rPr>
              <a:t>119</a:t>
            </a:r>
            <a:r>
              <a:rPr sz="2400" b="1">
                <a:solidFill>
                  <a:srgbClr val="00B050"/>
                </a:solidFill>
              </a:rPr>
              <a:t>分析</a:t>
            </a:r>
            <a:r>
              <a:rPr sz="2400" b="1"/>
              <a:t>：</a:t>
            </a:r>
            <a:r>
              <a:rPr lang="zh-CN" altLang="en-US" sz="2400" b="1"/>
              <a:t>某考生正在填报志愿，有法律、管理、经济、金融、审计和会计6个专业供选择，但是所填报志愿必须满足以下条件：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（1）如果填报法律专业，那么就不填报管理专业，但要填报会计专业。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（2）只有不填报审计专业时时，才填报金融或经济专业。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（3）如果不填报经济专业，那么也不填报会计专业。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（4）法律专业一直是自己想读的专业，一定要填。</a:t>
            </a:r>
            <a:r>
              <a:rPr lang="zh-CN" altLang="en-US" sz="2400" b="1">
                <a:solidFill>
                  <a:srgbClr val="00B050"/>
                </a:solidFill>
              </a:rPr>
              <a:t>可因此推出该考生</a:t>
            </a:r>
            <a:r>
              <a:rPr lang="zh-CN" altLang="en-US" sz="2400" b="1"/>
              <a:t>：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A.填报了金融和经济专业                     B.管理专业和经济专业都没有填报</a:t>
            </a:r>
            <a:endParaRPr lang="zh-CN" altLang="en-US" sz="2400" b="1"/>
          </a:p>
          <a:p>
            <a:pPr>
              <a:spcAft>
                <a:spcPts val="0"/>
              </a:spcAft>
            </a:pPr>
            <a:r>
              <a:rPr lang="zh-CN" altLang="en-US" sz="2400" b="1"/>
              <a:t>C.填报了法律专业，还填报了金融专业   D.填报了会计专业。但没填报审计专业</a:t>
            </a:r>
            <a:endParaRPr lang="zh-CN" altLang="en-US" sz="2400" b="1"/>
          </a:p>
          <a:p>
            <a:r>
              <a:rPr lang="zh-CN" altLang="en-US" sz="2400" b="1"/>
              <a:t>分析：题干关键：</a:t>
            </a:r>
            <a:r>
              <a:rPr lang="zh-CN" altLang="en-US" sz="2400" b="1">
                <a:solidFill>
                  <a:srgbClr val="00B050"/>
                </a:solidFill>
                <a:latin typeface="+mn-ea"/>
                <a:cs typeface="+mn-ea"/>
              </a:rPr>
              <a:t>①法律</a:t>
            </a:r>
            <a:r>
              <a:rPr lang="zh-CN" altLang="en-US" sz="2400" b="1">
                <a:solidFill>
                  <a:srgbClr val="00B050"/>
                </a:solidFill>
                <a:latin typeface="+mn-ea"/>
                <a:cs typeface="+mn-ea"/>
                <a:sym typeface="Symbol" panose="05050102010706020507" charset="0"/>
              </a:rPr>
              <a:t>非管理但会计</a:t>
            </a:r>
            <a:r>
              <a:rPr lang="zh-CN" altLang="en-US" sz="2400" b="1">
                <a:latin typeface="+mn-ea"/>
                <a:cs typeface="+mn-ea"/>
                <a:sym typeface="Symbol" panose="05050102010706020507" charset="0"/>
              </a:rPr>
              <a:t>；</a:t>
            </a:r>
            <a:r>
              <a:rPr lang="zh-CN" altLang="en-US" sz="2400" b="1">
                <a:latin typeface="+mn-ea"/>
                <a:cs typeface="+mn-ea"/>
              </a:rPr>
              <a:t>②</a:t>
            </a:r>
            <a:r>
              <a:rPr sz="2400" b="1">
                <a:latin typeface="+mn-ea"/>
                <a:cs typeface="+mn-ea"/>
                <a:sym typeface="+mn-ea"/>
              </a:rPr>
              <a:t>金融或经济</a:t>
            </a:r>
            <a:r>
              <a:rPr sz="2400" b="1">
                <a:latin typeface="+mn-ea"/>
                <a:cs typeface="+mn-ea"/>
                <a:sym typeface="Symbol" panose="05050102010706020507" charset="0"/>
              </a:rPr>
              <a:t>非审计；</a:t>
            </a:r>
            <a:r>
              <a:rPr lang="zh-CN" altLang="en-US" sz="2400" b="1">
                <a:latin typeface="+mn-ea"/>
                <a:cs typeface="+mn-ea"/>
              </a:rPr>
              <a:t>③</a:t>
            </a:r>
            <a:r>
              <a:rPr lang="en-US" altLang="zh-CN" sz="2400" b="1">
                <a:latin typeface="+mn-ea"/>
                <a:cs typeface="+mn-ea"/>
              </a:rPr>
              <a:t>“</a:t>
            </a:r>
            <a:r>
              <a:rPr lang="zh-CN" altLang="en-US" sz="2400" b="1">
                <a:latin typeface="+mn-ea"/>
                <a:cs typeface="+mn-ea"/>
              </a:rPr>
              <a:t>非经济</a:t>
            </a:r>
            <a:r>
              <a:rPr sz="2400" b="1">
                <a:latin typeface="+mn-ea"/>
                <a:cs typeface="+mn-ea"/>
                <a:sym typeface="Symbol" panose="05050102010706020507" charset="0"/>
              </a:rPr>
              <a:t>非会计</a:t>
            </a:r>
            <a:r>
              <a:rPr lang="en-US" altLang="zh-CN" sz="2400" b="1">
                <a:latin typeface="+mn-ea"/>
                <a:cs typeface="+mn-ea"/>
                <a:sym typeface="Symbol" panose="05050102010706020507" charset="0"/>
              </a:rPr>
              <a:t>”</a:t>
            </a:r>
            <a:r>
              <a:rPr sz="2400" b="1">
                <a:latin typeface="+mn-ea"/>
                <a:cs typeface="+mn-ea"/>
                <a:sym typeface="Symbol" panose="05050102010706020507" charset="0"/>
              </a:rPr>
              <a:t>等值于</a:t>
            </a:r>
            <a:r>
              <a:rPr lang="en-US" altLang="zh-CN"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“</a:t>
            </a:r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会计</a:t>
            </a:r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Symbol" panose="05050102010706020507" charset="0"/>
              </a:rPr>
              <a:t>经济</a:t>
            </a:r>
            <a:r>
              <a:rPr lang="en-US" altLang="zh-CN" sz="2400" b="1">
                <a:solidFill>
                  <a:srgbClr val="00B050"/>
                </a:solidFill>
                <a:latin typeface="+mn-ea"/>
                <a:cs typeface="+mn-ea"/>
                <a:sym typeface="Symbol" panose="05050102010706020507" charset="0"/>
              </a:rPr>
              <a:t>”</a:t>
            </a:r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Symbol" panose="05050102010706020507" charset="0"/>
              </a:rPr>
              <a:t>；</a:t>
            </a:r>
            <a:r>
              <a:rPr lang="zh-CN" altLang="en-US" sz="2400" b="1">
                <a:latin typeface="+mn-ea"/>
                <a:cs typeface="+mn-ea"/>
              </a:rPr>
              <a:t>④法律。</a:t>
            </a:r>
            <a:endParaRPr lang="zh-CN" altLang="en-US" sz="2400" b="1">
              <a:latin typeface="+mn-ea"/>
              <a:cs typeface="+mn-ea"/>
            </a:endParaRPr>
          </a:p>
          <a:p>
            <a:r>
              <a:rPr lang="zh-CN" altLang="en-US" sz="2400" b="1">
                <a:latin typeface="+mn-ea"/>
                <a:cs typeface="+mn-ea"/>
              </a:rPr>
              <a:t>根据</a:t>
            </a:r>
            <a:r>
              <a:rPr sz="2400" b="1">
                <a:latin typeface="+mn-ea"/>
                <a:cs typeface="+mn-ea"/>
                <a:sym typeface="+mn-ea"/>
              </a:rPr>
              <a:t>①④不报管理但报会计，结合③报经济；</a:t>
            </a:r>
            <a:endParaRPr sz="2400" b="1">
              <a:latin typeface="+mn-ea"/>
              <a:cs typeface="+mn-ea"/>
              <a:sym typeface="+mn-ea"/>
            </a:endParaRPr>
          </a:p>
          <a:p>
            <a:r>
              <a:rPr sz="2400" b="1">
                <a:latin typeface="+mn-ea"/>
                <a:cs typeface="+mn-ea"/>
                <a:sym typeface="+mn-ea"/>
              </a:rPr>
              <a:t>结合②不报审计；是否报金融不确定。</a:t>
            </a:r>
            <a:endParaRPr sz="2400" b="1">
              <a:latin typeface="+mn-ea"/>
              <a:cs typeface="+mn-ea"/>
              <a:sym typeface="+mn-ea"/>
            </a:endParaRPr>
          </a:p>
          <a:p>
            <a:r>
              <a:rPr lang="en-US" altLang="zh-CN"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ABCD</a:t>
            </a:r>
            <a:r>
              <a:rPr sz="2400" b="1">
                <a:solidFill>
                  <a:srgbClr val="00B050"/>
                </a:solidFill>
                <a:latin typeface="+mn-ea"/>
                <a:cs typeface="+mn-ea"/>
                <a:sym typeface="+mn-ea"/>
              </a:rPr>
              <a:t>都是联言命题，每个支命题为真联言命题才为真</a:t>
            </a:r>
            <a:r>
              <a:rPr sz="2400" b="1">
                <a:latin typeface="+mn-ea"/>
                <a:cs typeface="+mn-ea"/>
                <a:sym typeface="+mn-ea"/>
              </a:rPr>
              <a:t>；故选</a:t>
            </a:r>
            <a:r>
              <a:rPr lang="en-US" altLang="zh-CN" sz="2400" b="1">
                <a:latin typeface="+mn-ea"/>
                <a:cs typeface="+mn-ea"/>
                <a:sym typeface="+mn-ea"/>
              </a:rPr>
              <a:t>D</a:t>
            </a:r>
            <a:r>
              <a:rPr sz="2400" b="1">
                <a:latin typeface="+mn-ea"/>
                <a:cs typeface="+mn-ea"/>
                <a:sym typeface="+mn-ea"/>
              </a:rPr>
              <a:t>。</a:t>
            </a:r>
            <a:endParaRPr sz="2400" b="1">
              <a:latin typeface="+mn-ea"/>
              <a:cs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226895"/>
            <a:ext cx="10852237" cy="648000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作业</a:t>
            </a:r>
            <a:r>
              <a:rPr lang="en-US" altLang="zh-CN">
                <a:solidFill>
                  <a:srgbClr val="00B050"/>
                </a:solidFill>
              </a:rPr>
              <a:t>1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121410"/>
            <a:ext cx="10852150" cy="5215890"/>
          </a:xfrm>
        </p:spPr>
        <p:txBody>
          <a:bodyPr/>
          <a:p>
            <a:r>
              <a:rPr lang="zh-CN" altLang="en-US" sz="24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120</a:t>
            </a: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lang="zh-CN" altLang="en-US" sz="2400" b="1">
                <a:latin typeface="Times New Roman" panose="02020603050405020304" charset="0"/>
                <a:cs typeface="Times New Roman" panose="02020603050405020304" charset="0"/>
              </a:rPr>
              <a:t>一桩投毒谋杀案，作案者要么是甲，要么是乙，二者必有其一；所用毒药或者是毒鼠强，或者是乐果，二者至少其一。</a:t>
            </a:r>
            <a:endParaRPr lang="zh-CN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  <a:cs typeface="Times New Roman" panose="02020603050405020304" charset="0"/>
              </a:rPr>
              <a:t>如果上述断定为真，则以下哪项推断一定成立？</a:t>
            </a:r>
            <a:endParaRPr lang="zh-CN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  <a:cs typeface="Times New Roman" panose="02020603050405020304" charset="0"/>
              </a:rPr>
              <a:t>I.该投毒案不是甲投毒鼠强所为。因此，一定是乙投乐果所为。</a:t>
            </a:r>
            <a:endParaRPr lang="zh-CN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  <a:cs typeface="Times New Roman" panose="02020603050405020304" charset="0"/>
              </a:rPr>
              <a:t>II.在该案侦破中，发现甲投了毒鼠强。因此，案中的毒药不可能是乐果。</a:t>
            </a:r>
            <a:endParaRPr lang="zh-CN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  <a:cs typeface="Times New Roman" panose="02020603050405020304" charset="0"/>
              </a:rPr>
              <a:t>III.该投毒案的作案者不是甲，并且所投的毒药不是毒鼠强。因此，一定是乙投乐果所为。</a:t>
            </a:r>
            <a:endParaRPr lang="zh-CN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  <a:cs typeface="Times New Roman" panose="02020603050405020304" charset="0"/>
              </a:rPr>
              <a:t>A.只有I                     B.只有II</a:t>
            </a:r>
            <a:endParaRPr lang="zh-CN" altLang="en-US" sz="2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2400" b="1">
                <a:latin typeface="Times New Roman" panose="02020603050405020304" charset="0"/>
                <a:cs typeface="Times New Roman" panose="02020603050405020304" charset="0"/>
              </a:rPr>
              <a:t>C.只有III                   D.只有I和III</a:t>
            </a:r>
            <a:endParaRPr lang="zh-CN" altLang="en-US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00B050"/>
                </a:solidFill>
                <a:sym typeface="+mn-ea"/>
              </a:rPr>
              <a:t>作业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/>
              <a:t>除非不把理论当作教条，否则就会束缚思想。以下各项都表达了与题干相同的含义，除了：</a:t>
            </a:r>
            <a:endParaRPr lang="zh-CN" altLang="en-US" sz="2400" b="1"/>
          </a:p>
          <a:p>
            <a:r>
              <a:rPr lang="zh-CN" altLang="en-US" sz="2400" b="1"/>
              <a:t>A.如果不把理论当作教条，就不会束缚思想</a:t>
            </a:r>
            <a:endParaRPr lang="zh-CN" altLang="en-US" sz="2400" b="1"/>
          </a:p>
          <a:p>
            <a:r>
              <a:rPr lang="zh-CN" altLang="en-US" sz="2400" b="1"/>
              <a:t>B.如果把理论当作教条，就会束缚思想</a:t>
            </a:r>
            <a:endParaRPr lang="zh-CN" altLang="en-US" sz="2400" b="1"/>
          </a:p>
          <a:p>
            <a:r>
              <a:rPr lang="zh-CN" altLang="en-US" sz="2400" b="1"/>
              <a:t>C.只有束缚思想，才会把理论当作教条</a:t>
            </a:r>
            <a:endParaRPr lang="zh-CN" altLang="en-US" sz="2400" b="1"/>
          </a:p>
          <a:p>
            <a:r>
              <a:rPr lang="zh-CN" altLang="en-US" sz="2400" b="1"/>
              <a:t>D.只有不把理论当作教条，才不会束缚思想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作业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 b="1">
                <a:solidFill>
                  <a:srgbClr val="00B050"/>
                </a:solidFill>
              </a:rPr>
              <a:t>真题</a:t>
            </a:r>
            <a:r>
              <a:rPr lang="en-US" altLang="zh-CN" sz="2400" b="1">
                <a:solidFill>
                  <a:srgbClr val="00B050"/>
                </a:solidFill>
              </a:rPr>
              <a:t>121</a:t>
            </a:r>
            <a:r>
              <a:rPr sz="2400" b="1"/>
              <a:t>：</a:t>
            </a:r>
            <a:r>
              <a:rPr lang="zh-CN" altLang="en-US" sz="2400" b="1"/>
              <a:t>某单位组织职工进行体检，职工可自愿报名参加。老王碰到新来的小李，聊起此事。老王提醒小李说：“单位组织体检呢，赶紧报名去吧。”小李说：“我身体健康着呢，不用报了。”</a:t>
            </a:r>
            <a:endParaRPr lang="zh-CN" altLang="en-US" sz="2400" b="1"/>
          </a:p>
          <a:p>
            <a:r>
              <a:rPr lang="zh-CN" altLang="en-US" sz="2400" b="1"/>
              <a:t>以下除哪项外，都可以作为小李的回答所包含的假设？</a:t>
            </a:r>
            <a:endParaRPr lang="zh-CN" altLang="en-US" sz="2400" b="1"/>
          </a:p>
          <a:p>
            <a:r>
              <a:rPr lang="zh-CN" altLang="en-US" sz="2400" b="1"/>
              <a:t>A.如果身体不健康，则要报名参加体检</a:t>
            </a:r>
            <a:endParaRPr lang="zh-CN" altLang="en-US" sz="2400" b="1"/>
          </a:p>
          <a:p>
            <a:r>
              <a:rPr lang="zh-CN" altLang="en-US" sz="2400" b="1"/>
              <a:t>B.只要我身体健康，我就不必参加体检</a:t>
            </a:r>
            <a:endParaRPr lang="zh-CN" altLang="en-US" sz="2400" b="1"/>
          </a:p>
          <a:p>
            <a:r>
              <a:rPr lang="zh-CN" altLang="en-US" sz="2400" b="1"/>
              <a:t>C.凡是报名参加体检的，都是身体不健康的</a:t>
            </a:r>
            <a:endParaRPr lang="zh-CN" altLang="en-US" sz="2400" b="1"/>
          </a:p>
          <a:p>
            <a:r>
              <a:rPr lang="zh-CN" altLang="en-US" sz="2400" b="1"/>
              <a:t>D.只有身体不健康的人，才报名参加体检</a:t>
            </a:r>
            <a:endParaRPr lang="zh-CN" altLang="en-US" sz="2400" b="1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PRESET_TEXT" val="在此输入您的封面副标题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187308_1*b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0.xml><?xml version="1.0" encoding="utf-8"?>
<p:tagLst xmlns:p="http://schemas.openxmlformats.org/presentationml/2006/main">
  <p:tag name="KSO_WM_UNIT_TABLE_BEAUTIFY" val="smartTable{3b1a1f58-69d1-431c-8a64-ebe7730f5542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6049</Words>
  <Application>WPS 演示</Application>
  <PresentationFormat>宽屏</PresentationFormat>
  <Paragraphs>281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Arial Unicode MS</vt:lpstr>
      <vt:lpstr>Symbol</vt:lpstr>
      <vt:lpstr>Times New Roman</vt:lpstr>
      <vt:lpstr>Office 主题​​</vt:lpstr>
      <vt:lpstr>公务员考试中的逻辑学</vt:lpstr>
      <vt:lpstr>作业1—真题106分析</vt:lpstr>
      <vt:lpstr>作业2—真题107分析</vt:lpstr>
      <vt:lpstr>作业3—真题108分析</vt:lpstr>
      <vt:lpstr>作业4—真题109分析</vt:lpstr>
      <vt:lpstr>作业5—真题110分析</vt:lpstr>
      <vt:lpstr>作业6—真题111分析</vt:lpstr>
      <vt:lpstr>作业7—真题112分析</vt:lpstr>
      <vt:lpstr>PowerPoint 演示文稿</vt:lpstr>
      <vt:lpstr>PowerPoint 演示文稿</vt:lpstr>
      <vt:lpstr>PowerPoint 演示文稿</vt:lpstr>
      <vt:lpstr>一、复合命题推理</vt:lpstr>
      <vt:lpstr>真题116（联言命题）分析</vt:lpstr>
      <vt:lpstr>真题117（选言命题）</vt:lpstr>
      <vt:lpstr>PowerPoint 演示文稿</vt:lpstr>
      <vt:lpstr>强化训练1（必要条件假言命题）</vt:lpstr>
      <vt:lpstr>PowerPoint 演示文稿</vt:lpstr>
      <vt:lpstr>强化训练2（充分条件假言命题）</vt:lpstr>
      <vt:lpstr>PowerPoint 演示文稿</vt:lpstr>
      <vt:lpstr>强化训练3（二难推理）</vt:lpstr>
      <vt:lpstr>PowerPoint 演示文稿</vt:lpstr>
      <vt:lpstr>真题118</vt:lpstr>
      <vt:lpstr>PowerPoint 演示文稿</vt:lpstr>
      <vt:lpstr>真题119</vt:lpstr>
      <vt:lpstr>PowerPoint 演示文稿</vt:lpstr>
      <vt:lpstr>作业1</vt:lpstr>
      <vt:lpstr>作业2</vt:lpstr>
      <vt:lpstr>作业3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47</cp:revision>
  <dcterms:created xsi:type="dcterms:W3CDTF">2019-06-19T02:08:00Z</dcterms:created>
  <dcterms:modified xsi:type="dcterms:W3CDTF">2020-05-09T01:29:44Z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