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3"/>
  </p:handoutMasterIdLst>
  <p:sldIdLst>
    <p:sldId id="256" r:id="rId3"/>
    <p:sldId id="285" r:id="rId5"/>
    <p:sldId id="286" r:id="rId6"/>
    <p:sldId id="287" r:id="rId7"/>
    <p:sldId id="288" r:id="rId8"/>
    <p:sldId id="289" r:id="rId9"/>
    <p:sldId id="290" r:id="rId10"/>
    <p:sldId id="257" r:id="rId11"/>
    <p:sldId id="259" r:id="rId12"/>
    <p:sldId id="260" r:id="rId13"/>
    <p:sldId id="261" r:id="rId14"/>
    <p:sldId id="262" r:id="rId15"/>
    <p:sldId id="263" r:id="rId16"/>
    <p:sldId id="264" r:id="rId17"/>
    <p:sldId id="265" r:id="rId18"/>
    <p:sldId id="266" r:id="rId19"/>
    <p:sldId id="267" r:id="rId20"/>
    <p:sldId id="268" r:id="rId21"/>
    <p:sldId id="304" r:id="rId22"/>
    <p:sldId id="270" r:id="rId23"/>
    <p:sldId id="305" r:id="rId24"/>
    <p:sldId id="306" r:id="rId25"/>
    <p:sldId id="307" r:id="rId26"/>
    <p:sldId id="308" r:id="rId27"/>
    <p:sldId id="309" r:id="rId28"/>
    <p:sldId id="310" r:id="rId29"/>
    <p:sldId id="321" r:id="rId30"/>
    <p:sldId id="311" r:id="rId31"/>
    <p:sldId id="312" r:id="rId32"/>
    <p:sldId id="313" r:id="rId33"/>
    <p:sldId id="314" r:id="rId34"/>
    <p:sldId id="352" r:id="rId35"/>
    <p:sldId id="315" r:id="rId36"/>
    <p:sldId id="363" r:id="rId37"/>
    <p:sldId id="316" r:id="rId38"/>
    <p:sldId id="362" r:id="rId39"/>
    <p:sldId id="317" r:id="rId40"/>
    <p:sldId id="361" r:id="rId41"/>
    <p:sldId id="318" r:id="rId42"/>
    <p:sldId id="360" r:id="rId43"/>
    <p:sldId id="319" r:id="rId44"/>
    <p:sldId id="359" r:id="rId45"/>
    <p:sldId id="320" r:id="rId46"/>
    <p:sldId id="358" r:id="rId47"/>
    <p:sldId id="333" r:id="rId48"/>
    <p:sldId id="357" r:id="rId49"/>
    <p:sldId id="379" r:id="rId50"/>
    <p:sldId id="388" r:id="rId51"/>
    <p:sldId id="380" r:id="rId52"/>
    <p:sldId id="389" r:id="rId53"/>
    <p:sldId id="381" r:id="rId54"/>
    <p:sldId id="382" r:id="rId55"/>
    <p:sldId id="383" r:id="rId56"/>
    <p:sldId id="390" r:id="rId57"/>
    <p:sldId id="335" r:id="rId58"/>
    <p:sldId id="365" r:id="rId59"/>
    <p:sldId id="391" r:id="rId60"/>
    <p:sldId id="392" r:id="rId61"/>
    <p:sldId id="366"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第六讲：类比推理</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1295" y="127635"/>
            <a:ext cx="11790045" cy="6731000"/>
          </a:xfrm>
        </p:spPr>
        <p:txBody>
          <a:bodyPr/>
          <a:p>
            <a:pPr>
              <a:spcAft>
                <a:spcPts val="0"/>
              </a:spcAft>
            </a:pPr>
            <a:r>
              <a:rPr lang="zh-CN" altLang="en-US" sz="2400" b="1">
                <a:solidFill>
                  <a:srgbClr val="00B050"/>
                </a:solidFill>
              </a:rPr>
              <a:t>作业</a:t>
            </a:r>
            <a:r>
              <a:rPr lang="en-US" altLang="zh-CN" sz="2400" b="1">
                <a:solidFill>
                  <a:srgbClr val="00B050"/>
                </a:solidFill>
              </a:rPr>
              <a:t>1—</a:t>
            </a:r>
            <a:r>
              <a:rPr lang="zh-CN" altLang="en-US" sz="2400" b="1">
                <a:solidFill>
                  <a:srgbClr val="00B050"/>
                </a:solidFill>
              </a:rPr>
              <a:t>真题</a:t>
            </a:r>
            <a:r>
              <a:rPr lang="en-US" altLang="zh-CN" sz="2400" b="1">
                <a:solidFill>
                  <a:srgbClr val="00B050"/>
                </a:solidFill>
              </a:rPr>
              <a:t>79</a:t>
            </a:r>
            <a:r>
              <a:rPr sz="2400" b="1">
                <a:solidFill>
                  <a:srgbClr val="00B050"/>
                </a:solidFill>
              </a:rPr>
              <a:t>分析</a:t>
            </a:r>
            <a:r>
              <a:rPr sz="2400" b="1"/>
              <a:t>：</a:t>
            </a:r>
            <a:r>
              <a:rPr lang="zh-CN" altLang="en-US" sz="2400" b="1"/>
              <a:t>沉锚效应指的是人们</a:t>
            </a:r>
            <a:r>
              <a:rPr lang="zh-CN" altLang="en-US" sz="2400" b="1">
                <a:solidFill>
                  <a:srgbClr val="FF0000"/>
                </a:solidFill>
              </a:rPr>
              <a:t>在对某人某事作出判断时，易受第一印象或第一信息支配</a:t>
            </a:r>
            <a:r>
              <a:rPr lang="zh-CN" altLang="en-US" sz="2400" b="1"/>
              <a:t>，就像沉入海底的锚一样把人的思想固定在某处。</a:t>
            </a:r>
            <a:endParaRPr lang="zh-CN" altLang="en-US" sz="2400" b="1"/>
          </a:p>
          <a:p>
            <a:pPr>
              <a:spcAft>
                <a:spcPts val="0"/>
              </a:spcAft>
            </a:pPr>
            <a:r>
              <a:rPr lang="zh-CN" altLang="en-US" sz="2400" b="1"/>
              <a:t>根据上述定义，下列</a:t>
            </a:r>
            <a:r>
              <a:rPr lang="zh-CN" altLang="en-US" sz="2400" b="1">
                <a:solidFill>
                  <a:srgbClr val="FF0000"/>
                </a:solidFill>
              </a:rPr>
              <a:t>不符合沉锚效应</a:t>
            </a:r>
            <a:r>
              <a:rPr lang="zh-CN" altLang="en-US" sz="2400" b="1"/>
              <a:t>的是：</a:t>
            </a:r>
            <a:endParaRPr lang="zh-CN" altLang="en-US" sz="2400" b="1"/>
          </a:p>
          <a:p>
            <a:pPr>
              <a:spcAft>
                <a:spcPts val="0"/>
              </a:spcAft>
            </a:pPr>
            <a:r>
              <a:rPr lang="zh-CN" altLang="en-US" sz="2400" b="1"/>
              <a:t>A.小高在面试时西装革履，侃侃而谈，不卑不亢，主管对他很满意。但在实习期，主管发现小高做事虎头蛇尾，对他很失望，最终没有录取他</a:t>
            </a:r>
            <a:endParaRPr lang="zh-CN" altLang="en-US" sz="2400" b="1"/>
          </a:p>
          <a:p>
            <a:pPr>
              <a:spcAft>
                <a:spcPts val="0"/>
              </a:spcAft>
            </a:pPr>
            <a:r>
              <a:rPr lang="zh-CN" altLang="en-US" sz="2400" b="1"/>
              <a:t>B.小刘开了一家饰品店，他有意将饰品价格标注得略高于顾客可以接受的价格，然后主动给顾客打折，顾客认为这家店的饰品都很实惠</a:t>
            </a:r>
            <a:endParaRPr lang="zh-CN" altLang="en-US" sz="2400" b="1"/>
          </a:p>
          <a:p>
            <a:pPr>
              <a:spcAft>
                <a:spcPts val="0"/>
              </a:spcAft>
            </a:pPr>
            <a:r>
              <a:rPr lang="zh-CN" altLang="en-US" sz="2400" b="1"/>
              <a:t>C.张老师第一次上课时内容充实，言语幽默，学生对他评价很好，第二次上课时张老师讲课单调乏味，学生觉得张老师今天状态不好，影响了发挥</a:t>
            </a:r>
            <a:endParaRPr lang="zh-CN" altLang="en-US" sz="2400" b="1"/>
          </a:p>
          <a:p>
            <a:pPr>
              <a:spcAft>
                <a:spcPts val="0"/>
              </a:spcAft>
            </a:pPr>
            <a:r>
              <a:rPr lang="zh-CN" altLang="en-US" sz="2400" b="1"/>
              <a:t>D.一家皮具制造商只在机场和高端百货商店建立专卖店，且有意与世界名牌店比邻，虽然其商品比其他同类国产商品价格略高，但近年来一直保持增长趋势</a:t>
            </a:r>
            <a:endParaRPr lang="zh-CN" altLang="en-US" sz="2400" b="1"/>
          </a:p>
          <a:p>
            <a:pPr>
              <a:spcAft>
                <a:spcPts val="0"/>
              </a:spcAft>
            </a:pPr>
            <a:r>
              <a:rPr lang="zh-CN" altLang="en-US" sz="2400" b="1"/>
              <a:t>分析：</a:t>
            </a:r>
            <a:r>
              <a:rPr lang="en-US" altLang="zh-CN" sz="2400" b="1">
                <a:solidFill>
                  <a:srgbClr val="00B050"/>
                </a:solidFill>
              </a:rPr>
              <a:t>A</a:t>
            </a:r>
            <a:r>
              <a:rPr sz="2400" b="1">
                <a:solidFill>
                  <a:srgbClr val="00B050"/>
                </a:solidFill>
              </a:rPr>
              <a:t>第一印象好但没有录用，不符合定义</a:t>
            </a:r>
            <a:r>
              <a:rPr sz="2400" b="1"/>
              <a:t>。</a:t>
            </a:r>
            <a:r>
              <a:rPr lang="en-US" altLang="zh-CN" sz="2400" b="1"/>
              <a:t>B</a:t>
            </a:r>
            <a:r>
              <a:rPr sz="2400" b="1"/>
              <a:t>定价略高主动打折，给顾客留下实惠印象。</a:t>
            </a:r>
            <a:r>
              <a:rPr lang="en-US" altLang="zh-CN" sz="2400" b="1">
                <a:solidFill>
                  <a:srgbClr val="00B050"/>
                </a:solidFill>
              </a:rPr>
              <a:t>C</a:t>
            </a:r>
            <a:r>
              <a:rPr sz="2400" b="1">
                <a:solidFill>
                  <a:srgbClr val="00B050"/>
                </a:solidFill>
              </a:rPr>
              <a:t>判断张老师状态不好是受第一次课的影响</a:t>
            </a:r>
            <a:r>
              <a:rPr sz="2400" b="1"/>
              <a:t>。</a:t>
            </a:r>
            <a:r>
              <a:rPr lang="en-US" altLang="zh-CN" sz="2400" b="1"/>
              <a:t>D</a:t>
            </a:r>
            <a:r>
              <a:rPr sz="2400" b="1"/>
              <a:t>专卖店设在高端地方，给人第一印象是大品牌，销量增长受第一印象影响。</a:t>
            </a:r>
            <a:r>
              <a:rPr sz="2400" b="1">
                <a:solidFill>
                  <a:srgbClr val="00B050"/>
                </a:solidFill>
              </a:rPr>
              <a:t>故选</a:t>
            </a:r>
            <a:r>
              <a:rPr lang="en-US" altLang="zh-CN" sz="2400" b="1">
                <a:solidFill>
                  <a:srgbClr val="00B050"/>
                </a:solidFill>
              </a:rPr>
              <a:t>A</a:t>
            </a:r>
            <a:r>
              <a:rPr sz="2400" b="1"/>
              <a:t>。</a:t>
            </a:r>
            <a:endParaRPr sz="2400" b="1"/>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600075"/>
            <a:ext cx="10852150" cy="5737225"/>
          </a:xfrm>
        </p:spPr>
        <p:txBody>
          <a:bodyPr/>
          <a:p>
            <a:r>
              <a:rPr sz="2400" b="1">
                <a:solidFill>
                  <a:srgbClr val="00B050"/>
                </a:solidFill>
                <a:sym typeface="+mn-ea"/>
              </a:rPr>
              <a:t>作业</a:t>
            </a:r>
            <a:r>
              <a:rPr lang="en-US" altLang="zh-CN" sz="2400" b="1">
                <a:solidFill>
                  <a:srgbClr val="00B050"/>
                </a:solidFill>
                <a:sym typeface="+mn-ea"/>
              </a:rPr>
              <a:t>2—</a:t>
            </a:r>
            <a:r>
              <a:rPr sz="2400" b="1">
                <a:solidFill>
                  <a:srgbClr val="00B050"/>
                </a:solidFill>
                <a:sym typeface="+mn-ea"/>
              </a:rPr>
              <a:t>真题</a:t>
            </a:r>
            <a:r>
              <a:rPr lang="en-US" altLang="zh-CN" sz="2400" b="1">
                <a:solidFill>
                  <a:srgbClr val="00B050"/>
                </a:solidFill>
                <a:sym typeface="+mn-ea"/>
              </a:rPr>
              <a:t>80</a:t>
            </a:r>
            <a:r>
              <a:rPr sz="2400" b="1">
                <a:solidFill>
                  <a:srgbClr val="00B050"/>
                </a:solidFill>
                <a:sym typeface="+mn-ea"/>
              </a:rPr>
              <a:t>分析</a:t>
            </a:r>
            <a:r>
              <a:rPr sz="2400">
                <a:solidFill>
                  <a:srgbClr val="00B050"/>
                </a:solidFill>
                <a:sym typeface="+mn-ea"/>
              </a:rPr>
              <a:t>：</a:t>
            </a:r>
            <a:r>
              <a:rPr lang="zh-CN" altLang="en-US" sz="2400" b="1"/>
              <a:t>房地产经纪是</a:t>
            </a:r>
            <a:r>
              <a:rPr lang="zh-CN" altLang="en-US" sz="2400" b="1">
                <a:solidFill>
                  <a:srgbClr val="FF0000"/>
                </a:solidFill>
              </a:rPr>
              <a:t>以提取佣金为经济特征</a:t>
            </a:r>
            <a:r>
              <a:rPr lang="zh-CN" altLang="en-US" sz="2400" b="1"/>
              <a:t>，为促成他人房地产交易，而从事房地产买卖交换、租赁、置换等信息提供、信托劳务、居间代理等业务的经济活动。</a:t>
            </a:r>
            <a:endParaRPr lang="zh-CN" altLang="en-US" sz="2400" b="1"/>
          </a:p>
          <a:p>
            <a:r>
              <a:rPr lang="zh-CN" altLang="en-US" sz="2400" b="1"/>
              <a:t>根据上述定义，下列属于房地产经纪的是：</a:t>
            </a:r>
            <a:endParaRPr lang="zh-CN" altLang="en-US" sz="2400" b="1"/>
          </a:p>
          <a:p>
            <a:r>
              <a:rPr lang="zh-CN" altLang="en-US" sz="2400" b="1"/>
              <a:t>A.作为社区工作者，张大妈经常为小区内买卖房屋的人牵线搭桥</a:t>
            </a:r>
            <a:endParaRPr lang="zh-CN" altLang="en-US" sz="2400" b="1"/>
          </a:p>
          <a:p>
            <a:r>
              <a:rPr lang="zh-CN" altLang="en-US" sz="2400" b="1"/>
              <a:t>B.某网站设置房地产专栏，免费为发布租房卖房信息的会员提供服务</a:t>
            </a:r>
            <a:endParaRPr lang="zh-CN" altLang="en-US" sz="2400" b="1"/>
          </a:p>
          <a:p>
            <a:r>
              <a:rPr lang="zh-CN" altLang="en-US" sz="2400" b="1"/>
              <a:t>C.某中介公司接受一位房地产开发商的委托，销售其新开发的商品房</a:t>
            </a:r>
            <a:endParaRPr lang="zh-CN" altLang="en-US" sz="2400" b="1"/>
          </a:p>
          <a:p>
            <a:r>
              <a:rPr lang="zh-CN" altLang="en-US" sz="2400" b="1"/>
              <a:t>D.物业顾问小李通过自己的房地产人脉关系买到一套性价比较高的房子</a:t>
            </a:r>
            <a:endParaRPr lang="zh-CN" altLang="en-US" sz="2400" b="1"/>
          </a:p>
          <a:p>
            <a:r>
              <a:rPr lang="zh-CN" altLang="en-US" sz="2400" b="1"/>
              <a:t>分析：关键信息：</a:t>
            </a:r>
            <a:r>
              <a:rPr sz="2400" b="1">
                <a:solidFill>
                  <a:srgbClr val="FF0000"/>
                </a:solidFill>
                <a:sym typeface="+mn-ea"/>
              </a:rPr>
              <a:t>以提取佣金为经济特征</a:t>
            </a:r>
            <a:r>
              <a:rPr lang="zh-CN" altLang="en-US" sz="2400" b="1"/>
              <a:t>。</a:t>
            </a:r>
            <a:r>
              <a:rPr lang="en-US" altLang="zh-CN" sz="2400" b="1"/>
              <a:t>A</a:t>
            </a:r>
            <a:r>
              <a:rPr sz="2400" b="1">
                <a:sym typeface="+mn-ea"/>
              </a:rPr>
              <a:t>牵线搭桥。</a:t>
            </a:r>
            <a:r>
              <a:rPr lang="en-US" altLang="zh-CN" sz="2400" b="1">
                <a:solidFill>
                  <a:srgbClr val="00B050"/>
                </a:solidFill>
              </a:rPr>
              <a:t>B</a:t>
            </a:r>
            <a:r>
              <a:rPr sz="2400" b="1">
                <a:solidFill>
                  <a:srgbClr val="00B050"/>
                </a:solidFill>
              </a:rPr>
              <a:t>免费</a:t>
            </a:r>
            <a:r>
              <a:rPr sz="2400" b="1">
                <a:solidFill>
                  <a:srgbClr val="00B050"/>
                </a:solidFill>
                <a:sym typeface="+mn-ea"/>
              </a:rPr>
              <a:t>提供服务。</a:t>
            </a:r>
            <a:r>
              <a:rPr lang="en-US" altLang="zh-CN" sz="2400" b="1">
                <a:solidFill>
                  <a:srgbClr val="00B050"/>
                </a:solidFill>
              </a:rPr>
              <a:t>D</a:t>
            </a:r>
            <a:r>
              <a:rPr sz="2400" b="1">
                <a:solidFill>
                  <a:srgbClr val="00B050"/>
                </a:solidFill>
              </a:rPr>
              <a:t>自己通过</a:t>
            </a:r>
            <a:r>
              <a:rPr sz="2400" b="1">
                <a:solidFill>
                  <a:srgbClr val="00B050"/>
                </a:solidFill>
                <a:sym typeface="+mn-ea"/>
              </a:rPr>
              <a:t>人脉关系买房。</a:t>
            </a:r>
            <a:r>
              <a:rPr lang="en-US" altLang="zh-CN" sz="2400" b="1"/>
              <a:t>C</a:t>
            </a:r>
            <a:r>
              <a:rPr sz="2400" b="1">
                <a:sym typeface="+mn-ea"/>
              </a:rPr>
              <a:t>中介接受委托销售新房，符合定义。</a:t>
            </a:r>
            <a:r>
              <a:rPr sz="2400" b="1">
                <a:solidFill>
                  <a:srgbClr val="00B050"/>
                </a:solidFill>
                <a:sym typeface="+mn-ea"/>
              </a:rPr>
              <a:t>故选</a:t>
            </a:r>
            <a:r>
              <a:rPr lang="en-US" altLang="zh-CN" sz="2400" b="1">
                <a:solidFill>
                  <a:srgbClr val="00B050"/>
                </a:solidFill>
              </a:rPr>
              <a:t>C</a:t>
            </a:r>
            <a:r>
              <a:rPr sz="2400" b="1"/>
              <a:t>。</a:t>
            </a:r>
            <a:endParaRPr sz="2400" b="1"/>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4465" y="299720"/>
            <a:ext cx="11812270" cy="6029325"/>
          </a:xfrm>
        </p:spPr>
        <p:txBody>
          <a:bodyPr/>
          <a:p>
            <a:r>
              <a:rPr sz="2400" b="1">
                <a:solidFill>
                  <a:srgbClr val="00B050"/>
                </a:solidFill>
                <a:sym typeface="+mn-ea"/>
              </a:rPr>
              <a:t>作业</a:t>
            </a:r>
            <a:r>
              <a:rPr lang="en-US" altLang="zh-CN" sz="2400" b="1">
                <a:solidFill>
                  <a:srgbClr val="00B050"/>
                </a:solidFill>
                <a:sym typeface="+mn-ea"/>
              </a:rPr>
              <a:t>3—</a:t>
            </a:r>
            <a:r>
              <a:rPr sz="2400" b="1">
                <a:solidFill>
                  <a:srgbClr val="00B050"/>
                </a:solidFill>
                <a:sym typeface="+mn-ea"/>
              </a:rPr>
              <a:t>真题</a:t>
            </a:r>
            <a:r>
              <a:rPr lang="en-US" altLang="zh-CN" sz="2400" b="1">
                <a:solidFill>
                  <a:srgbClr val="00B050"/>
                </a:solidFill>
                <a:sym typeface="+mn-ea"/>
              </a:rPr>
              <a:t>81</a:t>
            </a:r>
            <a:r>
              <a:rPr sz="2400" b="1">
                <a:solidFill>
                  <a:srgbClr val="00B050"/>
                </a:solidFill>
                <a:sym typeface="+mn-ea"/>
              </a:rPr>
              <a:t>分析</a:t>
            </a:r>
            <a:r>
              <a:rPr sz="2400">
                <a:solidFill>
                  <a:srgbClr val="00B050"/>
                </a:solidFill>
                <a:sym typeface="+mn-ea"/>
              </a:rPr>
              <a:t>：</a:t>
            </a:r>
            <a:r>
              <a:rPr lang="zh-CN" altLang="en-US" sz="2400" b="1"/>
              <a:t>社会融入是指那些</a:t>
            </a:r>
            <a:r>
              <a:rPr lang="zh-CN" altLang="en-US" sz="2400" b="1">
                <a:solidFill>
                  <a:srgbClr val="FF0000"/>
                </a:solidFill>
              </a:rPr>
              <a:t>处于相对弱势地位的个体或群体</a:t>
            </a:r>
            <a:r>
              <a:rPr lang="zh-CN" altLang="en-US" sz="2400" b="1"/>
              <a:t>能动地与特定社区中的个体与群体进行反思性、持续性互动的社会行动过程。</a:t>
            </a:r>
            <a:endParaRPr lang="zh-CN" altLang="en-US" sz="2400" b="1"/>
          </a:p>
          <a:p>
            <a:r>
              <a:rPr lang="zh-CN" altLang="en-US" sz="2400" b="1"/>
              <a:t>根据上述定义，下列</a:t>
            </a:r>
            <a:r>
              <a:rPr lang="zh-CN" altLang="en-US" sz="2400" b="1">
                <a:solidFill>
                  <a:srgbClr val="FF0000"/>
                </a:solidFill>
              </a:rPr>
              <a:t>不属于</a:t>
            </a:r>
            <a:r>
              <a:rPr lang="zh-CN" altLang="en-US" sz="2400" b="1"/>
              <a:t>社会融入的是：</a:t>
            </a:r>
            <a:endParaRPr lang="zh-CN" altLang="en-US" sz="2400" b="1"/>
          </a:p>
          <a:p>
            <a:r>
              <a:rPr lang="zh-CN" altLang="en-US" sz="2400" b="1"/>
              <a:t>A.余秀华克服脑瘫带来的身体不便，无视村里人的歧视，最终在诗歌创作方面取得成功</a:t>
            </a:r>
            <a:endParaRPr lang="zh-CN" altLang="en-US" sz="2400" b="1"/>
          </a:p>
          <a:p>
            <a:r>
              <a:rPr lang="zh-CN" altLang="en-US" sz="2400" b="1"/>
              <a:t>B.小王出狱后饱受歧视，最终以善良、坚忍改变了大家对他的看法，获得了人们的尊重</a:t>
            </a:r>
            <a:endParaRPr lang="zh-CN" altLang="en-US" sz="2400" b="1"/>
          </a:p>
          <a:p>
            <a:r>
              <a:rPr lang="zh-CN" altLang="en-US" sz="2400" b="1"/>
              <a:t>C.小刘从银行辞职后，开了一家投资公司，利用自己积累的资源，公司发展迅速</a:t>
            </a:r>
            <a:endParaRPr lang="zh-CN" altLang="en-US" sz="2400" b="1"/>
          </a:p>
          <a:p>
            <a:r>
              <a:rPr lang="zh-CN" altLang="en-US" sz="2400" b="1"/>
              <a:t>D.徐先生为圆大学梦，在65岁时不顾他人看法，最终考入某大学</a:t>
            </a:r>
            <a:endParaRPr lang="zh-CN" altLang="en-US" sz="2400" b="1"/>
          </a:p>
          <a:p>
            <a:r>
              <a:rPr lang="zh-CN" altLang="en-US" sz="2400" b="1"/>
              <a:t>分析：关键信息：</a:t>
            </a:r>
            <a:r>
              <a:rPr sz="2400" b="1">
                <a:solidFill>
                  <a:srgbClr val="FF0000"/>
                </a:solidFill>
                <a:sym typeface="+mn-ea"/>
              </a:rPr>
              <a:t>处于相对弱势地位的个体或群体</a:t>
            </a:r>
            <a:r>
              <a:rPr lang="zh-CN" altLang="en-US" sz="2400" b="1"/>
              <a:t>。</a:t>
            </a:r>
            <a:r>
              <a:rPr lang="en-US" altLang="zh-CN" sz="2400" b="1"/>
              <a:t>ABD</a:t>
            </a:r>
            <a:r>
              <a:rPr sz="2400" b="1"/>
              <a:t>均属于弱势地位的个体。</a:t>
            </a:r>
            <a:r>
              <a:rPr sz="2400" b="1">
                <a:solidFill>
                  <a:srgbClr val="00B050"/>
                </a:solidFill>
              </a:rPr>
              <a:t>只有</a:t>
            </a:r>
            <a:r>
              <a:rPr lang="en-US" altLang="zh-CN" sz="2400" b="1">
                <a:solidFill>
                  <a:srgbClr val="00B050"/>
                </a:solidFill>
              </a:rPr>
              <a:t>C</a:t>
            </a:r>
            <a:r>
              <a:rPr sz="2400" b="1">
                <a:solidFill>
                  <a:srgbClr val="00B050"/>
                </a:solidFill>
                <a:sym typeface="+mn-ea"/>
              </a:rPr>
              <a:t>从银行辞职开公司，不符合定义</a:t>
            </a:r>
            <a:r>
              <a:rPr sz="2400" b="1">
                <a:sym typeface="+mn-ea"/>
              </a:rPr>
              <a:t>。故选</a:t>
            </a:r>
            <a:r>
              <a:rPr lang="en-US" altLang="zh-CN" sz="2400" b="1"/>
              <a:t>C</a:t>
            </a:r>
            <a:r>
              <a:rPr sz="2400" b="1"/>
              <a:t>。</a:t>
            </a:r>
            <a:endParaRPr sz="2400" b="1"/>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9230" y="457200"/>
            <a:ext cx="11848465" cy="5943600"/>
          </a:xfrm>
        </p:spPr>
        <p:txBody>
          <a:bodyPr/>
          <a:p>
            <a:r>
              <a:rPr sz="2400" b="1">
                <a:solidFill>
                  <a:srgbClr val="00B050"/>
                </a:solidFill>
                <a:sym typeface="+mn-ea"/>
              </a:rPr>
              <a:t>作业</a:t>
            </a:r>
            <a:r>
              <a:rPr lang="en-US" altLang="zh-CN" sz="2400" b="1">
                <a:solidFill>
                  <a:srgbClr val="00B050"/>
                </a:solidFill>
                <a:sym typeface="+mn-ea"/>
              </a:rPr>
              <a:t>4—</a:t>
            </a:r>
            <a:r>
              <a:rPr sz="2400" b="1">
                <a:solidFill>
                  <a:srgbClr val="00B050"/>
                </a:solidFill>
                <a:sym typeface="+mn-ea"/>
              </a:rPr>
              <a:t>真题</a:t>
            </a:r>
            <a:r>
              <a:rPr lang="en-US" altLang="zh-CN" sz="2400" b="1">
                <a:solidFill>
                  <a:srgbClr val="00B050"/>
                </a:solidFill>
                <a:sym typeface="+mn-ea"/>
              </a:rPr>
              <a:t>82</a:t>
            </a:r>
            <a:r>
              <a:rPr sz="2400" b="1">
                <a:solidFill>
                  <a:srgbClr val="00B050"/>
                </a:solidFill>
                <a:sym typeface="+mn-ea"/>
              </a:rPr>
              <a:t>分析</a:t>
            </a:r>
            <a:r>
              <a:rPr sz="2400">
                <a:solidFill>
                  <a:srgbClr val="00B050"/>
                </a:solidFill>
                <a:sym typeface="+mn-ea"/>
              </a:rPr>
              <a:t>：</a:t>
            </a:r>
            <a:r>
              <a:rPr lang="zh-CN" altLang="en-US" sz="2400" b="1"/>
              <a:t>我国婚姻法规定，</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禁止直系血亲和三代以内旁系血亲结婚</a:t>
            </a:r>
            <a:r>
              <a:rPr lang="zh-CN" altLang="en-US" sz="2400" b="1"/>
              <a:t>。直系血亲是指和自己有直接血缘关系的亲属，</a:t>
            </a:r>
            <a:r>
              <a:rPr lang="zh-CN" altLang="en-US" sz="2400" b="1">
                <a:solidFill>
                  <a:srgbClr val="00B050"/>
                </a:solidFill>
                <a:latin typeface="宋体" panose="02010600030101010101" pitchFamily="2" charset="-122"/>
                <a:ea typeface="宋体" panose="02010600030101010101" pitchFamily="2" charset="-122"/>
              </a:rPr>
              <a:t>②</a:t>
            </a:r>
            <a:r>
              <a:rPr lang="zh-CN" altLang="en-US" sz="2400" b="1">
                <a:solidFill>
                  <a:srgbClr val="00B050"/>
                </a:solidFill>
              </a:rPr>
              <a:t>三代以内旁系血亲是指与自己出身同一父母或同一祖父母、外祖父母</a:t>
            </a:r>
            <a:r>
              <a:rPr lang="zh-CN" altLang="en-US" sz="2400" b="1"/>
              <a:t>，除直系血亲外的所有血亲。</a:t>
            </a:r>
            <a:endParaRPr lang="zh-CN" altLang="en-US" sz="2400" b="1"/>
          </a:p>
          <a:p>
            <a:r>
              <a:rPr lang="zh-CN" altLang="en-US" sz="2400" b="1"/>
              <a:t>根据上述定义，下列选项中的甲和乙</a:t>
            </a:r>
            <a:r>
              <a:rPr lang="zh-CN" altLang="en-US" sz="2400" b="1">
                <a:solidFill>
                  <a:srgbClr val="FF0000"/>
                </a:solidFill>
              </a:rPr>
              <a:t>可以结婚</a:t>
            </a:r>
            <a:r>
              <a:rPr lang="zh-CN" altLang="en-US" sz="2400" b="1"/>
              <a:t>的是：</a:t>
            </a:r>
            <a:endParaRPr lang="zh-CN" altLang="en-US" sz="2400" b="1"/>
          </a:p>
          <a:p>
            <a:r>
              <a:rPr lang="zh-CN" altLang="en-US" sz="2400" b="1"/>
              <a:t>A.张某是甲（女）的姨父，乙系张某的儿子</a:t>
            </a:r>
            <a:endParaRPr lang="zh-CN" altLang="en-US" sz="2400" b="1"/>
          </a:p>
          <a:p>
            <a:r>
              <a:rPr lang="zh-CN" altLang="en-US" sz="2400" b="1"/>
              <a:t>B.李某是乙（女）的姑父，甲系李某的儿子</a:t>
            </a:r>
            <a:endParaRPr lang="zh-CN" altLang="en-US" sz="2400" b="1"/>
          </a:p>
          <a:p>
            <a:r>
              <a:rPr lang="zh-CN" altLang="en-US" sz="2400" b="1"/>
              <a:t>C.甲是林某与前夫的儿子，乙是林某与后夫的女儿</a:t>
            </a:r>
            <a:endParaRPr lang="zh-CN" altLang="en-US" sz="2400" b="1"/>
          </a:p>
          <a:p>
            <a:r>
              <a:rPr lang="zh-CN" altLang="en-US" sz="2400" b="1"/>
              <a:t>D.王某是张某的舅舅，甲系王某的儿子，乙系张某的女儿</a:t>
            </a:r>
            <a:endParaRPr lang="zh-CN" altLang="en-US" sz="2400" b="1"/>
          </a:p>
          <a:p>
            <a:r>
              <a:rPr lang="zh-CN" altLang="en-US" sz="2400" b="1"/>
              <a:t>分析：</a:t>
            </a:r>
            <a:r>
              <a:rPr lang="en-US" altLang="zh-CN" sz="2400" b="1">
                <a:solidFill>
                  <a:srgbClr val="00B050"/>
                </a:solidFill>
              </a:rPr>
              <a:t>A</a:t>
            </a:r>
            <a:r>
              <a:rPr sz="2400" b="1">
                <a:solidFill>
                  <a:srgbClr val="00B050"/>
                </a:solidFill>
              </a:rPr>
              <a:t>张某姐妹的女儿（甲）与</a:t>
            </a:r>
            <a:r>
              <a:rPr sz="2400" b="1">
                <a:solidFill>
                  <a:srgbClr val="00B050"/>
                </a:solidFill>
                <a:sym typeface="+mn-ea"/>
              </a:rPr>
              <a:t>张某的儿子（乙），甲乙有共同的外祖父母。</a:t>
            </a:r>
            <a:r>
              <a:rPr lang="en-US" altLang="zh-CN" sz="2400" b="1">
                <a:sym typeface="+mn-ea"/>
              </a:rPr>
              <a:t>B</a:t>
            </a:r>
            <a:r>
              <a:rPr sz="2400" b="1">
                <a:sym typeface="+mn-ea"/>
              </a:rPr>
              <a:t>李某的儿子</a:t>
            </a:r>
            <a:r>
              <a:rPr lang="en-US" altLang="zh-CN" sz="2400" b="1">
                <a:sym typeface="+mn-ea"/>
              </a:rPr>
              <a:t>(</a:t>
            </a:r>
            <a:r>
              <a:rPr sz="2400" b="1">
                <a:sym typeface="+mn-ea"/>
              </a:rPr>
              <a:t>甲）与李</a:t>
            </a:r>
            <a:r>
              <a:rPr sz="2400" b="1">
                <a:sym typeface="+mn-ea"/>
              </a:rPr>
              <a:t>某</a:t>
            </a:r>
            <a:r>
              <a:rPr sz="2400" b="1">
                <a:sym typeface="+mn-ea"/>
              </a:rPr>
              <a:t>姐妹的女儿</a:t>
            </a:r>
            <a:r>
              <a:rPr sz="2400" b="1">
                <a:sym typeface="+mn-ea"/>
              </a:rPr>
              <a:t>（乙），甲乙有共同的祖父母。</a:t>
            </a:r>
            <a:r>
              <a:rPr lang="en-US" altLang="zh-CN" sz="2400" b="1">
                <a:solidFill>
                  <a:srgbClr val="00B050"/>
                </a:solidFill>
                <a:sym typeface="+mn-ea"/>
              </a:rPr>
              <a:t>C</a:t>
            </a:r>
            <a:r>
              <a:rPr sz="2400" b="1">
                <a:solidFill>
                  <a:srgbClr val="00B050"/>
                </a:solidFill>
                <a:sym typeface="+mn-ea"/>
              </a:rPr>
              <a:t>甲乙有共同的母亲。</a:t>
            </a:r>
            <a:r>
              <a:rPr lang="en-US" altLang="zh-CN" sz="2400" b="1">
                <a:sym typeface="+mn-ea"/>
              </a:rPr>
              <a:t>D</a:t>
            </a:r>
            <a:r>
              <a:rPr sz="2400" b="1">
                <a:sym typeface="+mn-ea"/>
              </a:rPr>
              <a:t>甲乙不是</a:t>
            </a:r>
            <a:r>
              <a:rPr sz="2400" b="1">
                <a:solidFill>
                  <a:srgbClr val="FF0000"/>
                </a:solidFill>
                <a:sym typeface="+mn-ea"/>
              </a:rPr>
              <a:t>直系血亲和三代以内旁系血亲</a:t>
            </a:r>
            <a:r>
              <a:rPr sz="2400" b="1">
                <a:solidFill>
                  <a:schemeClr val="tx1"/>
                </a:solidFill>
                <a:sym typeface="+mn-ea"/>
              </a:rPr>
              <a:t>，可以结婚。故选</a:t>
            </a:r>
            <a:r>
              <a:rPr lang="en-US" altLang="zh-CN" sz="2400" b="1">
                <a:sym typeface="+mn-ea"/>
              </a:rPr>
              <a:t>D</a:t>
            </a:r>
            <a:endParaRPr lang="en-US" altLang="zh-CN" sz="2400" b="1">
              <a:sym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41020" y="548005"/>
            <a:ext cx="10852150" cy="5934075"/>
          </a:xfrm>
        </p:spPr>
        <p:txBody>
          <a:bodyPr/>
          <a:p>
            <a:r>
              <a:rPr sz="2400" b="1">
                <a:solidFill>
                  <a:srgbClr val="00B050"/>
                </a:solidFill>
                <a:sym typeface="+mn-ea"/>
              </a:rPr>
              <a:t>作业</a:t>
            </a:r>
            <a:r>
              <a:rPr lang="en-US" altLang="zh-CN" sz="2400" b="1">
                <a:solidFill>
                  <a:srgbClr val="00B050"/>
                </a:solidFill>
                <a:sym typeface="+mn-ea"/>
              </a:rPr>
              <a:t>5—</a:t>
            </a:r>
            <a:r>
              <a:rPr sz="2400" b="1">
                <a:solidFill>
                  <a:srgbClr val="00B050"/>
                </a:solidFill>
                <a:sym typeface="+mn-ea"/>
              </a:rPr>
              <a:t>真题</a:t>
            </a:r>
            <a:r>
              <a:rPr lang="en-US" altLang="zh-CN" sz="2400" b="1">
                <a:solidFill>
                  <a:srgbClr val="00B050"/>
                </a:solidFill>
                <a:sym typeface="+mn-ea"/>
              </a:rPr>
              <a:t>83</a:t>
            </a:r>
            <a:r>
              <a:rPr sz="2400" b="1">
                <a:solidFill>
                  <a:srgbClr val="00B050"/>
                </a:solidFill>
                <a:sym typeface="+mn-ea"/>
              </a:rPr>
              <a:t>分析</a:t>
            </a:r>
            <a:r>
              <a:rPr sz="2400">
                <a:solidFill>
                  <a:srgbClr val="00B050"/>
                </a:solidFill>
                <a:sym typeface="+mn-ea"/>
              </a:rPr>
              <a:t>：</a:t>
            </a:r>
            <a:r>
              <a:rPr lang="zh-CN" altLang="en-US" sz="2400" b="1"/>
              <a:t>组织学习是指</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组织</a:t>
            </a:r>
            <a:r>
              <a:rPr lang="zh-CN" altLang="en-US" sz="2400" b="1"/>
              <a:t>为了实现发展目标、提高核心竞争力而</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围绕信息或知识技能所采取的各种行动</a:t>
            </a:r>
            <a:r>
              <a:rPr lang="zh-CN" altLang="en-US" sz="2400" b="1"/>
              <a:t>，是组织不断努力改变或重新设计自身以适应持续变化的环境的过程。</a:t>
            </a:r>
            <a:endParaRPr lang="zh-CN" altLang="en-US" sz="2400" b="1"/>
          </a:p>
          <a:p>
            <a:r>
              <a:rPr lang="zh-CN" altLang="en-US" sz="2400" b="1"/>
              <a:t>根据上述定义，下列属于组织学习的是：</a:t>
            </a:r>
            <a:endParaRPr lang="zh-CN" altLang="en-US" sz="2400" b="1"/>
          </a:p>
          <a:p>
            <a:r>
              <a:rPr lang="zh-CN" altLang="en-US" sz="2400" b="1"/>
              <a:t>A.我国某大型国企派人学习科技课程</a:t>
            </a:r>
            <a:endParaRPr lang="zh-CN" altLang="en-US" sz="2400" b="1"/>
          </a:p>
          <a:p>
            <a:r>
              <a:rPr lang="zh-CN" altLang="en-US" sz="2400" b="1"/>
              <a:t>B.李明为了晋升去参加周末管理课程</a:t>
            </a:r>
            <a:endParaRPr lang="zh-CN" altLang="en-US" sz="2400" b="1"/>
          </a:p>
          <a:p>
            <a:r>
              <a:rPr lang="zh-CN" altLang="en-US" sz="2400" b="1"/>
              <a:t>C.某外企工作团队节假日去三亚度假</a:t>
            </a:r>
            <a:endParaRPr lang="zh-CN" altLang="en-US" sz="2400" b="1"/>
          </a:p>
          <a:p>
            <a:r>
              <a:rPr lang="zh-CN" altLang="en-US" sz="2400" b="1"/>
              <a:t>D.某集团组织新近员工开展户外拓展</a:t>
            </a:r>
            <a:endParaRPr lang="zh-CN" altLang="en-US" sz="2400" b="1"/>
          </a:p>
          <a:p>
            <a:r>
              <a:rPr lang="zh-CN" altLang="en-US" sz="2400" b="1"/>
              <a:t>分析：关键信息：</a:t>
            </a:r>
            <a:r>
              <a:rPr sz="2400" b="1">
                <a:solidFill>
                  <a:srgbClr val="FF0000"/>
                </a:solidFill>
                <a:latin typeface="宋体" panose="02010600030101010101" pitchFamily="2" charset="-122"/>
                <a:ea typeface="宋体" panose="02010600030101010101" pitchFamily="2" charset="-122"/>
                <a:sym typeface="+mn-ea"/>
              </a:rPr>
              <a:t>①由</a:t>
            </a:r>
            <a:r>
              <a:rPr sz="2400" b="1">
                <a:solidFill>
                  <a:srgbClr val="FF0000"/>
                </a:solidFill>
                <a:sym typeface="+mn-ea"/>
              </a:rPr>
              <a:t>组织发起</a:t>
            </a:r>
            <a:r>
              <a:rPr lang="en-US" altLang="zh-CN" sz="2400" b="1">
                <a:solidFill>
                  <a:srgbClr val="FF0000"/>
                </a:solidFill>
                <a:sym typeface="+mn-ea"/>
              </a:rPr>
              <a:t>+</a:t>
            </a:r>
            <a:r>
              <a:rPr sz="2400" b="1">
                <a:solidFill>
                  <a:srgbClr val="FF0000"/>
                </a:solidFill>
                <a:latin typeface="宋体" panose="02010600030101010101" pitchFamily="2" charset="-122"/>
                <a:ea typeface="宋体" panose="02010600030101010101" pitchFamily="2" charset="-122"/>
                <a:sym typeface="+mn-ea"/>
              </a:rPr>
              <a:t>②</a:t>
            </a:r>
            <a:r>
              <a:rPr sz="2400" b="1">
                <a:solidFill>
                  <a:schemeClr val="tx1"/>
                </a:solidFill>
                <a:latin typeface="宋体" panose="02010600030101010101" pitchFamily="2" charset="-122"/>
                <a:ea typeface="宋体" panose="02010600030101010101" pitchFamily="2" charset="-122"/>
                <a:sym typeface="+mn-ea"/>
              </a:rPr>
              <a:t>。</a:t>
            </a:r>
            <a:r>
              <a:rPr lang="en-US" altLang="zh-CN" sz="2400" b="1">
                <a:solidFill>
                  <a:schemeClr val="tx1"/>
                </a:solidFill>
                <a:latin typeface="+mn-ea"/>
                <a:sym typeface="+mn-ea"/>
              </a:rPr>
              <a:t>A</a:t>
            </a:r>
            <a:r>
              <a:rPr sz="2400" b="1">
                <a:solidFill>
                  <a:schemeClr val="tx1"/>
                </a:solidFill>
                <a:latin typeface="+mn-ea"/>
                <a:sym typeface="+mn-ea"/>
              </a:rPr>
              <a:t>符合定义。</a:t>
            </a:r>
            <a:r>
              <a:rPr lang="en-US" altLang="zh-CN" sz="2400" b="1">
                <a:solidFill>
                  <a:srgbClr val="00B050"/>
                </a:solidFill>
                <a:latin typeface="+mn-ea"/>
                <a:sym typeface="+mn-ea"/>
              </a:rPr>
              <a:t>B</a:t>
            </a:r>
            <a:r>
              <a:rPr sz="2400" b="1">
                <a:solidFill>
                  <a:srgbClr val="00B050"/>
                </a:solidFill>
                <a:latin typeface="+mn-ea"/>
                <a:sym typeface="+mn-ea"/>
              </a:rPr>
              <a:t>非组织发起</a:t>
            </a:r>
            <a:r>
              <a:rPr sz="2400" b="1">
                <a:solidFill>
                  <a:schemeClr val="tx1"/>
                </a:solidFill>
                <a:latin typeface="+mn-ea"/>
                <a:sym typeface="+mn-ea"/>
              </a:rPr>
              <a:t>。</a:t>
            </a:r>
            <a:r>
              <a:rPr lang="en-US" altLang="zh-CN" sz="2400" b="1">
                <a:solidFill>
                  <a:schemeClr val="tx1"/>
                </a:solidFill>
                <a:latin typeface="+mn-ea"/>
                <a:sym typeface="+mn-ea"/>
              </a:rPr>
              <a:t>CD</a:t>
            </a:r>
            <a:r>
              <a:rPr sz="2400" b="1">
                <a:solidFill>
                  <a:schemeClr val="tx1"/>
                </a:solidFill>
                <a:latin typeface="+mn-ea"/>
                <a:sym typeface="+mn-ea"/>
              </a:rPr>
              <a:t>不符合要点</a:t>
            </a:r>
            <a:r>
              <a:rPr sz="2400" b="1">
                <a:solidFill>
                  <a:srgbClr val="FF0000"/>
                </a:solidFill>
                <a:latin typeface="宋体" panose="02010600030101010101" pitchFamily="2" charset="-122"/>
                <a:ea typeface="宋体" panose="02010600030101010101" pitchFamily="2" charset="-122"/>
                <a:sym typeface="+mn-ea"/>
              </a:rPr>
              <a:t>②</a:t>
            </a:r>
            <a:r>
              <a:rPr sz="2400" b="1">
                <a:solidFill>
                  <a:schemeClr val="tx1"/>
                </a:solidFill>
                <a:latin typeface="+mn-ea"/>
                <a:sym typeface="+mn-ea"/>
              </a:rPr>
              <a:t>。故选</a:t>
            </a:r>
            <a:r>
              <a:rPr lang="en-US" altLang="zh-CN" sz="2400" b="1">
                <a:solidFill>
                  <a:schemeClr val="tx1"/>
                </a:solidFill>
                <a:latin typeface="+mn-ea"/>
                <a:sym typeface="+mn-ea"/>
              </a:rPr>
              <a:t>A</a:t>
            </a:r>
            <a:r>
              <a:rPr sz="2400" b="1">
                <a:solidFill>
                  <a:schemeClr val="tx1"/>
                </a:solidFill>
                <a:latin typeface="+mn-ea"/>
                <a:sym typeface="+mn-ea"/>
              </a:rPr>
              <a:t>。</a:t>
            </a:r>
            <a:endParaRPr sz="2400" b="1">
              <a:solidFill>
                <a:schemeClr val="tx1"/>
              </a:solidFill>
              <a:latin typeface="+mn-ea"/>
              <a:sym typeface="+mn-ea"/>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411480"/>
            <a:ext cx="10852150" cy="5925820"/>
          </a:xfrm>
        </p:spPr>
        <p:txBody>
          <a:bodyPr/>
          <a:p>
            <a:r>
              <a:rPr sz="2400" b="1">
                <a:solidFill>
                  <a:srgbClr val="00B050"/>
                </a:solidFill>
                <a:sym typeface="+mn-ea"/>
              </a:rPr>
              <a:t>作业</a:t>
            </a:r>
            <a:r>
              <a:rPr lang="en-US" altLang="zh-CN" sz="2400" b="1">
                <a:solidFill>
                  <a:srgbClr val="00B050"/>
                </a:solidFill>
                <a:sym typeface="+mn-ea"/>
              </a:rPr>
              <a:t>6—</a:t>
            </a:r>
            <a:r>
              <a:rPr sz="2400" b="1">
                <a:solidFill>
                  <a:srgbClr val="00B050"/>
                </a:solidFill>
                <a:sym typeface="+mn-ea"/>
              </a:rPr>
              <a:t>真题</a:t>
            </a:r>
            <a:r>
              <a:rPr lang="en-US" altLang="zh-CN" sz="2400" b="1">
                <a:solidFill>
                  <a:srgbClr val="00B050"/>
                </a:solidFill>
                <a:sym typeface="+mn-ea"/>
              </a:rPr>
              <a:t>84</a:t>
            </a:r>
            <a:r>
              <a:rPr sz="2400" b="1">
                <a:solidFill>
                  <a:srgbClr val="00B050"/>
                </a:solidFill>
                <a:sym typeface="+mn-ea"/>
              </a:rPr>
              <a:t>分析</a:t>
            </a:r>
            <a:r>
              <a:rPr sz="2400">
                <a:solidFill>
                  <a:srgbClr val="00B050"/>
                </a:solidFill>
                <a:sym typeface="+mn-ea"/>
              </a:rPr>
              <a:t>：</a:t>
            </a:r>
            <a:r>
              <a:rPr lang="zh-CN" altLang="en-US" sz="2400" b="1"/>
              <a:t>回文是指用</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相同语句回环往复地说明</a:t>
            </a:r>
            <a:r>
              <a:rPr lang="zh-CN" altLang="en-US" sz="2400" b="1"/>
              <a:t>的一种修辞手法，形式上表现为</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词组相同但语序相反</a:t>
            </a:r>
            <a:r>
              <a:rPr lang="zh-CN" altLang="en-US" sz="2400" b="1"/>
              <a:t>。</a:t>
            </a:r>
            <a:endParaRPr lang="zh-CN" altLang="en-US" sz="2400" b="1"/>
          </a:p>
          <a:p>
            <a:r>
              <a:rPr lang="zh-CN" altLang="en-US" sz="2400" b="1"/>
              <a:t>根据上述定义，下列属于回文的是：	</a:t>
            </a:r>
            <a:endParaRPr lang="zh-CN" altLang="en-US" sz="2400" b="1"/>
          </a:p>
          <a:p>
            <a:r>
              <a:rPr lang="zh-CN" altLang="en-US" sz="2400" b="1"/>
              <a:t>A.雾锁山头山锁雾，天连水尾水连天</a:t>
            </a:r>
            <a:endParaRPr lang="zh-CN" altLang="en-US" sz="2400" b="1"/>
          </a:p>
          <a:p>
            <a:r>
              <a:rPr lang="zh-CN" altLang="en-US" sz="2400" b="1"/>
              <a:t>B.寻寻觅觅，冷冷清清，凄凄惨惨戚戚</a:t>
            </a:r>
            <a:endParaRPr lang="zh-CN" altLang="en-US" sz="2400" b="1"/>
          </a:p>
          <a:p>
            <a:r>
              <a:rPr lang="zh-CN" altLang="en-US" sz="2400" b="1"/>
              <a:t>C.东边日出西边雨，道是无晴却有晴</a:t>
            </a:r>
            <a:endParaRPr lang="zh-CN" altLang="en-US" sz="2400" b="1"/>
          </a:p>
          <a:p>
            <a:r>
              <a:rPr lang="zh-CN" altLang="en-US" sz="2400" b="1"/>
              <a:t>D.主人下马客在船，举杯欲饮无管弦</a:t>
            </a:r>
            <a:endParaRPr lang="zh-CN" altLang="en-US" sz="2400" b="1"/>
          </a:p>
          <a:p>
            <a:r>
              <a:rPr lang="zh-CN" altLang="en-US" sz="2400" b="1"/>
              <a:t>分析：关键信息是：</a:t>
            </a:r>
            <a:r>
              <a:rPr sz="2400" b="1">
                <a:solidFill>
                  <a:srgbClr val="FF0000"/>
                </a:solidFill>
                <a:latin typeface="宋体" panose="02010600030101010101" pitchFamily="2" charset="-122"/>
                <a:ea typeface="宋体" panose="02010600030101010101" pitchFamily="2" charset="-122"/>
                <a:sym typeface="+mn-ea"/>
              </a:rPr>
              <a:t>①</a:t>
            </a:r>
            <a:r>
              <a:rPr lang="en-US" altLang="zh-CN" sz="2400" b="1">
                <a:solidFill>
                  <a:srgbClr val="FF0000"/>
                </a:solidFill>
                <a:latin typeface="宋体" panose="02010600030101010101" pitchFamily="2" charset="-122"/>
                <a:ea typeface="宋体" panose="02010600030101010101" pitchFamily="2" charset="-122"/>
                <a:sym typeface="+mn-ea"/>
              </a:rPr>
              <a:t>+</a:t>
            </a:r>
            <a:r>
              <a:rPr sz="2400" b="1">
                <a:solidFill>
                  <a:srgbClr val="FF0000"/>
                </a:solidFill>
                <a:latin typeface="宋体" panose="02010600030101010101" pitchFamily="2" charset="-122"/>
                <a:ea typeface="宋体" panose="02010600030101010101" pitchFamily="2" charset="-122"/>
                <a:sym typeface="+mn-ea"/>
              </a:rPr>
              <a:t>②。</a:t>
            </a:r>
            <a:r>
              <a:rPr lang="en-US" altLang="zh-CN" sz="2400" b="1">
                <a:solidFill>
                  <a:srgbClr val="00B050"/>
                </a:solidFill>
                <a:latin typeface="+mn-ea"/>
                <a:cs typeface="+mn-ea"/>
                <a:sym typeface="+mn-ea"/>
              </a:rPr>
              <a:t>A</a:t>
            </a:r>
            <a:r>
              <a:rPr sz="2400" b="1">
                <a:solidFill>
                  <a:srgbClr val="00B050"/>
                </a:solidFill>
                <a:latin typeface="+mn-ea"/>
                <a:cs typeface="+mn-ea"/>
                <a:sym typeface="+mn-ea"/>
              </a:rPr>
              <a:t>前后两个半句无论从前向后读，还是从后向前读都是一样的，</a:t>
            </a:r>
            <a:r>
              <a:rPr sz="2400" b="1">
                <a:solidFill>
                  <a:schemeClr val="tx1"/>
                </a:solidFill>
                <a:latin typeface="+mn-ea"/>
                <a:cs typeface="+mn-ea"/>
                <a:sym typeface="+mn-ea"/>
              </a:rPr>
              <a:t>其他三项都不符合定义。</a:t>
            </a:r>
            <a:r>
              <a:rPr sz="2400" b="1">
                <a:solidFill>
                  <a:schemeClr val="tx1"/>
                </a:solidFill>
                <a:latin typeface="+mn-ea"/>
                <a:cs typeface="+mn-ea"/>
                <a:sym typeface="+mn-ea"/>
              </a:rPr>
              <a:t>故选</a:t>
            </a:r>
            <a:r>
              <a:rPr lang="en-US" altLang="zh-CN" sz="2400" b="1">
                <a:solidFill>
                  <a:schemeClr val="tx1"/>
                </a:solidFill>
                <a:latin typeface="+mn-ea"/>
                <a:cs typeface="+mn-ea"/>
                <a:sym typeface="+mn-ea"/>
              </a:rPr>
              <a:t>A</a:t>
            </a:r>
            <a:r>
              <a:rPr sz="2400" b="1">
                <a:solidFill>
                  <a:schemeClr val="tx1"/>
                </a:solidFill>
                <a:latin typeface="+mn-ea"/>
                <a:cs typeface="+mn-ea"/>
                <a:sym typeface="+mn-ea"/>
              </a:rPr>
              <a:t>。</a:t>
            </a:r>
            <a:endParaRPr sz="2400" b="1">
              <a:solidFill>
                <a:schemeClr val="tx1"/>
              </a:solidFill>
              <a:latin typeface="+mn-ea"/>
              <a:cs typeface="+mn-ea"/>
              <a:sym typeface="+mn-ea"/>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一、类比推理题型</a:t>
            </a:r>
            <a:endParaRPr lang="zh-CN" altLang="en-US"/>
          </a:p>
        </p:txBody>
      </p:sp>
      <p:sp>
        <p:nvSpPr>
          <p:cNvPr id="3" name="内容占位符 2"/>
          <p:cNvSpPr>
            <a:spLocks noGrp="1"/>
          </p:cNvSpPr>
          <p:nvPr>
            <p:ph idx="1"/>
          </p:nvPr>
        </p:nvSpPr>
        <p:spPr/>
        <p:txBody>
          <a:bodyPr/>
          <a:p>
            <a:r>
              <a:rPr lang="en-US" altLang="zh-CN" sz="2400" b="1">
                <a:solidFill>
                  <a:schemeClr val="tx1"/>
                </a:solidFill>
                <a:latin typeface="+mn-ea"/>
                <a:cs typeface="+mn-ea"/>
              </a:rPr>
              <a:t>1.</a:t>
            </a:r>
            <a:r>
              <a:rPr lang="zh-CN" altLang="en-US" sz="2400" b="1">
                <a:solidFill>
                  <a:schemeClr val="tx1"/>
                </a:solidFill>
                <a:latin typeface="+mn-ea"/>
                <a:cs typeface="+mn-ea"/>
              </a:rPr>
              <a:t>两词型</a:t>
            </a:r>
            <a:endParaRPr lang="zh-CN" altLang="en-US" sz="2400" b="1">
              <a:solidFill>
                <a:schemeClr val="tx1"/>
              </a:solidFill>
              <a:latin typeface="+mn-ea"/>
              <a:cs typeface="+mn-ea"/>
            </a:endParaRPr>
          </a:p>
          <a:p>
            <a:r>
              <a:rPr lang="en-US" altLang="zh-CN" sz="2400" b="1">
                <a:solidFill>
                  <a:srgbClr val="FF0000"/>
                </a:solidFill>
                <a:latin typeface="+mn-ea"/>
                <a:cs typeface="+mn-ea"/>
              </a:rPr>
              <a:t>2.</a:t>
            </a:r>
            <a:r>
              <a:rPr lang="zh-CN" altLang="en-US" sz="2400" b="1">
                <a:solidFill>
                  <a:srgbClr val="FF0000"/>
                </a:solidFill>
                <a:latin typeface="+mn-ea"/>
                <a:cs typeface="+mn-ea"/>
              </a:rPr>
              <a:t>三词型</a:t>
            </a:r>
            <a:endParaRPr lang="zh-CN" altLang="en-US" sz="2400" b="1">
              <a:solidFill>
                <a:srgbClr val="FF0000"/>
              </a:solidFill>
              <a:latin typeface="+mn-ea"/>
              <a:cs typeface="+mn-ea"/>
            </a:endParaRPr>
          </a:p>
          <a:p>
            <a:r>
              <a:rPr lang="en-US" altLang="zh-CN" sz="2400" b="1">
                <a:solidFill>
                  <a:schemeClr val="tx1"/>
                </a:solidFill>
                <a:latin typeface="+mn-ea"/>
                <a:cs typeface="+mn-ea"/>
              </a:rPr>
              <a:t>3.</a:t>
            </a:r>
            <a:r>
              <a:rPr lang="zh-CN" altLang="en-US" sz="2400" b="1">
                <a:solidFill>
                  <a:schemeClr val="tx1"/>
                </a:solidFill>
                <a:latin typeface="+mn-ea"/>
                <a:cs typeface="+mn-ea"/>
              </a:rPr>
              <a:t>对当型</a:t>
            </a:r>
            <a:endParaRPr lang="zh-CN" altLang="en-US" sz="2400" b="1">
              <a:latin typeface="+mn-ea"/>
              <a:cs typeface="+mn-ea"/>
            </a:endParaRPr>
          </a:p>
          <a:p>
            <a:r>
              <a:rPr lang="zh-CN" altLang="en-US" sz="2400" b="1">
                <a:solidFill>
                  <a:schemeClr val="tx1"/>
                </a:solidFill>
                <a:latin typeface="+mn-ea"/>
                <a:cs typeface="+mn-ea"/>
              </a:rPr>
              <a:t>两词型类比推理的基本形式为“A: B”</a:t>
            </a:r>
            <a:r>
              <a:rPr lang="zh-CN" altLang="en-US" sz="2400" b="1">
                <a:latin typeface="+mn-ea"/>
                <a:cs typeface="+mn-ea"/>
              </a:rPr>
              <a:t>，即题干和四个备选答案中均涉及两个词项。解题时</a:t>
            </a:r>
            <a:r>
              <a:rPr lang="zh-CN" altLang="en-US" sz="2400" b="1">
                <a:solidFill>
                  <a:srgbClr val="00B050"/>
                </a:solidFill>
                <a:latin typeface="+mn-ea"/>
                <a:cs typeface="+mn-ea"/>
              </a:rPr>
              <a:t>只需找到题干两个词项之间的关系，再与选项进行对比，选出关系最为相似的一项即可</a:t>
            </a:r>
            <a:r>
              <a:rPr lang="zh-CN" altLang="en-US" sz="2400" b="1">
                <a:latin typeface="+mn-ea"/>
                <a:cs typeface="+mn-ea"/>
              </a:rPr>
              <a:t>。</a:t>
            </a:r>
            <a:endParaRPr lang="zh-CN" altLang="en-US" sz="2400" b="1">
              <a:latin typeface="+mn-ea"/>
              <a:cs typeface="+mn-ea"/>
            </a:endParaRPr>
          </a:p>
          <a:p>
            <a:r>
              <a:rPr lang="zh-CN" altLang="en-US" sz="2400" b="1">
                <a:solidFill>
                  <a:srgbClr val="00B050"/>
                </a:solidFill>
                <a:latin typeface="+mn-ea"/>
                <a:cs typeface="+mn-ea"/>
              </a:rPr>
              <a:t>真题</a:t>
            </a:r>
            <a:r>
              <a:rPr lang="en-US" altLang="zh-CN" sz="2400" b="1">
                <a:solidFill>
                  <a:srgbClr val="00B050"/>
                </a:solidFill>
                <a:latin typeface="+mn-ea"/>
                <a:cs typeface="+mn-ea"/>
              </a:rPr>
              <a:t>85</a:t>
            </a:r>
            <a:r>
              <a:rPr sz="2400" b="1">
                <a:latin typeface="+mn-ea"/>
                <a:cs typeface="+mn-ea"/>
              </a:rPr>
              <a:t>：</a:t>
            </a:r>
            <a:r>
              <a:rPr lang="zh-CN" altLang="en-US" sz="2400" b="1">
                <a:latin typeface="+mn-ea"/>
                <a:cs typeface="+mn-ea"/>
              </a:rPr>
              <a:t>进士：状元</a:t>
            </a:r>
            <a:endParaRPr lang="zh-CN" altLang="en-US" sz="2400" b="1">
              <a:latin typeface="+mn-ea"/>
              <a:cs typeface="+mn-ea"/>
            </a:endParaRPr>
          </a:p>
          <a:p>
            <a:r>
              <a:rPr lang="zh-CN" altLang="en-US" sz="2400" b="1">
                <a:latin typeface="+mn-ea"/>
                <a:cs typeface="+mn-ea"/>
              </a:rPr>
              <a:t>A.河水：海水        B.银河：天文    </a:t>
            </a:r>
            <a:endParaRPr lang="zh-CN" altLang="en-US" sz="2400" b="1">
              <a:latin typeface="+mn-ea"/>
              <a:cs typeface="+mn-ea"/>
            </a:endParaRPr>
          </a:p>
          <a:p>
            <a:r>
              <a:rPr lang="zh-CN" altLang="en-US" sz="2400" b="1">
                <a:latin typeface="+mn-ea"/>
                <a:cs typeface="+mn-ea"/>
              </a:rPr>
              <a:t>C.学位：博士        D.宪法：民主</a:t>
            </a:r>
            <a:endParaRPr lang="zh-CN" altLang="en-US" sz="2400" b="1">
              <a:latin typeface="+mn-ea"/>
              <a:cs typeface="+mn-ea"/>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 </a:t>
            </a:r>
            <a:r>
              <a:t>两词型</a:t>
            </a:r>
          </a:p>
        </p:txBody>
      </p:sp>
      <p:sp>
        <p:nvSpPr>
          <p:cNvPr id="3" name="内容占位符 2"/>
          <p:cNvSpPr>
            <a:spLocks noGrp="1"/>
          </p:cNvSpPr>
          <p:nvPr>
            <p:ph idx="1"/>
          </p:nvPr>
        </p:nvSpPr>
        <p:spPr/>
        <p:txBody>
          <a:bodyPr/>
          <a:p>
            <a:r>
              <a:rPr sz="2400" b="1">
                <a:solidFill>
                  <a:srgbClr val="00B050"/>
                </a:solidFill>
                <a:latin typeface="+mn-ea"/>
                <a:cs typeface="+mn-ea"/>
                <a:sym typeface="+mn-ea"/>
              </a:rPr>
              <a:t>真题</a:t>
            </a:r>
            <a:r>
              <a:rPr lang="en-US" altLang="zh-CN" sz="2400" b="1">
                <a:solidFill>
                  <a:srgbClr val="00B050"/>
                </a:solidFill>
                <a:latin typeface="+mn-ea"/>
                <a:cs typeface="+mn-ea"/>
                <a:sym typeface="+mn-ea"/>
              </a:rPr>
              <a:t>85</a:t>
            </a:r>
            <a:r>
              <a:rPr sz="2400" b="1">
                <a:solidFill>
                  <a:srgbClr val="00B050"/>
                </a:solidFill>
                <a:latin typeface="+mn-ea"/>
                <a:cs typeface="+mn-ea"/>
                <a:sym typeface="+mn-ea"/>
              </a:rPr>
              <a:t>分析</a:t>
            </a:r>
            <a:r>
              <a:rPr sz="2400" b="1">
                <a:latin typeface="+mn-ea"/>
                <a:cs typeface="+mn-ea"/>
                <a:sym typeface="+mn-ea"/>
              </a:rPr>
              <a:t>：进士：状元</a:t>
            </a:r>
            <a:endParaRPr lang="zh-CN" altLang="en-US" sz="2400" b="1">
              <a:latin typeface="+mn-ea"/>
              <a:cs typeface="+mn-ea"/>
            </a:endParaRPr>
          </a:p>
          <a:p>
            <a:r>
              <a:rPr sz="2400" b="1">
                <a:latin typeface="+mn-ea"/>
                <a:cs typeface="+mn-ea"/>
                <a:sym typeface="+mn-ea"/>
              </a:rPr>
              <a:t>A.河水：海水        B.银河：天文    </a:t>
            </a:r>
            <a:endParaRPr lang="zh-CN" altLang="en-US" sz="2400" b="1">
              <a:latin typeface="+mn-ea"/>
              <a:cs typeface="+mn-ea"/>
            </a:endParaRPr>
          </a:p>
          <a:p>
            <a:r>
              <a:rPr sz="2400" b="1">
                <a:latin typeface="+mn-ea"/>
                <a:cs typeface="+mn-ea"/>
                <a:sym typeface="+mn-ea"/>
              </a:rPr>
              <a:t>C.学位：博士        D.宪法：民主</a:t>
            </a:r>
            <a:endParaRPr sz="2400" b="1">
              <a:latin typeface="+mn-ea"/>
              <a:cs typeface="+mn-ea"/>
              <a:sym typeface="+mn-ea"/>
            </a:endParaRPr>
          </a:p>
          <a:p>
            <a:r>
              <a:rPr sz="2400" b="1">
                <a:latin typeface="+mn-ea"/>
                <a:cs typeface="+mn-ea"/>
                <a:sym typeface="+mn-ea"/>
              </a:rPr>
              <a:t>分析：</a:t>
            </a:r>
            <a:r>
              <a:rPr sz="2400" b="1">
                <a:solidFill>
                  <a:srgbClr val="00B050"/>
                </a:solidFill>
                <a:latin typeface="+mn-ea"/>
                <a:cs typeface="+mn-ea"/>
                <a:sym typeface="+mn-ea"/>
              </a:rPr>
              <a:t>进士中最好名次是状元，学位中最高学位是博士</a:t>
            </a:r>
            <a:r>
              <a:rPr sz="2400" b="1">
                <a:latin typeface="+mn-ea"/>
                <a:cs typeface="+mn-ea"/>
                <a:sym typeface="+mn-ea"/>
              </a:rPr>
              <a:t>，故选</a:t>
            </a:r>
            <a:r>
              <a:rPr lang="en-US" altLang="zh-CN" sz="2400" b="1">
                <a:latin typeface="+mn-ea"/>
                <a:cs typeface="+mn-ea"/>
                <a:sym typeface="+mn-ea"/>
              </a:rPr>
              <a:t>C</a:t>
            </a:r>
            <a:r>
              <a:rPr sz="2400" b="1">
                <a:latin typeface="+mn-ea"/>
                <a:cs typeface="+mn-ea"/>
                <a:sym typeface="+mn-ea"/>
              </a:rPr>
              <a:t>。</a:t>
            </a:r>
            <a:endParaRPr sz="2400" b="1">
              <a:latin typeface="+mn-ea"/>
              <a:cs typeface="+mn-ea"/>
              <a:sym typeface="+mn-ea"/>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 </a:t>
            </a:r>
            <a:r>
              <a:t>三词型</a:t>
            </a:r>
          </a:p>
        </p:txBody>
      </p:sp>
      <p:sp>
        <p:nvSpPr>
          <p:cNvPr id="3" name="内容占位符 2"/>
          <p:cNvSpPr>
            <a:spLocks noGrp="1"/>
          </p:cNvSpPr>
          <p:nvPr>
            <p:ph idx="1"/>
          </p:nvPr>
        </p:nvSpPr>
        <p:spPr/>
        <p:txBody>
          <a:bodyPr/>
          <a:p>
            <a:r>
              <a:rPr lang="zh-CN" altLang="en-US" sz="2400" b="1"/>
              <a:t>三词项类比推理的基本形式为“A:B:C”，即题干和四个备选答案中均涉及三个词项。三词项类比推理的词项间关系更为复杂，解题时</a:t>
            </a:r>
            <a:r>
              <a:rPr lang="zh-CN" altLang="en-US" sz="2400" b="1">
                <a:solidFill>
                  <a:srgbClr val="FF0000"/>
                </a:solidFill>
              </a:rPr>
              <a:t>需要综合考虑三个词项之间的关系</a:t>
            </a:r>
            <a:r>
              <a:rPr lang="zh-CN" altLang="en-US" sz="2400" b="1"/>
              <a:t>。</a:t>
            </a:r>
            <a:endParaRPr lang="zh-CN" altLang="en-US" sz="2400" b="1"/>
          </a:p>
          <a:p>
            <a:r>
              <a:rPr lang="zh-CN" altLang="en-US" sz="2400" b="1">
                <a:solidFill>
                  <a:srgbClr val="00B050"/>
                </a:solidFill>
              </a:rPr>
              <a:t>真题</a:t>
            </a:r>
            <a:r>
              <a:rPr lang="en-US" altLang="zh-CN" sz="2400" b="1">
                <a:solidFill>
                  <a:srgbClr val="00B050"/>
                </a:solidFill>
              </a:rPr>
              <a:t>86</a:t>
            </a:r>
            <a:r>
              <a:rPr sz="2400" b="1"/>
              <a:t>：</a:t>
            </a:r>
            <a:r>
              <a:rPr lang="zh-CN" altLang="en-US" sz="2400" b="1"/>
              <a:t> 农家乐：农家：乐</a:t>
            </a:r>
            <a:endParaRPr lang="zh-CN" altLang="en-US" sz="2400" b="1"/>
          </a:p>
          <a:p>
            <a:r>
              <a:rPr lang="en-US" altLang="zh-CN" sz="2400" b="1"/>
              <a:t>A.</a:t>
            </a:r>
            <a:r>
              <a:rPr lang="zh-CN" altLang="en-US" sz="2400" b="1"/>
              <a:t>一日游：一日：游           B.广场舞：广场：舞  </a:t>
            </a:r>
            <a:endParaRPr lang="zh-CN" altLang="en-US" sz="2400" b="1"/>
          </a:p>
          <a:p>
            <a:r>
              <a:rPr lang="zh-CN" altLang="en-US" sz="2400" b="1"/>
              <a:t>C.袋鼠跳：袋鼠：跳           D.颅内伤：颅内：伤</a:t>
            </a:r>
            <a:endParaRPr lang="zh-CN" altLang="en-US" sz="2400"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86</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农家乐：农家：乐</a:t>
            </a:r>
            <a:endParaRPr lang="zh-CN" altLang="en-US" sz="2400" b="1"/>
          </a:p>
          <a:p>
            <a:r>
              <a:rPr lang="en-US" altLang="zh-CN" sz="2400" b="1">
                <a:sym typeface="+mn-ea"/>
              </a:rPr>
              <a:t>A.</a:t>
            </a:r>
            <a:r>
              <a:rPr sz="2400" b="1">
                <a:sym typeface="+mn-ea"/>
              </a:rPr>
              <a:t>一日游：一日：游           B.广场舞：广场：舞  </a:t>
            </a:r>
            <a:endParaRPr lang="zh-CN" altLang="en-US" sz="2400" b="1"/>
          </a:p>
          <a:p>
            <a:r>
              <a:rPr sz="2400" b="1">
                <a:sym typeface="+mn-ea"/>
              </a:rPr>
              <a:t>C.袋鼠跳：袋鼠：跳           D.颅内伤：颅内：伤</a:t>
            </a:r>
            <a:endParaRPr sz="2400" b="1">
              <a:sym typeface="+mn-ea"/>
            </a:endParaRPr>
          </a:p>
          <a:p>
            <a:r>
              <a:rPr lang="zh-CN" altLang="en-US" sz="2400" b="1"/>
              <a:t>分析：</a:t>
            </a:r>
            <a:r>
              <a:rPr sz="2400" b="1">
                <a:solidFill>
                  <a:srgbClr val="00B050"/>
                </a:solidFill>
                <a:sym typeface="+mn-ea"/>
              </a:rPr>
              <a:t>农家乐是因去农家游乐而得名，广场舞是因在广场上跳舞而得名</a:t>
            </a:r>
            <a:r>
              <a:rPr sz="2400" b="1">
                <a:sym typeface="+mn-ea"/>
              </a:rPr>
              <a:t>，农家乐和广场舞都是一种休闲方式。故选</a:t>
            </a:r>
            <a:r>
              <a:rPr lang="en-US" altLang="zh-CN" sz="2400" b="1">
                <a:sym typeface="+mn-ea"/>
              </a:rPr>
              <a:t>B</a:t>
            </a:r>
            <a:r>
              <a:rPr sz="2400" b="1">
                <a:sym typeface="+mn-ea"/>
              </a:rPr>
              <a:t>。</a:t>
            </a:r>
            <a:endParaRPr lang="zh-CN" altLang="en-US" sz="2400" b="1"/>
          </a:p>
          <a:p>
            <a:endParaRPr lang="zh-CN" altLang="en-US" sz="2400" b="1"/>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a:t>
            </a:r>
            <a:r>
              <a:rPr>
                <a:sym typeface="+mn-ea"/>
              </a:rPr>
              <a:t>对当型</a:t>
            </a:r>
            <a:endParaRPr lang="en-US" altLang="zh-CN"/>
          </a:p>
        </p:txBody>
      </p:sp>
      <p:sp>
        <p:nvSpPr>
          <p:cNvPr id="3" name="内容占位符 2"/>
          <p:cNvSpPr>
            <a:spLocks noGrp="1"/>
          </p:cNvSpPr>
          <p:nvPr>
            <p:ph idx="1"/>
          </p:nvPr>
        </p:nvSpPr>
        <p:spPr/>
        <p:txBody>
          <a:bodyPr/>
          <a:p>
            <a:r>
              <a:rPr lang="zh-CN" altLang="en-US" sz="2400" b="1"/>
              <a:t>对当型类比推理的</a:t>
            </a:r>
            <a:r>
              <a:rPr lang="zh-CN" altLang="en-US" sz="2400" b="1">
                <a:solidFill>
                  <a:srgbClr val="FF0000"/>
                </a:solidFill>
              </a:rPr>
              <a:t>基本形式为“A对于（）相当于（）对于B”</a:t>
            </a:r>
            <a:r>
              <a:rPr lang="zh-CN" altLang="en-US" sz="2400" b="1"/>
              <a:t>，即题干所涉及的词项分为两组，每组缺少一个词项，要求</a:t>
            </a:r>
            <a:r>
              <a:rPr lang="zh-CN" altLang="en-US" sz="2400" b="1">
                <a:solidFill>
                  <a:srgbClr val="00B050"/>
                </a:solidFill>
              </a:rPr>
              <a:t>选择一个答案填入题干的空缺处，使题干前后两组词项的关系最为相似</a:t>
            </a:r>
            <a:r>
              <a:rPr lang="zh-CN" altLang="en-US" sz="2400" b="1"/>
              <a:t>。</a:t>
            </a:r>
            <a:endParaRPr lang="zh-CN" altLang="en-US" sz="2400" b="1"/>
          </a:p>
          <a:p>
            <a:r>
              <a:rPr lang="zh-CN" altLang="en-US" sz="2400" b="1"/>
              <a:t>真题</a:t>
            </a:r>
            <a:r>
              <a:rPr lang="en-US" altLang="zh-CN" sz="2400" b="1"/>
              <a:t>87</a:t>
            </a:r>
            <a:r>
              <a:rPr sz="2400" b="1"/>
              <a:t>：</a:t>
            </a:r>
            <a:r>
              <a:rPr lang="zh-CN" altLang="en-US" sz="2400" b="1"/>
              <a:t>电视台  对于（）相当于（）对于蚂蚁</a:t>
            </a:r>
            <a:endParaRPr lang="zh-CN" altLang="en-US" sz="2400" b="1"/>
          </a:p>
          <a:p>
            <a:r>
              <a:rPr lang="zh-CN" altLang="en-US" sz="2400" b="1"/>
              <a:t>A.媒介 昆虫         B.网络 工蚁    </a:t>
            </a:r>
            <a:endParaRPr lang="zh-CN" altLang="en-US" sz="2400" b="1"/>
          </a:p>
          <a:p>
            <a:r>
              <a:rPr lang="zh-CN" altLang="en-US" sz="2400" b="1"/>
              <a:t>C.电台 蟋蟀         D.电视  蚁巢</a:t>
            </a:r>
            <a:endParaRPr lang="zh-CN" altLang="en-US" sz="2400" b="1"/>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87</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电视台  对于（）相当于（）对于蚂蚁</a:t>
            </a:r>
            <a:endParaRPr lang="zh-CN" altLang="en-US" sz="2400" b="1"/>
          </a:p>
          <a:p>
            <a:r>
              <a:rPr sz="2400" b="1">
                <a:sym typeface="+mn-ea"/>
              </a:rPr>
              <a:t>A.媒介 昆虫         B.网络 工蚁    </a:t>
            </a:r>
            <a:endParaRPr lang="zh-CN" altLang="en-US" sz="2400" b="1"/>
          </a:p>
          <a:p>
            <a:r>
              <a:rPr sz="2400" b="1">
                <a:sym typeface="+mn-ea"/>
              </a:rPr>
              <a:t>C.电台 蟋蟀         D.电视  蚁巢</a:t>
            </a:r>
            <a:endParaRPr sz="2400" b="1">
              <a:sym typeface="+mn-ea"/>
            </a:endParaRPr>
          </a:p>
          <a:p>
            <a:r>
              <a:rPr sz="2400" b="1">
                <a:sym typeface="+mn-ea"/>
              </a:rPr>
              <a:t>分析：</a:t>
            </a:r>
            <a:r>
              <a:rPr sz="2400" b="1">
                <a:solidFill>
                  <a:srgbClr val="00B050"/>
                </a:solidFill>
                <a:sym typeface="+mn-ea"/>
              </a:rPr>
              <a:t>电视台与电台是并列关系</a:t>
            </a:r>
            <a:r>
              <a:rPr sz="2400" b="1">
                <a:sym typeface="+mn-ea"/>
              </a:rPr>
              <a:t>，二者属于不同的媒体形式。</a:t>
            </a:r>
            <a:r>
              <a:rPr sz="2400" b="1">
                <a:solidFill>
                  <a:srgbClr val="00B050"/>
                </a:solidFill>
                <a:sym typeface="+mn-ea"/>
              </a:rPr>
              <a:t>蚂蚁与蟋蟀是并列关系</a:t>
            </a:r>
            <a:r>
              <a:rPr sz="2400" b="1">
                <a:sym typeface="+mn-ea"/>
              </a:rPr>
              <a:t>，二者属于不同的昆虫种类。故选</a:t>
            </a:r>
            <a:r>
              <a:rPr lang="en-US" altLang="zh-CN" sz="2400" b="1">
                <a:sym typeface="+mn-ea"/>
              </a:rPr>
              <a:t>C</a:t>
            </a:r>
            <a:r>
              <a:rPr sz="2400" b="1">
                <a:sym typeface="+mn-ea"/>
              </a:rPr>
              <a:t>。</a:t>
            </a:r>
            <a:endParaRPr lang="zh-CN" altLang="en-US" sz="2400" b="1"/>
          </a:p>
          <a:p>
            <a:endParaRPr lang="zh-CN" altLang="en-US" sz="240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二、类比推理核心考点</a:t>
            </a:r>
            <a:endParaRPr lang="zh-CN" altLang="en-US"/>
          </a:p>
        </p:txBody>
      </p:sp>
      <p:sp>
        <p:nvSpPr>
          <p:cNvPr id="3" name="内容占位符 2"/>
          <p:cNvSpPr>
            <a:spLocks noGrp="1"/>
          </p:cNvSpPr>
          <p:nvPr>
            <p:ph idx="1"/>
          </p:nvPr>
        </p:nvSpPr>
        <p:spPr/>
        <p:txBody>
          <a:bodyPr/>
          <a:p>
            <a:r>
              <a:rPr lang="zh-CN" altLang="en-US" sz="2400" b="1">
                <a:solidFill>
                  <a:srgbClr val="FF0000"/>
                </a:solidFill>
              </a:rPr>
              <a:t>类比推理本质上是考查词项间关系的相似性。</a:t>
            </a:r>
            <a:endParaRPr lang="zh-CN" altLang="en-US" sz="2400" b="1">
              <a:solidFill>
                <a:srgbClr val="FF0000"/>
              </a:solidFill>
            </a:endParaRPr>
          </a:p>
          <a:p>
            <a:r>
              <a:rPr lang="zh-CN" altLang="en-US" sz="2400" b="1"/>
              <a:t>公务员考试中常见词项间的关系可以分为：</a:t>
            </a:r>
            <a:endParaRPr lang="zh-CN" altLang="en-US" sz="2400" b="1"/>
          </a:p>
          <a:p>
            <a:r>
              <a:rPr lang="en-US" altLang="zh-CN" sz="2400" b="1"/>
              <a:t>1.</a:t>
            </a:r>
            <a:r>
              <a:rPr sz="2400" b="1"/>
              <a:t>逻辑关系</a:t>
            </a:r>
            <a:endParaRPr sz="2400" b="1"/>
          </a:p>
          <a:p>
            <a:r>
              <a:rPr lang="en-US" altLang="zh-CN" sz="2400" b="1">
                <a:solidFill>
                  <a:srgbClr val="FF0000"/>
                </a:solidFill>
              </a:rPr>
              <a:t>2.</a:t>
            </a:r>
            <a:r>
              <a:rPr sz="2400" b="1">
                <a:solidFill>
                  <a:srgbClr val="FF0000"/>
                </a:solidFill>
              </a:rPr>
              <a:t>言语关系</a:t>
            </a:r>
            <a:endParaRPr sz="2400" b="1">
              <a:solidFill>
                <a:srgbClr val="FF0000"/>
              </a:solidFill>
            </a:endParaRPr>
          </a:p>
          <a:p>
            <a:r>
              <a:rPr lang="en-US" altLang="zh-CN" sz="2400" b="1"/>
              <a:t>3.</a:t>
            </a:r>
            <a:r>
              <a:rPr sz="2400" b="1"/>
              <a:t>常识关系</a:t>
            </a:r>
            <a:endParaRPr sz="2400" b="1"/>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1.</a:t>
            </a:r>
            <a:r>
              <a:rPr>
                <a:sym typeface="+mn-ea"/>
              </a:rPr>
              <a:t>逻辑关系</a:t>
            </a:r>
            <a:endParaRPr lang="zh-CN" altLang="en-US"/>
          </a:p>
        </p:txBody>
      </p:sp>
      <p:sp>
        <p:nvSpPr>
          <p:cNvPr id="3" name="内容占位符 2"/>
          <p:cNvSpPr>
            <a:spLocks noGrp="1"/>
          </p:cNvSpPr>
          <p:nvPr>
            <p:ph idx="1"/>
          </p:nvPr>
        </p:nvSpPr>
        <p:spPr/>
        <p:txBody>
          <a:bodyPr/>
          <a:p>
            <a:r>
              <a:rPr lang="zh-CN" altLang="en-US" sz="2400" b="1"/>
              <a:t>类比推理所涉及的逻辑关系主要可以从三方面考虑：</a:t>
            </a:r>
            <a:endParaRPr lang="zh-CN" altLang="en-US" sz="2400" b="1"/>
          </a:p>
          <a:p>
            <a:r>
              <a:rPr lang="zh-CN" altLang="en-US" sz="2400" b="1"/>
              <a:t>一是词项所代表的概念之间的</a:t>
            </a:r>
            <a:r>
              <a:rPr lang="zh-CN" altLang="en-US" sz="2400" b="1">
                <a:solidFill>
                  <a:srgbClr val="FF0000"/>
                </a:solidFill>
              </a:rPr>
              <a:t>集合关系</a:t>
            </a:r>
            <a:r>
              <a:rPr lang="zh-CN" altLang="en-US" sz="2400" b="1"/>
              <a:t>，主要有全同、属种、交叉、全异四种，其中全异关系考查较少；</a:t>
            </a:r>
            <a:endParaRPr lang="zh-CN" altLang="en-US" sz="2400" b="1"/>
          </a:p>
          <a:p>
            <a:r>
              <a:rPr lang="zh-CN" altLang="en-US" sz="2400" b="1"/>
              <a:t>二是词项所代表的事件之间的</a:t>
            </a:r>
            <a:r>
              <a:rPr lang="zh-CN" altLang="en-US" sz="2400" b="1">
                <a:solidFill>
                  <a:srgbClr val="FF0000"/>
                </a:solidFill>
              </a:rPr>
              <a:t>条件关系</a:t>
            </a:r>
            <a:r>
              <a:rPr lang="zh-CN" altLang="en-US" sz="2400" b="1"/>
              <a:t>；</a:t>
            </a:r>
            <a:endParaRPr lang="zh-CN" altLang="en-US" sz="2400" b="1"/>
          </a:p>
          <a:p>
            <a:r>
              <a:rPr lang="zh-CN" altLang="en-US" sz="2400" b="1"/>
              <a:t>三是词项所代表的事件之间的</a:t>
            </a:r>
            <a:r>
              <a:rPr lang="zh-CN" altLang="en-US" sz="2400" b="1">
                <a:solidFill>
                  <a:srgbClr val="FF0000"/>
                </a:solidFill>
              </a:rPr>
              <a:t>因果关系</a:t>
            </a:r>
            <a:r>
              <a:rPr lang="zh-CN" altLang="en-US" sz="2400" b="1"/>
              <a:t>。</a:t>
            </a:r>
            <a:endParaRPr lang="zh-CN" altLang="en-US" sz="2400" b="1"/>
          </a:p>
          <a:p>
            <a:r>
              <a:rPr lang="zh-CN" altLang="en-US" sz="2400" b="1"/>
              <a:t>其中，</a:t>
            </a:r>
            <a:r>
              <a:rPr lang="zh-CN" altLang="en-US" sz="2400" b="1">
                <a:solidFill>
                  <a:srgbClr val="FF0000"/>
                </a:solidFill>
              </a:rPr>
              <a:t>集合关系是考试的重点</a:t>
            </a:r>
            <a:r>
              <a:rPr lang="zh-CN" altLang="en-US" sz="2400" b="1"/>
              <a:t>。</a:t>
            </a:r>
            <a:endParaRPr lang="zh-CN" altLang="en-US" sz="2400" b="1"/>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a:t>
            </a:r>
            <a:r>
              <a:rPr lang="en-US" altLang="zh-CN"/>
              <a:t>1</a:t>
            </a:r>
            <a:r>
              <a:t>）</a:t>
            </a:r>
            <a:r>
              <a:rPr>
                <a:sym typeface="+mn-ea"/>
              </a:rPr>
              <a:t>全同关系</a:t>
            </a:r>
            <a:endParaRPr>
              <a:sym typeface="+mn-ea"/>
            </a:endParaRPr>
          </a:p>
        </p:txBody>
      </p:sp>
      <p:sp>
        <p:nvSpPr>
          <p:cNvPr id="3" name="内容占位符 2"/>
          <p:cNvSpPr>
            <a:spLocks noGrp="1"/>
          </p:cNvSpPr>
          <p:nvPr>
            <p:ph idx="1"/>
          </p:nvPr>
        </p:nvSpPr>
        <p:spPr/>
        <p:txBody>
          <a:bodyPr/>
          <a:p>
            <a:r>
              <a:rPr lang="zh-CN" altLang="en-US" sz="2400" b="1"/>
              <a:t>全同关系是指一组词所指代的是同一个概念，即同一事物的不同称谓。比如同一事物的全称、简称、别称、美称、谦称、敬称等，或者对应的音译名和中文名，现代语和文言文、口语和书面语等。</a:t>
            </a:r>
            <a:endParaRPr lang="zh-CN" altLang="en-US" sz="2400" b="1"/>
          </a:p>
          <a:p>
            <a:r>
              <a:rPr lang="zh-CN" altLang="en-US" sz="2400" b="1">
                <a:solidFill>
                  <a:srgbClr val="00B050"/>
                </a:solidFill>
              </a:rPr>
              <a:t>真题</a:t>
            </a:r>
            <a:r>
              <a:rPr lang="en-US" altLang="zh-CN" sz="2400" b="1">
                <a:solidFill>
                  <a:srgbClr val="00B050"/>
                </a:solidFill>
              </a:rPr>
              <a:t>88</a:t>
            </a:r>
            <a:r>
              <a:rPr sz="2400" b="1"/>
              <a:t>：</a:t>
            </a:r>
            <a:r>
              <a:rPr lang="zh-CN" altLang="en-US" sz="2400" b="1"/>
              <a:t>春夏秋冬：四季</a:t>
            </a:r>
            <a:endParaRPr lang="zh-CN" altLang="en-US" sz="2400" b="1"/>
          </a:p>
          <a:p>
            <a:r>
              <a:rPr lang="zh-CN" altLang="en-US" sz="2400" b="1"/>
              <a:t>A.喜怒哀乐：情绪           B.赤橙黄绿：颜色  </a:t>
            </a:r>
            <a:endParaRPr lang="zh-CN" altLang="en-US" sz="2400" b="1"/>
          </a:p>
          <a:p>
            <a:r>
              <a:rPr lang="zh-CN" altLang="en-US" sz="2400" b="1"/>
              <a:t>C.早中晚：一天              D.东南西北：四方</a:t>
            </a:r>
            <a:endParaRPr lang="zh-CN" altLang="en-US" sz="2400" b="1"/>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88</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春夏秋冬：四季</a:t>
            </a:r>
            <a:endParaRPr lang="zh-CN" altLang="en-US" sz="2400" b="1"/>
          </a:p>
          <a:p>
            <a:r>
              <a:rPr sz="2400" b="1">
                <a:sym typeface="+mn-ea"/>
              </a:rPr>
              <a:t>A.喜怒哀乐：情绪           B.赤橙黄绿：颜色  </a:t>
            </a:r>
            <a:endParaRPr lang="zh-CN" altLang="en-US" sz="2400" b="1"/>
          </a:p>
          <a:p>
            <a:r>
              <a:rPr sz="2400" b="1">
                <a:sym typeface="+mn-ea"/>
              </a:rPr>
              <a:t>C.早中晚：一天              D.东南西北：四方</a:t>
            </a:r>
            <a:endParaRPr sz="2400" b="1">
              <a:sym typeface="+mn-ea"/>
            </a:endParaRPr>
          </a:p>
          <a:p>
            <a:r>
              <a:rPr sz="2400" b="1">
                <a:sym typeface="+mn-ea"/>
              </a:rPr>
              <a:t>分析：</a:t>
            </a:r>
            <a:r>
              <a:rPr sz="2400" b="1">
                <a:solidFill>
                  <a:srgbClr val="00B050"/>
                </a:solidFill>
                <a:sym typeface="+mn-ea"/>
              </a:rPr>
              <a:t>春夏秋冬与四季是全同关系</a:t>
            </a:r>
            <a:r>
              <a:rPr sz="2400" b="1">
                <a:sym typeface="+mn-ea"/>
              </a:rPr>
              <a:t>。</a:t>
            </a:r>
            <a:r>
              <a:rPr lang="en-US" altLang="zh-CN" sz="2400" b="1">
                <a:sym typeface="+mn-ea"/>
              </a:rPr>
              <a:t>ABC</a:t>
            </a:r>
            <a:r>
              <a:rPr sz="2400" b="1">
                <a:sym typeface="+mn-ea"/>
              </a:rPr>
              <a:t>是种属关系，</a:t>
            </a:r>
            <a:r>
              <a:rPr lang="en-US" altLang="zh-CN" sz="2400" b="1">
                <a:solidFill>
                  <a:srgbClr val="00B050"/>
                </a:solidFill>
                <a:sym typeface="+mn-ea"/>
              </a:rPr>
              <a:t>D</a:t>
            </a:r>
            <a:r>
              <a:rPr sz="2400" b="1">
                <a:solidFill>
                  <a:srgbClr val="00B050"/>
                </a:solidFill>
                <a:sym typeface="+mn-ea"/>
              </a:rPr>
              <a:t>是全同关系</a:t>
            </a:r>
            <a:r>
              <a:rPr sz="2400" b="1">
                <a:sym typeface="+mn-ea"/>
              </a:rPr>
              <a:t>，故选</a:t>
            </a:r>
            <a:r>
              <a:rPr lang="en-US" altLang="zh-CN" sz="2400" b="1">
                <a:sym typeface="+mn-ea"/>
              </a:rPr>
              <a:t>D</a:t>
            </a:r>
            <a:r>
              <a:rPr sz="2400" b="1">
                <a:sym typeface="+mn-ea"/>
              </a:rPr>
              <a:t>。</a:t>
            </a:r>
            <a:endParaRPr lang="zh-CN" altLang="en-US" sz="2400" b="1"/>
          </a:p>
          <a:p>
            <a:endParaRPr lang="zh-CN" altLang="en-US" sz="2400"/>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（2）属种关系</a:t>
            </a:r>
            <a:endParaRPr lang="zh-CN" altLang="en-US"/>
          </a:p>
        </p:txBody>
      </p:sp>
      <p:sp>
        <p:nvSpPr>
          <p:cNvPr id="3" name="内容占位符 2"/>
          <p:cNvSpPr>
            <a:spLocks noGrp="1"/>
          </p:cNvSpPr>
          <p:nvPr>
            <p:ph idx="1"/>
          </p:nvPr>
        </p:nvSpPr>
        <p:spPr/>
        <p:txBody>
          <a:bodyPr/>
          <a:p>
            <a:r>
              <a:rPr lang="zh-CN" altLang="en-US" sz="2400" b="1"/>
              <a:t>包含关系是指一种事物是另一种事物的一种或一部分。比如种与属、部分与整体等。</a:t>
            </a:r>
            <a:endParaRPr lang="zh-CN" altLang="en-US" sz="2400" b="1"/>
          </a:p>
          <a:p>
            <a:r>
              <a:rPr lang="zh-CN" altLang="en-US" sz="2400" b="1">
                <a:solidFill>
                  <a:srgbClr val="00B050"/>
                </a:solidFill>
              </a:rPr>
              <a:t>真题</a:t>
            </a:r>
            <a:r>
              <a:rPr lang="en-US" altLang="zh-CN" sz="2400" b="1">
                <a:solidFill>
                  <a:srgbClr val="00B050"/>
                </a:solidFill>
              </a:rPr>
              <a:t>89</a:t>
            </a:r>
            <a:r>
              <a:rPr sz="2400" b="1"/>
              <a:t>：</a:t>
            </a:r>
            <a:r>
              <a:rPr lang="zh-CN" altLang="en-US" sz="2400" b="1"/>
              <a:t>植物：裸子植物：红豆杉</a:t>
            </a:r>
            <a:endParaRPr lang="zh-CN" altLang="en-US" sz="2400" b="1"/>
          </a:p>
          <a:p>
            <a:r>
              <a:rPr lang="zh-CN" altLang="en-US" sz="2400" b="1"/>
              <a:t>A.学校：中学：小学             B.国家：民族：公司  </a:t>
            </a:r>
            <a:endParaRPr lang="zh-CN" altLang="en-US" sz="2400" b="1"/>
          </a:p>
          <a:p>
            <a:r>
              <a:rPr lang="zh-CN" altLang="en-US" sz="2400" b="1"/>
              <a:t>C.科学：物理学：力学          D.星系：星座：太阳</a:t>
            </a:r>
            <a:endParaRPr lang="zh-CN" altLang="en-US" sz="2400" b="1"/>
          </a:p>
          <a:p>
            <a:endParaRPr lang="zh-CN" altLang="en-US" sz="2400" b="1"/>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真题</a:t>
            </a:r>
            <a:r>
              <a:rPr lang="en-US" altLang="zh-CN"/>
              <a:t>89</a:t>
            </a:r>
            <a:r>
              <a:rPr lang="zh-CN" altLang="en-US"/>
              <a:t>分析</a:t>
            </a:r>
            <a:endParaRPr lang="zh-CN" altLang="en-US"/>
          </a:p>
        </p:txBody>
      </p:sp>
      <p:sp>
        <p:nvSpPr>
          <p:cNvPr id="3" name="内容占位符 2"/>
          <p:cNvSpPr>
            <a:spLocks noGrp="1"/>
          </p:cNvSpPr>
          <p:nvPr>
            <p:ph idx="1"/>
          </p:nvPr>
        </p:nvSpPr>
        <p:spPr/>
        <p:txBody>
          <a:bodyPr/>
          <a:p>
            <a:r>
              <a:rPr lang="zh-CN" altLang="en-US" sz="2400" b="1">
                <a:solidFill>
                  <a:srgbClr val="00B050"/>
                </a:solidFill>
              </a:rPr>
              <a:t>真题</a:t>
            </a:r>
            <a:r>
              <a:rPr lang="en-US" altLang="zh-CN" sz="2400" b="1">
                <a:solidFill>
                  <a:srgbClr val="00B050"/>
                </a:solidFill>
              </a:rPr>
              <a:t>89</a:t>
            </a:r>
            <a:r>
              <a:rPr sz="2400" b="1">
                <a:solidFill>
                  <a:srgbClr val="00B050"/>
                </a:solidFill>
              </a:rPr>
              <a:t>分析</a:t>
            </a:r>
            <a:r>
              <a:rPr sz="2400" b="1"/>
              <a:t>：</a:t>
            </a:r>
            <a:r>
              <a:rPr lang="zh-CN" altLang="en-US" sz="2400" b="1"/>
              <a:t>植物：裸子植物：红豆杉</a:t>
            </a:r>
            <a:endParaRPr lang="zh-CN" altLang="en-US" sz="2400" b="1"/>
          </a:p>
          <a:p>
            <a:r>
              <a:rPr lang="zh-CN" altLang="en-US" sz="2400" b="1"/>
              <a:t>A.学校：中学：小学             B.国家：民族：公司  </a:t>
            </a:r>
            <a:endParaRPr lang="zh-CN" altLang="en-US" sz="2400" b="1"/>
          </a:p>
          <a:p>
            <a:r>
              <a:rPr lang="zh-CN" altLang="en-US" sz="2400" b="1"/>
              <a:t>C.科学：物理学：力学          D.星系：星座：太阳</a:t>
            </a:r>
            <a:endParaRPr lang="zh-CN" altLang="en-US" sz="2400" b="1"/>
          </a:p>
          <a:p>
            <a:r>
              <a:rPr lang="zh-CN" altLang="en-US" sz="2400" b="1"/>
              <a:t>分析：</a:t>
            </a:r>
            <a:r>
              <a:rPr sz="2400" b="1">
                <a:sym typeface="+mn-ea"/>
              </a:rPr>
              <a:t>植物与裸子植物是属种关系，</a:t>
            </a:r>
            <a:r>
              <a:rPr sz="2400" b="1">
                <a:sym typeface="+mn-ea"/>
              </a:rPr>
              <a:t>裸子植物与</a:t>
            </a:r>
            <a:r>
              <a:rPr sz="2400" b="1">
                <a:sym typeface="+mn-ea"/>
              </a:rPr>
              <a:t>红豆杉也</a:t>
            </a:r>
            <a:r>
              <a:rPr sz="2400" b="1">
                <a:sym typeface="+mn-ea"/>
              </a:rPr>
              <a:t>是属种关系</a:t>
            </a:r>
            <a:r>
              <a:rPr sz="2400" b="1">
                <a:solidFill>
                  <a:srgbClr val="00B050"/>
                </a:solidFill>
                <a:sym typeface="+mn-ea"/>
              </a:rPr>
              <a:t>。科学与物理学是属种关系，</a:t>
            </a:r>
            <a:r>
              <a:rPr sz="2400" b="1">
                <a:solidFill>
                  <a:srgbClr val="00B050"/>
                </a:solidFill>
                <a:sym typeface="+mn-ea"/>
              </a:rPr>
              <a:t>物理学与力学</a:t>
            </a:r>
            <a:r>
              <a:rPr sz="2400" b="1">
                <a:solidFill>
                  <a:srgbClr val="00B050"/>
                </a:solidFill>
                <a:sym typeface="+mn-ea"/>
              </a:rPr>
              <a:t>也是属种关系，</a:t>
            </a:r>
            <a:r>
              <a:rPr sz="2400" b="1">
                <a:sym typeface="+mn-ea"/>
              </a:rPr>
              <a:t>故选</a:t>
            </a:r>
            <a:r>
              <a:rPr lang="en-US" altLang="zh-CN" sz="2400" b="1">
                <a:sym typeface="+mn-ea"/>
              </a:rPr>
              <a:t>C</a:t>
            </a:r>
            <a:r>
              <a:rPr sz="2400" b="1">
                <a:sym typeface="+mn-ea"/>
              </a:rPr>
              <a:t>。</a:t>
            </a:r>
            <a:endParaRPr lang="zh-CN" altLang="en-US" sz="2400" b="1"/>
          </a:p>
          <a:p>
            <a:r>
              <a:rPr sz="2400" b="1">
                <a:sym typeface="+mn-ea"/>
              </a:rPr>
              <a:t>红豆杉裸子植物裸子植物</a:t>
            </a:r>
            <a:endParaRPr lang="zh-CN" altLang="en-US" sz="2400" b="1"/>
          </a:p>
          <a:p>
            <a:endParaRPr lang="zh-CN" altLang="en-US" sz="2400" b="1"/>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a:t>
            </a:r>
            <a:r>
              <a:rPr lang="en-US" altLang="zh-CN">
                <a:sym typeface="+mn-ea"/>
              </a:rPr>
              <a:t>3</a:t>
            </a:r>
            <a:r>
              <a:rPr>
                <a:sym typeface="+mn-ea"/>
              </a:rPr>
              <a:t>）</a:t>
            </a:r>
            <a:r>
              <a:rPr>
                <a:sym typeface="+mn-ea"/>
              </a:rPr>
              <a:t>交叉关系</a:t>
            </a:r>
            <a:endParaRPr lang="zh-CN" altLang="en-US"/>
          </a:p>
        </p:txBody>
      </p:sp>
      <p:sp>
        <p:nvSpPr>
          <p:cNvPr id="3" name="内容占位符 2"/>
          <p:cNvSpPr>
            <a:spLocks noGrp="1"/>
          </p:cNvSpPr>
          <p:nvPr>
            <p:ph idx="1"/>
          </p:nvPr>
        </p:nvSpPr>
        <p:spPr/>
        <p:txBody>
          <a:bodyPr/>
          <a:p>
            <a:r>
              <a:rPr lang="zh-CN" altLang="en-US" sz="2400" b="1">
                <a:solidFill>
                  <a:srgbClr val="FF0000"/>
                </a:solidFill>
              </a:rPr>
              <a:t>交叉关系是指两个词语所代表的集合有相同部分，也有不同部分</a:t>
            </a:r>
            <a:r>
              <a:rPr lang="zh-CN" altLang="en-US" sz="2400" b="1"/>
              <a:t>。</a:t>
            </a:r>
            <a:endParaRPr lang="zh-CN" altLang="en-US" sz="2400" b="1"/>
          </a:p>
          <a:p>
            <a:r>
              <a:rPr lang="zh-CN" altLang="en-US" sz="2400" b="1">
                <a:solidFill>
                  <a:srgbClr val="00B050"/>
                </a:solidFill>
              </a:rPr>
              <a:t>真题</a:t>
            </a:r>
            <a:r>
              <a:rPr lang="en-US" altLang="zh-CN" sz="2400" b="1">
                <a:solidFill>
                  <a:srgbClr val="00B050"/>
                </a:solidFill>
              </a:rPr>
              <a:t>90</a:t>
            </a:r>
            <a:r>
              <a:rPr sz="2400" b="1"/>
              <a:t>：</a:t>
            </a:r>
            <a:r>
              <a:rPr lang="zh-CN" altLang="en-US" sz="2400" b="1"/>
              <a:t>文物：建筑</a:t>
            </a:r>
            <a:endParaRPr lang="zh-CN" altLang="en-US" sz="2400" b="1"/>
          </a:p>
          <a:p>
            <a:r>
              <a:rPr lang="zh-CN" altLang="en-US" sz="2400" b="1"/>
              <a:t>A.烹饪：佐料          B.故宫：楼房  </a:t>
            </a:r>
            <a:endParaRPr lang="zh-CN" altLang="en-US" sz="2400" b="1"/>
          </a:p>
          <a:p>
            <a:r>
              <a:rPr lang="zh-CN" altLang="en-US" sz="2400" b="1"/>
              <a:t>C.诗人：教授          D.皮鞋：布鞋</a:t>
            </a:r>
            <a:endParaRPr lang="zh-CN" altLang="en-US" sz="2400" b="1"/>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90</a:t>
            </a:r>
            <a:r>
              <a:rPr>
                <a:solidFill>
                  <a:srgbClr val="00B050"/>
                </a:solidFill>
              </a:rPr>
              <a:t>分析</a:t>
            </a:r>
            <a:endParaRPr>
              <a:solidFill>
                <a:srgbClr val="00B050"/>
              </a:solidFill>
            </a:endParaRPr>
          </a:p>
        </p:txBody>
      </p:sp>
      <p:sp>
        <p:nvSpPr>
          <p:cNvPr id="3" name="内容占位符 2"/>
          <p:cNvSpPr>
            <a:spLocks noGrp="1"/>
          </p:cNvSpPr>
          <p:nvPr>
            <p:ph idx="1"/>
          </p:nvPr>
        </p:nvSpPr>
        <p:spPr/>
        <p:txBody>
          <a:bodyPr/>
          <a:p>
            <a:r>
              <a:rPr lang="zh-CN" altLang="en-US" sz="2400" b="1"/>
              <a:t>文物：建筑</a:t>
            </a:r>
            <a:endParaRPr lang="zh-CN" altLang="en-US" sz="2400" b="1"/>
          </a:p>
          <a:p>
            <a:r>
              <a:rPr lang="zh-CN" altLang="en-US" sz="2400" b="1"/>
              <a:t>A.烹饪：佐料          B.故宫：楼房  </a:t>
            </a:r>
            <a:endParaRPr lang="zh-CN" altLang="en-US" sz="2400" b="1"/>
          </a:p>
          <a:p>
            <a:r>
              <a:rPr lang="zh-CN" altLang="en-US" sz="2400" b="1"/>
              <a:t>C.诗人：教授          D.皮鞋：布鞋</a:t>
            </a:r>
            <a:endParaRPr lang="zh-CN" altLang="en-US" sz="2400" b="1"/>
          </a:p>
          <a:p>
            <a:r>
              <a:rPr lang="zh-CN" altLang="en-US" sz="2400" b="1"/>
              <a:t>分析：</a:t>
            </a:r>
            <a:r>
              <a:rPr sz="2400" b="1">
                <a:solidFill>
                  <a:srgbClr val="00B050"/>
                </a:solidFill>
                <a:sym typeface="+mn-ea"/>
              </a:rPr>
              <a:t>文物与建筑是交叉关系</a:t>
            </a:r>
            <a:r>
              <a:rPr sz="2400" b="1">
                <a:sym typeface="+mn-ea"/>
              </a:rPr>
              <a:t>。</a:t>
            </a:r>
            <a:r>
              <a:rPr lang="en-US" altLang="zh-CN" sz="2400" b="1">
                <a:sym typeface="+mn-ea"/>
              </a:rPr>
              <a:t>A</a:t>
            </a:r>
            <a:r>
              <a:rPr sz="2400" b="1">
                <a:sym typeface="+mn-ea"/>
              </a:rPr>
              <a:t>烹饪与佐料是全异关系。</a:t>
            </a:r>
            <a:r>
              <a:rPr lang="en-US" altLang="zh-CN" sz="2400" b="1">
                <a:sym typeface="+mn-ea"/>
              </a:rPr>
              <a:t>B</a:t>
            </a:r>
            <a:r>
              <a:rPr sz="2400" b="1">
                <a:sym typeface="+mn-ea"/>
              </a:rPr>
              <a:t>故宫不是楼房，楼房不是故宫，二者是全异关系。</a:t>
            </a:r>
            <a:r>
              <a:rPr lang="en-US" altLang="zh-CN" sz="2400" b="1">
                <a:solidFill>
                  <a:srgbClr val="00B050"/>
                </a:solidFill>
                <a:sym typeface="+mn-ea"/>
              </a:rPr>
              <a:t>C</a:t>
            </a:r>
            <a:r>
              <a:rPr sz="2400" b="1">
                <a:solidFill>
                  <a:srgbClr val="00B050"/>
                </a:solidFill>
                <a:sym typeface="+mn-ea"/>
              </a:rPr>
              <a:t>诗人与教授</a:t>
            </a:r>
            <a:r>
              <a:rPr sz="2400" b="1">
                <a:solidFill>
                  <a:srgbClr val="00B050"/>
                </a:solidFill>
                <a:sym typeface="+mn-ea"/>
              </a:rPr>
              <a:t>是交叉关系</a:t>
            </a:r>
            <a:r>
              <a:rPr sz="2400" b="1">
                <a:sym typeface="+mn-ea"/>
              </a:rPr>
              <a:t>。</a:t>
            </a:r>
            <a:r>
              <a:rPr lang="en-US" altLang="zh-CN" sz="2400" b="1">
                <a:sym typeface="+mn-ea"/>
              </a:rPr>
              <a:t>D</a:t>
            </a:r>
            <a:r>
              <a:rPr sz="2400" b="1">
                <a:sym typeface="+mn-ea"/>
              </a:rPr>
              <a:t>皮鞋与布鞋</a:t>
            </a:r>
            <a:r>
              <a:rPr sz="2400" b="1">
                <a:sym typeface="+mn-ea"/>
              </a:rPr>
              <a:t>是对立关系。故选</a:t>
            </a:r>
            <a:r>
              <a:rPr lang="en-US" altLang="zh-CN" sz="2400" b="1">
                <a:sym typeface="+mn-ea"/>
              </a:rPr>
              <a:t>C</a:t>
            </a:r>
            <a:r>
              <a:rPr sz="2400" b="1">
                <a:sym typeface="+mn-ea"/>
              </a:rPr>
              <a:t>。</a:t>
            </a:r>
            <a:endParaRPr sz="2400" b="1">
              <a:sym typeface="+mn-ea"/>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a:t>
            </a:r>
            <a:r>
              <a:rPr lang="en-US" altLang="zh-CN">
                <a:sym typeface="+mn-ea"/>
              </a:rPr>
              <a:t>4</a:t>
            </a:r>
            <a:r>
              <a:rPr>
                <a:sym typeface="+mn-ea"/>
              </a:rPr>
              <a:t>）</a:t>
            </a:r>
            <a:r>
              <a:rPr>
                <a:sym typeface="+mn-ea"/>
              </a:rPr>
              <a:t>全异关系</a:t>
            </a:r>
            <a:endParaRPr lang="zh-CN" altLang="en-US"/>
          </a:p>
        </p:txBody>
      </p:sp>
      <p:sp>
        <p:nvSpPr>
          <p:cNvPr id="3" name="内容占位符 2"/>
          <p:cNvSpPr>
            <a:spLocks noGrp="1"/>
          </p:cNvSpPr>
          <p:nvPr>
            <p:ph idx="1"/>
          </p:nvPr>
        </p:nvSpPr>
        <p:spPr/>
        <p:txBody>
          <a:bodyPr/>
          <a:p>
            <a:r>
              <a:rPr lang="zh-CN" altLang="en-US" sz="2400" b="1"/>
              <a:t>全异关系是指一组词的两个词语所代表的事物完全不一样。</a:t>
            </a:r>
            <a:endParaRPr lang="zh-CN" altLang="en-US" sz="2400" b="1"/>
          </a:p>
          <a:p>
            <a:r>
              <a:rPr lang="en-US" altLang="zh-CN" sz="2400" b="1"/>
              <a:t>a)</a:t>
            </a:r>
            <a:r>
              <a:rPr lang="en-US" altLang="zh-CN" sz="2400" b="1">
                <a:solidFill>
                  <a:srgbClr val="FF0000"/>
                </a:solidFill>
              </a:rPr>
              <a:t> </a:t>
            </a:r>
            <a:r>
              <a:rPr sz="2400" b="1">
                <a:solidFill>
                  <a:srgbClr val="FF0000"/>
                </a:solidFill>
              </a:rPr>
              <a:t>对立关系</a:t>
            </a:r>
            <a:r>
              <a:rPr sz="2400" b="1"/>
              <a:t>：两个全异的词语同属于一类事物，具有相同的属性或功能，二者之和小于论域。</a:t>
            </a:r>
            <a:endParaRPr sz="2400" b="1"/>
          </a:p>
          <a:p>
            <a:r>
              <a:rPr lang="en-US" altLang="zh-CN" sz="2400" b="1"/>
              <a:t>b)</a:t>
            </a:r>
            <a:r>
              <a:rPr sz="2400" b="1">
                <a:solidFill>
                  <a:srgbClr val="FF0000"/>
                </a:solidFill>
              </a:rPr>
              <a:t>矛盾关系</a:t>
            </a:r>
            <a:r>
              <a:rPr sz="2400" b="1"/>
              <a:t>：二者之和等于论域</a:t>
            </a:r>
            <a:endParaRPr sz="2400" b="1"/>
          </a:p>
          <a:p>
            <a:r>
              <a:rPr lang="zh-CN" altLang="en-US" sz="2400" b="1">
                <a:solidFill>
                  <a:srgbClr val="00B050"/>
                </a:solidFill>
              </a:rPr>
              <a:t>真题</a:t>
            </a:r>
            <a:r>
              <a:rPr lang="en-US" altLang="zh-CN" sz="2400" b="1">
                <a:solidFill>
                  <a:srgbClr val="00B050"/>
                </a:solidFill>
              </a:rPr>
              <a:t>91</a:t>
            </a:r>
            <a:r>
              <a:rPr sz="2400" b="1"/>
              <a:t>：</a:t>
            </a:r>
            <a:r>
              <a:rPr lang="zh-CN" altLang="en-US" sz="2400" b="1"/>
              <a:t>西湖：太湖</a:t>
            </a:r>
            <a:endParaRPr lang="zh-CN" altLang="en-US" sz="2400" b="1"/>
          </a:p>
          <a:p>
            <a:r>
              <a:rPr lang="zh-CN" altLang="en-US" sz="2400" b="1"/>
              <a:t>A.都会：议会           B.电脑：人脑  </a:t>
            </a:r>
            <a:endParaRPr lang="zh-CN" altLang="en-US" sz="2400" b="1"/>
          </a:p>
          <a:p>
            <a:r>
              <a:rPr lang="zh-CN" altLang="en-US" sz="2400" b="1"/>
              <a:t>C.男生：女生           D.加法：除法</a:t>
            </a:r>
            <a:endParaRPr lang="zh-CN" altLang="en-US" sz="2400" b="1"/>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91</a:t>
            </a:r>
            <a:r>
              <a:rPr>
                <a:solidFill>
                  <a:srgbClr val="00B050"/>
                </a:solidFill>
              </a:rPr>
              <a:t>分析</a:t>
            </a:r>
            <a:endParaRPr>
              <a:solidFill>
                <a:srgbClr val="00B050"/>
              </a:solidFill>
            </a:endParaRPr>
          </a:p>
        </p:txBody>
      </p:sp>
      <p:sp>
        <p:nvSpPr>
          <p:cNvPr id="3" name="内容占位符 2"/>
          <p:cNvSpPr>
            <a:spLocks noGrp="1"/>
          </p:cNvSpPr>
          <p:nvPr>
            <p:ph idx="1"/>
          </p:nvPr>
        </p:nvSpPr>
        <p:spPr/>
        <p:txBody>
          <a:bodyPr/>
          <a:p>
            <a:r>
              <a:rPr sz="2400" b="1">
                <a:sym typeface="+mn-ea"/>
              </a:rPr>
              <a:t>西湖：太湖</a:t>
            </a:r>
            <a:endParaRPr lang="zh-CN" altLang="en-US" sz="2400" b="1"/>
          </a:p>
          <a:p>
            <a:r>
              <a:rPr sz="2400" b="1">
                <a:sym typeface="+mn-ea"/>
              </a:rPr>
              <a:t>A.都会：议会           B.电脑：人脑  </a:t>
            </a:r>
            <a:endParaRPr lang="zh-CN" altLang="en-US" sz="2400" b="1"/>
          </a:p>
          <a:p>
            <a:r>
              <a:rPr sz="2400" b="1">
                <a:sym typeface="+mn-ea"/>
              </a:rPr>
              <a:t>C.男生：女生           D.加法：除法</a:t>
            </a:r>
            <a:endParaRPr sz="2400" b="1">
              <a:sym typeface="+mn-ea"/>
            </a:endParaRPr>
          </a:p>
          <a:p>
            <a:r>
              <a:rPr lang="zh-CN" altLang="en-US" sz="2400" b="1"/>
              <a:t>分析：</a:t>
            </a:r>
            <a:r>
              <a:rPr lang="zh-CN" altLang="en-US" sz="2400" b="1">
                <a:solidFill>
                  <a:srgbClr val="00B050"/>
                </a:solidFill>
              </a:rPr>
              <a:t>除了</a:t>
            </a:r>
            <a:r>
              <a:rPr sz="2400" b="1">
                <a:solidFill>
                  <a:srgbClr val="00B050"/>
                </a:solidFill>
                <a:sym typeface="+mn-ea"/>
              </a:rPr>
              <a:t>西湖与太湖，还有别的湖，二者是对立关系</a:t>
            </a:r>
            <a:r>
              <a:rPr sz="2400" b="1">
                <a:sym typeface="+mn-ea"/>
              </a:rPr>
              <a:t>。B.电脑与人脑是全异关系。 </a:t>
            </a:r>
            <a:r>
              <a:rPr lang="en-US" altLang="zh-CN" sz="2400" b="1">
                <a:sym typeface="+mn-ea"/>
              </a:rPr>
              <a:t>C</a:t>
            </a:r>
            <a:r>
              <a:rPr sz="2400" b="1">
                <a:sym typeface="+mn-ea"/>
              </a:rPr>
              <a:t>除了男生与女生，没有别的学生，二者是矛盾关系。</a:t>
            </a:r>
            <a:r>
              <a:rPr lang="en-US" altLang="zh-CN" sz="2400" b="1">
                <a:solidFill>
                  <a:srgbClr val="00B050"/>
                </a:solidFill>
                <a:sym typeface="+mn-ea"/>
              </a:rPr>
              <a:t>D</a:t>
            </a:r>
            <a:r>
              <a:rPr sz="2400" b="1">
                <a:solidFill>
                  <a:srgbClr val="00B050"/>
                </a:solidFill>
                <a:sym typeface="+mn-ea"/>
              </a:rPr>
              <a:t>除了</a:t>
            </a:r>
            <a:r>
              <a:rPr sz="2400" b="1">
                <a:solidFill>
                  <a:srgbClr val="00B050"/>
                </a:solidFill>
                <a:sym typeface="+mn-ea"/>
              </a:rPr>
              <a:t>加法与除法，还有别的运算法则，二者是对立关系</a:t>
            </a:r>
            <a:r>
              <a:rPr sz="2400" b="1">
                <a:sym typeface="+mn-ea"/>
              </a:rPr>
              <a:t>。故选</a:t>
            </a:r>
            <a:r>
              <a:rPr lang="en-US" altLang="zh-CN" sz="2400" b="1">
                <a:sym typeface="+mn-ea"/>
              </a:rPr>
              <a:t>D</a:t>
            </a:r>
            <a:r>
              <a:rPr sz="2400" b="1">
                <a:sym typeface="+mn-ea"/>
              </a:rPr>
              <a:t>。</a:t>
            </a:r>
            <a:endParaRPr lang="zh-CN" altLang="en-US" sz="2400" b="1"/>
          </a:p>
          <a:p>
            <a:endParaRPr lang="zh-CN" altLang="en-US" sz="240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a:t>
            </a:r>
            <a:r>
              <a:rPr lang="en-US" altLang="zh-CN">
                <a:sym typeface="+mn-ea"/>
              </a:rPr>
              <a:t>5</a:t>
            </a:r>
            <a:r>
              <a:rPr lang="en-US" altLang="zh-CN">
                <a:sym typeface="+mn-ea"/>
              </a:rPr>
              <a:t>)</a:t>
            </a:r>
            <a:r>
              <a:rPr>
                <a:sym typeface="+mn-ea"/>
              </a:rPr>
              <a:t>条件关系</a:t>
            </a:r>
            <a:endParaRPr lang="zh-CN" altLang="en-US"/>
          </a:p>
        </p:txBody>
      </p:sp>
      <p:sp>
        <p:nvSpPr>
          <p:cNvPr id="3" name="内容占位符 2"/>
          <p:cNvSpPr>
            <a:spLocks noGrp="1"/>
          </p:cNvSpPr>
          <p:nvPr>
            <p:ph idx="1"/>
          </p:nvPr>
        </p:nvSpPr>
        <p:spPr/>
        <p:txBody>
          <a:bodyPr/>
          <a:p>
            <a:r>
              <a:rPr lang="en-US" altLang="zh-CN" sz="2400" b="1"/>
              <a:t>a) </a:t>
            </a:r>
            <a:r>
              <a:rPr sz="2400" b="1">
                <a:solidFill>
                  <a:srgbClr val="FF0000"/>
                </a:solidFill>
                <a:sym typeface="+mn-ea"/>
              </a:rPr>
              <a:t>充分条件</a:t>
            </a:r>
            <a:endParaRPr lang="en-US" altLang="zh-CN" sz="2400" b="1">
              <a:solidFill>
                <a:srgbClr val="FF0000"/>
              </a:solidFill>
              <a:sym typeface="+mn-ea"/>
            </a:endParaRPr>
          </a:p>
          <a:p>
            <a:r>
              <a:rPr lang="zh-CN" altLang="en-US" sz="2400" b="1"/>
              <a:t>如果事件A发生时，事件B就发生，则A是B的充分条件</a:t>
            </a:r>
            <a:r>
              <a:rPr lang="en-US" altLang="zh-CN" sz="2400" b="1"/>
              <a:t>.</a:t>
            </a:r>
            <a:endParaRPr lang="en-US" altLang="zh-CN" sz="2400" b="1"/>
          </a:p>
          <a:p>
            <a:r>
              <a:rPr lang="en-US" altLang="zh-CN" sz="2400" b="1"/>
              <a:t>b) </a:t>
            </a:r>
            <a:r>
              <a:rPr sz="2400" b="1">
                <a:solidFill>
                  <a:srgbClr val="FF0000"/>
                </a:solidFill>
                <a:sym typeface="+mn-ea"/>
              </a:rPr>
              <a:t>必要条件</a:t>
            </a:r>
            <a:endParaRPr lang="en-US" altLang="zh-CN" sz="2400" b="1">
              <a:solidFill>
                <a:srgbClr val="FF0000"/>
              </a:solidFill>
            </a:endParaRPr>
          </a:p>
          <a:p>
            <a:r>
              <a:rPr lang="zh-CN" altLang="en-US" sz="2400" b="1"/>
              <a:t>只有事件A发生时，事件B才发生，则A是B的。</a:t>
            </a:r>
            <a:endParaRPr lang="zh-CN" altLang="en-US" sz="2400" b="1"/>
          </a:p>
          <a:p>
            <a:r>
              <a:rPr lang="zh-CN" altLang="en-US" sz="2400" b="1"/>
              <a:t>注意区分两个事件之间哪个是充分条件，哪个是必要条件。</a:t>
            </a:r>
            <a:endParaRPr lang="zh-CN" altLang="en-US" sz="2400" b="1"/>
          </a:p>
          <a:p>
            <a:r>
              <a:rPr lang="zh-CN" altLang="en-US" sz="2400" b="1">
                <a:solidFill>
                  <a:srgbClr val="00B050"/>
                </a:solidFill>
              </a:rPr>
              <a:t>真题</a:t>
            </a:r>
            <a:r>
              <a:rPr lang="en-US" altLang="zh-CN" sz="2400" b="1">
                <a:solidFill>
                  <a:srgbClr val="00B050"/>
                </a:solidFill>
              </a:rPr>
              <a:t>92</a:t>
            </a:r>
            <a:r>
              <a:rPr lang="en-US" altLang="zh-CN" sz="2400" b="1"/>
              <a:t>:</a:t>
            </a:r>
            <a:r>
              <a:rPr lang="zh-CN" altLang="en-US" sz="2400" b="1"/>
              <a:t>  18周岁：选举权</a:t>
            </a:r>
            <a:endParaRPr lang="zh-CN" altLang="en-US" sz="2400" b="1"/>
          </a:p>
          <a:p>
            <a:r>
              <a:rPr lang="zh-CN" altLang="en-US" sz="2400" b="1"/>
              <a:t>A.下雨：地湿         B.氧气：燃烧  </a:t>
            </a:r>
            <a:endParaRPr lang="zh-CN" altLang="en-US" sz="2400" b="1"/>
          </a:p>
          <a:p>
            <a:r>
              <a:rPr lang="zh-CN" altLang="en-US" sz="2400" b="1"/>
              <a:t>C.瓜熟：蒂落         D.水涨：船高</a:t>
            </a:r>
            <a:endParaRPr lang="zh-CN" altLang="en-US" sz="2400" b="1"/>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92</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18周岁：选举权</a:t>
            </a:r>
            <a:endParaRPr lang="zh-CN" altLang="en-US" sz="2400" b="1"/>
          </a:p>
          <a:p>
            <a:r>
              <a:rPr sz="2400" b="1">
                <a:sym typeface="+mn-ea"/>
              </a:rPr>
              <a:t>A.下雨：地湿         B.氧气：燃烧  </a:t>
            </a:r>
            <a:endParaRPr lang="zh-CN" altLang="en-US" sz="2400" b="1"/>
          </a:p>
          <a:p>
            <a:r>
              <a:rPr sz="2400" b="1">
                <a:sym typeface="+mn-ea"/>
              </a:rPr>
              <a:t>C.瓜熟：蒂落         D.水涨：船高</a:t>
            </a:r>
            <a:endParaRPr lang="zh-CN" altLang="en-US" sz="2400" b="1"/>
          </a:p>
          <a:p>
            <a:r>
              <a:rPr lang="zh-CN" altLang="en-US" sz="2400" b="1"/>
              <a:t>分析：</a:t>
            </a:r>
            <a:r>
              <a:rPr sz="2400" b="1">
                <a:solidFill>
                  <a:srgbClr val="00B050"/>
                </a:solidFill>
                <a:sym typeface="+mn-ea"/>
              </a:rPr>
              <a:t>18周岁是有选举权的必要条件</a:t>
            </a:r>
            <a:r>
              <a:rPr sz="2400" b="1">
                <a:sym typeface="+mn-ea"/>
              </a:rPr>
              <a:t>。A下雨与地湿（可泼水）不构成条件关系。</a:t>
            </a:r>
            <a:r>
              <a:rPr sz="2400" b="1">
                <a:solidFill>
                  <a:schemeClr val="tx1"/>
                </a:solidFill>
                <a:sym typeface="+mn-ea"/>
              </a:rPr>
              <a:t>B氧气是燃烧的必要条件</a:t>
            </a:r>
            <a:r>
              <a:rPr sz="2400" b="1">
                <a:sym typeface="+mn-ea"/>
              </a:rPr>
              <a:t>。</a:t>
            </a:r>
            <a:r>
              <a:rPr sz="2400" b="1">
                <a:solidFill>
                  <a:srgbClr val="00B050"/>
                </a:solidFill>
                <a:sym typeface="+mn-ea"/>
              </a:rPr>
              <a:t>C瓜熟与蒂落（可用刀）不构成条件关系</a:t>
            </a:r>
            <a:r>
              <a:rPr sz="2400" b="1">
                <a:sym typeface="+mn-ea"/>
              </a:rPr>
              <a:t>。D水涨与船高（可抬船）不构成条件关系。故选</a:t>
            </a:r>
            <a:r>
              <a:rPr lang="en-US" altLang="zh-CN" sz="2400" b="1">
                <a:sym typeface="+mn-ea"/>
              </a:rPr>
              <a:t>B</a:t>
            </a:r>
            <a:r>
              <a:rPr sz="2400" b="1">
                <a:sym typeface="+mn-ea"/>
              </a:rPr>
              <a:t>。</a:t>
            </a:r>
            <a:endParaRPr sz="2400" b="1">
              <a:sym typeface="+mn-ea"/>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a:t>
            </a:r>
            <a:r>
              <a:rPr lang="en-US" altLang="zh-CN">
                <a:sym typeface="+mn-ea"/>
              </a:rPr>
              <a:t>6</a:t>
            </a:r>
            <a:r>
              <a:rPr>
                <a:sym typeface="+mn-ea"/>
              </a:rPr>
              <a:t>）</a:t>
            </a:r>
            <a:r>
              <a:rPr>
                <a:sym typeface="+mn-ea"/>
              </a:rPr>
              <a:t>因果关系</a:t>
            </a:r>
            <a:endParaRPr lang="zh-CN" altLang="en-US"/>
          </a:p>
        </p:txBody>
      </p:sp>
      <p:sp>
        <p:nvSpPr>
          <p:cNvPr id="3" name="内容占位符 2"/>
          <p:cNvSpPr>
            <a:spLocks noGrp="1"/>
          </p:cNvSpPr>
          <p:nvPr>
            <p:ph idx="1"/>
          </p:nvPr>
        </p:nvSpPr>
        <p:spPr/>
        <p:txBody>
          <a:bodyPr/>
          <a:p>
            <a:r>
              <a:rPr lang="zh-CN" altLang="en-US" sz="2400" b="1"/>
              <a:t>因果关系是指一个动作或事件的发生导致或引起另一个动作或事件的发生。</a:t>
            </a:r>
            <a:endParaRPr lang="zh-CN" altLang="en-US" sz="2400" b="1"/>
          </a:p>
          <a:p>
            <a:r>
              <a:rPr lang="zh-CN" altLang="en-US" sz="2400" b="1">
                <a:solidFill>
                  <a:srgbClr val="00B050"/>
                </a:solidFill>
              </a:rPr>
              <a:t>真题</a:t>
            </a:r>
            <a:r>
              <a:rPr lang="en-US" altLang="zh-CN" sz="2400" b="1">
                <a:solidFill>
                  <a:srgbClr val="00B050"/>
                </a:solidFill>
              </a:rPr>
              <a:t>93</a:t>
            </a:r>
            <a:r>
              <a:rPr sz="2400" b="1"/>
              <a:t>：</a:t>
            </a:r>
            <a:r>
              <a:rPr lang="zh-CN" altLang="en-US" sz="2400" b="1"/>
              <a:t>盲动：一败涂地：重起炉灶</a:t>
            </a:r>
            <a:endParaRPr lang="zh-CN" altLang="en-US" sz="2400" b="1"/>
          </a:p>
          <a:p>
            <a:r>
              <a:rPr lang="zh-CN" altLang="en-US" sz="2400" b="1"/>
              <a:t>A.超速：风驰电掣：按部就班  </a:t>
            </a:r>
            <a:endParaRPr lang="zh-CN" altLang="en-US" sz="2400" b="1"/>
          </a:p>
          <a:p>
            <a:r>
              <a:rPr lang="zh-CN" altLang="en-US" sz="2400" b="1"/>
              <a:t>B.跟风：鹦鹉学舌：真知灼见  </a:t>
            </a:r>
            <a:endParaRPr lang="zh-CN" altLang="en-US" sz="2400" b="1"/>
          </a:p>
          <a:p>
            <a:r>
              <a:rPr lang="zh-CN" altLang="en-US" sz="2400" b="1"/>
              <a:t>C.熬夜：萎靡不振：养精蓄锐  </a:t>
            </a:r>
            <a:endParaRPr lang="zh-CN" altLang="en-US" sz="2400" b="1"/>
          </a:p>
          <a:p>
            <a:r>
              <a:rPr lang="zh-CN" altLang="en-US" sz="2400" b="1"/>
              <a:t>D.传神：生动逼真：洛阳纸贵</a:t>
            </a:r>
            <a:endParaRPr lang="zh-CN" altLang="en-US" sz="2400" b="1"/>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93</a:t>
            </a:r>
            <a:r>
              <a:rPr>
                <a:solidFill>
                  <a:srgbClr val="00B050"/>
                </a:solidFill>
                <a:sym typeface="+mn-ea"/>
              </a:rPr>
              <a:t>分析</a:t>
            </a:r>
            <a:endParaRPr lang="zh-CN" altLang="en-US"/>
          </a:p>
        </p:txBody>
      </p:sp>
      <p:sp>
        <p:nvSpPr>
          <p:cNvPr id="3" name="内容占位符 2"/>
          <p:cNvSpPr>
            <a:spLocks noGrp="1"/>
          </p:cNvSpPr>
          <p:nvPr>
            <p:ph idx="1"/>
          </p:nvPr>
        </p:nvSpPr>
        <p:spPr/>
        <p:txBody>
          <a:bodyPr/>
          <a:p>
            <a:r>
              <a:rPr lang="zh-CN" altLang="en-US" sz="2400" b="1"/>
              <a:t>盲动：一败涂地：重起炉灶</a:t>
            </a:r>
            <a:endParaRPr lang="zh-CN" altLang="en-US" sz="2400" b="1"/>
          </a:p>
          <a:p>
            <a:r>
              <a:rPr lang="zh-CN" altLang="en-US" sz="2400" b="1"/>
              <a:t>A.超速：风驰电掣：按部就班  </a:t>
            </a:r>
            <a:endParaRPr lang="zh-CN" altLang="en-US" sz="2400" b="1"/>
          </a:p>
          <a:p>
            <a:r>
              <a:rPr lang="zh-CN" altLang="en-US" sz="2400" b="1"/>
              <a:t>B.跟风：鹦鹉学舌：真知灼见  </a:t>
            </a:r>
            <a:endParaRPr lang="zh-CN" altLang="en-US" sz="2400" b="1"/>
          </a:p>
          <a:p>
            <a:r>
              <a:rPr lang="zh-CN" altLang="en-US" sz="2400" b="1"/>
              <a:t>C.熬夜：萎靡不振：养精蓄锐  </a:t>
            </a:r>
            <a:endParaRPr lang="zh-CN" altLang="en-US" sz="2400" b="1"/>
          </a:p>
          <a:p>
            <a:r>
              <a:rPr lang="zh-CN" altLang="en-US" sz="2400" b="1"/>
              <a:t>D.传神：生动逼真：洛阳纸贵</a:t>
            </a:r>
            <a:endParaRPr lang="zh-CN" altLang="en-US" sz="2400" b="1"/>
          </a:p>
          <a:p>
            <a:r>
              <a:rPr lang="zh-CN" altLang="en-US" sz="2400" b="1"/>
              <a:t>分析：</a:t>
            </a:r>
            <a:r>
              <a:rPr sz="2400" b="1">
                <a:solidFill>
                  <a:srgbClr val="00B050"/>
                </a:solidFill>
                <a:sym typeface="+mn-ea"/>
              </a:rPr>
              <a:t>盲动可能导致一败涂地，一败涂地需要重起炉灶</a:t>
            </a:r>
            <a:r>
              <a:rPr sz="2400" b="1">
                <a:sym typeface="+mn-ea"/>
              </a:rPr>
              <a:t>。熬夜可能导致萎靡不振，萎靡不振需要养精蓄锐。故选</a:t>
            </a:r>
            <a:r>
              <a:rPr lang="en-US" altLang="zh-CN" sz="2400" b="1">
                <a:sym typeface="+mn-ea"/>
              </a:rPr>
              <a:t>C</a:t>
            </a:r>
            <a:r>
              <a:rPr sz="2400" b="1">
                <a:sym typeface="+mn-ea"/>
              </a:rPr>
              <a:t>。</a:t>
            </a:r>
            <a:endParaRPr lang="zh-CN" altLang="en-US" sz="2400" b="1"/>
          </a:p>
          <a:p>
            <a:endParaRPr lang="zh-CN" altLang="en-US" sz="2400" b="1"/>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rPr lang="zh-CN" altLang="en-US"/>
              <a:t>言语关系</a:t>
            </a:r>
            <a:endParaRPr lang="zh-CN" altLang="en-US"/>
          </a:p>
        </p:txBody>
      </p:sp>
      <p:sp>
        <p:nvSpPr>
          <p:cNvPr id="3" name="内容占位符 2"/>
          <p:cNvSpPr>
            <a:spLocks noGrp="1"/>
          </p:cNvSpPr>
          <p:nvPr>
            <p:ph idx="1"/>
          </p:nvPr>
        </p:nvSpPr>
        <p:spPr/>
        <p:txBody>
          <a:bodyPr/>
          <a:p>
            <a:r>
              <a:rPr lang="zh-CN" altLang="en-US" sz="2400" b="1"/>
              <a:t>对言语关系的考査主要包括两方面：</a:t>
            </a:r>
            <a:r>
              <a:rPr lang="zh-CN" altLang="en-US" sz="2400" b="1">
                <a:solidFill>
                  <a:srgbClr val="FF0000"/>
                </a:solidFill>
              </a:rPr>
              <a:t>一是语义关系</a:t>
            </a:r>
            <a:r>
              <a:rPr lang="zh-CN" altLang="en-US" sz="2400" b="1"/>
              <a:t>，从词项的含义入手，主要有</a:t>
            </a:r>
            <a:r>
              <a:rPr lang="zh-CN" altLang="en-US" sz="2400" b="1">
                <a:solidFill>
                  <a:srgbClr val="00B050"/>
                </a:solidFill>
              </a:rPr>
              <a:t>近义关系、反义关系、象征关系</a:t>
            </a:r>
            <a:r>
              <a:rPr lang="zh-CN" altLang="en-US" sz="2400" b="1"/>
              <a:t>三种；</a:t>
            </a:r>
            <a:r>
              <a:rPr lang="zh-CN" altLang="en-US" sz="2400" b="1">
                <a:solidFill>
                  <a:srgbClr val="FF0000"/>
                </a:solidFill>
              </a:rPr>
              <a:t>二是语法关系</a:t>
            </a:r>
            <a:r>
              <a:rPr lang="zh-CN" altLang="en-US" sz="2400" b="1"/>
              <a:t>，从词语的语法结构入手，主要包括</a:t>
            </a:r>
            <a:r>
              <a:rPr lang="zh-CN" altLang="en-US" sz="2400" b="1">
                <a:solidFill>
                  <a:srgbClr val="00B050"/>
                </a:solidFill>
              </a:rPr>
              <a:t>主谓结构、动宾结构、并列结构、修饰关系</a:t>
            </a:r>
            <a:r>
              <a:rPr lang="zh-CN" altLang="en-US" sz="2400" b="1"/>
              <a:t>四种。其中，语义关系是考试的重点。</a:t>
            </a:r>
            <a:endParaRPr lang="zh-CN" altLang="en-US" sz="2400" b="1"/>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a:t>
            </a:r>
            <a:r>
              <a:rPr lang="en-US" altLang="zh-CN">
                <a:sym typeface="+mn-ea"/>
              </a:rPr>
              <a:t>1</a:t>
            </a:r>
            <a:r>
              <a:rPr>
                <a:sym typeface="+mn-ea"/>
              </a:rPr>
              <a:t>）</a:t>
            </a:r>
            <a:r>
              <a:rPr>
                <a:sym typeface="+mn-ea"/>
              </a:rPr>
              <a:t>近义关系</a:t>
            </a:r>
            <a:endParaRPr lang="zh-CN" altLang="en-US"/>
          </a:p>
        </p:txBody>
      </p:sp>
      <p:sp>
        <p:nvSpPr>
          <p:cNvPr id="3" name="内容占位符 2"/>
          <p:cNvSpPr>
            <a:spLocks noGrp="1"/>
          </p:cNvSpPr>
          <p:nvPr>
            <p:ph idx="1"/>
          </p:nvPr>
        </p:nvSpPr>
        <p:spPr/>
        <p:txBody>
          <a:bodyPr/>
          <a:p>
            <a:r>
              <a:rPr lang="zh-CN" altLang="en-US" sz="2400" b="1"/>
              <a:t>近义关系是指所给词语含义相近，不仅限于同义词、近义词，还包括几个词在表达的意思上相近。</a:t>
            </a:r>
            <a:endParaRPr lang="zh-CN" altLang="en-US" sz="2400" b="1"/>
          </a:p>
          <a:p>
            <a:r>
              <a:rPr lang="zh-CN" altLang="en-US" sz="2400" b="1">
                <a:solidFill>
                  <a:srgbClr val="00B050"/>
                </a:solidFill>
              </a:rPr>
              <a:t>真题</a:t>
            </a:r>
            <a:r>
              <a:rPr lang="en-US" altLang="zh-CN" sz="2400" b="1">
                <a:solidFill>
                  <a:srgbClr val="00B050"/>
                </a:solidFill>
              </a:rPr>
              <a:t>95</a:t>
            </a:r>
            <a:r>
              <a:rPr sz="2400" b="1"/>
              <a:t>：</a:t>
            </a:r>
            <a:r>
              <a:rPr lang="zh-CN" altLang="en-US" sz="2400" b="1"/>
              <a:t>指鹿为马：颠倒黑白</a:t>
            </a:r>
            <a:endParaRPr lang="zh-CN" altLang="en-US" sz="2400" b="1"/>
          </a:p>
          <a:p>
            <a:r>
              <a:rPr lang="zh-CN" altLang="en-US" sz="2400" b="1"/>
              <a:t>A.不以为然：不屑一顾        B.目无全牛：鼠目寸光</a:t>
            </a:r>
            <a:endParaRPr lang="zh-CN" altLang="en-US" sz="2400" b="1"/>
          </a:p>
          <a:p>
            <a:r>
              <a:rPr lang="zh-CN" altLang="en-US" sz="2400" b="1"/>
              <a:t>C.师心自用：固执己见        D.不孚众望：众望所归</a:t>
            </a:r>
            <a:endParaRPr lang="zh-CN" altLang="en-US" sz="2400" b="1"/>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94</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指鹿为马：颠倒黑白</a:t>
            </a:r>
            <a:endParaRPr lang="zh-CN" altLang="en-US" sz="2400" b="1"/>
          </a:p>
          <a:p>
            <a:r>
              <a:rPr sz="2400" b="1">
                <a:sym typeface="+mn-ea"/>
              </a:rPr>
              <a:t>A.不以为然：不屑一顾        B.目无全牛：鼠目寸光</a:t>
            </a:r>
            <a:endParaRPr lang="zh-CN" altLang="en-US" sz="2400" b="1"/>
          </a:p>
          <a:p>
            <a:r>
              <a:rPr sz="2400" b="1">
                <a:sym typeface="+mn-ea"/>
              </a:rPr>
              <a:t>C.师心自用：固执己见        D.不孚众望：众望所归</a:t>
            </a:r>
            <a:endParaRPr lang="zh-CN" altLang="en-US" sz="2400" b="1"/>
          </a:p>
          <a:p>
            <a:r>
              <a:rPr sz="2400" b="1">
                <a:sym typeface="+mn-ea"/>
              </a:rPr>
              <a:t>分析：</a:t>
            </a:r>
            <a:r>
              <a:rPr sz="2400" b="1">
                <a:solidFill>
                  <a:srgbClr val="00B050"/>
                </a:solidFill>
                <a:sym typeface="+mn-ea"/>
              </a:rPr>
              <a:t>题干两词是近义词</a:t>
            </a:r>
            <a:r>
              <a:rPr sz="2400" b="1">
                <a:sym typeface="+mn-ea"/>
              </a:rPr>
              <a:t>。</a:t>
            </a:r>
            <a:r>
              <a:rPr lang="en-US" altLang="zh-CN" sz="2400" b="1">
                <a:sym typeface="+mn-ea"/>
              </a:rPr>
              <a:t>C</a:t>
            </a:r>
            <a:r>
              <a:rPr sz="2400" b="1">
                <a:sym typeface="+mn-ea"/>
              </a:rPr>
              <a:t>两词也是近义词。</a:t>
            </a:r>
            <a:r>
              <a:rPr lang="en-US" altLang="zh-CN" sz="2400" b="1">
                <a:solidFill>
                  <a:srgbClr val="00B050"/>
                </a:solidFill>
                <a:sym typeface="+mn-ea"/>
              </a:rPr>
              <a:t>“</a:t>
            </a:r>
            <a:r>
              <a:rPr sz="2400" b="1">
                <a:solidFill>
                  <a:srgbClr val="00B050"/>
                </a:solidFill>
                <a:sym typeface="+mn-ea"/>
              </a:rPr>
              <a:t>师心自用</a:t>
            </a:r>
            <a:r>
              <a:rPr lang="en-US" altLang="zh-CN" sz="2400" b="1">
                <a:solidFill>
                  <a:srgbClr val="00B050"/>
                </a:solidFill>
                <a:sym typeface="+mn-ea"/>
              </a:rPr>
              <a:t>”</a:t>
            </a:r>
            <a:r>
              <a:rPr sz="2400" b="1">
                <a:solidFill>
                  <a:srgbClr val="00B050"/>
                </a:solidFill>
                <a:sym typeface="+mn-ea"/>
              </a:rPr>
              <a:t>形容自以为是，固执己见</a:t>
            </a:r>
            <a:r>
              <a:rPr sz="2400" b="1">
                <a:sym typeface="+mn-ea"/>
              </a:rPr>
              <a:t>，不肯接受别人的正确意见。故选</a:t>
            </a:r>
            <a:r>
              <a:rPr lang="en-US" altLang="zh-CN" sz="2400" b="1">
                <a:sym typeface="+mn-ea"/>
              </a:rPr>
              <a:t>C</a:t>
            </a:r>
            <a:r>
              <a:rPr sz="2400" b="1">
                <a:sym typeface="+mn-ea"/>
              </a:rPr>
              <a:t>。</a:t>
            </a:r>
            <a:endParaRPr lang="zh-CN" altLang="en-US" sz="2400" b="1"/>
          </a:p>
          <a:p>
            <a:endParaRPr lang="zh-CN" altLang="en-US" sz="2400"/>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（2）反义关系</a:t>
            </a:r>
            <a:endParaRPr lang="zh-CN" altLang="en-US"/>
          </a:p>
        </p:txBody>
      </p:sp>
      <p:sp>
        <p:nvSpPr>
          <p:cNvPr id="3" name="内容占位符 2"/>
          <p:cNvSpPr>
            <a:spLocks noGrp="1"/>
          </p:cNvSpPr>
          <p:nvPr>
            <p:ph idx="1"/>
          </p:nvPr>
        </p:nvSpPr>
        <p:spPr/>
        <p:txBody>
          <a:bodyPr/>
          <a:p>
            <a:r>
              <a:rPr lang="zh-CN" altLang="en-US" sz="2400" b="1"/>
              <a:t>反义关系是指所给词语含义相反，不仅限于反义词，也可以是词性不同的两个词语。</a:t>
            </a:r>
            <a:endParaRPr lang="zh-CN" altLang="en-US" sz="2400" b="1"/>
          </a:p>
          <a:p>
            <a:r>
              <a:rPr lang="zh-CN" altLang="en-US" sz="2400" b="1">
                <a:solidFill>
                  <a:srgbClr val="00B050"/>
                </a:solidFill>
              </a:rPr>
              <a:t>真题</a:t>
            </a:r>
            <a:r>
              <a:rPr lang="en-US" altLang="zh-CN" sz="2400" b="1">
                <a:solidFill>
                  <a:srgbClr val="00B050"/>
                </a:solidFill>
              </a:rPr>
              <a:t>95</a:t>
            </a:r>
            <a:r>
              <a:rPr sz="2400" b="1"/>
              <a:t>：</a:t>
            </a:r>
            <a:r>
              <a:rPr lang="zh-CN" altLang="en-US" sz="2400" b="1"/>
              <a:t>精致：粗糙</a:t>
            </a:r>
            <a:endParaRPr lang="zh-CN" altLang="en-US" sz="2400" b="1"/>
          </a:p>
          <a:p>
            <a:r>
              <a:rPr lang="en-US" altLang="zh-CN" sz="2400" b="1"/>
              <a:t>A.</a:t>
            </a:r>
            <a:r>
              <a:rPr lang="zh-CN" altLang="en-US" sz="2400" b="1"/>
              <a:t>河水：海水       B.山峰：深渊  </a:t>
            </a:r>
            <a:endParaRPr lang="zh-CN" altLang="en-US" sz="2400" b="1"/>
          </a:p>
          <a:p>
            <a:r>
              <a:rPr lang="zh-CN" altLang="en-US" sz="2400" b="1"/>
              <a:t>C.违背：遵循       D.怀疑：守信</a:t>
            </a:r>
            <a:endParaRPr lang="zh-CN" altLang="en-US" sz="2400" b="1"/>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95</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精致：粗糙</a:t>
            </a:r>
            <a:endParaRPr lang="zh-CN" altLang="en-US" sz="2400" b="1"/>
          </a:p>
          <a:p>
            <a:r>
              <a:rPr lang="en-US" altLang="zh-CN" sz="2400" b="1">
                <a:sym typeface="+mn-ea"/>
              </a:rPr>
              <a:t>A.</a:t>
            </a:r>
            <a:r>
              <a:rPr sz="2400" b="1">
                <a:sym typeface="+mn-ea"/>
              </a:rPr>
              <a:t>河水：海水          B.山峰：深渊  </a:t>
            </a:r>
            <a:endParaRPr sz="2400" b="1">
              <a:sym typeface="+mn-ea"/>
            </a:endParaRPr>
          </a:p>
          <a:p>
            <a:r>
              <a:rPr sz="2400" b="1">
                <a:sym typeface="+mn-ea"/>
              </a:rPr>
              <a:t>C.违背：遵循          D.怀疑：守信</a:t>
            </a:r>
            <a:endParaRPr lang="zh-CN" altLang="en-US" sz="2400" b="1"/>
          </a:p>
          <a:p>
            <a:r>
              <a:rPr lang="zh-CN" altLang="en-US" sz="2400" b="1"/>
              <a:t>分析：</a:t>
            </a:r>
            <a:r>
              <a:rPr sz="2400" b="1">
                <a:solidFill>
                  <a:srgbClr val="00B050"/>
                </a:solidFill>
                <a:sym typeface="+mn-ea"/>
              </a:rPr>
              <a:t>精致与粗糙互为反义词</a:t>
            </a:r>
            <a:r>
              <a:rPr sz="2400" b="1">
                <a:sym typeface="+mn-ea"/>
              </a:rPr>
              <a:t>。违背与遵循也互为反义词。故选</a:t>
            </a:r>
            <a:r>
              <a:rPr lang="en-US" altLang="zh-CN" sz="2400" b="1">
                <a:sym typeface="+mn-ea"/>
              </a:rPr>
              <a:t>C</a:t>
            </a:r>
            <a:r>
              <a:rPr sz="2400" b="1">
                <a:sym typeface="+mn-ea"/>
              </a:rPr>
              <a:t>。</a:t>
            </a:r>
            <a:endParaRPr lang="zh-CN" altLang="en-US" sz="2400" b="1"/>
          </a:p>
          <a:p>
            <a:endParaRPr lang="zh-CN" altLang="en-US" sz="2400" b="1"/>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（3）象征关系</a:t>
            </a:r>
            <a:endParaRPr lang="zh-CN" altLang="en-US"/>
          </a:p>
        </p:txBody>
      </p:sp>
      <p:sp>
        <p:nvSpPr>
          <p:cNvPr id="3" name="内容占位符 2"/>
          <p:cNvSpPr>
            <a:spLocks noGrp="1"/>
          </p:cNvSpPr>
          <p:nvPr>
            <p:ph idx="1"/>
          </p:nvPr>
        </p:nvSpPr>
        <p:spPr/>
        <p:txBody>
          <a:bodyPr/>
          <a:p>
            <a:r>
              <a:rPr lang="zh-CN" altLang="en-US" sz="2400" b="1"/>
              <a:t>象征关系是指一个词语是另一个词语的象征义。即根据传统习惯和一定的社会习俗，选择人们所熟知的象征物体作为本体，表达一种特定的意蕴。另外，有些动植物因其具有独特的表征如外貌、习性、生活方式等，与人类的某些品质相关联因而形成象征。</a:t>
            </a:r>
            <a:endParaRPr lang="zh-CN" altLang="en-US" sz="2400" b="1"/>
          </a:p>
          <a:p>
            <a:r>
              <a:rPr lang="zh-CN" altLang="en-US" sz="2400" b="1">
                <a:solidFill>
                  <a:srgbClr val="00B050"/>
                </a:solidFill>
              </a:rPr>
              <a:t>真题</a:t>
            </a:r>
            <a:r>
              <a:rPr lang="en-US" altLang="zh-CN" sz="2400" b="1">
                <a:solidFill>
                  <a:srgbClr val="00B050"/>
                </a:solidFill>
              </a:rPr>
              <a:t>96</a:t>
            </a:r>
            <a:r>
              <a:rPr sz="2400" b="1"/>
              <a:t>：</a:t>
            </a:r>
            <a:r>
              <a:rPr lang="zh-CN" altLang="en-US" sz="2400" b="1"/>
              <a:t>七寸 对于（）相当于（）对于 头绪</a:t>
            </a:r>
            <a:endParaRPr lang="zh-CN" altLang="en-US" sz="2400" b="1"/>
          </a:p>
          <a:p>
            <a:r>
              <a:rPr lang="zh-CN" altLang="en-US" sz="2400" b="1"/>
              <a:t>A.尺度    线索           B.要害    眉目  </a:t>
            </a:r>
            <a:endParaRPr lang="zh-CN" altLang="en-US" sz="2400" b="1"/>
          </a:p>
          <a:p>
            <a:r>
              <a:rPr lang="zh-CN" altLang="en-US" sz="2400" b="1"/>
              <a:t>C.七步    头绪           D.关键    脉络</a:t>
            </a:r>
            <a:endParaRPr lang="zh-CN" altLang="en-US" sz="2400" b="1"/>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96</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七寸 对于（）相当于（）对于 头绪</a:t>
            </a:r>
            <a:endParaRPr lang="zh-CN" altLang="en-US" sz="2400" b="1"/>
          </a:p>
          <a:p>
            <a:r>
              <a:rPr sz="2400" b="1">
                <a:sym typeface="+mn-ea"/>
              </a:rPr>
              <a:t>A.尺度    线索           B.要害    眉目  </a:t>
            </a:r>
            <a:endParaRPr lang="zh-CN" altLang="en-US" sz="2400" b="1"/>
          </a:p>
          <a:p>
            <a:r>
              <a:rPr sz="2400" b="1">
                <a:sym typeface="+mn-ea"/>
              </a:rPr>
              <a:t>C.七步    头绪           D.关键    脉络</a:t>
            </a:r>
            <a:endParaRPr lang="zh-CN" altLang="en-US" sz="2400" b="1"/>
          </a:p>
          <a:p>
            <a:r>
              <a:rPr sz="2400" b="1">
                <a:sym typeface="+mn-ea"/>
              </a:rPr>
              <a:t>分析：</a:t>
            </a:r>
            <a:r>
              <a:rPr sz="2400" b="1">
                <a:solidFill>
                  <a:srgbClr val="00B050"/>
                </a:solidFill>
                <a:sym typeface="+mn-ea"/>
              </a:rPr>
              <a:t>七寸比喻要害</a:t>
            </a:r>
            <a:r>
              <a:rPr sz="2400" b="1">
                <a:sym typeface="+mn-ea"/>
              </a:rPr>
              <a:t>，眉目比喻头绪。故选</a:t>
            </a:r>
            <a:r>
              <a:rPr lang="en-US" altLang="zh-CN" sz="2400" b="1">
                <a:sym typeface="+mn-ea"/>
              </a:rPr>
              <a:t>B</a:t>
            </a:r>
            <a:r>
              <a:rPr sz="2400" b="1">
                <a:sym typeface="+mn-ea"/>
              </a:rPr>
              <a:t>。</a:t>
            </a:r>
            <a:endParaRPr lang="zh-CN" altLang="en-US" sz="2400" b="1"/>
          </a:p>
          <a:p>
            <a:endParaRPr lang="zh-CN" altLang="en-US" sz="2400"/>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（4）主谓结构</a:t>
            </a:r>
            <a:endParaRPr lang="zh-CN" altLang="en-US"/>
          </a:p>
        </p:txBody>
      </p:sp>
      <p:sp>
        <p:nvSpPr>
          <p:cNvPr id="3" name="内容占位符 2"/>
          <p:cNvSpPr>
            <a:spLocks noGrp="1"/>
          </p:cNvSpPr>
          <p:nvPr>
            <p:ph idx="1"/>
          </p:nvPr>
        </p:nvSpPr>
        <p:spPr/>
        <p:txBody>
          <a:bodyPr/>
          <a:p>
            <a:r>
              <a:rPr lang="zh-CN" altLang="en-US" sz="2400" b="1"/>
              <a:t>主谓结构是指两个词语可以构成主谓结构的短语，或者词语本身的构成是主谓结构。</a:t>
            </a:r>
            <a:endParaRPr lang="zh-CN" altLang="en-US" sz="2400" b="1"/>
          </a:p>
          <a:p>
            <a:r>
              <a:rPr lang="zh-CN" altLang="en-US" sz="2400" b="1">
                <a:solidFill>
                  <a:srgbClr val="00B050"/>
                </a:solidFill>
              </a:rPr>
              <a:t>真题</a:t>
            </a:r>
            <a:r>
              <a:rPr lang="en-US" altLang="zh-CN" sz="2400" b="1">
                <a:solidFill>
                  <a:srgbClr val="00B050"/>
                </a:solidFill>
              </a:rPr>
              <a:t>97</a:t>
            </a:r>
            <a:r>
              <a:rPr sz="2400" b="1"/>
              <a:t>：</a:t>
            </a:r>
            <a:r>
              <a:rPr lang="zh-CN" altLang="en-US" sz="2400" b="1"/>
              <a:t>（）对于爬行 相当于青蛙对于（）</a:t>
            </a:r>
            <a:endParaRPr lang="zh-CN" altLang="en-US" sz="2400" b="1"/>
          </a:p>
          <a:p>
            <a:r>
              <a:rPr lang="zh-CN" altLang="en-US" sz="2400" b="1"/>
              <a:t>A.缓慢   害虫           B.葡萄   蟾蜍  </a:t>
            </a:r>
            <a:endParaRPr lang="zh-CN" altLang="en-US" sz="2400" b="1"/>
          </a:p>
          <a:p>
            <a:r>
              <a:rPr lang="zh-CN" altLang="en-US" sz="2400" b="1"/>
              <a:t>C.运动   动物           D.螃蟹   跳跃</a:t>
            </a:r>
            <a:endParaRPr lang="zh-CN" altLang="en-US" sz="2400" b="1"/>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97</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lang="zh-CN" altLang="en-US" sz="2400" b="1"/>
              <a:t>（）对于爬行 相当于青蛙对于（）</a:t>
            </a:r>
            <a:endParaRPr lang="zh-CN" altLang="en-US" sz="2400" b="1"/>
          </a:p>
          <a:p>
            <a:r>
              <a:rPr lang="zh-CN" altLang="en-US" sz="2400" b="1"/>
              <a:t>A.缓慢   害虫           B.葡萄   蟾蜍  </a:t>
            </a:r>
            <a:endParaRPr lang="zh-CN" altLang="en-US" sz="2400" b="1"/>
          </a:p>
          <a:p>
            <a:r>
              <a:rPr lang="zh-CN" altLang="en-US" sz="2400" b="1"/>
              <a:t>C.运动   动物           D.螃蟹   跳跃</a:t>
            </a:r>
            <a:endParaRPr lang="zh-CN" altLang="en-US" sz="2400" b="1"/>
          </a:p>
          <a:p>
            <a:r>
              <a:rPr sz="2400" b="1">
                <a:sym typeface="+mn-ea"/>
              </a:rPr>
              <a:t>分析：</a:t>
            </a:r>
            <a:r>
              <a:rPr sz="2400" b="1">
                <a:solidFill>
                  <a:srgbClr val="00B050"/>
                </a:solidFill>
                <a:sym typeface="+mn-ea"/>
              </a:rPr>
              <a:t>螃蟹爬行，青蛙跳跃，均为主谓结构</a:t>
            </a:r>
            <a:r>
              <a:rPr sz="2400" b="1">
                <a:sym typeface="+mn-ea"/>
              </a:rPr>
              <a:t>。故选</a:t>
            </a:r>
            <a:r>
              <a:rPr lang="en-US" altLang="zh-CN" sz="2400" b="1">
                <a:sym typeface="+mn-ea"/>
              </a:rPr>
              <a:t>D</a:t>
            </a:r>
            <a:r>
              <a:rPr sz="2400" b="1">
                <a:sym typeface="+mn-ea"/>
              </a:rPr>
              <a:t>。</a:t>
            </a:r>
            <a:endParaRPr lang="zh-CN" altLang="en-US" sz="2400" b="1"/>
          </a:p>
          <a:p>
            <a:endParaRPr lang="zh-CN" altLang="en-US" sz="2400" b="1"/>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（5）动宾结构</a:t>
            </a:r>
            <a:endParaRPr lang="zh-CN" altLang="en-US"/>
          </a:p>
        </p:txBody>
      </p:sp>
      <p:sp>
        <p:nvSpPr>
          <p:cNvPr id="3" name="内容占位符 2"/>
          <p:cNvSpPr>
            <a:spLocks noGrp="1"/>
          </p:cNvSpPr>
          <p:nvPr>
            <p:ph idx="1"/>
          </p:nvPr>
        </p:nvSpPr>
        <p:spPr/>
        <p:txBody>
          <a:bodyPr/>
          <a:p>
            <a:r>
              <a:rPr lang="zh-CN" altLang="en-US" sz="2400" b="1"/>
              <a:t>动宾结构是指两个词语可以构成动宾结构的短语，或者词语本身的构成是动宾结构。</a:t>
            </a:r>
            <a:endParaRPr lang="zh-CN" altLang="en-US" sz="2400" b="1"/>
          </a:p>
          <a:p>
            <a:r>
              <a:rPr lang="zh-CN" altLang="en-US" sz="2400" b="1">
                <a:solidFill>
                  <a:srgbClr val="00B050"/>
                </a:solidFill>
              </a:rPr>
              <a:t>真题</a:t>
            </a:r>
            <a:r>
              <a:rPr lang="en-US" altLang="zh-CN" sz="2400" b="1">
                <a:solidFill>
                  <a:srgbClr val="00B050"/>
                </a:solidFill>
              </a:rPr>
              <a:t>98</a:t>
            </a:r>
            <a:r>
              <a:rPr sz="2400" b="1"/>
              <a:t>：</a:t>
            </a:r>
            <a:r>
              <a:rPr lang="zh-CN" altLang="en-US" sz="2400" b="1"/>
              <a:t>邀请：拒绝：接受</a:t>
            </a:r>
            <a:endParaRPr lang="zh-CN" altLang="en-US" sz="2400" b="1"/>
          </a:p>
          <a:p>
            <a:r>
              <a:rPr lang="zh-CN" altLang="en-US" sz="2400" b="1"/>
              <a:t>A.问候：咒骂：感谢          B.道歉：真诚：虚伪  </a:t>
            </a:r>
            <a:endParaRPr lang="zh-CN" altLang="en-US" sz="2400" b="1"/>
          </a:p>
          <a:p>
            <a:r>
              <a:rPr lang="zh-CN" altLang="en-US" sz="2400" b="1"/>
              <a:t>C.威胁：妥协：报警          D.建议：反对：接纳</a:t>
            </a:r>
            <a:endParaRPr lang="zh-CN" altLang="en-US" sz="2400" b="1"/>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98</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lang="zh-CN" altLang="en-US" sz="2400" b="1"/>
              <a:t>邀请：拒绝：接受</a:t>
            </a:r>
            <a:endParaRPr lang="zh-CN" altLang="en-US" sz="2400" b="1"/>
          </a:p>
          <a:p>
            <a:r>
              <a:rPr lang="zh-CN" altLang="en-US" sz="2400" b="1"/>
              <a:t>A.问候：咒骂：感谢          B.道歉：真诚：虚伪  </a:t>
            </a:r>
            <a:endParaRPr lang="zh-CN" altLang="en-US" sz="2400" b="1"/>
          </a:p>
          <a:p>
            <a:r>
              <a:rPr lang="zh-CN" altLang="en-US" sz="2400" b="1"/>
              <a:t>C.威胁：妥协：报警          D.建议：反对：接纳</a:t>
            </a:r>
            <a:endParaRPr lang="zh-CN" altLang="en-US" sz="2400" b="1"/>
          </a:p>
          <a:p>
            <a:r>
              <a:rPr sz="2400" b="1">
                <a:sym typeface="+mn-ea"/>
              </a:rPr>
              <a:t>分析：</a:t>
            </a:r>
            <a:r>
              <a:rPr sz="2400" b="1">
                <a:solidFill>
                  <a:srgbClr val="00B050"/>
                </a:solidFill>
                <a:sym typeface="+mn-ea"/>
              </a:rPr>
              <a:t>拒绝或接受邀请</a:t>
            </a:r>
            <a:r>
              <a:rPr sz="2400" b="1">
                <a:sym typeface="+mn-ea"/>
              </a:rPr>
              <a:t>，反对或接纳建议，</a:t>
            </a:r>
            <a:r>
              <a:rPr sz="2400" b="1">
                <a:solidFill>
                  <a:srgbClr val="00B050"/>
                </a:solidFill>
                <a:sym typeface="+mn-ea"/>
              </a:rPr>
              <a:t>均为动宾结构</a:t>
            </a:r>
            <a:r>
              <a:rPr sz="2400" b="1">
                <a:sym typeface="+mn-ea"/>
              </a:rPr>
              <a:t>。故选</a:t>
            </a:r>
            <a:r>
              <a:rPr lang="en-US" altLang="zh-CN" sz="2400" b="1">
                <a:sym typeface="+mn-ea"/>
              </a:rPr>
              <a:t>D</a:t>
            </a:r>
            <a:r>
              <a:rPr sz="2400" b="1">
                <a:sym typeface="+mn-ea"/>
              </a:rPr>
              <a:t>。</a:t>
            </a:r>
            <a:endParaRPr lang="zh-CN" altLang="en-US" sz="2400" b="1"/>
          </a:p>
          <a:p>
            <a:endParaRPr lang="zh-CN" altLang="en-US" sz="2400" b="1"/>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（6）并列结构</a:t>
            </a:r>
            <a:endParaRPr lang="zh-CN" altLang="en-US"/>
          </a:p>
        </p:txBody>
      </p:sp>
      <p:sp>
        <p:nvSpPr>
          <p:cNvPr id="3" name="内容占位符 2"/>
          <p:cNvSpPr>
            <a:spLocks noGrp="1"/>
          </p:cNvSpPr>
          <p:nvPr>
            <p:ph idx="1"/>
          </p:nvPr>
        </p:nvSpPr>
        <p:spPr/>
        <p:txBody>
          <a:bodyPr/>
          <a:p>
            <a:r>
              <a:rPr lang="zh-CN" altLang="en-US" sz="2400" b="1"/>
              <a:t>并列结构是指两个词语可以构成并列结构的短语，或者词语本身的构成是并列结构。</a:t>
            </a:r>
            <a:endParaRPr lang="zh-CN" altLang="en-US" sz="2400" b="1"/>
          </a:p>
          <a:p>
            <a:r>
              <a:rPr lang="zh-CN" altLang="en-US" sz="2400" b="1">
                <a:solidFill>
                  <a:srgbClr val="00B050"/>
                </a:solidFill>
              </a:rPr>
              <a:t>真题</a:t>
            </a:r>
            <a:r>
              <a:rPr lang="en-US" altLang="zh-CN" sz="2400" b="1">
                <a:solidFill>
                  <a:srgbClr val="00B050"/>
                </a:solidFill>
              </a:rPr>
              <a:t>99</a:t>
            </a:r>
            <a:r>
              <a:rPr lang="en-US" altLang="zh-CN" sz="2400" b="1"/>
              <a:t>: </a:t>
            </a:r>
            <a:r>
              <a:rPr lang="zh-CN" altLang="en-US" sz="2400" b="1"/>
              <a:t>三心：二意</a:t>
            </a:r>
            <a:endParaRPr lang="zh-CN" altLang="en-US" sz="2400" b="1"/>
          </a:p>
          <a:p>
            <a:r>
              <a:rPr lang="zh-CN" altLang="en-US" sz="2400" b="1"/>
              <a:t>A.五脏：六腑         B.朝令：夕改  </a:t>
            </a:r>
            <a:endParaRPr lang="zh-CN" altLang="en-US" sz="2400" b="1"/>
          </a:p>
          <a:p>
            <a:r>
              <a:rPr lang="zh-CN" altLang="en-US" sz="2400" b="1"/>
              <a:t>C.惊世：骇俗         D.信誓：旦旦</a:t>
            </a:r>
            <a:endParaRPr lang="zh-CN" altLang="en-US" sz="2400" b="1"/>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99</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lang="zh-CN" altLang="en-US" sz="2400" b="1"/>
              <a:t>三心：二意</a:t>
            </a:r>
            <a:endParaRPr lang="zh-CN" altLang="en-US" sz="2400" b="1"/>
          </a:p>
          <a:p>
            <a:r>
              <a:rPr lang="zh-CN" altLang="en-US" sz="2400" b="1"/>
              <a:t>A.五脏：六腑         B.朝令：夕改  </a:t>
            </a:r>
            <a:endParaRPr lang="zh-CN" altLang="en-US" sz="2400" b="1"/>
          </a:p>
          <a:p>
            <a:r>
              <a:rPr lang="zh-CN" altLang="en-US" sz="2400" b="1"/>
              <a:t>C.惊世：骇俗         D.信誓：旦旦</a:t>
            </a:r>
            <a:endParaRPr lang="zh-CN" altLang="en-US" sz="2400" b="1"/>
          </a:p>
          <a:p>
            <a:r>
              <a:rPr sz="2400" b="1">
                <a:sym typeface="+mn-ea"/>
              </a:rPr>
              <a:t>分析：</a:t>
            </a:r>
            <a:r>
              <a:rPr sz="2400" b="1">
                <a:solidFill>
                  <a:srgbClr val="00B050"/>
                </a:solidFill>
                <a:sym typeface="+mn-ea"/>
              </a:rPr>
              <a:t>三心与二意是并列结构</a:t>
            </a:r>
            <a:r>
              <a:rPr sz="2400" b="1">
                <a:sym typeface="+mn-ea"/>
              </a:rPr>
              <a:t>，均表示不专一，</a:t>
            </a:r>
            <a:r>
              <a:rPr sz="2400" b="1">
                <a:solidFill>
                  <a:srgbClr val="00B050"/>
                </a:solidFill>
                <a:sym typeface="+mn-ea"/>
              </a:rPr>
              <a:t>表达意思相同</a:t>
            </a:r>
            <a:r>
              <a:rPr sz="2400" b="1">
                <a:sym typeface="+mn-ea"/>
              </a:rPr>
              <a:t>。</a:t>
            </a:r>
            <a:r>
              <a:rPr lang="en-US" altLang="zh-CN" sz="2400" b="1">
                <a:sym typeface="+mn-ea"/>
              </a:rPr>
              <a:t>C.</a:t>
            </a:r>
            <a:r>
              <a:rPr sz="2400" b="1">
                <a:sym typeface="+mn-ea"/>
              </a:rPr>
              <a:t>惊世与骇俗</a:t>
            </a:r>
            <a:r>
              <a:rPr sz="2400" b="1">
                <a:sym typeface="+mn-ea"/>
              </a:rPr>
              <a:t>是并列结构，均表示异于寻常，使人震惊，表达意思相同。</a:t>
            </a:r>
            <a:r>
              <a:rPr sz="2400" b="1">
                <a:solidFill>
                  <a:srgbClr val="00B050"/>
                </a:solidFill>
                <a:sym typeface="+mn-ea"/>
              </a:rPr>
              <a:t>A.五脏与六腑指不同器官，排除</a:t>
            </a:r>
            <a:r>
              <a:rPr sz="2400" b="1">
                <a:sym typeface="+mn-ea"/>
              </a:rPr>
              <a:t>。故选</a:t>
            </a:r>
            <a:r>
              <a:rPr lang="en-US" altLang="zh-CN" sz="2400" b="1">
                <a:sym typeface="+mn-ea"/>
              </a:rPr>
              <a:t>C</a:t>
            </a:r>
            <a:r>
              <a:rPr sz="2400" b="1">
                <a:sym typeface="+mn-ea"/>
              </a:rPr>
              <a:t>。</a:t>
            </a:r>
            <a:endParaRPr lang="zh-CN" altLang="en-US" sz="2400" b="1"/>
          </a:p>
          <a:p>
            <a:endParaRPr lang="zh-CN" altLang="en-US" sz="2400" b="1"/>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（7）修饰关系</a:t>
            </a:r>
            <a:endParaRPr lang="zh-CN" altLang="en-US"/>
          </a:p>
        </p:txBody>
      </p:sp>
      <p:sp>
        <p:nvSpPr>
          <p:cNvPr id="3" name="内容占位符 2"/>
          <p:cNvSpPr>
            <a:spLocks noGrp="1"/>
          </p:cNvSpPr>
          <p:nvPr>
            <p:ph idx="1"/>
          </p:nvPr>
        </p:nvSpPr>
        <p:spPr/>
        <p:txBody>
          <a:bodyPr/>
          <a:p>
            <a:r>
              <a:rPr lang="zh-CN" altLang="en-US" sz="2400" b="1"/>
              <a:t>修饰关系是指一个词语对另一个词语起到修饰作用，比较特殊的情况是两个词语恰好构成偏正结构短语。</a:t>
            </a:r>
            <a:endParaRPr lang="zh-CN" altLang="en-US" sz="2400" b="1"/>
          </a:p>
          <a:p>
            <a:r>
              <a:rPr lang="zh-CN" altLang="en-US" sz="2400" b="1">
                <a:solidFill>
                  <a:srgbClr val="00B050"/>
                </a:solidFill>
              </a:rPr>
              <a:t>真题</a:t>
            </a:r>
            <a:r>
              <a:rPr lang="en-US" altLang="zh-CN" sz="2400" b="1">
                <a:solidFill>
                  <a:srgbClr val="00B050"/>
                </a:solidFill>
              </a:rPr>
              <a:t>100</a:t>
            </a:r>
            <a:r>
              <a:rPr sz="2400" b="1">
                <a:solidFill>
                  <a:srgbClr val="00B050"/>
                </a:solidFill>
              </a:rPr>
              <a:t>：</a:t>
            </a:r>
            <a:r>
              <a:rPr lang="zh-CN" altLang="en-US" sz="2400" b="1"/>
              <a:t>愤怒：驳斥</a:t>
            </a:r>
            <a:endParaRPr lang="zh-CN" altLang="en-US" sz="2400" b="1"/>
          </a:p>
          <a:p>
            <a:r>
              <a:rPr lang="en-US" altLang="zh-CN" sz="2400" b="1"/>
              <a:t>A.</a:t>
            </a:r>
            <a:r>
              <a:rPr lang="zh-CN" altLang="en-US" sz="2400" b="1"/>
              <a:t>微笑：高兴       B.可爱：纯真  </a:t>
            </a:r>
            <a:endParaRPr lang="zh-CN" altLang="en-US" sz="2400" b="1"/>
          </a:p>
          <a:p>
            <a:r>
              <a:rPr lang="zh-CN" altLang="en-US" sz="2400" b="1"/>
              <a:t>C.详尽：陈述       D.善良：魅力</a:t>
            </a:r>
            <a:endParaRPr lang="zh-CN" altLang="en-US" sz="2400" b="1"/>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100</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愤怒：驳斥</a:t>
            </a:r>
            <a:endParaRPr lang="zh-CN" altLang="en-US" sz="2400" b="1"/>
          </a:p>
          <a:p>
            <a:r>
              <a:rPr lang="en-US" altLang="zh-CN" sz="2400" b="1">
                <a:sym typeface="+mn-ea"/>
              </a:rPr>
              <a:t>A.</a:t>
            </a:r>
            <a:r>
              <a:rPr sz="2400" b="1">
                <a:sym typeface="+mn-ea"/>
              </a:rPr>
              <a:t>微笑：高兴       B.可爱：纯真  </a:t>
            </a:r>
            <a:endParaRPr lang="zh-CN" altLang="en-US" sz="2400" b="1"/>
          </a:p>
          <a:p>
            <a:r>
              <a:rPr sz="2400" b="1">
                <a:sym typeface="+mn-ea"/>
              </a:rPr>
              <a:t>C.详尽：陈述       D.善良：魅力</a:t>
            </a:r>
            <a:endParaRPr sz="2400" b="1">
              <a:sym typeface="+mn-ea"/>
            </a:endParaRPr>
          </a:p>
          <a:p>
            <a:r>
              <a:rPr sz="2400" b="1">
                <a:sym typeface="+mn-ea"/>
              </a:rPr>
              <a:t>分析：</a:t>
            </a:r>
            <a:r>
              <a:rPr sz="2400" b="1">
                <a:solidFill>
                  <a:srgbClr val="00B050"/>
                </a:solidFill>
                <a:sym typeface="+mn-ea"/>
              </a:rPr>
              <a:t>愤怒地驳斥，</a:t>
            </a:r>
            <a:r>
              <a:rPr sz="2400" b="1">
                <a:solidFill>
                  <a:srgbClr val="00B050"/>
                </a:solidFill>
                <a:sym typeface="+mn-ea"/>
              </a:rPr>
              <a:t>详尽地陈述，均为</a:t>
            </a:r>
            <a:r>
              <a:rPr sz="2400" b="1">
                <a:solidFill>
                  <a:srgbClr val="00B050"/>
                </a:solidFill>
                <a:sym typeface="+mn-ea"/>
              </a:rPr>
              <a:t>偏正修饰关系</a:t>
            </a:r>
            <a:r>
              <a:rPr sz="2400" b="1">
                <a:sym typeface="+mn-ea"/>
              </a:rPr>
              <a:t>。故选</a:t>
            </a:r>
            <a:r>
              <a:rPr lang="en-US" altLang="zh-CN" sz="2400" b="1">
                <a:sym typeface="+mn-ea"/>
              </a:rPr>
              <a:t>C</a:t>
            </a:r>
            <a:r>
              <a:rPr sz="2400" b="1">
                <a:sym typeface="+mn-ea"/>
              </a:rPr>
              <a:t>。</a:t>
            </a:r>
            <a:endParaRPr lang="zh-CN" altLang="en-US" sz="2400" b="1"/>
          </a:p>
          <a:p>
            <a:endParaRPr lang="zh-CN" altLang="en-US" sz="2400" b="1"/>
          </a:p>
          <a:p>
            <a:endParaRPr lang="zh-CN" altLang="en-US" sz="2400"/>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a:t>
            </a:r>
            <a:r>
              <a:rPr>
                <a:sym typeface="+mn-ea"/>
              </a:rPr>
              <a:t>常识关系</a:t>
            </a:r>
            <a:endParaRPr lang="zh-CN" altLang="en-US"/>
          </a:p>
        </p:txBody>
      </p:sp>
      <p:sp>
        <p:nvSpPr>
          <p:cNvPr id="3" name="内容占位符 2"/>
          <p:cNvSpPr>
            <a:spLocks noGrp="1"/>
          </p:cNvSpPr>
          <p:nvPr>
            <p:ph idx="1"/>
          </p:nvPr>
        </p:nvSpPr>
        <p:spPr/>
        <p:txBody>
          <a:bodyPr/>
          <a:p>
            <a:r>
              <a:rPr lang="zh-CN" altLang="en-US" sz="2400" b="1">
                <a:solidFill>
                  <a:srgbClr val="FF0000"/>
                </a:solidFill>
              </a:rPr>
              <a:t>常识关系包括经验常识和理论常识</a:t>
            </a:r>
            <a:r>
              <a:rPr lang="zh-CN" altLang="en-US" sz="2400" b="1"/>
              <a:t>，其中经验常识是考查的重点。</a:t>
            </a:r>
            <a:endParaRPr lang="zh-CN" altLang="en-US" sz="2400" b="1"/>
          </a:p>
          <a:p>
            <a:r>
              <a:rPr lang="zh-CN" altLang="en-US" sz="2400" b="1">
                <a:solidFill>
                  <a:srgbClr val="00B050"/>
                </a:solidFill>
              </a:rPr>
              <a:t>（</a:t>
            </a:r>
            <a:r>
              <a:rPr lang="en-US" altLang="zh-CN" sz="2400" b="1">
                <a:solidFill>
                  <a:srgbClr val="00B050"/>
                </a:solidFill>
              </a:rPr>
              <a:t>1</a:t>
            </a:r>
            <a:r>
              <a:rPr sz="2400" b="1">
                <a:solidFill>
                  <a:srgbClr val="00B050"/>
                </a:solidFill>
              </a:rPr>
              <a:t>）</a:t>
            </a:r>
            <a:r>
              <a:rPr lang="zh-CN" altLang="en-US" sz="2400" b="1">
                <a:solidFill>
                  <a:srgbClr val="00B050"/>
                </a:solidFill>
              </a:rPr>
              <a:t>经验常识</a:t>
            </a:r>
            <a:endParaRPr lang="zh-CN" altLang="en-US" sz="2400" b="1"/>
          </a:p>
          <a:p>
            <a:r>
              <a:rPr lang="zh-CN" altLang="en-US" sz="2400" b="1"/>
              <a:t>经验常识关系包括</a:t>
            </a:r>
            <a:r>
              <a:rPr lang="zh-CN" altLang="en-US" sz="2400" b="1">
                <a:solidFill>
                  <a:srgbClr val="FF0000"/>
                </a:solidFill>
              </a:rPr>
              <a:t>功能关系</a:t>
            </a:r>
            <a:r>
              <a:rPr lang="zh-CN" altLang="en-US" sz="2400" b="1"/>
              <a:t>、位置关系、</a:t>
            </a:r>
            <a:r>
              <a:rPr lang="zh-CN" altLang="en-US" sz="2400" b="1">
                <a:solidFill>
                  <a:srgbClr val="FF0000"/>
                </a:solidFill>
              </a:rPr>
              <a:t>材料关系</a:t>
            </a:r>
            <a:r>
              <a:rPr lang="zh-CN" altLang="en-US" sz="2400" b="1"/>
              <a:t>、特征关系、</a:t>
            </a:r>
            <a:r>
              <a:rPr lang="zh-CN" altLang="en-US" sz="2400" b="1">
                <a:solidFill>
                  <a:srgbClr val="FF0000"/>
                </a:solidFill>
              </a:rPr>
              <a:t>工具关系</a:t>
            </a:r>
            <a:r>
              <a:rPr lang="zh-CN" altLang="en-US" sz="2400" b="1"/>
              <a:t>、引导关系、</a:t>
            </a:r>
            <a:r>
              <a:rPr lang="zh-CN" altLang="en-US" sz="2400" b="1">
                <a:solidFill>
                  <a:srgbClr val="FF0000"/>
                </a:solidFill>
              </a:rPr>
              <a:t>顺承关系</a:t>
            </a:r>
            <a:r>
              <a:rPr lang="zh-CN" altLang="en-US" sz="2400" b="1"/>
              <a:t>和目的关系。</a:t>
            </a:r>
            <a:endParaRPr lang="zh-CN" altLang="en-US" sz="2400" b="1"/>
          </a:p>
          <a:p>
            <a:r>
              <a:rPr lang="zh-CN" altLang="en-US" sz="2400" b="1">
                <a:solidFill>
                  <a:srgbClr val="00B050"/>
                </a:solidFill>
              </a:rPr>
              <a:t>真题</a:t>
            </a:r>
            <a:r>
              <a:rPr lang="en-US" altLang="zh-CN" sz="2400" b="1">
                <a:solidFill>
                  <a:srgbClr val="00B050"/>
                </a:solidFill>
              </a:rPr>
              <a:t>101</a:t>
            </a:r>
            <a:r>
              <a:rPr sz="2400" b="1"/>
              <a:t>：</a:t>
            </a:r>
            <a:r>
              <a:rPr lang="zh-CN" altLang="en-US" sz="2400" b="1"/>
              <a:t>葡萄：酒</a:t>
            </a:r>
            <a:endParaRPr lang="zh-CN" altLang="en-US" sz="2400" b="1"/>
          </a:p>
          <a:p>
            <a:r>
              <a:rPr lang="zh-CN" altLang="en-US" sz="2400" b="1"/>
              <a:t>A.大米：年糕       B.铁观音：茶  </a:t>
            </a:r>
            <a:endParaRPr lang="zh-CN" altLang="en-US" sz="2400" b="1"/>
          </a:p>
          <a:p>
            <a:r>
              <a:rPr lang="zh-CN" altLang="en-US" sz="2400" b="1"/>
              <a:t>C.椰子：糖          D.大豆：酱油</a:t>
            </a:r>
            <a:endParaRPr lang="zh-CN" altLang="en-US" sz="2400" b="1"/>
          </a:p>
          <a:p>
            <a:endParaRPr lang="zh-CN" altLang="en-US" sz="2400" b="1"/>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101</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lang="zh-CN" altLang="en-US" sz="2400" b="1"/>
              <a:t>葡萄：酒</a:t>
            </a:r>
            <a:endParaRPr lang="zh-CN" altLang="en-US" sz="2400" b="1"/>
          </a:p>
          <a:p>
            <a:r>
              <a:rPr lang="zh-CN" altLang="en-US" sz="2400" b="1"/>
              <a:t>A.大米：年糕       B.铁观音：茶  </a:t>
            </a:r>
            <a:endParaRPr lang="zh-CN" altLang="en-US" sz="2400" b="1"/>
          </a:p>
          <a:p>
            <a:r>
              <a:rPr lang="zh-CN" altLang="en-US" sz="2400" b="1"/>
              <a:t>C.椰子：糖          D.大豆：酱油</a:t>
            </a:r>
            <a:endParaRPr lang="zh-CN" altLang="en-US" sz="2400" b="1"/>
          </a:p>
          <a:p>
            <a:r>
              <a:rPr sz="2400" b="1">
                <a:sym typeface="+mn-ea"/>
              </a:rPr>
              <a:t>分析：</a:t>
            </a:r>
            <a:r>
              <a:rPr sz="2400" b="1">
                <a:sym typeface="+mn-ea"/>
              </a:rPr>
              <a:t>葡萄通过发酵酿成酒，大豆</a:t>
            </a:r>
            <a:r>
              <a:rPr sz="2400" b="1">
                <a:sym typeface="+mn-ea"/>
              </a:rPr>
              <a:t>通过发酵酿成</a:t>
            </a:r>
            <a:r>
              <a:rPr sz="2400" b="1">
                <a:sym typeface="+mn-ea"/>
              </a:rPr>
              <a:t>酱油，</a:t>
            </a:r>
            <a:r>
              <a:rPr sz="2400" b="1">
                <a:solidFill>
                  <a:srgbClr val="00B050"/>
                </a:solidFill>
                <a:sym typeface="+mn-ea"/>
              </a:rPr>
              <a:t>二者均有微生物参与的化学变化</a:t>
            </a:r>
            <a:r>
              <a:rPr sz="2400" b="1">
                <a:sym typeface="+mn-ea"/>
              </a:rPr>
              <a:t>。故选</a:t>
            </a:r>
            <a:r>
              <a:rPr lang="en-US" altLang="zh-CN" sz="2400" b="1">
                <a:sym typeface="+mn-ea"/>
              </a:rPr>
              <a:t>D</a:t>
            </a:r>
            <a:r>
              <a:rPr sz="2400" b="1">
                <a:sym typeface="+mn-ea"/>
              </a:rPr>
              <a:t>。</a:t>
            </a:r>
            <a:endParaRPr lang="zh-CN" altLang="en-US" sz="2400" b="1"/>
          </a:p>
          <a:p>
            <a:endParaRPr lang="zh-CN" altLang="en-US" sz="2400" b="1"/>
          </a:p>
          <a:p>
            <a:endParaRPr lang="zh-CN" altLang="en-US" sz="2400" b="1"/>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a:t>
            </a:r>
            <a:r>
              <a:rPr lang="en-US" altLang="zh-CN">
                <a:solidFill>
                  <a:srgbClr val="00B050"/>
                </a:solidFill>
                <a:sym typeface="+mn-ea"/>
              </a:rPr>
              <a:t>2</a:t>
            </a:r>
            <a:r>
              <a:rPr>
                <a:solidFill>
                  <a:srgbClr val="00B050"/>
                </a:solidFill>
                <a:sym typeface="+mn-ea"/>
              </a:rPr>
              <a:t>）理论常识</a:t>
            </a:r>
            <a:endParaRPr lang="zh-CN" altLang="en-US">
              <a:solidFill>
                <a:srgbClr val="00B050"/>
              </a:solidFill>
              <a:sym typeface="+mn-ea"/>
            </a:endParaRPr>
          </a:p>
        </p:txBody>
      </p:sp>
      <p:sp>
        <p:nvSpPr>
          <p:cNvPr id="3" name="内容占位符 2"/>
          <p:cNvSpPr>
            <a:spLocks noGrp="1"/>
          </p:cNvSpPr>
          <p:nvPr>
            <p:ph idx="1"/>
          </p:nvPr>
        </p:nvSpPr>
        <p:spPr/>
        <p:txBody>
          <a:bodyPr/>
          <a:p>
            <a:r>
              <a:rPr lang="zh-CN" altLang="en-US" sz="2400" b="1"/>
              <a:t>理论常识是指较专业的各学科常识，经常与其他关系结合进行考查，</a:t>
            </a:r>
            <a:r>
              <a:rPr lang="zh-CN" altLang="en-US" sz="2400" b="1">
                <a:solidFill>
                  <a:srgbClr val="FF0000"/>
                </a:solidFill>
              </a:rPr>
              <a:t>内容涵盖文学、地理、历史、自然科学等各个方面。</a:t>
            </a:r>
            <a:endParaRPr lang="zh-CN" altLang="en-US" sz="2400" b="1"/>
          </a:p>
          <a:p>
            <a:r>
              <a:rPr lang="zh-CN" altLang="en-US" sz="2400" b="1">
                <a:solidFill>
                  <a:srgbClr val="00B050"/>
                </a:solidFill>
              </a:rPr>
              <a:t>真题</a:t>
            </a:r>
            <a:r>
              <a:rPr lang="en-US" altLang="zh-CN" sz="2400" b="1">
                <a:solidFill>
                  <a:srgbClr val="00B050"/>
                </a:solidFill>
              </a:rPr>
              <a:t>102</a:t>
            </a:r>
            <a:r>
              <a:rPr sz="2400" b="1"/>
              <a:t>：</a:t>
            </a:r>
            <a:r>
              <a:rPr lang="zh-CN" altLang="en-US" sz="2400" b="1"/>
              <a:t>白居易：在天愿作比翼鸟，在地愿为连理枝</a:t>
            </a:r>
            <a:endParaRPr lang="zh-CN" altLang="en-US" sz="2400" b="1"/>
          </a:p>
          <a:p>
            <a:r>
              <a:rPr lang="zh-CN" altLang="en-US" sz="2400" b="1"/>
              <a:t>A.曾巩：明月不谙离恨苦，斜光到晓穿朱户</a:t>
            </a:r>
            <a:endParaRPr lang="zh-CN" altLang="en-US" sz="2400" b="1"/>
          </a:p>
          <a:p>
            <a:r>
              <a:rPr lang="zh-CN" altLang="en-US" sz="2400" b="1"/>
              <a:t>B.张若虚：春江潮水连海平，海上明月共潮生</a:t>
            </a:r>
            <a:endParaRPr lang="zh-CN" altLang="en-US" sz="2400" b="1"/>
          </a:p>
          <a:p>
            <a:r>
              <a:rPr lang="zh-CN" altLang="en-US" sz="2400" b="1"/>
              <a:t>C.岳飞：莫等闲，白了少年头，空悲切</a:t>
            </a:r>
            <a:endParaRPr lang="zh-CN" altLang="en-US" sz="2400" b="1"/>
          </a:p>
          <a:p>
            <a:r>
              <a:rPr lang="zh-CN" altLang="en-US" sz="2400" b="1"/>
              <a:t>D.王实甫：枯藤老树昏鸦，小桥流水人家</a:t>
            </a:r>
            <a:endParaRPr lang="zh-CN" altLang="en-US" sz="2400" b="1"/>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531495"/>
            <a:ext cx="10852150" cy="5805805"/>
          </a:xfrm>
        </p:spPr>
        <p:txBody>
          <a:bodyPr/>
          <a:p>
            <a:r>
              <a:rPr sz="2400" b="1">
                <a:solidFill>
                  <a:srgbClr val="00B050"/>
                </a:solidFill>
                <a:sym typeface="+mn-ea"/>
              </a:rPr>
              <a:t>真题</a:t>
            </a:r>
            <a:r>
              <a:rPr lang="en-US" altLang="zh-CN" sz="2400" b="1">
                <a:solidFill>
                  <a:srgbClr val="00B050"/>
                </a:solidFill>
                <a:sym typeface="+mn-ea"/>
              </a:rPr>
              <a:t>102</a:t>
            </a:r>
            <a:r>
              <a:rPr sz="2400" b="1">
                <a:solidFill>
                  <a:srgbClr val="00B050"/>
                </a:solidFill>
                <a:sym typeface="+mn-ea"/>
              </a:rPr>
              <a:t>分析</a:t>
            </a:r>
            <a:r>
              <a:rPr sz="2400">
                <a:solidFill>
                  <a:srgbClr val="00B050"/>
                </a:solidFill>
                <a:sym typeface="+mn-ea"/>
              </a:rPr>
              <a:t>：</a:t>
            </a:r>
            <a:r>
              <a:rPr lang="zh-CN" altLang="en-US" sz="2400" b="1"/>
              <a:t>白居易：在天愿作比翼鸟，在地愿为连理枝</a:t>
            </a:r>
            <a:endParaRPr lang="zh-CN" altLang="en-US" sz="2400" b="1"/>
          </a:p>
          <a:p>
            <a:r>
              <a:rPr lang="zh-CN" altLang="en-US" sz="2400" b="1"/>
              <a:t>A.曾巩：明月不谙离恨苦，斜光到晓穿朱户</a:t>
            </a:r>
            <a:endParaRPr lang="zh-CN" altLang="en-US" sz="2400" b="1"/>
          </a:p>
          <a:p>
            <a:r>
              <a:rPr lang="zh-CN" altLang="en-US" sz="2400" b="1"/>
              <a:t>B.张若虚：春江潮水连海平，海上明月共潮生</a:t>
            </a:r>
            <a:endParaRPr lang="zh-CN" altLang="en-US" sz="2400" b="1"/>
          </a:p>
          <a:p>
            <a:r>
              <a:rPr lang="zh-CN" altLang="en-US" sz="2400" b="1"/>
              <a:t>C.岳飞：莫等闲，白了少年头，空悲切</a:t>
            </a:r>
            <a:endParaRPr lang="zh-CN" altLang="en-US" sz="2400" b="1"/>
          </a:p>
          <a:p>
            <a:r>
              <a:rPr lang="zh-CN" altLang="en-US" sz="2400" b="1"/>
              <a:t>D.王实甫：枯藤老树昏鸦，小桥流水人家</a:t>
            </a:r>
            <a:endParaRPr lang="zh-CN" altLang="en-US" sz="2400" b="1"/>
          </a:p>
          <a:p>
            <a:r>
              <a:rPr sz="2400" b="1">
                <a:sym typeface="+mn-ea"/>
              </a:rPr>
              <a:t>分析：</a:t>
            </a:r>
            <a:r>
              <a:rPr lang="en-US" altLang="zh-CN" sz="2400" b="1">
                <a:sym typeface="+mn-ea"/>
              </a:rPr>
              <a:t>“</a:t>
            </a:r>
            <a:r>
              <a:rPr sz="2400" b="1">
                <a:sym typeface="+mn-ea"/>
              </a:rPr>
              <a:t>在天愿作比翼鸟，在地愿为连理枝</a:t>
            </a:r>
            <a:r>
              <a:rPr lang="en-US" altLang="zh-CN" sz="2400" b="1">
                <a:sym typeface="+mn-ea"/>
              </a:rPr>
              <a:t>”</a:t>
            </a:r>
            <a:r>
              <a:rPr sz="2400" b="1">
                <a:solidFill>
                  <a:srgbClr val="FF0000"/>
                </a:solidFill>
                <a:sym typeface="+mn-ea"/>
              </a:rPr>
              <a:t>出自唐代白居易的长诗</a:t>
            </a:r>
            <a:r>
              <a:rPr sz="2400" b="1">
                <a:sym typeface="+mn-ea"/>
              </a:rPr>
              <a:t>《长恨歌》。</a:t>
            </a:r>
            <a:r>
              <a:rPr lang="en-US" altLang="zh-CN" sz="2400" b="1">
                <a:sym typeface="+mn-ea"/>
              </a:rPr>
              <a:t>B“</a:t>
            </a:r>
            <a:r>
              <a:rPr sz="2400" b="1">
                <a:sym typeface="+mn-ea"/>
              </a:rPr>
              <a:t>春江潮水连海平，海上明月共潮生</a:t>
            </a:r>
            <a:r>
              <a:rPr lang="en-US" altLang="zh-CN" sz="2400" b="1">
                <a:sym typeface="+mn-ea"/>
              </a:rPr>
              <a:t>”</a:t>
            </a:r>
            <a:r>
              <a:rPr sz="2400" b="1">
                <a:solidFill>
                  <a:srgbClr val="00B050"/>
                </a:solidFill>
                <a:sym typeface="+mn-ea"/>
              </a:rPr>
              <a:t>出自唐代</a:t>
            </a:r>
            <a:r>
              <a:rPr sz="2400" b="1">
                <a:solidFill>
                  <a:srgbClr val="00B050"/>
                </a:solidFill>
                <a:sym typeface="+mn-ea"/>
              </a:rPr>
              <a:t>张若虚</a:t>
            </a:r>
            <a:r>
              <a:rPr sz="2400" b="1">
                <a:solidFill>
                  <a:srgbClr val="00B050"/>
                </a:solidFill>
                <a:sym typeface="+mn-ea"/>
              </a:rPr>
              <a:t>的长诗</a:t>
            </a:r>
            <a:r>
              <a:rPr sz="2400" b="1">
                <a:sym typeface="+mn-ea"/>
              </a:rPr>
              <a:t>《春江花月夜》。</a:t>
            </a:r>
            <a:r>
              <a:rPr lang="en-US" altLang="zh-CN" sz="2400" b="1">
                <a:sym typeface="+mn-ea"/>
              </a:rPr>
              <a:t>A“</a:t>
            </a:r>
            <a:r>
              <a:rPr sz="2400" b="1">
                <a:sym typeface="+mn-ea"/>
              </a:rPr>
              <a:t>明月不谙离恨苦，斜光到晓穿朱户</a:t>
            </a:r>
            <a:r>
              <a:rPr lang="en-US" altLang="zh-CN" sz="2400" b="1">
                <a:sym typeface="+mn-ea"/>
              </a:rPr>
              <a:t>”</a:t>
            </a:r>
            <a:r>
              <a:rPr sz="2400" b="1">
                <a:solidFill>
                  <a:srgbClr val="FF0000"/>
                </a:solidFill>
                <a:sym typeface="+mn-ea"/>
              </a:rPr>
              <a:t>出自北宋晏殊的词</a:t>
            </a:r>
            <a:r>
              <a:rPr sz="2400" b="1">
                <a:sym typeface="+mn-ea"/>
              </a:rPr>
              <a:t>《蝶恋花》。</a:t>
            </a:r>
            <a:r>
              <a:rPr lang="en-US" altLang="zh-CN" sz="2400" b="1">
                <a:sym typeface="+mn-ea"/>
              </a:rPr>
              <a:t>C“</a:t>
            </a:r>
            <a:r>
              <a:rPr sz="2400" b="1">
                <a:sym typeface="+mn-ea"/>
              </a:rPr>
              <a:t>莫等闲，白了少年头，空悲切</a:t>
            </a:r>
            <a:r>
              <a:rPr lang="en-US" altLang="zh-CN" sz="2400" b="1">
                <a:sym typeface="+mn-ea"/>
              </a:rPr>
              <a:t>”</a:t>
            </a:r>
            <a:r>
              <a:rPr sz="2400" b="1">
                <a:solidFill>
                  <a:srgbClr val="00B050"/>
                </a:solidFill>
                <a:sym typeface="+mn-ea"/>
              </a:rPr>
              <a:t>出自南宋岳飞的词</a:t>
            </a:r>
            <a:r>
              <a:rPr sz="2400" b="1">
                <a:sym typeface="+mn-ea"/>
              </a:rPr>
              <a:t>《满江红》，作品体裁与题干不同。</a:t>
            </a:r>
            <a:r>
              <a:rPr lang="en-US" altLang="zh-CN" sz="2400" b="1">
                <a:sym typeface="+mn-ea"/>
              </a:rPr>
              <a:t>D“</a:t>
            </a:r>
            <a:r>
              <a:rPr sz="2400" b="1">
                <a:sym typeface="+mn-ea"/>
              </a:rPr>
              <a:t>枯藤老树昏鸦，小桥流水人家</a:t>
            </a:r>
            <a:r>
              <a:rPr lang="en-US" altLang="zh-CN" sz="2400" b="1">
                <a:sym typeface="+mn-ea"/>
              </a:rPr>
              <a:t>”</a:t>
            </a:r>
            <a:r>
              <a:rPr sz="2400" b="1">
                <a:solidFill>
                  <a:srgbClr val="FF0000"/>
                </a:solidFill>
                <a:sym typeface="+mn-ea"/>
              </a:rPr>
              <a:t>出自元代马致远的曲</a:t>
            </a:r>
            <a:r>
              <a:rPr sz="2400" b="1">
                <a:sym typeface="+mn-ea"/>
              </a:rPr>
              <a:t>《天净沙</a:t>
            </a:r>
            <a:r>
              <a:rPr sz="2400" b="1">
                <a:latin typeface="宋体" panose="02010600030101010101" pitchFamily="2" charset="-122"/>
                <a:ea typeface="宋体" panose="02010600030101010101" pitchFamily="2" charset="-122"/>
                <a:sym typeface="+mn-ea"/>
              </a:rPr>
              <a:t>•</a:t>
            </a:r>
            <a:r>
              <a:rPr sz="2400" b="1">
                <a:latin typeface="+mn-ea"/>
                <a:cs typeface="+mn-ea"/>
                <a:sym typeface="+mn-ea"/>
              </a:rPr>
              <a:t>秋思》。故选</a:t>
            </a:r>
            <a:r>
              <a:rPr lang="en-US" altLang="zh-CN" sz="2400" b="1">
                <a:latin typeface="+mn-ea"/>
                <a:cs typeface="+mn-ea"/>
                <a:sym typeface="+mn-ea"/>
              </a:rPr>
              <a:t>B</a:t>
            </a:r>
            <a:r>
              <a:rPr sz="2400" b="1">
                <a:latin typeface="宋体" panose="02010600030101010101" pitchFamily="2" charset="-122"/>
                <a:ea typeface="宋体" panose="02010600030101010101" pitchFamily="2" charset="-122"/>
                <a:sym typeface="+mn-ea"/>
              </a:rPr>
              <a:t>。</a:t>
            </a:r>
            <a:endParaRPr lang="zh-CN" altLang="en-US" sz="2400" b="1"/>
          </a:p>
          <a:p>
            <a:endParaRPr lang="zh-CN" altLang="en-US" sz="2400" b="1"/>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三</a:t>
            </a:r>
            <a:r>
              <a:rPr lang="en-US" altLang="zh-CN"/>
              <a:t>.</a:t>
            </a:r>
            <a:r>
              <a:t>类比推理实战技巧</a:t>
            </a:r>
          </a:p>
        </p:txBody>
      </p:sp>
      <p:sp>
        <p:nvSpPr>
          <p:cNvPr id="3" name="内容占位符 2"/>
          <p:cNvSpPr>
            <a:spLocks noGrp="1"/>
          </p:cNvSpPr>
          <p:nvPr>
            <p:ph idx="1"/>
          </p:nvPr>
        </p:nvSpPr>
        <p:spPr/>
        <p:txBody>
          <a:bodyPr/>
          <a:p>
            <a:r>
              <a:rPr lang="en-US" altLang="zh-CN" sz="2400" b="1">
                <a:solidFill>
                  <a:srgbClr val="FF0000"/>
                </a:solidFill>
                <a:latin typeface="+mn-ea"/>
                <a:cs typeface="+mn-ea"/>
              </a:rPr>
              <a:t>1.代入排除法</a:t>
            </a:r>
            <a:endParaRPr lang="en-US" altLang="zh-CN" sz="2400" b="1">
              <a:latin typeface="+mn-ea"/>
              <a:cs typeface="+mn-ea"/>
            </a:endParaRPr>
          </a:p>
          <a:p>
            <a:r>
              <a:rPr lang="en-US" altLang="zh-CN" sz="2400" b="1">
                <a:latin typeface="+mn-ea"/>
                <a:cs typeface="+mn-ea"/>
              </a:rPr>
              <a:t>2.</a:t>
            </a:r>
            <a:r>
              <a:rPr sz="2400" b="1">
                <a:latin typeface="+mn-ea"/>
                <a:cs typeface="+mn-ea"/>
              </a:rPr>
              <a:t>遣词造句法</a:t>
            </a:r>
            <a:endParaRPr sz="2400" b="1">
              <a:latin typeface="+mn-ea"/>
              <a:cs typeface="+mn-ea"/>
            </a:endParaRPr>
          </a:p>
          <a:p>
            <a:r>
              <a:rPr lang="en-US" altLang="zh-CN" sz="2400" b="1">
                <a:solidFill>
                  <a:srgbClr val="FF0000"/>
                </a:solidFill>
                <a:latin typeface="+mn-ea"/>
                <a:cs typeface="+mn-ea"/>
              </a:rPr>
              <a:t>3.</a:t>
            </a:r>
            <a:r>
              <a:rPr sz="2400" b="1">
                <a:solidFill>
                  <a:srgbClr val="FF0000"/>
                </a:solidFill>
                <a:latin typeface="+mn-ea"/>
                <a:cs typeface="+mn-ea"/>
              </a:rPr>
              <a:t>横纵对比法</a:t>
            </a:r>
            <a:endParaRPr sz="2400" b="1">
              <a:latin typeface="+mn-ea"/>
              <a:cs typeface="+mn-ea"/>
            </a:endParaRPr>
          </a:p>
          <a:p>
            <a:r>
              <a:rPr lang="en-US" altLang="zh-CN" sz="2400" b="1">
                <a:latin typeface="+mn-ea"/>
                <a:cs typeface="+mn-ea"/>
              </a:rPr>
              <a:t>1.</a:t>
            </a:r>
            <a:r>
              <a:rPr sz="2400" b="1">
                <a:latin typeface="+mn-ea"/>
                <a:cs typeface="+mn-ea"/>
              </a:rPr>
              <a:t>代入排除法是解答对当型题目的基本方法。</a:t>
            </a:r>
            <a:r>
              <a:rPr sz="2400" b="1">
                <a:solidFill>
                  <a:srgbClr val="FF0000"/>
                </a:solidFill>
                <a:latin typeface="+mn-ea"/>
                <a:cs typeface="+mn-ea"/>
              </a:rPr>
              <a:t>解答时将各个选项中的词项依次代入题干，使两组词关系最为相似的即正确答案</a:t>
            </a:r>
            <a:r>
              <a:rPr sz="2400" b="1">
                <a:latin typeface="+mn-ea"/>
                <a:cs typeface="+mn-ea"/>
              </a:rPr>
              <a:t>。</a:t>
            </a:r>
            <a:endParaRPr sz="2400" b="1">
              <a:latin typeface="+mn-ea"/>
              <a:cs typeface="+mn-ea"/>
            </a:endParaRPr>
          </a:p>
          <a:p>
            <a:r>
              <a:rPr sz="2400" b="1">
                <a:solidFill>
                  <a:srgbClr val="00B050"/>
                </a:solidFill>
                <a:latin typeface="+mn-ea"/>
                <a:cs typeface="+mn-ea"/>
              </a:rPr>
              <a:t>真题</a:t>
            </a:r>
            <a:r>
              <a:rPr lang="en-US" altLang="zh-CN" sz="2400" b="1">
                <a:solidFill>
                  <a:srgbClr val="00B050"/>
                </a:solidFill>
                <a:latin typeface="+mn-ea"/>
                <a:cs typeface="+mn-ea"/>
              </a:rPr>
              <a:t>103</a:t>
            </a:r>
            <a:r>
              <a:rPr sz="2400" b="1">
                <a:latin typeface="+mn-ea"/>
                <a:cs typeface="+mn-ea"/>
              </a:rPr>
              <a:t>：</a:t>
            </a:r>
            <a:r>
              <a:rPr sz="2400" b="1">
                <a:latin typeface="+mn-ea"/>
                <a:cs typeface="+mn-ea"/>
              </a:rPr>
              <a:t>（）对于 风油精 相当于 碳酸 对于（）</a:t>
            </a:r>
            <a:endParaRPr sz="2400" b="1">
              <a:latin typeface="+mn-ea"/>
              <a:cs typeface="+mn-ea"/>
            </a:endParaRPr>
          </a:p>
          <a:p>
            <a:r>
              <a:rPr sz="2400" b="1">
                <a:latin typeface="+mn-ea"/>
                <a:cs typeface="+mn-ea"/>
              </a:rPr>
              <a:t>A.薄荷脑  可乐          B.清凉  陈醋  </a:t>
            </a:r>
            <a:endParaRPr sz="2400" b="1">
              <a:latin typeface="+mn-ea"/>
              <a:cs typeface="+mn-ea"/>
            </a:endParaRPr>
          </a:p>
          <a:p>
            <a:r>
              <a:rPr sz="2400" b="1">
                <a:latin typeface="+mn-ea"/>
                <a:cs typeface="+mn-ea"/>
              </a:rPr>
              <a:t>C.叶绿素  花露水       D.液体  二氧化碳</a:t>
            </a:r>
            <a:endParaRPr sz="2400" b="1">
              <a:latin typeface="+mn-ea"/>
              <a:cs typeface="+mn-ea"/>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latin typeface="+mn-ea"/>
                <a:cs typeface="+mn-ea"/>
                <a:sym typeface="+mn-ea"/>
              </a:rPr>
              <a:t>真题</a:t>
            </a:r>
            <a:r>
              <a:rPr lang="en-US" altLang="zh-CN">
                <a:solidFill>
                  <a:srgbClr val="00B050"/>
                </a:solidFill>
                <a:latin typeface="+mn-ea"/>
                <a:cs typeface="+mn-ea"/>
                <a:sym typeface="+mn-ea"/>
              </a:rPr>
              <a:t>103</a:t>
            </a:r>
            <a:r>
              <a:rPr>
                <a:solidFill>
                  <a:srgbClr val="00B050"/>
                </a:solidFill>
                <a:latin typeface="+mn-ea"/>
                <a:cs typeface="+mn-ea"/>
                <a:sym typeface="+mn-ea"/>
              </a:rPr>
              <a:t>分析</a:t>
            </a:r>
            <a:endParaRPr>
              <a:solidFill>
                <a:srgbClr val="00B050"/>
              </a:solidFill>
              <a:latin typeface="+mn-ea"/>
              <a:cs typeface="+mn-ea"/>
              <a:sym typeface="+mn-ea"/>
            </a:endParaRPr>
          </a:p>
        </p:txBody>
      </p:sp>
      <p:sp>
        <p:nvSpPr>
          <p:cNvPr id="3" name="内容占位符 2"/>
          <p:cNvSpPr>
            <a:spLocks noGrp="1"/>
          </p:cNvSpPr>
          <p:nvPr>
            <p:ph idx="1"/>
          </p:nvPr>
        </p:nvSpPr>
        <p:spPr/>
        <p:txBody>
          <a:bodyPr/>
          <a:p>
            <a:r>
              <a:rPr sz="2400" b="1">
                <a:latin typeface="+mn-ea"/>
                <a:cs typeface="+mn-ea"/>
              </a:rPr>
              <a:t>（）对于 风油精 相当于 碳酸 对于（）</a:t>
            </a:r>
            <a:endParaRPr sz="2400" b="1">
              <a:latin typeface="+mn-ea"/>
              <a:cs typeface="+mn-ea"/>
            </a:endParaRPr>
          </a:p>
          <a:p>
            <a:r>
              <a:rPr sz="2400" b="1">
                <a:latin typeface="+mn-ea"/>
                <a:cs typeface="+mn-ea"/>
              </a:rPr>
              <a:t>A.薄荷脑  可乐          B.清凉  陈醋  </a:t>
            </a:r>
            <a:endParaRPr sz="2400" b="1">
              <a:latin typeface="+mn-ea"/>
              <a:cs typeface="+mn-ea"/>
            </a:endParaRPr>
          </a:p>
          <a:p>
            <a:r>
              <a:rPr sz="2400" b="1">
                <a:latin typeface="+mn-ea"/>
                <a:cs typeface="+mn-ea"/>
              </a:rPr>
              <a:t>C.叶绿素  花露水       D.液体  二氧化碳</a:t>
            </a:r>
            <a:endParaRPr sz="2400" b="1">
              <a:latin typeface="+mn-ea"/>
              <a:cs typeface="+mn-ea"/>
            </a:endParaRPr>
          </a:p>
          <a:p>
            <a:r>
              <a:rPr sz="2400" b="1">
                <a:latin typeface="+mn-ea"/>
                <a:cs typeface="+mn-ea"/>
              </a:rPr>
              <a:t>分析：</a:t>
            </a:r>
            <a:r>
              <a:rPr sz="2400" b="1">
                <a:solidFill>
                  <a:srgbClr val="00B050"/>
                </a:solidFill>
                <a:latin typeface="+mn-ea"/>
                <a:cs typeface="+mn-ea"/>
              </a:rPr>
              <a:t>采用代入排除法。</a:t>
            </a:r>
            <a:endParaRPr sz="2400" b="1">
              <a:latin typeface="+mn-ea"/>
              <a:cs typeface="+mn-ea"/>
            </a:endParaRPr>
          </a:p>
          <a:p>
            <a:r>
              <a:rPr lang="en-US" altLang="zh-CN" sz="2400" b="1">
                <a:latin typeface="+mn-ea"/>
                <a:cs typeface="+mn-ea"/>
              </a:rPr>
              <a:t>A.</a:t>
            </a:r>
            <a:r>
              <a:rPr sz="2400" b="1">
                <a:latin typeface="+mn-ea"/>
                <a:cs typeface="+mn-ea"/>
                <a:sym typeface="+mn-ea"/>
              </a:rPr>
              <a:t>薄荷脑是风油精的配料之一，碳酸是可乐的</a:t>
            </a:r>
            <a:r>
              <a:rPr sz="2400" b="1">
                <a:latin typeface="+mn-ea"/>
                <a:cs typeface="+mn-ea"/>
                <a:sym typeface="+mn-ea"/>
              </a:rPr>
              <a:t>的配料之一。</a:t>
            </a:r>
            <a:endParaRPr sz="2400" b="1">
              <a:latin typeface="+mn-ea"/>
              <a:cs typeface="+mn-ea"/>
              <a:sym typeface="+mn-ea"/>
            </a:endParaRPr>
          </a:p>
          <a:p>
            <a:r>
              <a:rPr lang="en-US" altLang="zh-CN" sz="2400" b="1">
                <a:solidFill>
                  <a:srgbClr val="00B050"/>
                </a:solidFill>
                <a:latin typeface="+mn-ea"/>
                <a:cs typeface="+mn-ea"/>
              </a:rPr>
              <a:t>B</a:t>
            </a:r>
            <a:r>
              <a:rPr sz="2400" b="1">
                <a:solidFill>
                  <a:srgbClr val="00B050"/>
                </a:solidFill>
                <a:latin typeface="+mn-ea"/>
                <a:cs typeface="+mn-ea"/>
              </a:rPr>
              <a:t>、</a:t>
            </a:r>
            <a:r>
              <a:rPr lang="en-US" altLang="zh-CN" sz="2400" b="1">
                <a:solidFill>
                  <a:srgbClr val="00B050"/>
                </a:solidFill>
                <a:latin typeface="+mn-ea"/>
                <a:cs typeface="+mn-ea"/>
              </a:rPr>
              <a:t>C</a:t>
            </a:r>
            <a:r>
              <a:rPr sz="2400" b="1">
                <a:solidFill>
                  <a:srgbClr val="00B050"/>
                </a:solidFill>
                <a:latin typeface="+mn-ea"/>
                <a:cs typeface="+mn-ea"/>
              </a:rPr>
              <a:t>两项代入后无明显关系。</a:t>
            </a:r>
            <a:endParaRPr sz="2400" b="1">
              <a:latin typeface="+mn-ea"/>
              <a:cs typeface="+mn-ea"/>
            </a:endParaRPr>
          </a:p>
          <a:p>
            <a:r>
              <a:rPr lang="en-US" altLang="zh-CN" sz="2400" b="1">
                <a:latin typeface="+mn-ea"/>
                <a:cs typeface="+mn-ea"/>
              </a:rPr>
              <a:t>D</a:t>
            </a:r>
            <a:r>
              <a:rPr sz="2400" b="1">
                <a:latin typeface="+mn-ea"/>
                <a:cs typeface="+mn-ea"/>
              </a:rPr>
              <a:t>代入后关系明显不一致。</a:t>
            </a:r>
            <a:endParaRPr sz="2400" b="1">
              <a:latin typeface="+mn-ea"/>
              <a:cs typeface="+mn-ea"/>
            </a:endParaRPr>
          </a:p>
          <a:p>
            <a:r>
              <a:rPr sz="2400" b="1">
                <a:latin typeface="+mn-ea"/>
                <a:cs typeface="+mn-ea"/>
              </a:rPr>
              <a:t>故选</a:t>
            </a:r>
            <a:r>
              <a:rPr lang="en-US" altLang="zh-CN" sz="2400" b="1">
                <a:latin typeface="+mn-ea"/>
                <a:cs typeface="+mn-ea"/>
              </a:rPr>
              <a:t>A</a:t>
            </a:r>
            <a:r>
              <a:rPr sz="2400" b="1">
                <a:latin typeface="+mn-ea"/>
                <a:cs typeface="+mn-ea"/>
              </a:rPr>
              <a:t>。</a:t>
            </a:r>
            <a:endParaRPr sz="2400" b="1">
              <a:latin typeface="+mn-ea"/>
              <a:cs typeface="+mn-ea"/>
            </a:endParaRP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104</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lang="zh-CN" altLang="en-US" sz="2400" b="1"/>
              <a:t>饭店：厨师：菜肴</a:t>
            </a:r>
            <a:endParaRPr lang="zh-CN" altLang="en-US" sz="2400" b="1"/>
          </a:p>
          <a:p>
            <a:r>
              <a:rPr lang="zh-CN" altLang="en-US" sz="2400" b="1"/>
              <a:t>A.监狱：狱警：罪犯          B.工厂：工人：产品  </a:t>
            </a:r>
            <a:endParaRPr lang="zh-CN" altLang="en-US" sz="2400" b="1"/>
          </a:p>
          <a:p>
            <a:r>
              <a:rPr lang="zh-CN" altLang="en-US" sz="2400" b="1"/>
              <a:t>C.舞台：演员：道具          D.学校：教师：学生</a:t>
            </a:r>
            <a:endParaRPr lang="zh-CN" altLang="en-US" sz="2400" b="1"/>
          </a:p>
          <a:p>
            <a:r>
              <a:rPr lang="zh-CN" altLang="en-US" sz="2400" b="1"/>
              <a:t>分析：遣词造句法。</a:t>
            </a:r>
            <a:endParaRPr lang="zh-CN" altLang="en-US" sz="2400" b="1"/>
          </a:p>
          <a:p>
            <a:r>
              <a:rPr sz="2400" b="1">
                <a:sym typeface="+mn-ea"/>
              </a:rPr>
              <a:t>厨师在饭店制作菜肴。</a:t>
            </a:r>
            <a:r>
              <a:rPr sz="2400" b="1">
                <a:sym typeface="+mn-ea"/>
              </a:rPr>
              <a:t>在</a:t>
            </a:r>
            <a:r>
              <a:rPr sz="2400" b="1">
                <a:latin typeface="宋体" panose="02010600030101010101" pitchFamily="2" charset="-122"/>
                <a:ea typeface="宋体" panose="02010600030101010101" pitchFamily="2" charset="-122"/>
                <a:sym typeface="+mn-ea"/>
              </a:rPr>
              <a:t>•••••••</a:t>
            </a:r>
            <a:r>
              <a:rPr sz="2400" b="1">
                <a:sym typeface="+mn-ea"/>
              </a:rPr>
              <a:t>制作</a:t>
            </a:r>
            <a:r>
              <a:rPr sz="2400" b="1">
                <a:latin typeface="宋体" panose="02010600030101010101" pitchFamily="2" charset="-122"/>
                <a:ea typeface="宋体" panose="02010600030101010101" pitchFamily="2" charset="-122"/>
                <a:sym typeface="+mn-ea"/>
              </a:rPr>
              <a:t>•••••••</a:t>
            </a:r>
            <a:endParaRPr sz="2400" b="1">
              <a:latin typeface="宋体" panose="02010600030101010101" pitchFamily="2" charset="-122"/>
              <a:ea typeface="宋体" panose="02010600030101010101" pitchFamily="2" charset="-122"/>
              <a:sym typeface="+mn-ea"/>
            </a:endParaRPr>
          </a:p>
          <a:p>
            <a:r>
              <a:rPr lang="zh-CN" altLang="en-US" sz="2400" b="1">
                <a:latin typeface="+mn-ea"/>
                <a:sym typeface="+mn-ea"/>
              </a:rPr>
              <a:t>工人在工厂制作产品。</a:t>
            </a:r>
            <a:endParaRPr lang="zh-CN" altLang="en-US" sz="2400" b="1">
              <a:latin typeface="+mn-ea"/>
              <a:sym typeface="+mn-ea"/>
            </a:endParaRPr>
          </a:p>
          <a:p>
            <a:r>
              <a:rPr lang="zh-CN" altLang="en-US" sz="2400" b="1">
                <a:latin typeface="+mn-ea"/>
                <a:sym typeface="+mn-ea"/>
              </a:rPr>
              <a:t>故选</a:t>
            </a:r>
            <a:r>
              <a:rPr lang="en-US" altLang="zh-CN" sz="2400" b="1">
                <a:latin typeface="+mn-ea"/>
                <a:sym typeface="+mn-ea"/>
              </a:rPr>
              <a:t>B</a:t>
            </a:r>
            <a:r>
              <a:rPr sz="2400" b="1">
                <a:latin typeface="+mn-ea"/>
                <a:sym typeface="+mn-ea"/>
              </a:rPr>
              <a:t>。</a:t>
            </a:r>
            <a:endParaRPr sz="2400" b="1">
              <a:latin typeface="+mn-ea"/>
              <a:sym typeface="+mn-ea"/>
            </a:endParaRP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2.</a:t>
            </a:r>
            <a:r>
              <a:rPr>
                <a:sym typeface="+mn-ea"/>
              </a:rPr>
              <a:t>遣词造句法</a:t>
            </a:r>
            <a:endParaRPr lang="zh-CN" altLang="en-US"/>
          </a:p>
        </p:txBody>
      </p:sp>
      <p:sp>
        <p:nvSpPr>
          <p:cNvPr id="3" name="内容占位符 2"/>
          <p:cNvSpPr>
            <a:spLocks noGrp="1"/>
          </p:cNvSpPr>
          <p:nvPr>
            <p:ph idx="1"/>
          </p:nvPr>
        </p:nvSpPr>
        <p:spPr/>
        <p:txBody>
          <a:bodyPr/>
          <a:p>
            <a:r>
              <a:rPr lang="zh-CN" altLang="en-US" sz="2400" b="1"/>
              <a:t>遣词造句法：即</a:t>
            </a:r>
            <a:r>
              <a:rPr lang="zh-CN" altLang="en-US" sz="2400" b="1">
                <a:solidFill>
                  <a:srgbClr val="FF0000"/>
                </a:solidFill>
              </a:rPr>
              <a:t>利用语感对题干给出的几个词项进行造句，再用所造句子的结构套用于选项，合适的即正确答案，常用于题干有三个词项的题目</a:t>
            </a:r>
            <a:r>
              <a:rPr lang="zh-CN" altLang="en-US" sz="2400" b="1"/>
              <a:t>。遣词造句法往往在关系不明显是使用，在使用时要注意比较词项在句子中的位置是否一致，是否存在词项颠倒的现象，并</a:t>
            </a:r>
            <a:r>
              <a:rPr lang="zh-CN" altLang="en-US" sz="2400" b="1">
                <a:solidFill>
                  <a:srgbClr val="FF0000"/>
                </a:solidFill>
              </a:rPr>
              <a:t>通过句子比较其本质的关系是否一致</a:t>
            </a:r>
            <a:r>
              <a:rPr lang="zh-CN" altLang="en-US" sz="2400" b="1"/>
              <a:t>。</a:t>
            </a:r>
            <a:endParaRPr lang="zh-CN" altLang="en-US" sz="2400" b="1"/>
          </a:p>
          <a:p>
            <a:r>
              <a:rPr lang="zh-CN" altLang="en-US" sz="2400" b="1">
                <a:solidFill>
                  <a:srgbClr val="00B050"/>
                </a:solidFill>
              </a:rPr>
              <a:t>真题</a:t>
            </a:r>
            <a:r>
              <a:rPr lang="en-US" altLang="zh-CN" sz="2400" b="1">
                <a:solidFill>
                  <a:srgbClr val="00B050"/>
                </a:solidFill>
              </a:rPr>
              <a:t>104</a:t>
            </a:r>
            <a:r>
              <a:rPr sz="2400" b="1"/>
              <a:t>：</a:t>
            </a:r>
            <a:r>
              <a:rPr lang="zh-CN" altLang="en-US" sz="2400" b="1"/>
              <a:t>饭店：厨师：菜肴</a:t>
            </a:r>
            <a:endParaRPr lang="zh-CN" altLang="en-US" sz="2400" b="1"/>
          </a:p>
          <a:p>
            <a:r>
              <a:rPr lang="zh-CN" altLang="en-US" sz="2400" b="1"/>
              <a:t>A.监狱：狱警：罪犯          B.工厂：工人：产品  </a:t>
            </a:r>
            <a:endParaRPr lang="zh-CN" altLang="en-US" sz="2400" b="1"/>
          </a:p>
          <a:p>
            <a:r>
              <a:rPr lang="zh-CN" altLang="en-US" sz="2400" b="1"/>
              <a:t>C.舞台：演员：道具          D.学校：教师：学生</a:t>
            </a:r>
            <a:endParaRPr lang="zh-CN" altLang="en-US" sz="2400" b="1"/>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3.</a:t>
            </a:r>
            <a:r>
              <a:rPr>
                <a:sym typeface="+mn-ea"/>
              </a:rPr>
              <a:t>横纵对比法</a:t>
            </a:r>
            <a:endParaRPr lang="zh-CN" altLang="en-US"/>
          </a:p>
        </p:txBody>
      </p:sp>
      <p:sp>
        <p:nvSpPr>
          <p:cNvPr id="3" name="内容占位符 2"/>
          <p:cNvSpPr>
            <a:spLocks noGrp="1"/>
          </p:cNvSpPr>
          <p:nvPr>
            <p:ph idx="1"/>
          </p:nvPr>
        </p:nvSpPr>
        <p:spPr>
          <a:xfrm>
            <a:off x="205740" y="1296035"/>
            <a:ext cx="11316335" cy="5041265"/>
          </a:xfrm>
        </p:spPr>
        <p:txBody>
          <a:bodyPr/>
          <a:p>
            <a:r>
              <a:rPr lang="zh-CN" altLang="en-US" sz="2400" b="1"/>
              <a:t>横纵对比法：即分别</a:t>
            </a:r>
            <a:r>
              <a:rPr lang="zh-CN" altLang="en-US" sz="2400" b="1">
                <a:solidFill>
                  <a:srgbClr val="FF0000"/>
                </a:solidFill>
              </a:rPr>
              <a:t>通过横向和纵向分析题干和选项之间的关系，选出与题干相同点最明显、最多的一项。</a:t>
            </a:r>
            <a:endParaRPr lang="zh-CN" altLang="en-US" sz="2400" b="1">
              <a:solidFill>
                <a:srgbClr val="FF0000"/>
              </a:solidFill>
            </a:endParaRPr>
          </a:p>
          <a:p>
            <a:r>
              <a:rPr lang="zh-CN" altLang="en-US" sz="2400" b="1">
                <a:solidFill>
                  <a:srgbClr val="00B050"/>
                </a:solidFill>
              </a:rPr>
              <a:t>（</a:t>
            </a:r>
            <a:r>
              <a:rPr lang="en-US" altLang="zh-CN" sz="2400" b="1">
                <a:solidFill>
                  <a:srgbClr val="00B050"/>
                </a:solidFill>
              </a:rPr>
              <a:t>1</a:t>
            </a:r>
            <a:r>
              <a:rPr sz="2400" b="1">
                <a:solidFill>
                  <a:srgbClr val="00B050"/>
                </a:solidFill>
              </a:rPr>
              <a:t>）</a:t>
            </a:r>
            <a:r>
              <a:rPr lang="zh-CN" altLang="en-US" sz="2400" b="1">
                <a:solidFill>
                  <a:srgbClr val="00B050"/>
                </a:solidFill>
              </a:rPr>
              <a:t>词性是否相同 </a:t>
            </a:r>
            <a:r>
              <a:rPr lang="zh-CN" altLang="en-US" sz="2400" b="1"/>
              <a:t>              </a:t>
            </a:r>
            <a:endParaRPr lang="zh-CN" altLang="en-US" sz="2400" b="1"/>
          </a:p>
          <a:p>
            <a:r>
              <a:rPr lang="zh-CN" altLang="en-US" sz="2400" b="1"/>
              <a:t>例</a:t>
            </a:r>
            <a:r>
              <a:rPr lang="en-US" altLang="zh-CN" sz="2400" b="1"/>
              <a:t>1</a:t>
            </a:r>
            <a:r>
              <a:rPr lang="zh-CN" altLang="en-US" sz="2400" b="1"/>
              <a:t>：外向：内向     A</a:t>
            </a:r>
            <a:r>
              <a:rPr lang="zh-CN" altLang="en-US" sz="2400" b="1">
                <a:solidFill>
                  <a:srgbClr val="00B050"/>
                </a:solidFill>
              </a:rPr>
              <a:t>.</a:t>
            </a:r>
            <a:r>
              <a:rPr lang="zh-CN" altLang="en-US" sz="2400" b="1"/>
              <a:t>谦虚：骄傲    B.消化：吸收    （反义词）</a:t>
            </a:r>
            <a:endParaRPr lang="zh-CN" altLang="en-US" sz="2400" b="1"/>
          </a:p>
          <a:p>
            <a:r>
              <a:rPr lang="zh-CN" altLang="en-US" sz="2400" b="1">
                <a:solidFill>
                  <a:srgbClr val="00B050"/>
                </a:solidFill>
              </a:rPr>
              <a:t>（</a:t>
            </a:r>
            <a:r>
              <a:rPr lang="en-US" altLang="zh-CN" sz="2400" b="1">
                <a:solidFill>
                  <a:srgbClr val="00B050"/>
                </a:solidFill>
              </a:rPr>
              <a:t>2</a:t>
            </a:r>
            <a:r>
              <a:rPr sz="2400" b="1">
                <a:solidFill>
                  <a:srgbClr val="00B050"/>
                </a:solidFill>
              </a:rPr>
              <a:t>）</a:t>
            </a:r>
            <a:r>
              <a:rPr lang="zh-CN" altLang="en-US" sz="2400" b="1">
                <a:solidFill>
                  <a:srgbClr val="00B050"/>
                </a:solidFill>
              </a:rPr>
              <a:t>感情色彩是否一致 </a:t>
            </a:r>
            <a:r>
              <a:rPr lang="zh-CN" altLang="en-US" sz="2400" b="1"/>
              <a:t>          </a:t>
            </a:r>
            <a:endParaRPr lang="zh-CN" altLang="en-US" sz="2400" b="1"/>
          </a:p>
          <a:p>
            <a:r>
              <a:rPr lang="zh-CN" altLang="en-US" sz="2400" b="1"/>
              <a:t>例</a:t>
            </a:r>
            <a:r>
              <a:rPr lang="en-US" altLang="zh-CN" sz="2400" b="1"/>
              <a:t>2</a:t>
            </a:r>
            <a:r>
              <a:rPr lang="zh-CN" altLang="en-US" sz="2400" b="1"/>
              <a:t>：表扬：恭维    A.创作：创造    B</a:t>
            </a:r>
            <a:r>
              <a:rPr lang="zh-CN" altLang="en-US" sz="2400" b="1">
                <a:solidFill>
                  <a:srgbClr val="00B050"/>
                </a:solidFill>
              </a:rPr>
              <a:t>.</a:t>
            </a:r>
            <a:r>
              <a:rPr lang="zh-CN" altLang="en-US" sz="2400" b="1"/>
              <a:t>相信：迷信      （近义词：褒贬）</a:t>
            </a:r>
            <a:endParaRPr lang="zh-CN" altLang="en-US" sz="2400" b="1"/>
          </a:p>
          <a:p>
            <a:r>
              <a:rPr lang="zh-CN" altLang="en-US" sz="2400" b="1">
                <a:solidFill>
                  <a:srgbClr val="00B050"/>
                </a:solidFill>
              </a:rPr>
              <a:t>（</a:t>
            </a:r>
            <a:r>
              <a:rPr lang="en-US" altLang="zh-CN" sz="2400" b="1">
                <a:solidFill>
                  <a:srgbClr val="00B050"/>
                </a:solidFill>
              </a:rPr>
              <a:t>3</a:t>
            </a:r>
            <a:r>
              <a:rPr sz="2400" b="1">
                <a:solidFill>
                  <a:srgbClr val="00B050"/>
                </a:solidFill>
              </a:rPr>
              <a:t>）</a:t>
            </a:r>
            <a:r>
              <a:rPr lang="zh-CN" altLang="en-US" sz="2400" b="1">
                <a:solidFill>
                  <a:srgbClr val="00B050"/>
                </a:solidFill>
              </a:rPr>
              <a:t>范围或程度上是否存在差异</a:t>
            </a:r>
            <a:r>
              <a:rPr lang="zh-CN" altLang="en-US" sz="2400" b="1"/>
              <a:t>               </a:t>
            </a:r>
            <a:endParaRPr lang="zh-CN" altLang="en-US" sz="2400" b="1"/>
          </a:p>
          <a:p>
            <a:r>
              <a:rPr lang="zh-CN" altLang="en-US" sz="2400" b="1"/>
              <a:t>例</a:t>
            </a:r>
            <a:r>
              <a:rPr lang="en-US" altLang="zh-CN" sz="2400" b="1"/>
              <a:t>3</a:t>
            </a:r>
            <a:r>
              <a:rPr sz="2400" b="1"/>
              <a:t>：</a:t>
            </a:r>
            <a:r>
              <a:rPr lang="zh-CN" altLang="en-US" sz="2400" b="1"/>
              <a:t>掌握：精通    A</a:t>
            </a:r>
            <a:r>
              <a:rPr lang="zh-CN" altLang="en-US" sz="2400" b="1">
                <a:solidFill>
                  <a:srgbClr val="00B050"/>
                </a:solidFill>
              </a:rPr>
              <a:t>.</a:t>
            </a:r>
            <a:r>
              <a:rPr lang="zh-CN" altLang="en-US" sz="2400" b="1"/>
              <a:t>了解：理解    B.贫困：贫穷    （精通比掌握程度更深）</a:t>
            </a:r>
            <a:endParaRPr lang="zh-CN" altLang="en-US" sz="2400" b="1"/>
          </a:p>
          <a:p>
            <a:endParaRPr lang="zh-CN" altLang="en-US" sz="2400" b="1"/>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5" y="351790"/>
            <a:ext cx="11965305" cy="5985510"/>
          </a:xfrm>
        </p:spPr>
        <p:txBody>
          <a:bodyPr/>
          <a:p>
            <a:r>
              <a:rPr sz="2400" b="1">
                <a:solidFill>
                  <a:srgbClr val="00B050"/>
                </a:solidFill>
                <a:sym typeface="+mn-ea"/>
              </a:rPr>
              <a:t>（</a:t>
            </a:r>
            <a:r>
              <a:rPr lang="en-US" altLang="zh-CN" sz="2400" b="1">
                <a:solidFill>
                  <a:srgbClr val="00B050"/>
                </a:solidFill>
                <a:sym typeface="+mn-ea"/>
              </a:rPr>
              <a:t>4</a:t>
            </a:r>
            <a:r>
              <a:rPr sz="2400" b="1">
                <a:solidFill>
                  <a:srgbClr val="00B050"/>
                </a:solidFill>
                <a:sym typeface="+mn-ea"/>
              </a:rPr>
              <a:t>）性质、功能是否相似   </a:t>
            </a:r>
            <a:r>
              <a:rPr sz="2400" b="1">
                <a:sym typeface="+mn-ea"/>
              </a:rPr>
              <a:t>                </a:t>
            </a:r>
            <a:endParaRPr sz="2400" b="1">
              <a:sym typeface="+mn-ea"/>
            </a:endParaRPr>
          </a:p>
          <a:p>
            <a:r>
              <a:rPr sz="2400" b="1">
                <a:sym typeface="+mn-ea"/>
              </a:rPr>
              <a:t>例</a:t>
            </a:r>
            <a:r>
              <a:rPr lang="en-US" altLang="zh-CN" sz="2400" b="1">
                <a:sym typeface="+mn-ea"/>
              </a:rPr>
              <a:t>4</a:t>
            </a:r>
            <a:r>
              <a:rPr sz="2400" b="1">
                <a:sym typeface="+mn-ea"/>
              </a:rPr>
              <a:t>：法律：约束    A</a:t>
            </a:r>
            <a:r>
              <a:rPr sz="2400" b="1">
                <a:solidFill>
                  <a:srgbClr val="00B050"/>
                </a:solidFill>
                <a:sym typeface="+mn-ea"/>
              </a:rPr>
              <a:t>.</a:t>
            </a:r>
            <a:r>
              <a:rPr sz="2400" b="1">
                <a:sym typeface="+mn-ea"/>
              </a:rPr>
              <a:t>政策：规范    B.历史：借鉴   </a:t>
            </a:r>
            <a:endParaRPr lang="zh-CN" altLang="en-US" sz="2400" b="1"/>
          </a:p>
          <a:p>
            <a:r>
              <a:rPr sz="2400" b="1">
                <a:solidFill>
                  <a:srgbClr val="00B050"/>
                </a:solidFill>
                <a:latin typeface="+mn-ea"/>
                <a:cs typeface="+mn-ea"/>
                <a:sym typeface="+mn-ea"/>
              </a:rPr>
              <a:t>（</a:t>
            </a:r>
            <a:r>
              <a:rPr lang="en-US" altLang="zh-CN" sz="2400" b="1">
                <a:solidFill>
                  <a:srgbClr val="00B050"/>
                </a:solidFill>
                <a:latin typeface="+mn-ea"/>
                <a:cs typeface="+mn-ea"/>
                <a:sym typeface="+mn-ea"/>
              </a:rPr>
              <a:t>5</a:t>
            </a:r>
            <a:r>
              <a:rPr sz="2400" b="1">
                <a:solidFill>
                  <a:srgbClr val="00B050"/>
                </a:solidFill>
                <a:latin typeface="+mn-ea"/>
                <a:cs typeface="+mn-ea"/>
                <a:sym typeface="+mn-ea"/>
              </a:rPr>
              <a:t>）词的构成方式</a:t>
            </a:r>
            <a:r>
              <a:rPr sz="2400" b="1">
                <a:solidFill>
                  <a:srgbClr val="00B050"/>
                </a:solidFill>
                <a:latin typeface="+mn-ea"/>
                <a:cs typeface="+mn-ea"/>
                <a:sym typeface="+mn-ea"/>
              </a:rPr>
              <a:t>是否相同 </a:t>
            </a:r>
            <a:endParaRPr lang="zh-CN" altLang="en-US" sz="2400" b="1">
              <a:latin typeface="+mn-ea"/>
              <a:cs typeface="+mn-ea"/>
            </a:endParaRPr>
          </a:p>
          <a:p>
            <a:r>
              <a:rPr sz="2400" b="1">
                <a:latin typeface="+mn-ea"/>
                <a:cs typeface="+mn-ea"/>
                <a:sym typeface="+mn-ea"/>
              </a:rPr>
              <a:t> 例</a:t>
            </a:r>
            <a:r>
              <a:rPr lang="en-US" altLang="zh-CN" sz="2400" b="1">
                <a:latin typeface="+mn-ea"/>
                <a:cs typeface="+mn-ea"/>
                <a:sym typeface="+mn-ea"/>
              </a:rPr>
              <a:t>5</a:t>
            </a:r>
            <a:r>
              <a:rPr sz="2400" b="1">
                <a:latin typeface="+mn-ea"/>
                <a:cs typeface="+mn-ea"/>
                <a:sym typeface="+mn-ea"/>
              </a:rPr>
              <a:t>： 山穷：水尽    A</a:t>
            </a:r>
            <a:r>
              <a:rPr sz="2400" b="1">
                <a:solidFill>
                  <a:srgbClr val="00B050"/>
                </a:solidFill>
                <a:latin typeface="+mn-ea"/>
                <a:cs typeface="+mn-ea"/>
                <a:sym typeface="+mn-ea"/>
              </a:rPr>
              <a:t>.</a:t>
            </a:r>
            <a:r>
              <a:rPr sz="2400" b="1">
                <a:latin typeface="+mn-ea"/>
                <a:cs typeface="+mn-ea"/>
                <a:sym typeface="+mn-ea"/>
              </a:rPr>
              <a:t>柳暗：花明    B.五光：十色 （主谓结构、偏正）</a:t>
            </a:r>
            <a:endParaRPr lang="zh-CN" altLang="en-US" sz="2400" b="1">
              <a:latin typeface="+mn-ea"/>
              <a:cs typeface="+mn-ea"/>
            </a:endParaRPr>
          </a:p>
          <a:p>
            <a:r>
              <a:rPr sz="2400" b="1">
                <a:solidFill>
                  <a:srgbClr val="00B050"/>
                </a:solidFill>
                <a:latin typeface="+mn-ea"/>
                <a:cs typeface="+mn-ea"/>
                <a:sym typeface="+mn-ea"/>
              </a:rPr>
              <a:t>（</a:t>
            </a:r>
            <a:r>
              <a:rPr lang="en-US" altLang="zh-CN" sz="2400" b="1">
                <a:solidFill>
                  <a:srgbClr val="00B050"/>
                </a:solidFill>
                <a:latin typeface="+mn-ea"/>
                <a:cs typeface="+mn-ea"/>
                <a:sym typeface="+mn-ea"/>
              </a:rPr>
              <a:t>6</a:t>
            </a:r>
            <a:r>
              <a:rPr sz="2400" b="1">
                <a:solidFill>
                  <a:srgbClr val="00B050"/>
                </a:solidFill>
                <a:latin typeface="+mn-ea"/>
                <a:cs typeface="+mn-ea"/>
                <a:sym typeface="+mn-ea"/>
              </a:rPr>
              <a:t>）必然与或然                                   </a:t>
            </a:r>
            <a:r>
              <a:rPr lang="en-US" altLang="zh-CN" sz="2400" b="1">
                <a:latin typeface="+mn-ea"/>
                <a:cs typeface="+mn-ea"/>
                <a:sym typeface="+mn-ea"/>
              </a:rPr>
              <a:t>(</a:t>
            </a:r>
            <a:r>
              <a:rPr sz="2400" b="1">
                <a:latin typeface="+mn-ea"/>
                <a:cs typeface="+mn-ea"/>
                <a:sym typeface="+mn-ea"/>
              </a:rPr>
              <a:t>地震不一定引起海啸）</a:t>
            </a:r>
            <a:endParaRPr sz="2400" b="1">
              <a:solidFill>
                <a:srgbClr val="00B050"/>
              </a:solidFill>
              <a:latin typeface="+mn-ea"/>
              <a:cs typeface="+mn-ea"/>
              <a:sym typeface="+mn-ea"/>
            </a:endParaRPr>
          </a:p>
          <a:p>
            <a:r>
              <a:rPr sz="2400" b="1">
                <a:latin typeface="+mn-ea"/>
                <a:cs typeface="+mn-ea"/>
                <a:sym typeface="+mn-ea"/>
              </a:rPr>
              <a:t>例</a:t>
            </a:r>
            <a:r>
              <a:rPr lang="en-US" altLang="zh-CN" sz="2400" b="1">
                <a:latin typeface="+mn-ea"/>
                <a:cs typeface="+mn-ea"/>
                <a:sym typeface="+mn-ea"/>
              </a:rPr>
              <a:t>6</a:t>
            </a:r>
            <a:r>
              <a:rPr sz="2400" b="1">
                <a:latin typeface="+mn-ea"/>
                <a:cs typeface="+mn-ea"/>
                <a:sym typeface="+mn-ea"/>
              </a:rPr>
              <a:t>：地震：海啸    A.核泄漏：污染  B</a:t>
            </a:r>
            <a:r>
              <a:rPr sz="2400" b="1">
                <a:solidFill>
                  <a:srgbClr val="00B050"/>
                </a:solidFill>
                <a:latin typeface="+mn-ea"/>
                <a:cs typeface="+mn-ea"/>
                <a:sym typeface="+mn-ea"/>
              </a:rPr>
              <a:t>.</a:t>
            </a:r>
            <a:r>
              <a:rPr sz="2400" b="1">
                <a:latin typeface="+mn-ea"/>
                <a:cs typeface="+mn-ea"/>
                <a:sym typeface="+mn-ea"/>
              </a:rPr>
              <a:t>感冒：发烧   </a:t>
            </a:r>
            <a:endParaRPr sz="2400" b="1">
              <a:latin typeface="+mn-ea"/>
              <a:cs typeface="+mn-ea"/>
              <a:sym typeface="+mn-ea"/>
            </a:endParaRPr>
          </a:p>
          <a:p>
            <a:r>
              <a:rPr sz="2400" b="1">
                <a:solidFill>
                  <a:srgbClr val="00B050"/>
                </a:solidFill>
                <a:latin typeface="+mn-ea"/>
                <a:cs typeface="+mn-ea"/>
                <a:sym typeface="+mn-ea"/>
              </a:rPr>
              <a:t>（</a:t>
            </a:r>
            <a:r>
              <a:rPr lang="en-US" altLang="zh-CN" sz="2400" b="1">
                <a:solidFill>
                  <a:srgbClr val="00B050"/>
                </a:solidFill>
                <a:latin typeface="+mn-ea"/>
                <a:cs typeface="+mn-ea"/>
                <a:sym typeface="+mn-ea"/>
              </a:rPr>
              <a:t>7</a:t>
            </a:r>
            <a:r>
              <a:rPr sz="2400" b="1">
                <a:solidFill>
                  <a:srgbClr val="00B050"/>
                </a:solidFill>
                <a:latin typeface="+mn-ea"/>
                <a:cs typeface="+mn-ea"/>
                <a:sym typeface="+mn-ea"/>
              </a:rPr>
              <a:t>）全面与片面          （汽车主要功能是运输，眼镜</a:t>
            </a:r>
            <a:r>
              <a:rPr sz="2400" b="1">
                <a:solidFill>
                  <a:srgbClr val="00B050"/>
                </a:solidFill>
                <a:latin typeface="+mn-ea"/>
                <a:cs typeface="+mn-ea"/>
                <a:sym typeface="+mn-ea"/>
              </a:rPr>
              <a:t>主要功能是看东西）</a:t>
            </a:r>
            <a:endParaRPr sz="2400" b="1">
              <a:latin typeface="+mn-ea"/>
              <a:cs typeface="+mn-ea"/>
              <a:sym typeface="+mn-ea"/>
            </a:endParaRPr>
          </a:p>
          <a:p>
            <a:r>
              <a:rPr sz="2400" b="1">
                <a:latin typeface="+mn-ea"/>
                <a:cs typeface="+mn-ea"/>
                <a:sym typeface="+mn-ea"/>
              </a:rPr>
              <a:t>例</a:t>
            </a:r>
            <a:r>
              <a:rPr lang="en-US" altLang="zh-CN" sz="2400" b="1">
                <a:latin typeface="+mn-ea"/>
                <a:cs typeface="+mn-ea"/>
                <a:sym typeface="+mn-ea"/>
              </a:rPr>
              <a:t>7</a:t>
            </a:r>
            <a:r>
              <a:rPr sz="2400" b="1">
                <a:latin typeface="+mn-ea"/>
                <a:cs typeface="+mn-ea"/>
                <a:sym typeface="+mn-ea"/>
              </a:rPr>
              <a:t>：</a:t>
            </a:r>
            <a:r>
              <a:rPr sz="2400" b="1">
                <a:latin typeface="+mn-ea"/>
                <a:cs typeface="+mn-ea"/>
                <a:sym typeface="+mn-ea"/>
              </a:rPr>
              <a:t>汽车：运输    A</a:t>
            </a:r>
            <a:r>
              <a:rPr sz="2400" b="1">
                <a:solidFill>
                  <a:srgbClr val="00B050"/>
                </a:solidFill>
                <a:latin typeface="+mn-ea"/>
                <a:cs typeface="+mn-ea"/>
                <a:sym typeface="+mn-ea"/>
              </a:rPr>
              <a:t>.</a:t>
            </a:r>
            <a:r>
              <a:rPr sz="2400" b="1">
                <a:latin typeface="+mn-ea"/>
                <a:cs typeface="+mn-ea"/>
                <a:sym typeface="+mn-ea"/>
              </a:rPr>
              <a:t>电话：通话    B.眼镜：读书</a:t>
            </a:r>
            <a:endParaRPr lang="zh-CN" altLang="en-US" sz="2400" b="1">
              <a:latin typeface="+mn-ea"/>
              <a:cs typeface="+mn-ea"/>
            </a:endParaRPr>
          </a:p>
          <a:p>
            <a:r>
              <a:rPr sz="2400" b="1">
                <a:solidFill>
                  <a:srgbClr val="00B050"/>
                </a:solidFill>
                <a:latin typeface="+mn-ea"/>
                <a:cs typeface="+mn-ea"/>
                <a:sym typeface="+mn-ea"/>
              </a:rPr>
              <a:t>（</a:t>
            </a:r>
            <a:r>
              <a:rPr lang="en-US" altLang="zh-CN" sz="2400" b="1">
                <a:solidFill>
                  <a:srgbClr val="00B050"/>
                </a:solidFill>
                <a:latin typeface="+mn-ea"/>
                <a:cs typeface="+mn-ea"/>
                <a:sym typeface="+mn-ea"/>
              </a:rPr>
              <a:t>8</a:t>
            </a:r>
            <a:r>
              <a:rPr sz="2400" b="1">
                <a:solidFill>
                  <a:srgbClr val="00B050"/>
                </a:solidFill>
                <a:latin typeface="+mn-ea"/>
                <a:cs typeface="+mn-ea"/>
                <a:sym typeface="+mn-ea"/>
              </a:rPr>
              <a:t>）矛盾反义词与对立反义词  </a:t>
            </a:r>
            <a:r>
              <a:rPr sz="2400" b="1">
                <a:latin typeface="+mn-ea"/>
                <a:cs typeface="+mn-ea"/>
                <a:sym typeface="+mn-ea"/>
              </a:rPr>
              <a:t>     （不是男人就是女人，不是白天就是黑夜      </a:t>
            </a:r>
            <a:endParaRPr sz="2400" b="1">
              <a:latin typeface="+mn-ea"/>
              <a:cs typeface="+mn-ea"/>
              <a:sym typeface="+mn-ea"/>
            </a:endParaRPr>
          </a:p>
          <a:p>
            <a:r>
              <a:rPr sz="2400" b="1">
                <a:latin typeface="+mn-ea"/>
                <a:cs typeface="+mn-ea"/>
                <a:sym typeface="+mn-ea"/>
              </a:rPr>
              <a:t>例</a:t>
            </a:r>
            <a:r>
              <a:rPr lang="en-US" altLang="zh-CN" sz="2400" b="1">
                <a:latin typeface="+mn-ea"/>
                <a:cs typeface="+mn-ea"/>
                <a:sym typeface="+mn-ea"/>
              </a:rPr>
              <a:t>8</a:t>
            </a:r>
            <a:r>
              <a:rPr sz="2400" b="1">
                <a:latin typeface="+mn-ea"/>
                <a:cs typeface="+mn-ea"/>
                <a:sym typeface="+mn-ea"/>
              </a:rPr>
              <a:t>：男人：女人    A.聪明：愚蠢    B</a:t>
            </a:r>
            <a:r>
              <a:rPr sz="2400" b="1">
                <a:solidFill>
                  <a:srgbClr val="00B050"/>
                </a:solidFill>
                <a:latin typeface="+mn-ea"/>
                <a:cs typeface="+mn-ea"/>
                <a:sym typeface="+mn-ea"/>
              </a:rPr>
              <a:t>.</a:t>
            </a:r>
            <a:r>
              <a:rPr sz="2400" b="1">
                <a:latin typeface="+mn-ea"/>
                <a:cs typeface="+mn-ea"/>
                <a:sym typeface="+mn-ea"/>
              </a:rPr>
              <a:t>白天：黑夜</a:t>
            </a:r>
            <a:endParaRPr sz="2400" b="1">
              <a:latin typeface="+mn-ea"/>
              <a:cs typeface="+mn-ea"/>
              <a:sym typeface="+mn-ea"/>
            </a:endParaRPr>
          </a:p>
          <a:p>
            <a:endParaRPr lang="zh-CN" altLang="en-US" sz="2400" b="1">
              <a:latin typeface="+mn-ea"/>
              <a:cs typeface="+mn-ea"/>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105</a:t>
            </a:r>
            <a:endParaRPr>
              <a:solidFill>
                <a:srgbClr val="00B050"/>
              </a:solidFill>
            </a:endParaRPr>
          </a:p>
        </p:txBody>
      </p:sp>
      <p:sp>
        <p:nvSpPr>
          <p:cNvPr id="3" name="内容占位符 2"/>
          <p:cNvSpPr>
            <a:spLocks noGrp="1"/>
          </p:cNvSpPr>
          <p:nvPr>
            <p:ph idx="1"/>
          </p:nvPr>
        </p:nvSpPr>
        <p:spPr/>
        <p:txBody>
          <a:bodyPr/>
          <a:p>
            <a:r>
              <a:rPr sz="2400" b="1">
                <a:latin typeface="+mn-ea"/>
                <a:cs typeface="+mn-ea"/>
                <a:sym typeface="+mn-ea"/>
              </a:rPr>
              <a:t>熊掌：有力</a:t>
            </a:r>
            <a:endParaRPr lang="zh-CN" altLang="en-US" sz="2400" b="1">
              <a:latin typeface="+mn-ea"/>
              <a:cs typeface="+mn-ea"/>
            </a:endParaRPr>
          </a:p>
          <a:p>
            <a:r>
              <a:rPr sz="2400" b="1">
                <a:latin typeface="+mn-ea"/>
                <a:cs typeface="+mn-ea"/>
                <a:sym typeface="+mn-ea"/>
              </a:rPr>
              <a:t>A.河马：彪悍           B.鹰眼：犀利  </a:t>
            </a:r>
            <a:endParaRPr sz="2400" b="1">
              <a:latin typeface="+mn-ea"/>
              <a:cs typeface="+mn-ea"/>
              <a:sym typeface="+mn-ea"/>
            </a:endParaRPr>
          </a:p>
          <a:p>
            <a:r>
              <a:rPr sz="2400" b="1">
                <a:latin typeface="+mn-ea"/>
                <a:cs typeface="+mn-ea"/>
                <a:sym typeface="+mn-ea"/>
              </a:rPr>
              <a:t>C.驼峰：耐力           D.牛：勤劳</a:t>
            </a:r>
            <a:endParaRPr lang="zh-CN" altLang="en-US" sz="2400" b="1">
              <a:latin typeface="+mn-ea"/>
              <a:cs typeface="+mn-ea"/>
            </a:endParaRPr>
          </a:p>
          <a:p>
            <a:endParaRPr lang="zh-CN" altLang="en-US" sz="2400"/>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105</a:t>
            </a:r>
            <a:r>
              <a:rPr>
                <a:solidFill>
                  <a:srgbClr val="00B050"/>
                </a:solidFill>
              </a:rPr>
              <a:t>分析</a:t>
            </a:r>
            <a:endParaRPr>
              <a:solidFill>
                <a:srgbClr val="00B050"/>
              </a:solidFill>
            </a:endParaRPr>
          </a:p>
        </p:txBody>
      </p:sp>
      <p:sp>
        <p:nvSpPr>
          <p:cNvPr id="3" name="内容占位符 2"/>
          <p:cNvSpPr>
            <a:spLocks noGrp="1"/>
          </p:cNvSpPr>
          <p:nvPr>
            <p:ph idx="1"/>
          </p:nvPr>
        </p:nvSpPr>
        <p:spPr/>
        <p:txBody>
          <a:bodyPr/>
          <a:p>
            <a:r>
              <a:rPr sz="2400" b="1">
                <a:latin typeface="+mn-ea"/>
                <a:cs typeface="+mn-ea"/>
                <a:sym typeface="+mn-ea"/>
              </a:rPr>
              <a:t>熊掌：有力</a:t>
            </a:r>
            <a:endParaRPr lang="zh-CN" altLang="en-US" sz="2400" b="1">
              <a:latin typeface="+mn-ea"/>
              <a:cs typeface="+mn-ea"/>
            </a:endParaRPr>
          </a:p>
          <a:p>
            <a:r>
              <a:rPr sz="2400" b="1">
                <a:latin typeface="+mn-ea"/>
                <a:cs typeface="+mn-ea"/>
                <a:sym typeface="+mn-ea"/>
              </a:rPr>
              <a:t>A.河马：彪悍           B.鹰眼：犀利  </a:t>
            </a:r>
            <a:endParaRPr sz="2400" b="1">
              <a:latin typeface="+mn-ea"/>
              <a:cs typeface="+mn-ea"/>
              <a:sym typeface="+mn-ea"/>
            </a:endParaRPr>
          </a:p>
          <a:p>
            <a:r>
              <a:rPr sz="2400" b="1">
                <a:latin typeface="+mn-ea"/>
                <a:cs typeface="+mn-ea"/>
                <a:sym typeface="+mn-ea"/>
              </a:rPr>
              <a:t>C.驼峰：耐力           D.牛：勤劳</a:t>
            </a:r>
            <a:endParaRPr sz="2400" b="1">
              <a:latin typeface="+mn-ea"/>
              <a:cs typeface="+mn-ea"/>
              <a:sym typeface="+mn-ea"/>
            </a:endParaRPr>
          </a:p>
          <a:p>
            <a:r>
              <a:rPr sz="2400" b="1">
                <a:latin typeface="+mn-ea"/>
                <a:cs typeface="+mn-ea"/>
                <a:sym typeface="+mn-ea"/>
              </a:rPr>
              <a:t>分析：横纵比较法。</a:t>
            </a:r>
            <a:endParaRPr sz="2400" b="1">
              <a:latin typeface="+mn-ea"/>
              <a:cs typeface="+mn-ea"/>
              <a:sym typeface="+mn-ea"/>
            </a:endParaRPr>
          </a:p>
          <a:p>
            <a:r>
              <a:rPr sz="2400" b="1">
                <a:latin typeface="+mn-ea"/>
                <a:cs typeface="+mn-ea"/>
                <a:sym typeface="+mn-ea"/>
              </a:rPr>
              <a:t>横向比较：熊掌有力，</a:t>
            </a:r>
            <a:r>
              <a:rPr sz="2400" b="1">
                <a:solidFill>
                  <a:srgbClr val="00B050"/>
                </a:solidFill>
                <a:latin typeface="+mn-ea"/>
                <a:cs typeface="+mn-ea"/>
                <a:sym typeface="+mn-ea"/>
              </a:rPr>
              <a:t>题干是主谓结</a:t>
            </a:r>
            <a:r>
              <a:rPr sz="2400" b="1">
                <a:latin typeface="+mn-ea"/>
                <a:cs typeface="+mn-ea"/>
                <a:sym typeface="+mn-ea"/>
              </a:rPr>
              <a:t>构，</a:t>
            </a:r>
            <a:r>
              <a:rPr lang="en-US" altLang="zh-CN" sz="2400" b="1">
                <a:latin typeface="+mn-ea"/>
                <a:cs typeface="+mn-ea"/>
                <a:sym typeface="+mn-ea"/>
              </a:rPr>
              <a:t>ABD</a:t>
            </a:r>
            <a:r>
              <a:rPr sz="2400" b="1">
                <a:latin typeface="+mn-ea"/>
                <a:cs typeface="+mn-ea"/>
                <a:sym typeface="+mn-ea"/>
              </a:rPr>
              <a:t>三项都符合。</a:t>
            </a:r>
            <a:endParaRPr sz="2400" b="1">
              <a:latin typeface="+mn-ea"/>
              <a:cs typeface="+mn-ea"/>
              <a:sym typeface="+mn-ea"/>
            </a:endParaRPr>
          </a:p>
          <a:p>
            <a:r>
              <a:rPr lang="zh-CN" altLang="en-US" sz="2400" b="1">
                <a:latin typeface="+mn-ea"/>
                <a:cs typeface="+mn-ea"/>
              </a:rPr>
              <a:t>纵向比较：</a:t>
            </a:r>
            <a:r>
              <a:rPr lang="en-US" altLang="zh-CN" sz="2400" b="1">
                <a:latin typeface="+mn-ea"/>
                <a:cs typeface="+mn-ea"/>
              </a:rPr>
              <a:t>AD</a:t>
            </a:r>
            <a:r>
              <a:rPr sz="2400" b="1">
                <a:latin typeface="+mn-ea"/>
                <a:cs typeface="+mn-ea"/>
              </a:rPr>
              <a:t>均指动物整体特点。而</a:t>
            </a:r>
            <a:r>
              <a:rPr sz="2400" b="1">
                <a:solidFill>
                  <a:srgbClr val="00B050"/>
                </a:solidFill>
                <a:latin typeface="+mn-ea"/>
                <a:cs typeface="+mn-ea"/>
              </a:rPr>
              <a:t>题干中熊掌是熊的一个部位</a:t>
            </a:r>
            <a:r>
              <a:rPr sz="2400" b="1">
                <a:latin typeface="+mn-ea"/>
                <a:cs typeface="+mn-ea"/>
              </a:rPr>
              <a:t>，</a:t>
            </a:r>
            <a:r>
              <a:rPr lang="en-US" altLang="zh-CN" sz="2400" b="1">
                <a:latin typeface="+mn-ea"/>
                <a:cs typeface="+mn-ea"/>
              </a:rPr>
              <a:t>B</a:t>
            </a:r>
            <a:r>
              <a:rPr sz="2400" b="1">
                <a:latin typeface="+mn-ea"/>
                <a:cs typeface="+mn-ea"/>
              </a:rPr>
              <a:t>项中的鹰眼是鹰的一个部位，与题干最相符。</a:t>
            </a:r>
            <a:endParaRPr sz="2400" b="1">
              <a:latin typeface="+mn-ea"/>
              <a:cs typeface="+mn-ea"/>
            </a:endParaRPr>
          </a:p>
          <a:p>
            <a:r>
              <a:rPr sz="2400" b="1">
                <a:latin typeface="+mn-ea"/>
                <a:cs typeface="+mn-ea"/>
              </a:rPr>
              <a:t>故选</a:t>
            </a:r>
            <a:r>
              <a:rPr lang="en-US" altLang="zh-CN" sz="2400" b="1">
                <a:latin typeface="+mn-ea"/>
                <a:cs typeface="+mn-ea"/>
              </a:rPr>
              <a:t>B</a:t>
            </a:r>
            <a:r>
              <a:rPr sz="2400" b="1">
                <a:latin typeface="+mn-ea"/>
                <a:cs typeface="+mn-ea"/>
              </a:rPr>
              <a:t>。</a:t>
            </a:r>
            <a:endParaRPr lang="zh-CN" altLang="en-US" sz="2400" b="1">
              <a:latin typeface="+mn-ea"/>
              <a:cs typeface="+mn-ea"/>
            </a:endParaRPr>
          </a:p>
          <a:p>
            <a:endParaRPr lang="zh-CN" altLang="en-US" sz="2400"/>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作业</a:t>
            </a:r>
            <a:r>
              <a:rPr lang="en-US" altLang="zh-CN"/>
              <a:t>1</a:t>
            </a:r>
            <a:endParaRPr lang="en-US" altLang="zh-CN"/>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106</a:t>
            </a:r>
            <a:r>
              <a:rPr sz="2400" b="1">
                <a:sym typeface="+mn-ea"/>
              </a:rPr>
              <a:t>：混合物：空气</a:t>
            </a:r>
            <a:endParaRPr lang="zh-CN" altLang="en-US" sz="2400" b="1"/>
          </a:p>
          <a:p>
            <a:r>
              <a:rPr sz="2400" b="1">
                <a:sym typeface="+mn-ea"/>
              </a:rPr>
              <a:t>A.财务报表：利润表            B.金属：绝缘体  </a:t>
            </a:r>
            <a:endParaRPr lang="zh-CN" altLang="en-US" sz="2400" b="1"/>
          </a:p>
          <a:p>
            <a:r>
              <a:rPr sz="2400" b="1">
                <a:sym typeface="+mn-ea"/>
              </a:rPr>
              <a:t>C.合唱团：团员                  D.满族：维吾尔族</a:t>
            </a:r>
            <a:endParaRPr sz="2400" b="1">
              <a:sym typeface="+mn-ea"/>
            </a:endParaRPr>
          </a:p>
          <a:p>
            <a:endParaRPr lang="zh-CN" altLang="en-US" sz="2400" b="1"/>
          </a:p>
          <a:p>
            <a:r>
              <a:rPr sz="2400" b="1">
                <a:solidFill>
                  <a:srgbClr val="00B050"/>
                </a:solidFill>
                <a:sym typeface="+mn-ea"/>
              </a:rPr>
              <a:t>真题</a:t>
            </a:r>
            <a:r>
              <a:rPr lang="en-US" altLang="zh-CN" sz="2400" b="1">
                <a:solidFill>
                  <a:srgbClr val="00B050"/>
                </a:solidFill>
                <a:sym typeface="+mn-ea"/>
              </a:rPr>
              <a:t>107</a:t>
            </a:r>
            <a:r>
              <a:rPr sz="2400" b="1">
                <a:sym typeface="+mn-ea"/>
              </a:rPr>
              <a:t>：口试：笔试：招聘</a:t>
            </a:r>
            <a:endParaRPr lang="zh-CN" altLang="en-US" sz="2400" b="1"/>
          </a:p>
          <a:p>
            <a:r>
              <a:rPr sz="2400" b="1">
                <a:sym typeface="+mn-ea"/>
              </a:rPr>
              <a:t>A.摄影：购物：旅游        B.招标：中标：建设  </a:t>
            </a:r>
            <a:endParaRPr sz="2400" b="1">
              <a:sym typeface="+mn-ea"/>
            </a:endParaRPr>
          </a:p>
          <a:p>
            <a:r>
              <a:rPr sz="2400" b="1">
                <a:sym typeface="+mn-ea"/>
              </a:rPr>
              <a:t>C.批发：零售：销售        D.出口：内销：商品</a:t>
            </a:r>
            <a:endParaRPr lang="zh-CN" altLang="en-US" sz="2400" b="1"/>
          </a:p>
          <a:p>
            <a:endParaRPr lang="zh-CN" altLang="en-US" sz="2400"/>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tx1"/>
                </a:solidFill>
              </a:rPr>
              <a:t>作业</a:t>
            </a:r>
            <a:r>
              <a:rPr lang="en-US" altLang="zh-CN">
                <a:solidFill>
                  <a:schemeClr val="tx1"/>
                </a:solidFill>
              </a:rPr>
              <a:t>2</a:t>
            </a:r>
            <a:endParaRPr lang="en-US" altLang="zh-CN">
              <a:solidFill>
                <a:schemeClr val="tx1"/>
              </a:solidFill>
            </a:endParaRPr>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108</a:t>
            </a:r>
            <a:r>
              <a:rPr sz="2400" b="1">
                <a:sym typeface="+mn-ea"/>
              </a:rPr>
              <a:t>：</a:t>
            </a:r>
            <a:r>
              <a:rPr sz="2400" b="1">
                <a:sym typeface="+mn-ea"/>
              </a:rPr>
              <a:t>游轮对于（）相当于（）对于 宣传</a:t>
            </a:r>
            <a:endParaRPr lang="zh-CN" altLang="en-US" sz="2400" b="1"/>
          </a:p>
          <a:p>
            <a:r>
              <a:rPr sz="2400" b="1">
                <a:sym typeface="+mn-ea"/>
              </a:rPr>
              <a:t>A.观光：海报         B.航行：飞机  </a:t>
            </a:r>
            <a:endParaRPr sz="2400" b="1">
              <a:sym typeface="+mn-ea"/>
            </a:endParaRPr>
          </a:p>
          <a:p>
            <a:r>
              <a:rPr sz="2400" b="1">
                <a:sym typeface="+mn-ea"/>
              </a:rPr>
              <a:t>C.客轮：讲座         D.港口：广告</a:t>
            </a:r>
            <a:endParaRPr sz="2400" b="1">
              <a:sym typeface="+mn-ea"/>
            </a:endParaRPr>
          </a:p>
          <a:p>
            <a:endParaRPr sz="2400" b="1">
              <a:sym typeface="+mn-ea"/>
            </a:endParaRPr>
          </a:p>
          <a:p>
            <a:r>
              <a:rPr sz="2400" b="1">
                <a:solidFill>
                  <a:srgbClr val="00B050"/>
                </a:solidFill>
                <a:sym typeface="+mn-ea"/>
              </a:rPr>
              <a:t>真题</a:t>
            </a:r>
            <a:r>
              <a:rPr lang="en-US" altLang="zh-CN" sz="2400" b="1">
                <a:solidFill>
                  <a:srgbClr val="00B050"/>
                </a:solidFill>
                <a:sym typeface="+mn-ea"/>
              </a:rPr>
              <a:t>109</a:t>
            </a:r>
            <a:r>
              <a:rPr sz="2400" b="1">
                <a:sym typeface="+mn-ea"/>
              </a:rPr>
              <a:t>：</a:t>
            </a:r>
            <a:r>
              <a:rPr sz="2400" b="1">
                <a:sym typeface="+mn-ea"/>
              </a:rPr>
              <a:t>中山陵：金陵</a:t>
            </a:r>
            <a:endParaRPr lang="zh-CN" altLang="en-US" sz="2400" b="1"/>
          </a:p>
          <a:p>
            <a:r>
              <a:rPr sz="2400" b="1">
                <a:sym typeface="+mn-ea"/>
              </a:rPr>
              <a:t>A.城隍庙：寺庙      B.青海湖：青海  </a:t>
            </a:r>
            <a:endParaRPr lang="zh-CN" altLang="en-US" sz="2400" b="1"/>
          </a:p>
          <a:p>
            <a:r>
              <a:rPr sz="2400" b="1">
                <a:sym typeface="+mn-ea"/>
              </a:rPr>
              <a:t>C.碧云天：青天      D.钱塘江：长江</a:t>
            </a:r>
            <a:endParaRPr lang="zh-CN" altLang="en-US" sz="2400" b="1"/>
          </a:p>
          <a:p>
            <a:endParaRPr lang="zh-CN" altLang="en-US" sz="2400" b="1"/>
          </a:p>
          <a:p>
            <a:endParaRPr lang="zh-CN" altLang="en-US" sz="2400" b="1"/>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379930"/>
            <a:ext cx="10852237" cy="648000"/>
          </a:xfrm>
        </p:spPr>
        <p:txBody>
          <a:bodyPr/>
          <a:p>
            <a:r>
              <a:rPr lang="zh-CN" altLang="en-US"/>
              <a:t>作业</a:t>
            </a:r>
            <a:r>
              <a:rPr lang="en-US" altLang="zh-CN"/>
              <a:t>3</a:t>
            </a:r>
            <a:endParaRPr lang="en-US" altLang="zh-CN"/>
          </a:p>
        </p:txBody>
      </p:sp>
      <p:sp>
        <p:nvSpPr>
          <p:cNvPr id="3" name="内容占位符 2"/>
          <p:cNvSpPr>
            <a:spLocks noGrp="1"/>
          </p:cNvSpPr>
          <p:nvPr>
            <p:ph idx="1"/>
          </p:nvPr>
        </p:nvSpPr>
        <p:spPr>
          <a:xfrm>
            <a:off x="609600" y="1259840"/>
            <a:ext cx="10852150" cy="5273040"/>
          </a:xfrm>
        </p:spPr>
        <p:txBody>
          <a:bodyPr/>
          <a:p>
            <a:r>
              <a:rPr lang="zh-CN" altLang="en-US" sz="2400" b="1">
                <a:solidFill>
                  <a:srgbClr val="00B050"/>
                </a:solidFill>
              </a:rPr>
              <a:t>真题</a:t>
            </a:r>
            <a:r>
              <a:rPr lang="en-US" altLang="zh-CN" sz="2400" b="1">
                <a:solidFill>
                  <a:srgbClr val="00B050"/>
                </a:solidFill>
              </a:rPr>
              <a:t>110</a:t>
            </a:r>
            <a:r>
              <a:rPr sz="2400" b="1"/>
              <a:t>：</a:t>
            </a:r>
            <a:r>
              <a:rPr lang="zh-CN" altLang="en-US" sz="2400" b="1"/>
              <a:t>风：风车：旋转</a:t>
            </a:r>
            <a:endParaRPr lang="zh-CN" altLang="en-US" sz="2400" b="1"/>
          </a:p>
          <a:p>
            <a:r>
              <a:rPr lang="zh-CN" altLang="en-US" sz="2400" b="1"/>
              <a:t>A.水：金鱼：游动           B.雷：闪电：暴雨  </a:t>
            </a:r>
            <a:endParaRPr lang="zh-CN" altLang="en-US" sz="2400" b="1"/>
          </a:p>
          <a:p>
            <a:r>
              <a:rPr lang="zh-CN" altLang="en-US" sz="2400" b="1"/>
              <a:t>C.电：电车：行驶           D.火：木柴：燃烧</a:t>
            </a:r>
            <a:endParaRPr lang="zh-CN" altLang="en-US" sz="2400" b="1"/>
          </a:p>
          <a:p>
            <a:endParaRPr lang="zh-CN" altLang="en-US" sz="2400" b="1"/>
          </a:p>
          <a:p>
            <a:r>
              <a:rPr lang="zh-CN" altLang="en-US" sz="2400" b="1">
                <a:solidFill>
                  <a:srgbClr val="00B050"/>
                </a:solidFill>
              </a:rPr>
              <a:t>真题</a:t>
            </a:r>
            <a:r>
              <a:rPr lang="en-US" altLang="zh-CN" sz="2400" b="1">
                <a:solidFill>
                  <a:srgbClr val="00B050"/>
                </a:solidFill>
              </a:rPr>
              <a:t>111</a:t>
            </a:r>
            <a:r>
              <a:rPr sz="2400" b="1"/>
              <a:t>：</a:t>
            </a:r>
            <a:r>
              <a:rPr lang="zh-CN" altLang="en-US" sz="2400" b="1"/>
              <a:t>自行车：出行：环保</a:t>
            </a:r>
            <a:endParaRPr lang="zh-CN" altLang="en-US" sz="2400" b="1"/>
          </a:p>
          <a:p>
            <a:r>
              <a:rPr lang="zh-CN" altLang="en-US" sz="2400" b="1"/>
              <a:t>A.蔬菜：食品：健康        B.台灯：灯泡：节能  </a:t>
            </a:r>
            <a:endParaRPr lang="zh-CN" altLang="en-US" sz="2400" b="1"/>
          </a:p>
          <a:p>
            <a:r>
              <a:rPr lang="zh-CN" altLang="en-US" sz="2400" b="1"/>
              <a:t>C.手表：时间：指针        D.货车：运输：载体</a:t>
            </a:r>
            <a:endParaRPr lang="zh-CN" altLang="en-US" sz="2400" b="1"/>
          </a:p>
          <a:p>
            <a:endParaRPr lang="zh-CN" altLang="en-US" sz="2400" b="1"/>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a:t>
            </a:r>
            <a:r>
              <a:rPr lang="en-US" altLang="zh-CN"/>
              <a:t>4</a:t>
            </a:r>
            <a:endParaRPr lang="en-US" altLang="zh-CN"/>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112</a:t>
            </a:r>
            <a:r>
              <a:rPr sz="2400" b="1">
                <a:sym typeface="+mn-ea"/>
              </a:rPr>
              <a:t>：</a:t>
            </a:r>
            <a:r>
              <a:rPr sz="2400" b="1">
                <a:sym typeface="+mn-ea"/>
              </a:rPr>
              <a:t>演员：公园：演出</a:t>
            </a:r>
            <a:endParaRPr lang="zh-CN" altLang="en-US" sz="2400" b="1"/>
          </a:p>
          <a:p>
            <a:r>
              <a:rPr sz="2400" b="1">
                <a:sym typeface="+mn-ea"/>
              </a:rPr>
              <a:t>A.谣言：微信：查处       B.股民：股市：投资  </a:t>
            </a:r>
            <a:endParaRPr lang="zh-CN" altLang="en-US" sz="2400" b="1"/>
          </a:p>
          <a:p>
            <a:r>
              <a:rPr sz="2400" b="1">
                <a:sym typeface="+mn-ea"/>
              </a:rPr>
              <a:t>C.士兵：战争：升迁  D.信息：卫星：定位</a:t>
            </a:r>
            <a:endParaRPr sz="2400" b="1">
              <a:sym typeface="+mn-ea"/>
            </a:endParaRPr>
          </a:p>
          <a:p>
            <a:endParaRPr lang="zh-CN" altLang="en-US" sz="2400" b="1"/>
          </a:p>
          <a:p>
            <a:r>
              <a:rPr lang="zh-CN" altLang="en-US" sz="2400" b="1">
                <a:solidFill>
                  <a:srgbClr val="00B050"/>
                </a:solidFill>
              </a:rPr>
              <a:t>真题</a:t>
            </a:r>
            <a:r>
              <a:rPr lang="en-US" altLang="zh-CN" sz="2400" b="1">
                <a:solidFill>
                  <a:srgbClr val="00B050"/>
                </a:solidFill>
              </a:rPr>
              <a:t>113</a:t>
            </a:r>
            <a:r>
              <a:rPr sz="2400" b="1"/>
              <a:t>：</a:t>
            </a:r>
            <a:r>
              <a:rPr lang="zh-CN" altLang="en-US" sz="2400" b="1"/>
              <a:t>快餐：中式快餐：日式快餐</a:t>
            </a:r>
            <a:endParaRPr lang="zh-CN" altLang="en-US" sz="2400" b="1"/>
          </a:p>
          <a:p>
            <a:r>
              <a:rPr lang="zh-CN" altLang="en-US" sz="2400" b="1"/>
              <a:t>A.团队：队长：队员          B.行为：合法行为：非法行为</a:t>
            </a:r>
            <a:endParaRPr lang="zh-CN" altLang="en-US" sz="2400" b="1"/>
          </a:p>
          <a:p>
            <a:r>
              <a:rPr lang="zh-CN" altLang="en-US" sz="2400" b="1"/>
              <a:t>C.颜色：黑色：白色          D.体育课：音乐课：英语课</a:t>
            </a:r>
            <a:endParaRPr lang="zh-CN" altLang="en-US" sz="2400" b="1"/>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tx1"/>
                </a:solidFill>
              </a:rPr>
              <a:t>作业</a:t>
            </a:r>
            <a:r>
              <a:rPr lang="en-US" altLang="zh-CN">
                <a:solidFill>
                  <a:schemeClr val="tx1"/>
                </a:solidFill>
              </a:rPr>
              <a:t>5</a:t>
            </a:r>
            <a:endParaRPr lang="en-US" altLang="zh-CN">
              <a:solidFill>
                <a:schemeClr val="tx1"/>
              </a:solidFill>
            </a:endParaRPr>
          </a:p>
        </p:txBody>
      </p:sp>
      <p:sp>
        <p:nvSpPr>
          <p:cNvPr id="3" name="内容占位符 2"/>
          <p:cNvSpPr>
            <a:spLocks noGrp="1"/>
          </p:cNvSpPr>
          <p:nvPr>
            <p:ph idx="1"/>
          </p:nvPr>
        </p:nvSpPr>
        <p:spPr/>
        <p:txBody>
          <a:bodyPr/>
          <a:p>
            <a:r>
              <a:rPr lang="zh-CN" altLang="en-US" sz="2400" b="1">
                <a:solidFill>
                  <a:srgbClr val="00B050"/>
                </a:solidFill>
              </a:rPr>
              <a:t>真题</a:t>
            </a:r>
            <a:r>
              <a:rPr lang="en-US" altLang="zh-CN" sz="2400" b="1">
                <a:solidFill>
                  <a:srgbClr val="00B050"/>
                </a:solidFill>
              </a:rPr>
              <a:t>114</a:t>
            </a:r>
            <a:r>
              <a:rPr sz="2400" b="1">
                <a:solidFill>
                  <a:srgbClr val="00B050"/>
                </a:solidFill>
              </a:rPr>
              <a:t>（</a:t>
            </a:r>
            <a:r>
              <a:rPr lang="en-US" altLang="zh-CN" sz="2400" b="1">
                <a:solidFill>
                  <a:srgbClr val="00B050"/>
                </a:solidFill>
              </a:rPr>
              <a:t>2019</a:t>
            </a:r>
            <a:r>
              <a:rPr sz="2400" b="1">
                <a:solidFill>
                  <a:srgbClr val="00B050"/>
                </a:solidFill>
              </a:rPr>
              <a:t>下</a:t>
            </a:r>
            <a:r>
              <a:rPr lang="en-US" altLang="zh-CN" sz="2400" b="1">
                <a:solidFill>
                  <a:srgbClr val="00B050"/>
                </a:solidFill>
              </a:rPr>
              <a:t>-</a:t>
            </a:r>
            <a:r>
              <a:rPr lang="zh-CN" altLang="en-US" sz="2400" b="1">
                <a:solidFill>
                  <a:srgbClr val="00B050"/>
                </a:solidFill>
              </a:rPr>
              <a:t>73）</a:t>
            </a:r>
            <a:r>
              <a:rPr lang="zh-CN" altLang="en-US" sz="2400" b="1"/>
              <a:t>：红颜：蛾眉：女性</a:t>
            </a:r>
            <a:endParaRPr lang="zh-CN" altLang="en-US" sz="2400" b="1"/>
          </a:p>
          <a:p>
            <a:r>
              <a:rPr lang="en-US" altLang="zh-CN" sz="2400" b="1"/>
              <a:t>A.</a:t>
            </a:r>
            <a:r>
              <a:rPr lang="zh-CN" altLang="en-US" sz="2400" b="1"/>
              <a:t>襁褓：垂髫：幼儿          B.花甲：耄耋：老人  </a:t>
            </a:r>
            <a:endParaRPr lang="zh-CN" altLang="en-US" sz="2400" b="1"/>
          </a:p>
          <a:p>
            <a:r>
              <a:rPr lang="zh-CN" altLang="en-US" sz="2400" b="1"/>
              <a:t>C.四海：八荒：天下          D.婵娟：玉盘：月亮</a:t>
            </a:r>
            <a:endParaRPr lang="zh-CN" altLang="en-US" sz="2400" b="1"/>
          </a:p>
          <a:p>
            <a:endParaRPr lang="zh-CN" altLang="en-US" sz="2400" b="1"/>
          </a:p>
          <a:p>
            <a:r>
              <a:rPr sz="2400" b="1">
                <a:solidFill>
                  <a:srgbClr val="00B050"/>
                </a:solidFill>
                <a:sym typeface="+mn-ea"/>
              </a:rPr>
              <a:t>真题</a:t>
            </a:r>
            <a:r>
              <a:rPr lang="en-US" altLang="zh-CN" sz="2400" b="1">
                <a:solidFill>
                  <a:srgbClr val="00B050"/>
                </a:solidFill>
                <a:sym typeface="+mn-ea"/>
              </a:rPr>
              <a:t>115</a:t>
            </a:r>
            <a:r>
              <a:rPr sz="2400" b="1">
                <a:solidFill>
                  <a:srgbClr val="00B050"/>
                </a:solidFill>
                <a:sym typeface="+mn-ea"/>
              </a:rPr>
              <a:t>（</a:t>
            </a:r>
            <a:r>
              <a:rPr lang="en-US" altLang="zh-CN" sz="2400" b="1">
                <a:solidFill>
                  <a:srgbClr val="00B050"/>
                </a:solidFill>
                <a:sym typeface="+mn-ea"/>
              </a:rPr>
              <a:t>2019</a:t>
            </a:r>
            <a:r>
              <a:rPr sz="2400" b="1">
                <a:solidFill>
                  <a:srgbClr val="00B050"/>
                </a:solidFill>
                <a:sym typeface="+mn-ea"/>
              </a:rPr>
              <a:t>下</a:t>
            </a:r>
            <a:r>
              <a:rPr lang="en-US" altLang="zh-CN" sz="2400" b="1">
                <a:solidFill>
                  <a:srgbClr val="00B050"/>
                </a:solidFill>
                <a:sym typeface="+mn-ea"/>
              </a:rPr>
              <a:t>-</a:t>
            </a:r>
            <a:r>
              <a:rPr sz="2400" b="1">
                <a:solidFill>
                  <a:srgbClr val="00B050"/>
                </a:solidFill>
                <a:sym typeface="+mn-ea"/>
              </a:rPr>
              <a:t>7</a:t>
            </a:r>
            <a:r>
              <a:rPr lang="en-US" altLang="zh-CN" sz="2400" b="1">
                <a:solidFill>
                  <a:srgbClr val="00B050"/>
                </a:solidFill>
                <a:sym typeface="+mn-ea"/>
              </a:rPr>
              <a:t>4</a:t>
            </a:r>
            <a:r>
              <a:rPr sz="2400" b="1">
                <a:solidFill>
                  <a:srgbClr val="00B050"/>
                </a:solidFill>
                <a:sym typeface="+mn-ea"/>
              </a:rPr>
              <a:t>）</a:t>
            </a:r>
            <a:r>
              <a:rPr sz="2400" b="1">
                <a:solidFill>
                  <a:schemeClr val="tx1"/>
                </a:solidFill>
                <a:sym typeface="+mn-ea"/>
              </a:rPr>
              <a:t>：</a:t>
            </a:r>
            <a:r>
              <a:rPr lang="zh-CN" altLang="en-US" sz="2400" b="1"/>
              <a:t>页面设置：页边距：文字方向</a:t>
            </a:r>
            <a:endParaRPr lang="zh-CN" altLang="en-US" sz="2400" b="1"/>
          </a:p>
          <a:p>
            <a:r>
              <a:rPr lang="zh-CN" altLang="en-US" sz="2400" b="1"/>
              <a:t>A.插入图片：公式：页码        B.字体设置：宋体：黑体  </a:t>
            </a:r>
            <a:endParaRPr lang="zh-CN" altLang="en-US" sz="2400" b="1"/>
          </a:p>
          <a:p>
            <a:r>
              <a:rPr lang="en-US" altLang="zh-CN" sz="2400" b="1"/>
              <a:t>C</a:t>
            </a:r>
            <a:r>
              <a:rPr lang="zh-CN" altLang="en-US" sz="2400" b="1"/>
              <a:t>.邮件发送：附件：正文        D.保存文档：硬盘：手机</a:t>
            </a:r>
            <a:endParaRPr lang="zh-CN" altLang="en-US" sz="2400" b="1"/>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ags/tag87.xml><?xml version="1.0" encoding="utf-8"?>
<p:tagLst xmlns:p="http://schemas.openxmlformats.org/presentationml/2006/main">
  <p:tag name="KSO_WM_BEAUTIFY_FLAG" val="#wm#"/>
  <p:tag name="KSO_WM_TEMPLATE_CATEGORY" val="custom"/>
  <p:tag name="KSO_WM_TEMPLATE_INDEX" val="20187308"/>
</p:tagLst>
</file>

<file path=ppt/tags/tag88.xml><?xml version="1.0" encoding="utf-8"?>
<p:tagLst xmlns:p="http://schemas.openxmlformats.org/presentationml/2006/main">
  <p:tag name="KSO_WM_BEAUTIFY_FLAG" val="#wm#"/>
  <p:tag name="KSO_WM_TEMPLATE_CATEGORY" val="custom"/>
  <p:tag name="KSO_WM_TEMPLATE_INDEX" val="20187308"/>
</p:tagLst>
</file>

<file path=ppt/tags/tag89.xml><?xml version="1.0" encoding="utf-8"?>
<p:tagLst xmlns:p="http://schemas.openxmlformats.org/presentationml/2006/main">
  <p:tag name="KSO_WM_BEAUTIFY_FLAG" val="#wm#"/>
  <p:tag name="KSO_WM_TEMPLATE_CATEGORY" val="custom"/>
  <p:tag name="KSO_WM_TEMPLATE_INDEX" val="20187308"/>
</p:tagLst>
</file>

<file path=ppt/tags/tag90.xml><?xml version="1.0" encoding="utf-8"?>
<p:tagLst xmlns:p="http://schemas.openxmlformats.org/presentationml/2006/main">
  <p:tag name="KSO_WM_BEAUTIFY_FLAG" val="#wm#"/>
  <p:tag name="KSO_WM_TEMPLATE_CATEGORY" val="custom"/>
  <p:tag name="KSO_WM_TEMPLATE_INDEX" val="20187308"/>
</p:tagLst>
</file>

<file path=ppt/tags/tag91.xml><?xml version="1.0" encoding="utf-8"?>
<p:tagLst xmlns:p="http://schemas.openxmlformats.org/presentationml/2006/main">
  <p:tag name="KSO_WM_BEAUTIFY_FLAG" val="#wm#"/>
  <p:tag name="KSO_WM_TEMPLATE_CATEGORY" val="custom"/>
  <p:tag name="KSO_WM_TEMPLATE_INDEX" val="20187308"/>
</p:tagLst>
</file>

<file path=ppt/tags/tag92.xml><?xml version="1.0" encoding="utf-8"?>
<p:tagLst xmlns:p="http://schemas.openxmlformats.org/presentationml/2006/main">
  <p:tag name="KSO_WM_BEAUTIFY_FLAG" val="#wm#"/>
  <p:tag name="KSO_WM_TEMPLATE_CATEGORY" val="custom"/>
  <p:tag name="KSO_WM_TEMPLATE_INDEX" val="20187308"/>
</p:tagLst>
</file>

<file path=ppt/tags/tag93.xml><?xml version="1.0" encoding="utf-8"?>
<p:tagLst xmlns:p="http://schemas.openxmlformats.org/presentationml/2006/main">
  <p:tag name="KSO_WM_BEAUTIFY_FLAG" val="#wm#"/>
  <p:tag name="KSO_WM_TEMPLATE_CATEGORY" val="custom"/>
  <p:tag name="KSO_WM_TEMPLATE_INDEX" val="20187308"/>
</p:tagLst>
</file>

<file path=ppt/tags/tag94.xml><?xml version="1.0" encoding="utf-8"?>
<p:tagLst xmlns:p="http://schemas.openxmlformats.org/presentationml/2006/main">
  <p:tag name="KSO_WM_BEAUTIFY_FLAG" val="#wm#"/>
  <p:tag name="KSO_WM_TEMPLATE_CATEGORY" val="custom"/>
  <p:tag name="KSO_WM_TEMPLATE_INDEX" val="20187308"/>
</p:tagLst>
</file>

<file path=ppt/tags/tag95.xml><?xml version="1.0" encoding="utf-8"?>
<p:tagLst xmlns:p="http://schemas.openxmlformats.org/presentationml/2006/main">
  <p:tag name="KSO_WM_BEAUTIFY_FLAG" val="#wm#"/>
  <p:tag name="KSO_WM_TEMPLATE_CATEGORY" val="custom"/>
  <p:tag name="KSO_WM_TEMPLATE_INDEX" val="20187308"/>
</p:tagLst>
</file>

<file path=ppt/tags/tag96.xml><?xml version="1.0" encoding="utf-8"?>
<p:tagLst xmlns:p="http://schemas.openxmlformats.org/presentationml/2006/main">
  <p:tag name="KSO_WM_BEAUTIFY_FLAG" val="#wm#"/>
  <p:tag name="KSO_WM_TEMPLATE_CATEGORY" val="custom"/>
  <p:tag name="KSO_WM_TEMPLATE_INDEX" val="20187308"/>
</p:tagLst>
</file>

<file path=ppt/tags/tag97.xml><?xml version="1.0" encoding="utf-8"?>
<p:tagLst xmlns:p="http://schemas.openxmlformats.org/presentationml/2006/main">
  <p:tag name="KSO_WM_BEAUTIFY_FLAG" val="#wm#"/>
  <p:tag name="KSO_WM_TEMPLATE_CATEGORY" val="custom"/>
  <p:tag name="KSO_WM_TEMPLATE_INDEX" val="20187308"/>
</p:tagLst>
</file>

<file path=ppt/tags/tag98.xml><?xml version="1.0" encoding="utf-8"?>
<p:tagLst xmlns:p="http://schemas.openxmlformats.org/presentationml/2006/main">
  <p:tag name="KSO_WM_BEAUTIFY_FLAG" val="#wm#"/>
  <p:tag name="KSO_WM_TEMPLATE_CATEGORY" val="custom"/>
  <p:tag name="KSO_WM_TEMPLATE_INDEX" val="20187308"/>
</p:tagLst>
</file>

<file path=ppt/tags/tag99.xml><?xml version="1.0" encoding="utf-8"?>
<p:tagLst xmlns:p="http://schemas.openxmlformats.org/presentationml/2006/main">
  <p:tag name="KSO_WM_BEAUTIFY_FLAG" val="#wm#"/>
  <p:tag name="KSO_WM_TEMPLATE_CATEGORY" val="custom"/>
  <p:tag name="KSO_WM_TEMPLATE_INDEX" val="20187308"/>
</p:tagLst>
</file>

<file path=ppt/tags/tag100.xml><?xml version="1.0" encoding="utf-8"?>
<p:tagLst xmlns:p="http://schemas.openxmlformats.org/presentationml/2006/main">
  <p:tag name="KSO_WM_BEAUTIFY_FLAG" val="#wm#"/>
  <p:tag name="KSO_WM_TEMPLATE_CATEGORY" val="custom"/>
  <p:tag name="KSO_WM_TEMPLATE_INDEX" val="20187308"/>
</p:tagLst>
</file>

<file path=ppt/tags/tag101.xml><?xml version="1.0" encoding="utf-8"?>
<p:tagLst xmlns:p="http://schemas.openxmlformats.org/presentationml/2006/main">
  <p:tag name="KSO_WM_BEAUTIFY_FLAG" val="#wm#"/>
  <p:tag name="KSO_WM_TEMPLATE_CATEGORY" val="custom"/>
  <p:tag name="KSO_WM_TEMPLATE_INDEX" val="20187308"/>
</p:tagLst>
</file>

<file path=ppt/tags/tag102.xml><?xml version="1.0" encoding="utf-8"?>
<p:tagLst xmlns:p="http://schemas.openxmlformats.org/presentationml/2006/main">
  <p:tag name="KSO_WM_BEAUTIFY_FLAG" val="#wm#"/>
  <p:tag name="KSO_WM_TEMPLATE_CATEGORY" val="custom"/>
  <p:tag name="KSO_WM_TEMPLATE_INDEX" val="20187308"/>
</p:tagLst>
</file>

<file path=ppt/tags/tag103.xml><?xml version="1.0" encoding="utf-8"?>
<p:tagLst xmlns:p="http://schemas.openxmlformats.org/presentationml/2006/main">
  <p:tag name="KSO_WM_BEAUTIFY_FLAG" val="#wm#"/>
  <p:tag name="KSO_WM_TEMPLATE_CATEGORY" val="custom"/>
  <p:tag name="KSO_WM_TEMPLATE_INDEX" val="20187308"/>
</p:tagLst>
</file>

<file path=ppt/tags/tag104.xml><?xml version="1.0" encoding="utf-8"?>
<p:tagLst xmlns:p="http://schemas.openxmlformats.org/presentationml/2006/main">
  <p:tag name="KSO_WM_BEAUTIFY_FLAG" val="#wm#"/>
  <p:tag name="KSO_WM_TEMPLATE_CATEGORY" val="custom"/>
  <p:tag name="KSO_WM_TEMPLATE_INDEX" val="20187308"/>
</p:tagLst>
</file>

<file path=ppt/tags/tag105.xml><?xml version="1.0" encoding="utf-8"?>
<p:tagLst xmlns:p="http://schemas.openxmlformats.org/presentationml/2006/main">
  <p:tag name="KSO_WM_BEAUTIFY_FLAG" val="#wm#"/>
  <p:tag name="KSO_WM_TEMPLATE_CATEGORY" val="custom"/>
  <p:tag name="KSO_WM_TEMPLATE_INDEX" val="20187308"/>
</p:tagLst>
</file>

<file path=ppt/tags/tag106.xml><?xml version="1.0" encoding="utf-8"?>
<p:tagLst xmlns:p="http://schemas.openxmlformats.org/presentationml/2006/main">
  <p:tag name="KSO_WM_BEAUTIFY_FLAG" val="#wm#"/>
  <p:tag name="KSO_WM_TEMPLATE_CATEGORY" val="custom"/>
  <p:tag name="KSO_WM_TEMPLATE_INDEX" val="20187308"/>
</p:tagLst>
</file>

<file path=ppt/tags/tag107.xml><?xml version="1.0" encoding="utf-8"?>
<p:tagLst xmlns:p="http://schemas.openxmlformats.org/presentationml/2006/main">
  <p:tag name="KSO_WM_BEAUTIFY_FLAG" val="#wm#"/>
  <p:tag name="KSO_WM_TEMPLATE_CATEGORY" val="custom"/>
  <p:tag name="KSO_WM_TEMPLATE_INDEX" val="20187308"/>
</p:tagLst>
</file>

<file path=ppt/tags/tag108.xml><?xml version="1.0" encoding="utf-8"?>
<p:tagLst xmlns:p="http://schemas.openxmlformats.org/presentationml/2006/main">
  <p:tag name="KSO_WM_BEAUTIFY_FLAG" val="#wm#"/>
  <p:tag name="KSO_WM_TEMPLATE_CATEGORY" val="custom"/>
  <p:tag name="KSO_WM_TEMPLATE_INDEX" val="20187308"/>
</p:tagLst>
</file>

<file path=ppt/tags/tag109.xml><?xml version="1.0" encoding="utf-8"?>
<p:tagLst xmlns:p="http://schemas.openxmlformats.org/presentationml/2006/main">
  <p:tag name="KSO_WM_BEAUTIFY_FLAG" val="#wm#"/>
  <p:tag name="KSO_WM_TEMPLATE_CATEGORY" val="custom"/>
  <p:tag name="KSO_WM_TEMPLATE_INDEX" val="20187308"/>
</p:tagLst>
</file>

<file path=ppt/tags/tag110.xml><?xml version="1.0" encoding="utf-8"?>
<p:tagLst xmlns:p="http://schemas.openxmlformats.org/presentationml/2006/main">
  <p:tag name="KSO_WM_BEAUTIFY_FLAG" val="#wm#"/>
  <p:tag name="KSO_WM_TEMPLATE_CATEGORY" val="custom"/>
  <p:tag name="KSO_WM_TEMPLATE_INDEX" val="20187308"/>
</p:tagLst>
</file>

<file path=ppt/tags/tag111.xml><?xml version="1.0" encoding="utf-8"?>
<p:tagLst xmlns:p="http://schemas.openxmlformats.org/presentationml/2006/main">
  <p:tag name="KSO_WM_BEAUTIFY_FLAG" val="#wm#"/>
  <p:tag name="KSO_WM_TEMPLATE_CATEGORY" val="custom"/>
  <p:tag name="KSO_WM_TEMPLATE_INDEX" val="20187308"/>
</p:tagLst>
</file>

<file path=ppt/tags/tag112.xml><?xml version="1.0" encoding="utf-8"?>
<p:tagLst xmlns:p="http://schemas.openxmlformats.org/presentationml/2006/main">
  <p:tag name="KSO_WM_BEAUTIFY_FLAG" val="#wm#"/>
  <p:tag name="KSO_WM_TEMPLATE_CATEGORY" val="custom"/>
  <p:tag name="KSO_WM_TEMPLATE_INDEX" val="20187308"/>
</p:tagLst>
</file>

<file path=ppt/tags/tag113.xml><?xml version="1.0" encoding="utf-8"?>
<p:tagLst xmlns:p="http://schemas.openxmlformats.org/presentationml/2006/main">
  <p:tag name="KSO_WM_BEAUTIFY_FLAG" val="#wm#"/>
  <p:tag name="KSO_WM_TEMPLATE_CATEGORY" val="custom"/>
  <p:tag name="KSO_WM_TEMPLATE_INDEX" val="20187308"/>
</p:tagLst>
</file>

<file path=ppt/tags/tag114.xml><?xml version="1.0" encoding="utf-8"?>
<p:tagLst xmlns:p="http://schemas.openxmlformats.org/presentationml/2006/main">
  <p:tag name="KSO_WM_BEAUTIFY_FLAG" val="#wm#"/>
  <p:tag name="KSO_WM_TEMPLATE_CATEGORY" val="custom"/>
  <p:tag name="KSO_WM_TEMPLATE_INDEX" val="20187308"/>
</p:tagLst>
</file>

<file path=ppt/tags/tag115.xml><?xml version="1.0" encoding="utf-8"?>
<p:tagLst xmlns:p="http://schemas.openxmlformats.org/presentationml/2006/main">
  <p:tag name="KSO_WM_BEAUTIFY_FLAG" val="#wm#"/>
  <p:tag name="KSO_WM_TEMPLATE_CATEGORY" val="custom"/>
  <p:tag name="KSO_WM_TEMPLATE_INDEX" val="20187308"/>
</p:tagLst>
</file>

<file path=ppt/tags/tag116.xml><?xml version="1.0" encoding="utf-8"?>
<p:tagLst xmlns:p="http://schemas.openxmlformats.org/presentationml/2006/main">
  <p:tag name="KSO_WM_BEAUTIFY_FLAG" val="#wm#"/>
  <p:tag name="KSO_WM_TEMPLATE_CATEGORY" val="custom"/>
  <p:tag name="KSO_WM_TEMPLATE_INDEX" val="20187308"/>
</p:tagLst>
</file>

<file path=ppt/tags/tag117.xml><?xml version="1.0" encoding="utf-8"?>
<p:tagLst xmlns:p="http://schemas.openxmlformats.org/presentationml/2006/main">
  <p:tag name="KSO_WM_BEAUTIFY_FLAG" val="#wm#"/>
  <p:tag name="KSO_WM_TEMPLATE_CATEGORY" val="custom"/>
  <p:tag name="KSO_WM_TEMPLATE_INDEX" val="20187308"/>
</p:tagLst>
</file>

<file path=ppt/tags/tag118.xml><?xml version="1.0" encoding="utf-8"?>
<p:tagLst xmlns:p="http://schemas.openxmlformats.org/presentationml/2006/main">
  <p:tag name="KSO_WM_BEAUTIFY_FLAG" val="#wm#"/>
  <p:tag name="KSO_WM_TEMPLATE_CATEGORY" val="custom"/>
  <p:tag name="KSO_WM_TEMPLATE_INDEX" val="20187308"/>
</p:tagLst>
</file>

<file path=ppt/tags/tag119.xml><?xml version="1.0" encoding="utf-8"?>
<p:tagLst xmlns:p="http://schemas.openxmlformats.org/presentationml/2006/main">
  <p:tag name="KSO_WM_BEAUTIFY_FLAG" val="#wm#"/>
  <p:tag name="KSO_WM_TEMPLATE_CATEGORY" val="custom"/>
  <p:tag name="KSO_WM_TEMPLATE_INDEX" val="20187308"/>
</p:tagLst>
</file>

<file path=ppt/tags/tag120.xml><?xml version="1.0" encoding="utf-8"?>
<p:tagLst xmlns:p="http://schemas.openxmlformats.org/presentationml/2006/main">
  <p:tag name="KSO_WM_BEAUTIFY_FLAG" val="#wm#"/>
  <p:tag name="KSO_WM_TEMPLATE_CATEGORY" val="custom"/>
  <p:tag name="KSO_WM_TEMPLATE_INDEX" val="20187308"/>
</p:tagLst>
</file>

<file path=ppt/tags/tag121.xml><?xml version="1.0" encoding="utf-8"?>
<p:tagLst xmlns:p="http://schemas.openxmlformats.org/presentationml/2006/main">
  <p:tag name="KSO_WM_BEAUTIFY_FLAG" val="#wm#"/>
  <p:tag name="KSO_WM_TEMPLATE_CATEGORY" val="custom"/>
  <p:tag name="KSO_WM_TEMPLATE_INDEX" val="20187308"/>
</p:tagLst>
</file>

<file path=ppt/tags/tag122.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9186</Words>
  <Application>WPS 演示</Application>
  <PresentationFormat>宽屏</PresentationFormat>
  <Paragraphs>494</Paragraphs>
  <Slides>59</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59</vt:i4>
      </vt:variant>
    </vt:vector>
  </HeadingPairs>
  <TitlesOfParts>
    <vt:vector size="66" baseType="lpstr">
      <vt:lpstr>Arial</vt:lpstr>
      <vt:lpstr>宋体</vt:lpstr>
      <vt:lpstr>Wingdings</vt:lpstr>
      <vt:lpstr>微软雅黑</vt:lpstr>
      <vt:lpstr>Arial Unicode MS</vt:lpstr>
      <vt:lpstr>华文琥珀</vt:lpstr>
      <vt:lpstr>Office 主题​​</vt:lpstr>
      <vt:lpstr>公务员考试中的逻辑学</vt:lpstr>
      <vt:lpstr>PowerPoint 演示文稿</vt:lpstr>
      <vt:lpstr>PowerPoint 演示文稿</vt:lpstr>
      <vt:lpstr>PowerPoint 演示文稿</vt:lpstr>
      <vt:lpstr>PowerPoint 演示文稿</vt:lpstr>
      <vt:lpstr>PowerPoint 演示文稿</vt:lpstr>
      <vt:lpstr>PowerPoint 演示文稿</vt:lpstr>
      <vt:lpstr>一、类比推理题型</vt:lpstr>
      <vt:lpstr>1. 两词型</vt:lpstr>
      <vt:lpstr>2. 三词型</vt:lpstr>
      <vt:lpstr>真题86分析</vt:lpstr>
      <vt:lpstr>3.对当型</vt:lpstr>
      <vt:lpstr>真题87分析</vt:lpstr>
      <vt:lpstr>二、类比推理核心考点</vt:lpstr>
      <vt:lpstr>1.逻辑关系</vt:lpstr>
      <vt:lpstr>（1）全同关系</vt:lpstr>
      <vt:lpstr>真题88分析</vt:lpstr>
      <vt:lpstr>（2）属种关系</vt:lpstr>
      <vt:lpstr>真题89分析</vt:lpstr>
      <vt:lpstr>（3）交叉关系</vt:lpstr>
      <vt:lpstr>真题90分析</vt:lpstr>
      <vt:lpstr>（4）全异关系</vt:lpstr>
      <vt:lpstr>真题91分析</vt:lpstr>
      <vt:lpstr>（5)条件关系</vt:lpstr>
      <vt:lpstr>真题92分析</vt:lpstr>
      <vt:lpstr>（6）因果关系</vt:lpstr>
      <vt:lpstr>真题93分析</vt:lpstr>
      <vt:lpstr>2.言语关系</vt:lpstr>
      <vt:lpstr>（1）近义关系</vt:lpstr>
      <vt:lpstr>真题94分析</vt:lpstr>
      <vt:lpstr>（2）反义关系</vt:lpstr>
      <vt:lpstr>真题95分析</vt:lpstr>
      <vt:lpstr>（3）象征关系</vt:lpstr>
      <vt:lpstr>真题96分析</vt:lpstr>
      <vt:lpstr>（4）主谓结构</vt:lpstr>
      <vt:lpstr>真题97分析</vt:lpstr>
      <vt:lpstr>（5）动宾结构</vt:lpstr>
      <vt:lpstr>真题98分析</vt:lpstr>
      <vt:lpstr>（6）并列结构</vt:lpstr>
      <vt:lpstr>真题99分析</vt:lpstr>
      <vt:lpstr>（7）修饰关系</vt:lpstr>
      <vt:lpstr>真题100分析</vt:lpstr>
      <vt:lpstr>3.常识关系</vt:lpstr>
      <vt:lpstr>真题101分析</vt:lpstr>
      <vt:lpstr>（2）理论常识</vt:lpstr>
      <vt:lpstr>PowerPoint 演示文稿</vt:lpstr>
      <vt:lpstr>PowerPoint 演示文稿</vt:lpstr>
      <vt:lpstr>三.类比推理实战技巧</vt:lpstr>
      <vt:lpstr>PowerPoint 演示文稿</vt:lpstr>
      <vt:lpstr>2.遣词造句法</vt:lpstr>
      <vt:lpstr>PowerPoint 演示文稿</vt:lpstr>
      <vt:lpstr>PowerPoint 演示文稿</vt:lpstr>
      <vt:lpstr>PowerPoint 演示文稿</vt:lpstr>
      <vt:lpstr>真题105</vt:lpstr>
      <vt:lpstr>作业1</vt:lpstr>
      <vt:lpstr>作业2</vt:lpstr>
      <vt:lpstr>PowerPoint 演示文稿</vt:lpstr>
      <vt:lpstr>PowerPoint 演示文稿</vt:lpstr>
      <vt:lpstr>作业3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49</cp:revision>
  <dcterms:created xsi:type="dcterms:W3CDTF">2019-06-19T02:08:00Z</dcterms:created>
  <dcterms:modified xsi:type="dcterms:W3CDTF">2020-03-12T11:27:03Z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