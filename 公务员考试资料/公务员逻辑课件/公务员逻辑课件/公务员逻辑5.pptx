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1"/>
  </p:handoutMasterIdLst>
  <p:sldIdLst>
    <p:sldId id="256" r:id="rId3"/>
    <p:sldId id="285" r:id="rId5"/>
    <p:sldId id="286" r:id="rId6"/>
    <p:sldId id="287" r:id="rId7"/>
    <p:sldId id="288" r:id="rId8"/>
    <p:sldId id="289" r:id="rId9"/>
    <p:sldId id="290" r:id="rId10"/>
    <p:sldId id="257" r:id="rId11"/>
    <p:sldId id="259" r:id="rId12"/>
    <p:sldId id="291" r:id="rId13"/>
    <p:sldId id="260" r:id="rId14"/>
    <p:sldId id="292" r:id="rId15"/>
    <p:sldId id="261" r:id="rId16"/>
    <p:sldId id="262" r:id="rId17"/>
    <p:sldId id="300" r:id="rId18"/>
    <p:sldId id="263" r:id="rId19"/>
    <p:sldId id="301" r:id="rId20"/>
    <p:sldId id="264" r:id="rId21"/>
    <p:sldId id="265" r:id="rId22"/>
    <p:sldId id="302" r:id="rId23"/>
    <p:sldId id="266" r:id="rId24"/>
    <p:sldId id="267" r:id="rId25"/>
    <p:sldId id="303" r:id="rId26"/>
    <p:sldId id="268" r:id="rId27"/>
    <p:sldId id="269" r:id="rId28"/>
    <p:sldId id="304" r:id="rId29"/>
    <p:sldId id="305" r:id="rId30"/>
    <p:sldId id="310" r:id="rId31"/>
    <p:sldId id="306" r:id="rId32"/>
    <p:sldId id="307" r:id="rId33"/>
    <p:sldId id="311" r:id="rId34"/>
    <p:sldId id="270" r:id="rId35"/>
    <p:sldId id="293" r:id="rId36"/>
    <p:sldId id="294" r:id="rId37"/>
    <p:sldId id="295" r:id="rId38"/>
    <p:sldId id="296" r:id="rId39"/>
    <p:sldId id="297"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9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sym typeface="+mn-ea"/>
              </a:rPr>
              <a:t>第五讲：定义判断考查学科</a:t>
            </a:r>
            <a:endParaRPr lang="en-US" altLang="zh-CN" sz="4000" b="1"/>
          </a:p>
          <a:p>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247" y="71320"/>
            <a:ext cx="10852237" cy="648000"/>
          </a:xfrm>
        </p:spPr>
        <p:txBody>
          <a:bodyPr/>
          <a:p>
            <a:r>
              <a:rPr lang="zh-CN" altLang="en-US"/>
              <a:t>作业分析</a:t>
            </a:r>
            <a:r>
              <a:rPr lang="en-US" altLang="zh-CN"/>
              <a:t>1</a:t>
            </a:r>
            <a:endParaRPr lang="en-US" altLang="zh-CN"/>
          </a:p>
        </p:txBody>
      </p:sp>
      <p:sp>
        <p:nvSpPr>
          <p:cNvPr id="3" name="内容占位符 2"/>
          <p:cNvSpPr>
            <a:spLocks noGrp="1"/>
          </p:cNvSpPr>
          <p:nvPr>
            <p:ph idx="1"/>
          </p:nvPr>
        </p:nvSpPr>
        <p:spPr>
          <a:xfrm>
            <a:off x="-635" y="718820"/>
            <a:ext cx="12192635" cy="5472430"/>
          </a:xfrm>
        </p:spPr>
        <p:txBody>
          <a:bodyPr/>
          <a:p>
            <a:r>
              <a:rPr lang="zh-CN" altLang="en-US" sz="2400" b="1">
                <a:solidFill>
                  <a:srgbClr val="00B050"/>
                </a:solidFill>
              </a:rPr>
              <a:t>真题</a:t>
            </a:r>
            <a:r>
              <a:rPr lang="en-US" altLang="zh-CN" sz="2400" b="1">
                <a:solidFill>
                  <a:srgbClr val="00B050"/>
                </a:solidFill>
              </a:rPr>
              <a:t>64</a:t>
            </a:r>
            <a:r>
              <a:rPr sz="2400" b="1"/>
              <a:t>：</a:t>
            </a:r>
            <a:r>
              <a:rPr lang="zh-CN" altLang="en-US" sz="2400" b="1"/>
              <a:t>斡旋受贿罪也称间接受贿罪，是指</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国家工作人员</a:t>
            </a:r>
            <a:r>
              <a:rPr lang="zh-CN" altLang="en-US" sz="2400" b="1" baseline="30000">
                <a:solidFill>
                  <a:srgbClr val="00B050"/>
                </a:solidFill>
              </a:rPr>
              <a:t>【主体】</a:t>
            </a:r>
            <a:r>
              <a:rPr lang="zh-CN" altLang="en-US" sz="2400" b="1"/>
              <a:t>利用本人职权地位形成的便利条件，</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通过其他国家工作人员职务上的行为</a:t>
            </a:r>
            <a:r>
              <a:rPr lang="zh-CN" altLang="en-US" sz="2400" b="1" baseline="30000">
                <a:solidFill>
                  <a:srgbClr val="00B050"/>
                </a:solidFill>
              </a:rPr>
              <a:t>【方式】</a:t>
            </a:r>
            <a:r>
              <a:rPr lang="zh-CN" altLang="en-US" sz="2400" b="1"/>
              <a:t>，为请托人谋取不正当利益，</a:t>
            </a:r>
            <a:r>
              <a:rPr lang="zh-CN" altLang="en-US" sz="2400" b="1">
                <a:solidFill>
                  <a:srgbClr val="FF0000"/>
                </a:solidFill>
                <a:latin typeface="宋体" panose="02010600030101010101" pitchFamily="2" charset="-122"/>
                <a:ea typeface="宋体" panose="02010600030101010101" pitchFamily="2" charset="-122"/>
              </a:rPr>
              <a:t>③</a:t>
            </a:r>
            <a:r>
              <a:rPr lang="zh-CN" altLang="en-US" sz="2400" b="1">
                <a:solidFill>
                  <a:srgbClr val="FF0000"/>
                </a:solidFill>
              </a:rPr>
              <a:t>索取请托人财物或者收受请托人财物</a:t>
            </a:r>
            <a:r>
              <a:rPr lang="zh-CN" altLang="en-US" sz="2400" b="1" baseline="30000">
                <a:solidFill>
                  <a:srgbClr val="00B050"/>
                </a:solidFill>
              </a:rPr>
              <a:t>【目的】</a:t>
            </a:r>
            <a:r>
              <a:rPr lang="zh-CN" altLang="en-US" sz="2400" b="1"/>
              <a:t>。下列属于斡旋受贿罪的是：</a:t>
            </a:r>
            <a:endParaRPr lang="zh-CN" altLang="en-US" sz="2400" b="1"/>
          </a:p>
          <a:p>
            <a:r>
              <a:rPr lang="zh-CN" altLang="en-US" sz="2400" b="1"/>
              <a:t>A.民办学校校长张某收受了某先生家长的红包，委托本校老师伪造该学生的成绩单</a:t>
            </a:r>
            <a:endParaRPr lang="zh-CN" altLang="en-US" sz="2400" b="1"/>
          </a:p>
          <a:p>
            <a:r>
              <a:rPr lang="zh-CN" altLang="en-US" sz="2400" b="1"/>
              <a:t>B.李董事长送了审计厅厅长太太一部轿车，使得自己的企业成功逃过审计审查</a:t>
            </a:r>
            <a:endParaRPr lang="zh-CN" altLang="en-US" sz="2400" b="1"/>
          </a:p>
          <a:p>
            <a:r>
              <a:rPr lang="zh-CN" altLang="en-US" sz="2400" b="1"/>
              <a:t>C.海关负责海外货品清关的小赵，时常收到海外代购商的礼物，并帮他们逃税</a:t>
            </a:r>
            <a:endParaRPr lang="zh-CN" altLang="en-US" sz="2400" b="1"/>
          </a:p>
          <a:p>
            <a:r>
              <a:rPr lang="zh-CN" altLang="en-US" sz="2400" b="1"/>
              <a:t>D.警察孙某请交管局的老同事帮小李删除违章记录，并向小李索要一笔好处费</a:t>
            </a:r>
            <a:endParaRPr lang="zh-CN" altLang="en-US" sz="2400" b="1"/>
          </a:p>
          <a:p>
            <a:r>
              <a:rPr lang="zh-CN" altLang="en-US" sz="2400" b="1"/>
              <a:t>分析：</a:t>
            </a:r>
            <a:r>
              <a:rPr lang="en-US" altLang="zh-CN" sz="2400" b="1"/>
              <a:t>A</a:t>
            </a:r>
            <a:r>
              <a:rPr sz="2400" b="1"/>
              <a:t>是</a:t>
            </a:r>
            <a:r>
              <a:rPr sz="2400" b="1">
                <a:sym typeface="+mn-ea"/>
              </a:rPr>
              <a:t>民办学校校长、</a:t>
            </a:r>
            <a:r>
              <a:rPr lang="en-US" altLang="zh-CN" sz="2400" b="1">
                <a:sym typeface="+mn-ea"/>
              </a:rPr>
              <a:t>B</a:t>
            </a:r>
            <a:r>
              <a:rPr sz="2400" b="1">
                <a:sym typeface="+mn-ea"/>
              </a:rPr>
              <a:t>是董事长均不是</a:t>
            </a:r>
            <a:r>
              <a:rPr lang="en-US" altLang="zh-CN" sz="2400" b="1">
                <a:sym typeface="+mn-ea"/>
              </a:rPr>
              <a:t>“</a:t>
            </a:r>
            <a:r>
              <a:rPr sz="2400" b="1">
                <a:solidFill>
                  <a:srgbClr val="FF0000"/>
                </a:solidFill>
                <a:sym typeface="+mn-ea"/>
              </a:rPr>
              <a:t>国家工作人员</a:t>
            </a:r>
            <a:r>
              <a:rPr lang="en-US" altLang="zh-CN" sz="2400" b="1">
                <a:sym typeface="+mn-ea"/>
              </a:rPr>
              <a:t>”</a:t>
            </a:r>
            <a:r>
              <a:rPr sz="2400" b="1">
                <a:sym typeface="+mn-ea"/>
              </a:rPr>
              <a:t>，</a:t>
            </a:r>
            <a:r>
              <a:rPr lang="en-US" altLang="zh-CN" sz="2400" b="1">
                <a:sym typeface="+mn-ea"/>
              </a:rPr>
              <a:t>C</a:t>
            </a:r>
            <a:r>
              <a:rPr sz="2400" b="1">
                <a:sym typeface="+mn-ea"/>
              </a:rPr>
              <a:t>没有</a:t>
            </a:r>
            <a:r>
              <a:rPr lang="en-US" altLang="zh-CN" sz="2400" b="1">
                <a:sym typeface="+mn-ea"/>
              </a:rPr>
              <a:t>“</a:t>
            </a:r>
            <a:r>
              <a:rPr sz="2400" b="1">
                <a:solidFill>
                  <a:srgbClr val="FF0000"/>
                </a:solidFill>
                <a:sym typeface="+mn-ea"/>
              </a:rPr>
              <a:t>通过其他国家工作人员</a:t>
            </a:r>
            <a:r>
              <a:rPr lang="en-US" altLang="zh-CN" sz="2400" b="1">
                <a:sym typeface="+mn-ea"/>
              </a:rPr>
              <a:t>”</a:t>
            </a:r>
            <a:r>
              <a:rPr sz="2400" b="1">
                <a:sym typeface="+mn-ea"/>
              </a:rPr>
              <a:t>，</a:t>
            </a:r>
            <a:r>
              <a:rPr lang="en-US" altLang="zh-CN" sz="2400" b="1">
                <a:sym typeface="+mn-ea"/>
              </a:rPr>
              <a:t>D</a:t>
            </a:r>
            <a:r>
              <a:rPr sz="2400" b="1">
                <a:sym typeface="+mn-ea"/>
              </a:rPr>
              <a:t>符合定义，故选</a:t>
            </a:r>
            <a:r>
              <a:rPr lang="en-US" altLang="zh-CN" sz="2400" b="1">
                <a:sym typeface="+mn-ea"/>
              </a:rPr>
              <a:t>D</a:t>
            </a:r>
            <a:r>
              <a:rPr sz="2400" b="1">
                <a:sym typeface="+mn-ea"/>
              </a:rPr>
              <a:t>。</a:t>
            </a:r>
            <a:endParaRPr sz="2400" b="1">
              <a:sym typeface="+mn-ea"/>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71320"/>
            <a:ext cx="10852237" cy="648000"/>
          </a:xfrm>
        </p:spPr>
        <p:txBody>
          <a:bodyPr/>
          <a:p>
            <a:r>
              <a:rPr lang="zh-CN" altLang="en-US"/>
              <a:t>作业分析</a:t>
            </a:r>
            <a:r>
              <a:rPr lang="en-US" altLang="zh-CN"/>
              <a:t>2</a:t>
            </a:r>
            <a:endParaRPr lang="en-US" altLang="zh-CN"/>
          </a:p>
        </p:txBody>
      </p:sp>
      <p:sp>
        <p:nvSpPr>
          <p:cNvPr id="3" name="内容占位符 2"/>
          <p:cNvSpPr>
            <a:spLocks noGrp="1"/>
          </p:cNvSpPr>
          <p:nvPr>
            <p:ph idx="1"/>
          </p:nvPr>
        </p:nvSpPr>
        <p:spPr>
          <a:xfrm>
            <a:off x="669925" y="617220"/>
            <a:ext cx="10852150" cy="5720080"/>
          </a:xfrm>
        </p:spPr>
        <p:txBody>
          <a:bodyPr/>
          <a:p>
            <a:r>
              <a:rPr lang="zh-CN" altLang="en-US" sz="2400" b="1">
                <a:solidFill>
                  <a:srgbClr val="00B050"/>
                </a:solidFill>
              </a:rPr>
              <a:t>真题</a:t>
            </a:r>
            <a:r>
              <a:rPr lang="en-US" altLang="zh-CN" sz="2400" b="1">
                <a:solidFill>
                  <a:srgbClr val="00B050"/>
                </a:solidFill>
              </a:rPr>
              <a:t>65</a:t>
            </a:r>
            <a:r>
              <a:rPr sz="2400" b="1"/>
              <a:t>：</a:t>
            </a:r>
            <a:r>
              <a:rPr lang="zh-CN" altLang="en-US" sz="2400" b="1"/>
              <a:t>内耗效应是指在</a:t>
            </a:r>
            <a:r>
              <a:rPr lang="zh-CN" altLang="en-US" sz="2400" b="1">
                <a:solidFill>
                  <a:srgbClr val="FF0000"/>
                </a:solidFill>
              </a:rPr>
              <a:t>社会或部门内部</a:t>
            </a:r>
            <a:r>
              <a:rPr sz="2400" b="1" baseline="30000">
                <a:solidFill>
                  <a:srgbClr val="00B050"/>
                </a:solidFill>
                <a:sym typeface="+mn-ea"/>
              </a:rPr>
              <a:t>【主体】</a:t>
            </a:r>
            <a:r>
              <a:rPr lang="zh-CN" altLang="en-US" sz="2400" b="1">
                <a:solidFill>
                  <a:schemeClr val="tx1"/>
                </a:solidFill>
              </a:rPr>
              <a:t>因</a:t>
            </a:r>
            <a:r>
              <a:rPr lang="zh-CN" altLang="en-US" sz="2400" b="1">
                <a:solidFill>
                  <a:srgbClr val="FF0000"/>
                </a:solidFill>
              </a:rPr>
              <a:t>不协调或矛盾</a:t>
            </a:r>
            <a:r>
              <a:rPr sz="2400" b="1" baseline="30000">
                <a:solidFill>
                  <a:srgbClr val="00B050"/>
                </a:solidFill>
                <a:sym typeface="+mn-ea"/>
              </a:rPr>
              <a:t>【原因】</a:t>
            </a:r>
            <a:r>
              <a:rPr lang="zh-CN" altLang="en-US" sz="2400" b="1"/>
              <a:t>等造成的</a:t>
            </a:r>
            <a:r>
              <a:rPr lang="zh-CN" altLang="en-US" sz="2400" b="1">
                <a:solidFill>
                  <a:srgbClr val="FF0000"/>
                </a:solidFill>
              </a:rPr>
              <a:t>人力、物力等方面无谓的消耗</a:t>
            </a:r>
            <a:r>
              <a:rPr sz="2400" b="1" baseline="30000">
                <a:solidFill>
                  <a:srgbClr val="00B050"/>
                </a:solidFill>
                <a:sym typeface="+mn-ea"/>
              </a:rPr>
              <a:t>【结果】</a:t>
            </a:r>
            <a:r>
              <a:rPr lang="zh-CN" altLang="en-US" sz="2400" b="1"/>
              <a:t>而产生的负效应现象，其本质是</a:t>
            </a:r>
            <a:r>
              <a:rPr lang="zh-CN" altLang="en-US" sz="2400" b="1">
                <a:solidFill>
                  <a:srgbClr val="FF0000"/>
                </a:solidFill>
              </a:rPr>
              <a:t>它对外没有做功而只是内部消耗能量</a:t>
            </a:r>
            <a:r>
              <a:rPr sz="2400" b="1" baseline="30000">
                <a:solidFill>
                  <a:srgbClr val="00B050"/>
                </a:solidFill>
                <a:sym typeface="+mn-ea"/>
              </a:rPr>
              <a:t>【本质】</a:t>
            </a:r>
            <a:r>
              <a:rPr lang="zh-CN" altLang="en-US" sz="2400" b="1"/>
              <a:t>。</a:t>
            </a:r>
            <a:endParaRPr lang="zh-CN" altLang="en-US" sz="2400" b="1"/>
          </a:p>
          <a:p>
            <a:r>
              <a:rPr lang="zh-CN" altLang="en-US" sz="2400" b="1"/>
              <a:t>根据上述定义，下列属于内耗效应的是：</a:t>
            </a:r>
            <a:endParaRPr lang="zh-CN" altLang="en-US" sz="2400" b="1"/>
          </a:p>
          <a:p>
            <a:r>
              <a:rPr lang="zh-CN" altLang="en-US" sz="2400" b="1"/>
              <a:t>A.经过很长时间的广告战、价格战之后，两大饮料公司两败俱伤</a:t>
            </a:r>
            <a:endParaRPr lang="zh-CN" altLang="en-US" sz="2400" b="1"/>
          </a:p>
          <a:p>
            <a:r>
              <a:rPr lang="zh-CN" altLang="en-US" sz="2400" b="1"/>
              <a:t>B.游戏机商贩李某在学校内兜售游戏机，很多同学因此无心学习</a:t>
            </a:r>
            <a:endParaRPr lang="zh-CN" altLang="en-US" sz="2400" b="1"/>
          </a:p>
          <a:p>
            <a:r>
              <a:rPr lang="zh-CN" altLang="en-US" sz="2400" b="1"/>
              <a:t>C.甲国球队大比分战胜乙国球队，引发场下两国球迷的肢体冲突</a:t>
            </a:r>
            <a:endParaRPr lang="zh-CN" altLang="en-US" sz="2400" b="1"/>
          </a:p>
          <a:p>
            <a:r>
              <a:rPr lang="zh-CN" altLang="en-US" sz="2400" b="1"/>
              <a:t>D.集团董事会成员之间因利益纷争上演闹剧，导致该集团股票大跌</a:t>
            </a:r>
            <a:endParaRPr lang="zh-CN" altLang="en-US" sz="2400" b="1"/>
          </a:p>
          <a:p>
            <a:r>
              <a:rPr lang="zh-CN" altLang="en-US" sz="2400" b="1">
                <a:solidFill>
                  <a:schemeClr val="tx1"/>
                </a:solidFill>
              </a:rPr>
              <a:t>分析：</a:t>
            </a:r>
            <a:r>
              <a:rPr lang="en-US" altLang="zh-CN" sz="2400" b="1">
                <a:solidFill>
                  <a:srgbClr val="00B050"/>
                </a:solidFill>
              </a:rPr>
              <a:t>A</a:t>
            </a:r>
            <a:r>
              <a:rPr sz="2400" b="1">
                <a:solidFill>
                  <a:srgbClr val="00B050"/>
                </a:solidFill>
              </a:rPr>
              <a:t>是</a:t>
            </a:r>
            <a:r>
              <a:rPr sz="2400" b="1">
                <a:solidFill>
                  <a:srgbClr val="00B050"/>
                </a:solidFill>
                <a:sym typeface="+mn-ea"/>
              </a:rPr>
              <a:t>两大饮料公司、</a:t>
            </a:r>
            <a:r>
              <a:rPr lang="en-US" altLang="zh-CN" sz="2400" b="1">
                <a:solidFill>
                  <a:srgbClr val="00B050"/>
                </a:solidFill>
              </a:rPr>
              <a:t>C</a:t>
            </a:r>
            <a:r>
              <a:rPr sz="2400" b="1">
                <a:solidFill>
                  <a:srgbClr val="00B050"/>
                </a:solidFill>
              </a:rPr>
              <a:t>是甲乙两国</a:t>
            </a:r>
            <a:r>
              <a:rPr sz="2400" b="1">
                <a:solidFill>
                  <a:srgbClr val="00B050"/>
                </a:solidFill>
                <a:sym typeface="+mn-ea"/>
              </a:rPr>
              <a:t>国球队，均不符合定义主体。</a:t>
            </a:r>
            <a:r>
              <a:rPr lang="en-US" altLang="zh-CN" sz="2400" b="1">
                <a:solidFill>
                  <a:schemeClr val="tx1"/>
                </a:solidFill>
              </a:rPr>
              <a:t>B</a:t>
            </a:r>
            <a:r>
              <a:rPr sz="2400" b="1">
                <a:solidFill>
                  <a:schemeClr val="tx1"/>
                </a:solidFill>
              </a:rPr>
              <a:t>不符合定义原因。</a:t>
            </a:r>
            <a:r>
              <a:rPr sz="2400" b="1">
                <a:solidFill>
                  <a:srgbClr val="00B050"/>
                </a:solidFill>
              </a:rPr>
              <a:t>只有</a:t>
            </a:r>
            <a:r>
              <a:rPr lang="en-US" altLang="zh-CN" sz="2400" b="1">
                <a:solidFill>
                  <a:srgbClr val="00B050"/>
                </a:solidFill>
              </a:rPr>
              <a:t>D</a:t>
            </a:r>
            <a:r>
              <a:rPr sz="2400" b="1">
                <a:solidFill>
                  <a:srgbClr val="00B050"/>
                </a:solidFill>
              </a:rPr>
              <a:t>符合定义。故选</a:t>
            </a:r>
            <a:r>
              <a:rPr lang="en-US" altLang="zh-CN" sz="2400" b="1">
                <a:solidFill>
                  <a:srgbClr val="00B050"/>
                </a:solidFill>
              </a:rPr>
              <a:t>D</a:t>
            </a:r>
            <a:r>
              <a:rPr sz="2400" b="1">
                <a:solidFill>
                  <a:srgbClr val="00B050"/>
                </a:solidFill>
              </a:rPr>
              <a:t>。</a:t>
            </a:r>
            <a:endParaRPr sz="2400" b="1">
              <a:solidFill>
                <a:srgbClr val="00B050"/>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71320"/>
            <a:ext cx="10852237" cy="648000"/>
          </a:xfrm>
        </p:spPr>
        <p:txBody>
          <a:bodyPr/>
          <a:p>
            <a:r>
              <a:t>作业分析</a:t>
            </a:r>
            <a:r>
              <a:rPr lang="en-US" altLang="zh-CN"/>
              <a:t>3</a:t>
            </a:r>
            <a:r>
              <a:t>：</a:t>
            </a:r>
          </a:p>
        </p:txBody>
      </p:sp>
      <p:sp>
        <p:nvSpPr>
          <p:cNvPr id="3" name="内容占位符 2"/>
          <p:cNvSpPr>
            <a:spLocks noGrp="1"/>
          </p:cNvSpPr>
          <p:nvPr>
            <p:ph idx="1"/>
          </p:nvPr>
        </p:nvSpPr>
        <p:spPr>
          <a:xfrm>
            <a:off x="669925" y="789305"/>
            <a:ext cx="10852150" cy="5547995"/>
          </a:xfrm>
        </p:spPr>
        <p:txBody>
          <a:bodyPr/>
          <a:p>
            <a:r>
              <a:rPr lang="zh-CN" altLang="en-US" sz="2400" b="1">
                <a:solidFill>
                  <a:srgbClr val="00B050"/>
                </a:solidFill>
              </a:rPr>
              <a:t>真题</a:t>
            </a:r>
            <a:r>
              <a:rPr lang="en-US" altLang="zh-CN" sz="2400" b="1">
                <a:solidFill>
                  <a:srgbClr val="00B050"/>
                </a:solidFill>
              </a:rPr>
              <a:t>66</a:t>
            </a:r>
            <a:r>
              <a:rPr sz="2400" b="1"/>
              <a:t>：</a:t>
            </a:r>
            <a:r>
              <a:rPr lang="zh-CN" altLang="en-US" sz="2400" b="1"/>
              <a:t>情感广告是</a:t>
            </a:r>
            <a:r>
              <a:rPr lang="zh-CN" altLang="en-US" sz="2400" b="1">
                <a:solidFill>
                  <a:srgbClr val="FF0000"/>
                </a:solidFill>
              </a:rPr>
              <a:t>诉诸消费者的情绪或情感反应</a:t>
            </a:r>
            <a:r>
              <a:rPr sz="2400" b="1" baseline="30000">
                <a:solidFill>
                  <a:srgbClr val="00B050"/>
                </a:solidFill>
                <a:sym typeface="+mn-ea"/>
              </a:rPr>
              <a:t>【关键信息】</a:t>
            </a:r>
            <a:r>
              <a:rPr lang="zh-CN" altLang="en-US" sz="2400" b="1"/>
              <a:t>，传达商品带给他们的附加值或情绪满足的一种广告策略。这种情绪在消费者心目中的价值可能远远超出商品本身，从而使消费者形成积极的品牌态度。</a:t>
            </a:r>
            <a:endParaRPr lang="zh-CN" altLang="en-US" sz="2400" b="1"/>
          </a:p>
          <a:p>
            <a:r>
              <a:rPr lang="zh-CN" altLang="en-US" sz="2400" b="1"/>
              <a:t>根据上述定义。下列广告语</a:t>
            </a:r>
            <a:r>
              <a:rPr lang="zh-CN" altLang="en-US" sz="2400" b="1">
                <a:solidFill>
                  <a:srgbClr val="FF0000"/>
                </a:solidFill>
              </a:rPr>
              <a:t>不属于</a:t>
            </a:r>
            <a:r>
              <a:rPr lang="zh-CN" altLang="en-US" sz="2400" b="1"/>
              <a:t>情感广告的是：</a:t>
            </a:r>
            <a:endParaRPr lang="zh-CN" altLang="en-US" sz="2400" b="1"/>
          </a:p>
          <a:p>
            <a:r>
              <a:rPr lang="zh-CN" altLang="en-US" sz="2400" b="1"/>
              <a:t>A.某品牌饮料广告语：“可乐，中国人自己的可乐！”</a:t>
            </a:r>
            <a:endParaRPr lang="zh-CN" altLang="en-US" sz="2400" b="1"/>
          </a:p>
          <a:p>
            <a:r>
              <a:rPr lang="zh-CN" altLang="en-US" sz="2400" b="1"/>
              <a:t>B.某品牌啤酒进入东南亚市场的广告语：“好不好，家乡水。”</a:t>
            </a:r>
            <a:endParaRPr lang="zh-CN" altLang="en-US" sz="2400" b="1"/>
          </a:p>
          <a:p>
            <a:r>
              <a:rPr lang="zh-CN" altLang="en-US" sz="2400" b="1"/>
              <a:t>C.某品牌纸尿裤广告语：“宝宝天天好心情，妈妈一定更美丽。”</a:t>
            </a:r>
            <a:endParaRPr lang="zh-CN" altLang="en-US" sz="2400" b="1"/>
          </a:p>
          <a:p>
            <a:r>
              <a:rPr lang="zh-CN" altLang="en-US" sz="2400" b="1"/>
              <a:t>D.某品牌润肤露广告语：“为了肌肤柔美润舒，请使用润肤露。”</a:t>
            </a:r>
            <a:endParaRPr lang="zh-CN" altLang="en-US" sz="2400" b="1"/>
          </a:p>
          <a:p>
            <a:r>
              <a:rPr lang="zh-CN" altLang="en-US" sz="2400" b="1">
                <a:solidFill>
                  <a:schemeClr val="tx1"/>
                </a:solidFill>
              </a:rPr>
              <a:t>分析</a:t>
            </a:r>
            <a:r>
              <a:rPr lang="zh-CN" altLang="en-US" sz="2400" b="1">
                <a:solidFill>
                  <a:srgbClr val="00B050"/>
                </a:solidFill>
              </a:rPr>
              <a:t>：</a:t>
            </a:r>
            <a:r>
              <a:rPr lang="en-US" altLang="zh-CN" sz="2400" b="1">
                <a:solidFill>
                  <a:srgbClr val="00B050"/>
                </a:solidFill>
              </a:rPr>
              <a:t>A</a:t>
            </a:r>
            <a:r>
              <a:rPr sz="2400" b="1">
                <a:solidFill>
                  <a:srgbClr val="00B050"/>
                </a:solidFill>
              </a:rPr>
              <a:t>基于爱国之情，</a:t>
            </a:r>
            <a:r>
              <a:rPr lang="en-US" altLang="zh-CN" sz="2400" b="1">
                <a:solidFill>
                  <a:srgbClr val="00B050"/>
                </a:solidFill>
              </a:rPr>
              <a:t>B</a:t>
            </a:r>
            <a:r>
              <a:rPr sz="2400" b="1">
                <a:solidFill>
                  <a:srgbClr val="00B050"/>
                </a:solidFill>
              </a:rPr>
              <a:t>基于家乡情感，</a:t>
            </a:r>
            <a:r>
              <a:rPr lang="en-US" altLang="zh-CN" sz="2400" b="1">
                <a:solidFill>
                  <a:srgbClr val="00B050"/>
                </a:solidFill>
              </a:rPr>
              <a:t>C</a:t>
            </a:r>
            <a:r>
              <a:rPr sz="2400" b="1">
                <a:solidFill>
                  <a:srgbClr val="00B050"/>
                </a:solidFill>
              </a:rPr>
              <a:t>基于母子之情。只有</a:t>
            </a:r>
            <a:r>
              <a:rPr lang="en-US" altLang="zh-CN" sz="2400" b="1">
                <a:solidFill>
                  <a:srgbClr val="00B050"/>
                </a:solidFill>
              </a:rPr>
              <a:t>D</a:t>
            </a:r>
            <a:r>
              <a:rPr sz="2400" b="1">
                <a:solidFill>
                  <a:srgbClr val="00B050"/>
                </a:solidFill>
              </a:rPr>
              <a:t>没有涉及消费者情感。故选</a:t>
            </a:r>
            <a:r>
              <a:rPr lang="en-US" altLang="zh-CN" sz="2400" b="1">
                <a:solidFill>
                  <a:srgbClr val="00B050"/>
                </a:solidFill>
              </a:rPr>
              <a:t>D</a:t>
            </a:r>
            <a:r>
              <a:rPr sz="2400" b="1">
                <a:solidFill>
                  <a:srgbClr val="00B050"/>
                </a:solidFill>
              </a:rPr>
              <a:t>。</a:t>
            </a:r>
            <a:endParaRPr sz="2400" b="1">
              <a:solidFill>
                <a:srgbClr val="00B050"/>
              </a:solidFill>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96900" y="177165"/>
            <a:ext cx="11036935" cy="6612890"/>
          </a:xfrm>
        </p:spPr>
        <p:txBody>
          <a:bodyPr/>
          <a:p>
            <a:pPr>
              <a:spcAft>
                <a:spcPts val="0"/>
              </a:spcAft>
            </a:pPr>
            <a:r>
              <a:rPr lang="zh-CN" altLang="en-US" sz="2400" b="1">
                <a:solidFill>
                  <a:schemeClr val="tx1"/>
                </a:solidFill>
              </a:rPr>
              <a:t>作业分析</a:t>
            </a:r>
            <a:r>
              <a:rPr lang="en-US" altLang="zh-CN" sz="2400" b="1">
                <a:solidFill>
                  <a:schemeClr val="tx1"/>
                </a:solidFill>
              </a:rPr>
              <a:t>4</a:t>
            </a:r>
            <a:r>
              <a:rPr sz="2400" b="1">
                <a:solidFill>
                  <a:schemeClr val="tx1"/>
                </a:solidFill>
              </a:rPr>
              <a:t>：</a:t>
            </a:r>
            <a:r>
              <a:rPr lang="zh-CN" altLang="en-US" sz="2400" b="1">
                <a:solidFill>
                  <a:srgbClr val="00B050"/>
                </a:solidFill>
              </a:rPr>
              <a:t>真题</a:t>
            </a:r>
            <a:r>
              <a:rPr lang="en-US" altLang="zh-CN" sz="2400" b="1">
                <a:solidFill>
                  <a:srgbClr val="00B050"/>
                </a:solidFill>
              </a:rPr>
              <a:t>67</a:t>
            </a:r>
            <a:r>
              <a:rPr sz="2400" b="1"/>
              <a:t>：</a:t>
            </a:r>
            <a:r>
              <a:rPr lang="zh-CN" altLang="en-US" sz="2400" b="1"/>
              <a:t>踢猫效应是一种典型的</a:t>
            </a:r>
            <a:r>
              <a:rPr lang="zh-CN" altLang="en-US" sz="2400" b="1">
                <a:solidFill>
                  <a:srgbClr val="FF0000"/>
                </a:solidFill>
              </a:rPr>
              <a:t>负面情绪</a:t>
            </a:r>
            <a:r>
              <a:rPr lang="zh-CN" altLang="en-US" sz="2400" b="1"/>
              <a:t>的传递机制：人的愤怒情绪和不满情绪，往往会</a:t>
            </a:r>
            <a:r>
              <a:rPr lang="zh-CN" altLang="en-US" sz="2400" b="1">
                <a:solidFill>
                  <a:srgbClr val="FF0000"/>
                </a:solidFill>
              </a:rPr>
              <a:t>沿着社会关系链条由强到弱依次传递</a:t>
            </a:r>
            <a:r>
              <a:rPr lang="zh-CN" altLang="en-US" sz="2400" b="1"/>
              <a:t>，从金字塔尖一直传递至金字塔底层，而处在</a:t>
            </a:r>
            <a:r>
              <a:rPr lang="zh-CN" altLang="en-US" sz="2400" b="1">
                <a:solidFill>
                  <a:srgbClr val="00B050"/>
                </a:solidFill>
              </a:rPr>
              <a:t>最底层的个体</a:t>
            </a:r>
            <a:r>
              <a:rPr lang="zh-CN" altLang="en-US" sz="2400" b="1"/>
              <a:t>，往往由于无处发泄，</a:t>
            </a:r>
            <a:r>
              <a:rPr lang="zh-CN" altLang="en-US" sz="2400" b="1">
                <a:solidFill>
                  <a:srgbClr val="00B050"/>
                </a:solidFill>
              </a:rPr>
              <a:t>成了最终的受害者</a:t>
            </a:r>
            <a:r>
              <a:rPr lang="zh-CN" altLang="en-US" sz="2400" b="1"/>
              <a:t>，进而影响其行为。下列最符合踢猫效应的是：</a:t>
            </a:r>
            <a:endParaRPr lang="zh-CN" altLang="en-US" sz="2400" b="1"/>
          </a:p>
          <a:p>
            <a:pPr>
              <a:spcAft>
                <a:spcPts val="0"/>
              </a:spcAft>
            </a:pPr>
            <a:r>
              <a:rPr lang="zh-CN" altLang="en-US" sz="2400" b="1"/>
              <a:t>A.淘气的小男孩在学校把另一位同学推倒了，老师批评他几句，他回家后跟家长哭了起来</a:t>
            </a:r>
            <a:endParaRPr lang="zh-CN" altLang="en-US" sz="2400" b="1"/>
          </a:p>
          <a:p>
            <a:pPr>
              <a:spcAft>
                <a:spcPts val="0"/>
              </a:spcAft>
            </a:pPr>
            <a:r>
              <a:rPr lang="zh-CN" altLang="en-US" sz="2400" b="1"/>
              <a:t>B.李某出差委托邻居照看宠物狗，因狗生病二人闹翻了脸，自此两家孩子也不一起玩了</a:t>
            </a:r>
            <a:endParaRPr lang="zh-CN" altLang="en-US" sz="2400" b="1"/>
          </a:p>
          <a:p>
            <a:pPr>
              <a:spcAft>
                <a:spcPts val="0"/>
              </a:spcAft>
            </a:pPr>
            <a:r>
              <a:rPr lang="zh-CN" altLang="en-US" sz="2400" b="1"/>
              <a:t>C.一位母亲在单位受到领导的批评，回家后把淘气的女儿骂了一通，女儿把遥控器摔坏了</a:t>
            </a:r>
            <a:endParaRPr lang="zh-CN" altLang="en-US" sz="2400" b="1"/>
          </a:p>
          <a:p>
            <a:pPr>
              <a:spcAft>
                <a:spcPts val="0"/>
              </a:spcAft>
            </a:pPr>
            <a:r>
              <a:rPr lang="zh-CN" altLang="en-US" sz="2400" b="1"/>
              <a:t>D.小明妈妈在公园门口卖饮料，有一位卖冰糕的女士经常对她发泄不满情绪，二人吵了起来</a:t>
            </a:r>
            <a:endParaRPr lang="zh-CN" altLang="en-US" sz="2400" b="1"/>
          </a:p>
          <a:p>
            <a:pPr>
              <a:spcAft>
                <a:spcPts val="0"/>
              </a:spcAft>
            </a:pPr>
            <a:r>
              <a:rPr lang="zh-CN" altLang="en-US" sz="2400" b="1"/>
              <a:t>分析：</a:t>
            </a:r>
            <a:r>
              <a:rPr lang="en-US" altLang="zh-CN" sz="2400" b="1">
                <a:solidFill>
                  <a:srgbClr val="00B050"/>
                </a:solidFill>
                <a:latin typeface="+mn-ea"/>
                <a:cs typeface="+mn-ea"/>
              </a:rPr>
              <a:t>A</a:t>
            </a:r>
            <a:r>
              <a:rPr sz="2400" b="1">
                <a:solidFill>
                  <a:srgbClr val="00B050"/>
                </a:solidFill>
                <a:latin typeface="+mn-ea"/>
                <a:cs typeface="+mn-ea"/>
              </a:rPr>
              <a:t>是由弱到强，</a:t>
            </a:r>
            <a:r>
              <a:rPr lang="en-US" altLang="zh-CN" sz="2400" b="1">
                <a:solidFill>
                  <a:schemeClr val="tx1"/>
                </a:solidFill>
              </a:rPr>
              <a:t>B</a:t>
            </a:r>
            <a:r>
              <a:rPr sz="2400" b="1">
                <a:solidFill>
                  <a:schemeClr val="tx1"/>
                </a:solidFill>
              </a:rPr>
              <a:t>父母不来往导致孩子不来往，没有体现出</a:t>
            </a:r>
            <a:r>
              <a:rPr lang="en-US" altLang="zh-CN" sz="2400" b="1">
                <a:solidFill>
                  <a:schemeClr val="tx1"/>
                </a:solidFill>
              </a:rPr>
              <a:t>“</a:t>
            </a:r>
            <a:r>
              <a:rPr sz="2400" b="1">
                <a:solidFill>
                  <a:schemeClr val="tx1"/>
                </a:solidFill>
              </a:rPr>
              <a:t>受害</a:t>
            </a:r>
            <a:r>
              <a:rPr lang="en-US" altLang="zh-CN" sz="2400" b="1">
                <a:solidFill>
                  <a:schemeClr val="tx1"/>
                </a:solidFill>
              </a:rPr>
              <a:t>”</a:t>
            </a:r>
            <a:r>
              <a:rPr sz="2400" b="1">
                <a:solidFill>
                  <a:schemeClr val="tx1"/>
                </a:solidFill>
              </a:rPr>
              <a:t>。</a:t>
            </a:r>
            <a:r>
              <a:rPr lang="en-US" altLang="zh-CN" sz="2400" b="1">
                <a:solidFill>
                  <a:srgbClr val="00B050"/>
                </a:solidFill>
              </a:rPr>
              <a:t>D</a:t>
            </a:r>
            <a:r>
              <a:rPr sz="2400" b="1">
                <a:solidFill>
                  <a:srgbClr val="00B050"/>
                </a:solidFill>
              </a:rPr>
              <a:t>社会链条没有强弱之分。只有</a:t>
            </a:r>
            <a:r>
              <a:rPr lang="en-US" altLang="zh-CN" sz="2400" b="1">
                <a:solidFill>
                  <a:srgbClr val="00B050"/>
                </a:solidFill>
              </a:rPr>
              <a:t>C</a:t>
            </a:r>
            <a:r>
              <a:rPr sz="2400" b="1">
                <a:solidFill>
                  <a:srgbClr val="00B050"/>
                </a:solidFill>
              </a:rPr>
              <a:t>符合定义。故选</a:t>
            </a:r>
            <a:r>
              <a:rPr lang="en-US" altLang="zh-CN" sz="2400" b="1">
                <a:solidFill>
                  <a:srgbClr val="00B050"/>
                </a:solidFill>
              </a:rPr>
              <a:t>C</a:t>
            </a:r>
            <a:r>
              <a:rPr sz="2400" b="1">
                <a:solidFill>
                  <a:srgbClr val="00B050"/>
                </a:solidFill>
              </a:rPr>
              <a:t>。</a:t>
            </a:r>
            <a:endParaRPr sz="2400" b="1">
              <a:solidFill>
                <a:srgbClr val="00B050"/>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30207" y="191335"/>
            <a:ext cx="10852237" cy="648000"/>
          </a:xfrm>
        </p:spPr>
        <p:txBody>
          <a:bodyPr/>
          <a:p>
            <a:r>
              <a:rPr>
                <a:sym typeface="+mn-ea"/>
              </a:rPr>
              <a:t>作业分析</a:t>
            </a:r>
            <a:r>
              <a:rPr lang="en-US" altLang="zh-CN">
                <a:sym typeface="+mn-ea"/>
              </a:rPr>
              <a:t>5</a:t>
            </a:r>
            <a:r>
              <a:rPr>
                <a:sym typeface="+mn-ea"/>
              </a:rPr>
              <a:t>：</a:t>
            </a:r>
            <a:endParaRPr lang="zh-CN" altLang="en-US"/>
          </a:p>
        </p:txBody>
      </p:sp>
      <p:sp>
        <p:nvSpPr>
          <p:cNvPr id="3" name="内容占位符 2"/>
          <p:cNvSpPr>
            <a:spLocks noGrp="1"/>
          </p:cNvSpPr>
          <p:nvPr>
            <p:ph idx="1"/>
          </p:nvPr>
        </p:nvSpPr>
        <p:spPr>
          <a:xfrm>
            <a:off x="669925" y="1079500"/>
            <a:ext cx="10852150" cy="5257800"/>
          </a:xfrm>
        </p:spPr>
        <p:txBody>
          <a:bodyPr/>
          <a:p>
            <a:r>
              <a:rPr sz="2400" b="1">
                <a:solidFill>
                  <a:srgbClr val="00B050"/>
                </a:solidFill>
                <a:sym typeface="+mn-ea"/>
              </a:rPr>
              <a:t>真题</a:t>
            </a:r>
            <a:r>
              <a:rPr lang="en-US" altLang="zh-CN" sz="2400" b="1">
                <a:solidFill>
                  <a:srgbClr val="00B050"/>
                </a:solidFill>
                <a:sym typeface="+mn-ea"/>
              </a:rPr>
              <a:t>68</a:t>
            </a:r>
            <a:r>
              <a:rPr sz="2400" b="1">
                <a:solidFill>
                  <a:srgbClr val="00B050"/>
                </a:solidFill>
                <a:sym typeface="+mn-ea"/>
              </a:rPr>
              <a:t>：</a:t>
            </a:r>
            <a:r>
              <a:rPr lang="zh-CN" altLang="en-US" sz="2400" b="1"/>
              <a:t>概念是反映对象本质属性的思维模式。概念的外延是指具有概念所反映的本质属性的全部对象。根据概念外延之间是否具有重合的部分，可将概念间的关系区分为相容关系和不相容关系。</a:t>
            </a:r>
            <a:r>
              <a:rPr lang="zh-CN" altLang="en-US" sz="2400" b="1">
                <a:solidFill>
                  <a:srgbClr val="FF0000"/>
                </a:solidFill>
              </a:rPr>
              <a:t>概念间的相容关系是指两个概念外延至少有部分重合的关系</a:t>
            </a:r>
            <a:r>
              <a:rPr lang="zh-CN" altLang="en-US" sz="2400" b="1"/>
              <a:t>。</a:t>
            </a:r>
            <a:endParaRPr lang="zh-CN" altLang="en-US" sz="2400" b="1"/>
          </a:p>
          <a:p>
            <a:r>
              <a:rPr lang="zh-CN" altLang="en-US" sz="2400" b="1"/>
              <a:t>根据上述定义，下列概念间</a:t>
            </a:r>
            <a:r>
              <a:rPr lang="zh-CN" altLang="en-US" sz="2400" b="1">
                <a:solidFill>
                  <a:srgbClr val="FF0000"/>
                </a:solidFill>
              </a:rPr>
              <a:t>不具有相容关系</a:t>
            </a:r>
            <a:r>
              <a:rPr lang="zh-CN" altLang="en-US" sz="2400" b="1"/>
              <a:t>的是：</a:t>
            </a:r>
            <a:endParaRPr lang="zh-CN" altLang="en-US" sz="2400" b="1"/>
          </a:p>
          <a:p>
            <a:r>
              <a:rPr lang="zh-CN" altLang="en-US" sz="2400" b="1"/>
              <a:t>A.导体</a:t>
            </a:r>
            <a:r>
              <a:rPr lang="en-US" altLang="zh-CN" sz="2400" b="1"/>
              <a:t>—</a:t>
            </a:r>
            <a:r>
              <a:rPr lang="zh-CN" altLang="en-US" sz="2400" b="1"/>
              <a:t>半导体             B.美国的首都</a:t>
            </a:r>
            <a:r>
              <a:rPr lang="en-US" altLang="zh-CN" sz="2400" b="1"/>
              <a:t>—</a:t>
            </a:r>
            <a:r>
              <a:rPr lang="zh-CN" altLang="en-US" sz="2400" b="1"/>
              <a:t>华盛顿</a:t>
            </a:r>
            <a:endParaRPr lang="zh-CN" altLang="en-US" sz="2400" b="1"/>
          </a:p>
          <a:p>
            <a:r>
              <a:rPr lang="zh-CN" altLang="en-US" sz="2400" b="1"/>
              <a:t>C.作家</a:t>
            </a:r>
            <a:r>
              <a:rPr lang="en-US" altLang="zh-CN" sz="2400" b="1"/>
              <a:t>—</a:t>
            </a:r>
            <a:r>
              <a:rPr lang="zh-CN" altLang="en-US" sz="2400" b="1"/>
              <a:t>中国作家          D.大学生</a:t>
            </a:r>
            <a:r>
              <a:rPr lang="en-US" altLang="zh-CN" sz="2400" b="1"/>
              <a:t>—</a:t>
            </a:r>
            <a:r>
              <a:rPr lang="zh-CN" altLang="en-US" sz="2400" b="1"/>
              <a:t>中共党员</a:t>
            </a:r>
            <a:endParaRPr lang="zh-CN" altLang="en-US" sz="2400" b="1"/>
          </a:p>
          <a:p>
            <a:r>
              <a:rPr lang="zh-CN" altLang="en-US" sz="2400" b="1"/>
              <a:t>分析：</a:t>
            </a:r>
            <a:r>
              <a:rPr lang="en-US" altLang="zh-CN" sz="2400" b="1">
                <a:solidFill>
                  <a:srgbClr val="00B050"/>
                </a:solidFill>
              </a:rPr>
              <a:t>A</a:t>
            </a:r>
            <a:r>
              <a:rPr sz="2400" b="1">
                <a:solidFill>
                  <a:srgbClr val="00B050"/>
                </a:solidFill>
              </a:rPr>
              <a:t>是全异关系，</a:t>
            </a:r>
            <a:r>
              <a:rPr lang="en-US" altLang="zh-CN" sz="2400" b="1">
                <a:solidFill>
                  <a:srgbClr val="00B050"/>
                </a:solidFill>
              </a:rPr>
              <a:t>B</a:t>
            </a:r>
            <a:r>
              <a:rPr sz="2400" b="1">
                <a:solidFill>
                  <a:srgbClr val="00B050"/>
                </a:solidFill>
              </a:rPr>
              <a:t>是全同关系，</a:t>
            </a:r>
            <a:r>
              <a:rPr lang="en-US" altLang="zh-CN" sz="2400" b="1">
                <a:solidFill>
                  <a:srgbClr val="00B050"/>
                </a:solidFill>
              </a:rPr>
              <a:t>C</a:t>
            </a:r>
            <a:r>
              <a:rPr sz="2400" b="1">
                <a:solidFill>
                  <a:srgbClr val="00B050"/>
                </a:solidFill>
              </a:rPr>
              <a:t>是属种关系，</a:t>
            </a:r>
            <a:r>
              <a:rPr lang="en-US" altLang="zh-CN" sz="2400" b="1">
                <a:solidFill>
                  <a:srgbClr val="00B050"/>
                </a:solidFill>
              </a:rPr>
              <a:t>D</a:t>
            </a:r>
            <a:r>
              <a:rPr sz="2400" b="1">
                <a:solidFill>
                  <a:srgbClr val="00B050"/>
                </a:solidFill>
              </a:rPr>
              <a:t>是交叉关系</a:t>
            </a:r>
            <a:r>
              <a:rPr sz="2400" b="1"/>
              <a:t>。</a:t>
            </a:r>
            <a:endParaRPr sz="2400" b="1"/>
          </a:p>
          <a:p>
            <a:r>
              <a:rPr sz="2400" b="1"/>
              <a:t>故选</a:t>
            </a:r>
            <a:r>
              <a:rPr lang="en-US" altLang="zh-CN" sz="2400" b="1"/>
              <a:t>A</a:t>
            </a:r>
            <a:r>
              <a:rPr sz="2400" b="1"/>
              <a:t>。</a:t>
            </a:r>
            <a:endParaRPr sz="2400" b="1"/>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4630" y="248285"/>
            <a:ext cx="11779250" cy="6449695"/>
          </a:xfrm>
        </p:spPr>
        <p:txBody>
          <a:bodyPr/>
          <a:p>
            <a:pPr>
              <a:spcAft>
                <a:spcPts val="500"/>
              </a:spcAft>
            </a:pPr>
            <a:r>
              <a:rPr sz="2400" b="1">
                <a:solidFill>
                  <a:srgbClr val="00B050"/>
                </a:solidFill>
                <a:sym typeface="+mn-ea"/>
              </a:rPr>
              <a:t>真题</a:t>
            </a:r>
            <a:r>
              <a:rPr lang="en-US" altLang="zh-CN" sz="2400" b="1">
                <a:solidFill>
                  <a:srgbClr val="00B050"/>
                </a:solidFill>
                <a:sym typeface="+mn-ea"/>
              </a:rPr>
              <a:t>69</a:t>
            </a:r>
            <a:r>
              <a:rPr sz="2400" b="1">
                <a:solidFill>
                  <a:srgbClr val="00B050"/>
                </a:solidFill>
                <a:sym typeface="+mn-ea"/>
              </a:rPr>
              <a:t>：</a:t>
            </a:r>
            <a:r>
              <a:rPr lang="zh-CN" altLang="en-US" sz="2400" b="1"/>
              <a:t>短命政策是指地方政府制定的事关群众权益却</a:t>
            </a:r>
            <a:r>
              <a:rPr lang="zh-CN" altLang="en-US" sz="2400" b="1">
                <a:solidFill>
                  <a:srgbClr val="FF0000"/>
                </a:solidFill>
              </a:rPr>
              <a:t>无法得到社会公众认可或受到普遍反对</a:t>
            </a:r>
            <a:r>
              <a:rPr lang="zh-CN" altLang="en-US" sz="2400" b="1"/>
              <a:t>，一出台很快就被迫终止的政策措施。不属于短命政策的是：</a:t>
            </a:r>
            <a:endParaRPr lang="zh-CN" altLang="en-US" sz="2400" b="1"/>
          </a:p>
          <a:p>
            <a:pPr>
              <a:spcAft>
                <a:spcPts val="500"/>
              </a:spcAft>
            </a:pPr>
            <a:r>
              <a:rPr lang="zh-CN" altLang="en-US" sz="2400" b="1"/>
              <a:t>A.某市交管部门出台“闯黄灯视为违反交通规则，记6分政策”，在社会上引起了强烈反响，5天后该部门举行发布会宣布“不予执行”</a:t>
            </a:r>
            <a:endParaRPr lang="zh-CN" altLang="en-US" sz="2400" b="1"/>
          </a:p>
          <a:p>
            <a:pPr>
              <a:spcAft>
                <a:spcPts val="500"/>
              </a:spcAft>
            </a:pPr>
            <a:r>
              <a:rPr lang="zh-CN" altLang="en-US" sz="2400" b="1"/>
              <a:t>B.某市推出购房新政策：毕业未满5年的高中毕业生在市区购房实行“零首付”，因为不符合有关政策，几天后就被上级叫停</a:t>
            </a:r>
            <a:endParaRPr lang="zh-CN" altLang="en-US" sz="2400" b="1"/>
          </a:p>
          <a:p>
            <a:pPr>
              <a:spcAft>
                <a:spcPts val="500"/>
              </a:spcAft>
            </a:pPr>
            <a:r>
              <a:rPr lang="zh-CN" altLang="en-US" sz="2400" b="1"/>
              <a:t>C.南方某市推出在市区范围内的“禁摩令”后，大批人员集体离职，摩的司机纷纷上访，很快，这一政策被宣布“暂停执行”</a:t>
            </a:r>
            <a:endParaRPr lang="zh-CN" altLang="en-US" sz="2400" b="1"/>
          </a:p>
          <a:p>
            <a:pPr>
              <a:spcAft>
                <a:spcPts val="500"/>
              </a:spcAft>
            </a:pPr>
            <a:r>
              <a:rPr lang="zh-CN" altLang="en-US" sz="2400" b="1"/>
              <a:t>D.北方某市交通局宣布风景优美的县级设卡收费，消息传出后，舆论一片哗然，没到月底，这一收费政策就寿终正寝</a:t>
            </a:r>
            <a:endParaRPr lang="zh-CN" altLang="en-US" sz="2400" b="1"/>
          </a:p>
          <a:p>
            <a:pPr>
              <a:spcAft>
                <a:spcPts val="500"/>
              </a:spcAft>
            </a:pPr>
            <a:r>
              <a:rPr lang="zh-CN" altLang="en-US" sz="2400" b="1"/>
              <a:t>分析：</a:t>
            </a:r>
            <a:r>
              <a:rPr lang="en-US" altLang="zh-CN" sz="2400" b="1"/>
              <a:t>A</a:t>
            </a:r>
            <a:r>
              <a:rPr sz="2400" b="1">
                <a:sym typeface="+mn-ea"/>
              </a:rPr>
              <a:t>在社会上引起了强烈反响，</a:t>
            </a:r>
            <a:r>
              <a:rPr lang="en-US" altLang="zh-CN" sz="2400" b="1">
                <a:sym typeface="+mn-ea"/>
              </a:rPr>
              <a:t>C</a:t>
            </a:r>
            <a:r>
              <a:rPr sz="2400" b="1">
                <a:sym typeface="+mn-ea"/>
              </a:rPr>
              <a:t>摩的司机纷纷上访，</a:t>
            </a:r>
            <a:r>
              <a:rPr lang="en-US" altLang="zh-CN" sz="2400" b="1">
                <a:sym typeface="+mn-ea"/>
              </a:rPr>
              <a:t>D</a:t>
            </a:r>
            <a:r>
              <a:rPr sz="2400" b="1">
                <a:sym typeface="+mn-ea"/>
              </a:rPr>
              <a:t>舆论一片哗然表示</a:t>
            </a:r>
            <a:r>
              <a:rPr lang="en-US" altLang="zh-CN" sz="2400" b="1">
                <a:sym typeface="+mn-ea"/>
              </a:rPr>
              <a:t>“</a:t>
            </a:r>
            <a:r>
              <a:rPr sz="2400" b="1">
                <a:solidFill>
                  <a:srgbClr val="FF0000"/>
                </a:solidFill>
                <a:sym typeface="+mn-ea"/>
              </a:rPr>
              <a:t>无法得到社会公众认可</a:t>
            </a:r>
            <a:r>
              <a:rPr lang="en-US" altLang="zh-CN" sz="2400" b="1">
                <a:sym typeface="+mn-ea"/>
              </a:rPr>
              <a:t>”</a:t>
            </a:r>
            <a:r>
              <a:rPr sz="2400" b="1">
                <a:sym typeface="+mn-ea"/>
              </a:rPr>
              <a:t>，只有</a:t>
            </a:r>
            <a:r>
              <a:rPr lang="en-US" altLang="zh-CN" sz="2400" b="1">
                <a:sym typeface="+mn-ea"/>
              </a:rPr>
              <a:t>B</a:t>
            </a:r>
            <a:r>
              <a:rPr sz="2400" b="1">
                <a:sym typeface="+mn-ea"/>
              </a:rPr>
              <a:t>是因为不符合有关政策，故选</a:t>
            </a:r>
            <a:r>
              <a:rPr lang="en-US" altLang="zh-CN" sz="2400" b="1">
                <a:sym typeface="+mn-ea"/>
              </a:rPr>
              <a:t>B</a:t>
            </a:r>
            <a:r>
              <a:rPr sz="2400" b="1">
                <a:sym typeface="+mn-ea"/>
              </a:rPr>
              <a:t>。</a:t>
            </a:r>
            <a:endParaRPr sz="2400" b="1">
              <a:sym typeface="+mn-ea"/>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第五讲：定义判断考查学科</a:t>
            </a:r>
            <a:endParaRPr lang="zh-CN" altLang="en-US"/>
          </a:p>
        </p:txBody>
      </p:sp>
      <p:sp>
        <p:nvSpPr>
          <p:cNvPr id="3" name="内容占位符 2"/>
          <p:cNvSpPr>
            <a:spLocks noGrp="1"/>
          </p:cNvSpPr>
          <p:nvPr>
            <p:ph idx="1"/>
          </p:nvPr>
        </p:nvSpPr>
        <p:spPr/>
        <p:txBody>
          <a:bodyPr/>
          <a:p>
            <a:r>
              <a:rPr sz="2400" b="1">
                <a:sym typeface="+mn-ea"/>
              </a:rPr>
              <a:t>公务员考试中的定义判断考查学科主要包括：</a:t>
            </a:r>
            <a:endParaRPr sz="2400" b="1">
              <a:sym typeface="+mn-ea"/>
            </a:endParaRPr>
          </a:p>
          <a:p>
            <a:r>
              <a:rPr lang="en-US" altLang="zh-CN" sz="2400" b="1">
                <a:solidFill>
                  <a:srgbClr val="FF0000"/>
                </a:solidFill>
              </a:rPr>
              <a:t>1.</a:t>
            </a:r>
            <a:r>
              <a:rPr sz="2400" b="1">
                <a:solidFill>
                  <a:srgbClr val="FF0000"/>
                </a:solidFill>
              </a:rPr>
              <a:t>心理学</a:t>
            </a:r>
            <a:endParaRPr sz="2400" b="1"/>
          </a:p>
          <a:p>
            <a:r>
              <a:rPr lang="en-US" altLang="zh-CN" sz="2400" b="1"/>
              <a:t>2.</a:t>
            </a:r>
            <a:r>
              <a:rPr sz="2400" b="1"/>
              <a:t>经济学</a:t>
            </a:r>
            <a:endParaRPr sz="2400" b="1"/>
          </a:p>
          <a:p>
            <a:r>
              <a:rPr lang="en-US" altLang="zh-CN" sz="2400" b="1">
                <a:solidFill>
                  <a:srgbClr val="FF0000"/>
                </a:solidFill>
              </a:rPr>
              <a:t>3.</a:t>
            </a:r>
            <a:r>
              <a:rPr sz="2400" b="1">
                <a:solidFill>
                  <a:srgbClr val="FF0000"/>
                </a:solidFill>
              </a:rPr>
              <a:t>社会学</a:t>
            </a:r>
            <a:endParaRPr sz="2400" b="1">
              <a:solidFill>
                <a:srgbClr val="FF0000"/>
              </a:solidFill>
            </a:endParaRPr>
          </a:p>
          <a:p>
            <a:r>
              <a:rPr lang="en-US" altLang="zh-CN" sz="2400" b="1">
                <a:solidFill>
                  <a:schemeClr val="tx1"/>
                </a:solidFill>
              </a:rPr>
              <a:t>4.</a:t>
            </a:r>
            <a:r>
              <a:rPr sz="2400" b="1">
                <a:solidFill>
                  <a:schemeClr val="tx1"/>
                </a:solidFill>
              </a:rPr>
              <a:t>法律法规</a:t>
            </a:r>
            <a:endParaRPr sz="2400" b="1">
              <a:solidFill>
                <a:schemeClr val="tx1"/>
              </a:solidFill>
            </a:endParaRPr>
          </a:p>
          <a:p>
            <a:r>
              <a:rPr lang="en-US" altLang="zh-CN" sz="2400" b="1">
                <a:solidFill>
                  <a:srgbClr val="FF0000"/>
                </a:solidFill>
              </a:rPr>
              <a:t>5.</a:t>
            </a:r>
            <a:r>
              <a:rPr sz="2400" b="1">
                <a:solidFill>
                  <a:srgbClr val="FF0000"/>
                </a:solidFill>
              </a:rPr>
              <a:t>行政管理</a:t>
            </a:r>
            <a:endParaRPr sz="2400" b="1">
              <a:solidFill>
                <a:srgbClr val="FF0000"/>
              </a:solidFill>
            </a:endParaRPr>
          </a:p>
          <a:p>
            <a:r>
              <a:rPr lang="en-US" altLang="zh-CN" sz="2400" b="1">
                <a:solidFill>
                  <a:schemeClr val="tx1"/>
                </a:solidFill>
              </a:rPr>
              <a:t>6.</a:t>
            </a:r>
            <a:r>
              <a:rPr sz="2400" b="1">
                <a:solidFill>
                  <a:schemeClr val="tx1"/>
                </a:solidFill>
              </a:rPr>
              <a:t>语言文学</a:t>
            </a:r>
            <a:endParaRPr sz="2400" b="1">
              <a:solidFill>
                <a:schemeClr val="tx1"/>
              </a:solidFill>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75267" y="71320"/>
            <a:ext cx="10852237" cy="648000"/>
          </a:xfrm>
        </p:spPr>
        <p:txBody>
          <a:bodyPr/>
          <a:p>
            <a:r>
              <a:rPr lang="en-US" altLang="zh-CN"/>
              <a:t>1.</a:t>
            </a:r>
            <a:r>
              <a:t>心理学</a:t>
            </a:r>
          </a:p>
        </p:txBody>
      </p:sp>
      <p:sp>
        <p:nvSpPr>
          <p:cNvPr id="3" name="内容占位符 2"/>
          <p:cNvSpPr>
            <a:spLocks noGrp="1"/>
          </p:cNvSpPr>
          <p:nvPr>
            <p:ph idx="1"/>
          </p:nvPr>
        </p:nvSpPr>
        <p:spPr>
          <a:xfrm>
            <a:off x="213995" y="617855"/>
            <a:ext cx="11883390" cy="6114415"/>
          </a:xfrm>
        </p:spPr>
        <p:txBody>
          <a:bodyPr/>
          <a:p>
            <a:r>
              <a:rPr lang="zh-CN" altLang="en-US" sz="2400" b="1">
                <a:solidFill>
                  <a:srgbClr val="FF0000"/>
                </a:solidFill>
              </a:rPr>
              <a:t>心理学方面的定义普遍是在描述或解释某种心理过程</a:t>
            </a:r>
            <a:r>
              <a:rPr lang="zh-CN" altLang="en-US" sz="2400" b="1"/>
              <a:t>，而选项事例则相对具体，且事例会包含一定的感情色彩，考生</a:t>
            </a:r>
            <a:r>
              <a:rPr lang="zh-CN" altLang="en-US" sz="2400" b="1">
                <a:solidFill>
                  <a:srgbClr val="FF0000"/>
                </a:solidFill>
              </a:rPr>
              <a:t>可多关注选项之间的区别，如选项本身是顺意或逆意，积极或消极等</a:t>
            </a:r>
            <a:r>
              <a:rPr lang="zh-CN" altLang="en-US" sz="2400" b="1"/>
              <a:t>。</a:t>
            </a:r>
            <a:endParaRPr lang="zh-CN" altLang="en-US" sz="2400" b="1"/>
          </a:p>
          <a:p>
            <a:r>
              <a:rPr lang="zh-CN" altLang="en-US" sz="2400" b="1">
                <a:solidFill>
                  <a:srgbClr val="00B050"/>
                </a:solidFill>
              </a:rPr>
              <a:t>真题</a:t>
            </a:r>
            <a:r>
              <a:rPr lang="en-US" altLang="zh-CN" sz="2400" b="1">
                <a:solidFill>
                  <a:srgbClr val="00B050"/>
                </a:solidFill>
              </a:rPr>
              <a:t>70</a:t>
            </a:r>
            <a:r>
              <a:rPr sz="2400" b="1"/>
              <a:t>：</a:t>
            </a:r>
            <a:r>
              <a:rPr lang="zh-CN" altLang="en-US" sz="2400" b="1"/>
              <a:t>闪光灯效应是心理学的一个术语，也称闪光灯记忆，是指个人对令人震撼的事件容易留下深刻而准确的记忆，并且记忆的准确性不随时间的推移而减弱的现象。闪光灯记忆所记之事件，多半是与个人有关的重要事件。</a:t>
            </a:r>
            <a:endParaRPr lang="zh-CN" altLang="en-US" sz="2400" b="1"/>
          </a:p>
          <a:p>
            <a:r>
              <a:rPr lang="zh-CN" altLang="en-US" sz="2400" b="1"/>
              <a:t>根据上述定义，下列属于闪光灯事件的是：</a:t>
            </a:r>
            <a:endParaRPr lang="zh-CN" altLang="en-US" sz="2400" b="1"/>
          </a:p>
          <a:p>
            <a:r>
              <a:rPr lang="zh-CN" altLang="en-US" sz="2400" b="1"/>
              <a:t>A.冯雨在心情愉快时阅读课文，对课文内容印象格外深刻</a:t>
            </a:r>
            <a:endParaRPr lang="zh-CN" altLang="en-US" sz="2400" b="1"/>
          </a:p>
          <a:p>
            <a:r>
              <a:rPr lang="zh-CN" altLang="en-US" sz="2400" b="1"/>
              <a:t>B.经历汶川地震而幸存的小王，八年之后，对当时的情景仍记忆犹新</a:t>
            </a:r>
            <a:endParaRPr lang="zh-CN" altLang="en-US" sz="2400" b="1"/>
          </a:p>
          <a:p>
            <a:r>
              <a:rPr lang="zh-CN" altLang="en-US" sz="2400" b="1"/>
              <a:t>C.高阳小时候上学走过的路，在时隔四十年之后返乡之时仍能准确辨认</a:t>
            </a:r>
            <a:endParaRPr lang="zh-CN" altLang="en-US" sz="2400" b="1"/>
          </a:p>
          <a:p>
            <a:r>
              <a:rPr lang="zh-CN" altLang="en-US" sz="2400" b="1"/>
              <a:t>D.失联三十年的战友重新团聚，许多当年的生活琐事还历历在目</a:t>
            </a:r>
            <a:endParaRPr lang="zh-CN" altLang="en-US" sz="2400" b="1"/>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558122" y="165935"/>
            <a:ext cx="10852237" cy="648000"/>
          </a:xfrm>
        </p:spPr>
        <p:txBody>
          <a:bodyPr/>
          <a:p>
            <a:r>
              <a:rPr>
                <a:solidFill>
                  <a:srgbClr val="00B050"/>
                </a:solidFill>
                <a:sym typeface="+mn-ea"/>
              </a:rPr>
              <a:t>真题</a:t>
            </a:r>
            <a:r>
              <a:rPr lang="en-US" altLang="zh-CN">
                <a:solidFill>
                  <a:srgbClr val="00B050"/>
                </a:solidFill>
                <a:sym typeface="+mn-ea"/>
              </a:rPr>
              <a:t>70</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a:xfrm>
            <a:off x="213995" y="935355"/>
            <a:ext cx="11883390" cy="5796915"/>
          </a:xfrm>
        </p:spPr>
        <p:txBody>
          <a:bodyPr/>
          <a:p>
            <a:r>
              <a:rPr lang="zh-CN" altLang="en-US" sz="2400" b="1"/>
              <a:t>闪光灯效应是心理学的一个术语，也称闪光灯记忆，是指个人对</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令人震撼的事件</a:t>
            </a:r>
            <a:r>
              <a:rPr lang="zh-CN" altLang="en-US" sz="2400" b="1"/>
              <a:t>容易留下深刻而准确的记忆，并且记忆的准确性不随时间的推移而减弱的现象。闪光灯记忆所记之事件，</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多半是与个人有关的重要事件</a:t>
            </a:r>
            <a:r>
              <a:rPr lang="zh-CN" altLang="en-US" sz="2400" b="1"/>
              <a:t>。</a:t>
            </a:r>
            <a:endParaRPr lang="zh-CN" altLang="en-US" sz="2400" b="1"/>
          </a:p>
          <a:p>
            <a:r>
              <a:rPr lang="zh-CN" altLang="en-US" sz="2400" b="1"/>
              <a:t>根据上述定义，下列属于闪光灯事件的是：</a:t>
            </a:r>
            <a:endParaRPr lang="zh-CN" altLang="en-US" sz="2400" b="1"/>
          </a:p>
          <a:p>
            <a:r>
              <a:rPr lang="zh-CN" altLang="en-US" sz="2400" b="1"/>
              <a:t>A.冯雨在心情愉快时阅读课文，对课文内容印象格外深刻</a:t>
            </a:r>
            <a:endParaRPr lang="zh-CN" altLang="en-US" sz="2400" b="1"/>
          </a:p>
          <a:p>
            <a:r>
              <a:rPr lang="zh-CN" altLang="en-US" sz="2400" b="1"/>
              <a:t>B.经历汶川地震而幸存的小王，八年之后，对当时的情景仍记忆犹新</a:t>
            </a:r>
            <a:endParaRPr lang="zh-CN" altLang="en-US" sz="2400" b="1"/>
          </a:p>
          <a:p>
            <a:r>
              <a:rPr lang="zh-CN" altLang="en-US" sz="2400" b="1"/>
              <a:t>C.高阳小时候上学走过的路，在时隔四十年之后返乡之时仍能准确辨认</a:t>
            </a:r>
            <a:endParaRPr lang="zh-CN" altLang="en-US" sz="2400" b="1"/>
          </a:p>
          <a:p>
            <a:r>
              <a:rPr lang="zh-CN" altLang="en-US" sz="2400" b="1"/>
              <a:t>D.失联三十年的战友重新团聚，许多当年的生活琐事还历历在目</a:t>
            </a:r>
            <a:endParaRPr lang="zh-CN" altLang="en-US" sz="2400" b="1"/>
          </a:p>
          <a:p>
            <a:r>
              <a:rPr lang="zh-CN" altLang="en-US" sz="2400" b="1"/>
              <a:t>分析：</a:t>
            </a:r>
            <a:r>
              <a:rPr lang="en-US" altLang="zh-CN" sz="2400" b="1"/>
              <a:t>A</a:t>
            </a:r>
            <a:r>
              <a:rPr sz="2400" b="1"/>
              <a:t>是</a:t>
            </a:r>
            <a:r>
              <a:rPr sz="2400" b="1">
                <a:sym typeface="+mn-ea"/>
              </a:rPr>
              <a:t>阅读课文、</a:t>
            </a:r>
            <a:r>
              <a:rPr lang="en-US" altLang="zh-CN" sz="2400" b="1"/>
              <a:t>C</a:t>
            </a:r>
            <a:r>
              <a:rPr sz="2400" b="1"/>
              <a:t>是</a:t>
            </a:r>
            <a:r>
              <a:rPr sz="2400" b="1">
                <a:sym typeface="+mn-ea"/>
              </a:rPr>
              <a:t>小时候上学走过的路不符合要点</a:t>
            </a:r>
            <a:r>
              <a:rPr lang="en-US" altLang="zh-CN" sz="2400" b="1">
                <a:sym typeface="+mn-ea"/>
              </a:rPr>
              <a:t>“</a:t>
            </a:r>
            <a:r>
              <a:rPr sz="2400" b="1">
                <a:solidFill>
                  <a:srgbClr val="FF0000"/>
                </a:solidFill>
                <a:latin typeface="宋体" panose="02010600030101010101" pitchFamily="2" charset="-122"/>
                <a:ea typeface="宋体" panose="02010600030101010101" pitchFamily="2" charset="-122"/>
                <a:sym typeface="+mn-ea"/>
              </a:rPr>
              <a:t>①</a:t>
            </a:r>
            <a:r>
              <a:rPr sz="2400" b="1">
                <a:solidFill>
                  <a:srgbClr val="FF0000"/>
                </a:solidFill>
                <a:sym typeface="+mn-ea"/>
              </a:rPr>
              <a:t>令人震撼的事件</a:t>
            </a:r>
            <a:r>
              <a:rPr lang="en-US" altLang="zh-CN" sz="2400" b="1">
                <a:solidFill>
                  <a:schemeClr val="tx1"/>
                </a:solidFill>
                <a:sym typeface="+mn-ea"/>
              </a:rPr>
              <a:t>”</a:t>
            </a:r>
            <a:r>
              <a:rPr sz="2400" b="1">
                <a:solidFill>
                  <a:schemeClr val="tx1"/>
                </a:solidFill>
                <a:sym typeface="+mn-ea"/>
              </a:rPr>
              <a:t>。</a:t>
            </a:r>
            <a:r>
              <a:rPr lang="en-US" altLang="zh-CN" sz="2400" b="1"/>
              <a:t>D</a:t>
            </a:r>
            <a:r>
              <a:rPr sz="2400" b="1"/>
              <a:t>是生活琐事，不符合要点</a:t>
            </a:r>
            <a:r>
              <a:rPr lang="en-US" altLang="zh-CN" sz="2400" b="1"/>
              <a:t>“</a:t>
            </a:r>
            <a:r>
              <a:rPr sz="2400" b="1">
                <a:solidFill>
                  <a:srgbClr val="FF0000"/>
                </a:solidFill>
                <a:latin typeface="宋体" panose="02010600030101010101" pitchFamily="2" charset="-122"/>
                <a:ea typeface="宋体" panose="02010600030101010101" pitchFamily="2" charset="-122"/>
                <a:sym typeface="+mn-ea"/>
              </a:rPr>
              <a:t>②</a:t>
            </a:r>
            <a:r>
              <a:rPr sz="2400" b="1">
                <a:solidFill>
                  <a:srgbClr val="FF0000"/>
                </a:solidFill>
                <a:sym typeface="+mn-ea"/>
              </a:rPr>
              <a:t>多半是与个人有关的重要事件</a:t>
            </a:r>
            <a:r>
              <a:rPr lang="en-US" altLang="zh-CN" sz="2400" b="1"/>
              <a:t>”</a:t>
            </a:r>
            <a:r>
              <a:rPr sz="2400" b="1"/>
              <a:t>。</a:t>
            </a:r>
            <a:r>
              <a:rPr lang="en-US" altLang="zh-CN" sz="2400" b="1"/>
              <a:t>B</a:t>
            </a:r>
            <a:r>
              <a:rPr sz="2400" b="1"/>
              <a:t>符合定义，选</a:t>
            </a:r>
            <a:r>
              <a:rPr lang="en-US" altLang="zh-CN" sz="2400" b="1"/>
              <a:t>B</a:t>
            </a:r>
            <a:r>
              <a:rPr sz="2400" b="1"/>
              <a:t>。</a:t>
            </a:r>
            <a:endParaRPr sz="2400"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44525" y="367665"/>
            <a:ext cx="10877550" cy="5969635"/>
          </a:xfrm>
        </p:spPr>
        <p:txBody>
          <a:bodyPr/>
          <a:p>
            <a:r>
              <a:rPr lang="zh-CN" altLang="en-US" sz="2400" b="1">
                <a:solidFill>
                  <a:srgbClr val="00B050"/>
                </a:solidFill>
              </a:rPr>
              <a:t>真题</a:t>
            </a:r>
            <a:r>
              <a:rPr lang="en-US" altLang="zh-CN" sz="2400" b="1">
                <a:solidFill>
                  <a:srgbClr val="00B050"/>
                </a:solidFill>
              </a:rPr>
              <a:t>71</a:t>
            </a:r>
            <a:r>
              <a:rPr sz="2400" b="1"/>
              <a:t>：</a:t>
            </a:r>
            <a:r>
              <a:rPr lang="zh-CN" altLang="en-US" sz="2400" b="1"/>
              <a:t>在决断之前，每个事物的价值在决策者心目中大致相近，则难予决断其优劣；但在做出选择之后，决策者对这些事物的态度评价就发生了改变。这种现象叫作决断后效应。     下列现象属于决断后效应的是：</a:t>
            </a:r>
            <a:endParaRPr lang="zh-CN" altLang="en-US" sz="2400" b="1"/>
          </a:p>
          <a:p>
            <a:r>
              <a:rPr lang="zh-CN" altLang="en-US" sz="2400" b="1"/>
              <a:t>A.某职员对自己的去留一筹莫展，一番考量之后他认为留下来要面对许多复杂关系，不如重新开创新天地</a:t>
            </a:r>
            <a:endParaRPr lang="zh-CN" altLang="en-US" sz="2400" b="1"/>
          </a:p>
          <a:p>
            <a:r>
              <a:rPr lang="zh-CN" altLang="en-US" sz="2400" b="1"/>
              <a:t>B.某女士对各有优劣的两个品牌手机难以抉择，最后她从经济角度考虑选择其中一款，可到货后发现这款有色差</a:t>
            </a:r>
            <a:endParaRPr lang="zh-CN" altLang="en-US" sz="2400" b="1"/>
          </a:p>
          <a:p>
            <a:r>
              <a:rPr lang="zh-CN" altLang="en-US" sz="2400" b="1"/>
              <a:t>C.某老师对选A还是B去参加比赛犹豫不决，班长建议选B.事后，老师认为选B完全正确，因为B最终获得冠军</a:t>
            </a:r>
            <a:endParaRPr lang="zh-CN" altLang="en-US" sz="2400" b="1"/>
          </a:p>
          <a:p>
            <a:r>
              <a:rPr lang="zh-CN" altLang="en-US" sz="2400" b="1"/>
              <a:t>D.某学生填报志愿时对报甲大学还是乙大学犹豫不决，最后他听从老师建议选择了甲大学，从此他觉得甲大学优于乙大学</a:t>
            </a:r>
            <a:endParaRPr lang="zh-CN" altLang="en-US" sz="2400" b="1"/>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72440" y="187325"/>
            <a:ext cx="11083290" cy="6458585"/>
          </a:xfrm>
        </p:spPr>
        <p:txBody>
          <a:bodyPr/>
          <a:p>
            <a:pPr>
              <a:spcAft>
                <a:spcPts val="500"/>
              </a:spcAft>
            </a:pPr>
            <a:r>
              <a:rPr lang="zh-CN" altLang="en-US" sz="2400" b="1">
                <a:solidFill>
                  <a:srgbClr val="00B050"/>
                </a:solidFill>
              </a:rPr>
              <a:t>真题</a:t>
            </a:r>
            <a:r>
              <a:rPr lang="en-US" altLang="zh-CN" sz="2400" b="1">
                <a:solidFill>
                  <a:srgbClr val="00B050"/>
                </a:solidFill>
              </a:rPr>
              <a:t>71</a:t>
            </a:r>
            <a:r>
              <a:rPr sz="2400" b="1"/>
              <a:t>：</a:t>
            </a:r>
            <a:r>
              <a:rPr lang="zh-CN" altLang="en-US" sz="2400" b="1"/>
              <a:t>在决断之前，每个事物的价值在决策者心目中大致相近，则</a:t>
            </a:r>
            <a:r>
              <a:rPr lang="zh-CN" altLang="en-US" sz="2400" b="1">
                <a:solidFill>
                  <a:srgbClr val="FF0000"/>
                </a:solidFill>
              </a:rPr>
              <a:t>难予决断其优劣；但在做出选择之后，决策者对这些事物的态度评价就发生了改变</a:t>
            </a:r>
            <a:r>
              <a:rPr lang="zh-CN" altLang="en-US" sz="2400" b="1"/>
              <a:t>。这种现象叫作决断后效应。     下列现象属于决断后效应的是：</a:t>
            </a:r>
            <a:endParaRPr lang="zh-CN" altLang="en-US" sz="2400" b="1"/>
          </a:p>
          <a:p>
            <a:pPr>
              <a:spcAft>
                <a:spcPts val="500"/>
              </a:spcAft>
            </a:pPr>
            <a:r>
              <a:rPr lang="zh-CN" altLang="en-US" sz="2400" b="1"/>
              <a:t>A.某职员对自己的去留一筹莫展，一番考量之后他认为留下来要面对许多复杂关系，不如重新开创新天地</a:t>
            </a:r>
            <a:endParaRPr lang="zh-CN" altLang="en-US" sz="2400" b="1"/>
          </a:p>
          <a:p>
            <a:pPr>
              <a:spcAft>
                <a:spcPts val="500"/>
              </a:spcAft>
            </a:pPr>
            <a:r>
              <a:rPr lang="zh-CN" altLang="en-US" sz="2400" b="1"/>
              <a:t>B.某女士对各有优劣的两个品牌手机难以抉择，最后她从经济角度考虑选择其中一款，可到货后发现这款有色差</a:t>
            </a:r>
            <a:endParaRPr lang="zh-CN" altLang="en-US" sz="2400" b="1"/>
          </a:p>
          <a:p>
            <a:pPr>
              <a:spcAft>
                <a:spcPts val="500"/>
              </a:spcAft>
            </a:pPr>
            <a:r>
              <a:rPr lang="zh-CN" altLang="en-US" sz="2400" b="1"/>
              <a:t>C.某老师对选A还是B去参加比赛犹豫不决，班长建议选B.事后，老师认为选B完全正确，因为B最终获得冠军</a:t>
            </a:r>
            <a:endParaRPr lang="zh-CN" altLang="en-US" sz="2400" b="1"/>
          </a:p>
          <a:p>
            <a:pPr>
              <a:spcAft>
                <a:spcPts val="500"/>
              </a:spcAft>
            </a:pPr>
            <a:r>
              <a:rPr lang="zh-CN" altLang="en-US" sz="2400" b="1"/>
              <a:t>D.某学生填报志愿时对报甲大学还是乙大学犹豫不决，最后他听从老师建议选择了甲大学，从此他觉得甲大学优于乙大学</a:t>
            </a:r>
            <a:endParaRPr lang="zh-CN" altLang="en-US" sz="2400" b="1"/>
          </a:p>
          <a:p>
            <a:pPr>
              <a:spcAft>
                <a:spcPts val="500"/>
              </a:spcAft>
            </a:pPr>
            <a:r>
              <a:rPr lang="zh-CN" altLang="en-US" sz="2400" b="1"/>
              <a:t>分析</a:t>
            </a:r>
            <a:r>
              <a:rPr lang="zh-CN" altLang="en-US" sz="2400" b="1">
                <a:solidFill>
                  <a:schemeClr val="tx1"/>
                </a:solidFill>
              </a:rPr>
              <a:t>：</a:t>
            </a:r>
            <a:r>
              <a:rPr lang="en-US" altLang="zh-CN" sz="2400" b="1">
                <a:solidFill>
                  <a:schemeClr val="tx1"/>
                </a:solidFill>
              </a:rPr>
              <a:t>A</a:t>
            </a:r>
            <a:r>
              <a:rPr sz="2400" b="1">
                <a:solidFill>
                  <a:schemeClr val="tx1"/>
                </a:solidFill>
              </a:rPr>
              <a:t>未做选择，</a:t>
            </a:r>
            <a:r>
              <a:rPr lang="en-US" altLang="zh-CN" sz="2400" b="1">
                <a:solidFill>
                  <a:srgbClr val="00B050"/>
                </a:solidFill>
              </a:rPr>
              <a:t>B</a:t>
            </a:r>
            <a:r>
              <a:rPr sz="2400" b="1">
                <a:solidFill>
                  <a:srgbClr val="00B050"/>
                </a:solidFill>
              </a:rPr>
              <a:t>有色差是客观描述，没有体现态度变化。</a:t>
            </a:r>
            <a:r>
              <a:rPr lang="en-US" altLang="zh-CN" sz="2400" b="1">
                <a:solidFill>
                  <a:schemeClr val="tx1"/>
                </a:solidFill>
              </a:rPr>
              <a:t>C</a:t>
            </a:r>
            <a:r>
              <a:rPr sz="2400" b="1">
                <a:solidFill>
                  <a:schemeClr val="tx1"/>
                </a:solidFill>
              </a:rPr>
              <a:t>老师态度变化是因为</a:t>
            </a:r>
            <a:r>
              <a:rPr lang="en-US" altLang="zh-CN" sz="2400" b="1">
                <a:solidFill>
                  <a:schemeClr val="tx1"/>
                </a:solidFill>
              </a:rPr>
              <a:t>B</a:t>
            </a:r>
            <a:r>
              <a:rPr sz="2400" b="1">
                <a:solidFill>
                  <a:schemeClr val="tx1"/>
                </a:solidFill>
                <a:sym typeface="+mn-ea"/>
              </a:rPr>
              <a:t>获得冠军</a:t>
            </a:r>
            <a:r>
              <a:rPr lang="en-US" altLang="zh-CN" sz="2400" b="1">
                <a:solidFill>
                  <a:schemeClr val="tx1"/>
                </a:solidFill>
                <a:sym typeface="+mn-ea"/>
              </a:rPr>
              <a:t>,</a:t>
            </a:r>
            <a:r>
              <a:rPr sz="2400" b="1">
                <a:solidFill>
                  <a:schemeClr val="tx1"/>
                </a:solidFill>
                <a:sym typeface="+mn-ea"/>
              </a:rPr>
              <a:t>而不是因为做出的选择。</a:t>
            </a:r>
            <a:r>
              <a:rPr lang="en-US" altLang="zh-CN" sz="2400" b="1">
                <a:solidFill>
                  <a:srgbClr val="00B050"/>
                </a:solidFill>
                <a:sym typeface="+mn-ea"/>
              </a:rPr>
              <a:t>D</a:t>
            </a:r>
            <a:r>
              <a:rPr sz="2400" b="1">
                <a:solidFill>
                  <a:srgbClr val="00B050"/>
                </a:solidFill>
                <a:sym typeface="+mn-ea"/>
              </a:rPr>
              <a:t>符合定义，选</a:t>
            </a:r>
            <a:r>
              <a:rPr lang="en-US" altLang="zh-CN" sz="2400" b="1">
                <a:solidFill>
                  <a:srgbClr val="00B050"/>
                </a:solidFill>
                <a:sym typeface="+mn-ea"/>
              </a:rPr>
              <a:t>D</a:t>
            </a:r>
            <a:r>
              <a:rPr sz="2400" b="1">
                <a:solidFill>
                  <a:srgbClr val="00B050"/>
                </a:solidFill>
                <a:sym typeface="+mn-ea"/>
              </a:rPr>
              <a:t>。</a:t>
            </a:r>
            <a:endParaRPr sz="2400" b="1">
              <a:solidFill>
                <a:srgbClr val="00B050"/>
              </a:solidFill>
              <a:sym typeface="+mn-ea"/>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a:t>
            </a:r>
            <a:r>
              <a:t>经济学</a:t>
            </a:r>
          </a:p>
        </p:txBody>
      </p:sp>
      <p:sp>
        <p:nvSpPr>
          <p:cNvPr id="3" name="内容占位符 2"/>
          <p:cNvSpPr>
            <a:spLocks noGrp="1"/>
          </p:cNvSpPr>
          <p:nvPr>
            <p:ph idx="1"/>
          </p:nvPr>
        </p:nvSpPr>
        <p:spPr/>
        <p:txBody>
          <a:bodyPr/>
          <a:p>
            <a:r>
              <a:rPr lang="zh-CN" altLang="en-US" sz="2400" b="1"/>
              <a:t>经济学类型的题目选项相对简短且区别不大，要求考生对选项分析时有自己一定的理解，考生需通过对比选项与题干定义要点之间的细微差别来排除错误选项。</a:t>
            </a:r>
            <a:endParaRPr lang="zh-CN" altLang="en-US" sz="2400" b="1"/>
          </a:p>
          <a:p>
            <a:endParaRPr lang="zh-CN" altLang="en-US" sz="2400" b="1"/>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34645" y="427990"/>
            <a:ext cx="11522075" cy="5909310"/>
          </a:xfrm>
        </p:spPr>
        <p:txBody>
          <a:bodyPr/>
          <a:p>
            <a:r>
              <a:rPr lang="zh-CN" altLang="en-US" sz="2400" b="1">
                <a:solidFill>
                  <a:srgbClr val="00B050"/>
                </a:solidFill>
              </a:rPr>
              <a:t>真题</a:t>
            </a:r>
            <a:r>
              <a:rPr lang="en-US" altLang="zh-CN" sz="2400" b="1">
                <a:solidFill>
                  <a:srgbClr val="00B050"/>
                </a:solidFill>
              </a:rPr>
              <a:t>72</a:t>
            </a:r>
            <a:r>
              <a:rPr sz="2400" b="1"/>
              <a:t>：</a:t>
            </a:r>
            <a:r>
              <a:rPr lang="zh-CN" altLang="en-US" sz="2400" b="1"/>
              <a:t>牧童经济是指牧童在放牧时，只管放牧不管对草原的破坏。经济学中以此来比喻，为追求高生产量（消耗自然资源）和高消费量（商品转化为污染物），大量迅速地消耗自然资源，造成废物积累和环境污染的情况。</a:t>
            </a:r>
            <a:endParaRPr lang="zh-CN" altLang="en-US" sz="2400" b="1"/>
          </a:p>
          <a:p>
            <a:r>
              <a:rPr lang="zh-CN" altLang="en-US" sz="2400" b="1"/>
              <a:t>根据上述定义，下列属于牧童经济的是：</a:t>
            </a:r>
            <a:endParaRPr lang="zh-CN" altLang="en-US" sz="2400" b="1"/>
          </a:p>
          <a:p>
            <a:r>
              <a:rPr lang="zh-CN" altLang="en-US" sz="2400" b="1"/>
              <a:t>A.宇宙飞船中航天员的排泄物经过处理净化，变成氧气、水和盐回收，再给航天员使用</a:t>
            </a:r>
            <a:endParaRPr lang="zh-CN" altLang="en-US" sz="2400" b="1"/>
          </a:p>
          <a:p>
            <a:r>
              <a:rPr lang="zh-CN" altLang="en-US" sz="2400" b="1"/>
              <a:t>B.猪粪和部分秸秆被用作沼气池的原料，产生的沼气可供做饭、照明</a:t>
            </a:r>
            <a:endParaRPr lang="zh-CN" altLang="en-US" sz="2400" b="1"/>
          </a:p>
          <a:p>
            <a:r>
              <a:rPr lang="zh-CN" altLang="en-US" sz="2400" b="1"/>
              <a:t>C.某地投入大量资金组织村民种植苹果树，因销路不畅导致苹果成熟后落地、大量腐烂</a:t>
            </a:r>
            <a:endParaRPr lang="zh-CN" altLang="en-US" sz="2400" b="1"/>
          </a:p>
          <a:p>
            <a:r>
              <a:rPr lang="zh-CN" altLang="en-US" sz="2400" b="1"/>
              <a:t>D.某地为提高农作物产量，大量消耗水资源、化肥和农药，造成土壤、地下水污染</a:t>
            </a:r>
            <a:endParaRPr lang="zh-CN" altLang="en-US" sz="2400" b="1"/>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318135" y="427990"/>
            <a:ext cx="11454130" cy="5909310"/>
          </a:xfrm>
        </p:spPr>
        <p:txBody>
          <a:bodyPr/>
          <a:p>
            <a:r>
              <a:rPr lang="zh-CN" altLang="en-US" sz="2400" b="1">
                <a:solidFill>
                  <a:srgbClr val="00B050"/>
                </a:solidFill>
              </a:rPr>
              <a:t>真题</a:t>
            </a:r>
            <a:r>
              <a:rPr lang="en-US" altLang="zh-CN" sz="2400" b="1">
                <a:solidFill>
                  <a:srgbClr val="00B050"/>
                </a:solidFill>
              </a:rPr>
              <a:t>72</a:t>
            </a:r>
            <a:r>
              <a:rPr sz="2400" b="1">
                <a:solidFill>
                  <a:srgbClr val="00B050"/>
                </a:solidFill>
              </a:rPr>
              <a:t>分析</a:t>
            </a:r>
            <a:r>
              <a:rPr sz="2400" b="1"/>
              <a:t>：</a:t>
            </a:r>
            <a:r>
              <a:rPr lang="zh-CN" altLang="en-US" sz="2400" b="1"/>
              <a:t>牧童经济是指牧童在放牧时，只管放牧不管对草原的破坏。经济学中以此来比喻，为</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追求高生产量</a:t>
            </a:r>
            <a:r>
              <a:rPr lang="zh-CN" altLang="en-US" sz="2400" b="1"/>
              <a:t>（消耗自然资源）</a:t>
            </a:r>
            <a:r>
              <a:rPr lang="zh-CN" altLang="en-US" sz="2400" b="1">
                <a:solidFill>
                  <a:srgbClr val="FF0000"/>
                </a:solidFill>
              </a:rPr>
              <a:t>和高消费量</a:t>
            </a:r>
            <a:r>
              <a:rPr lang="zh-CN" altLang="en-US" sz="2400" b="1"/>
              <a:t>（商品转化为污染物），</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大量迅速地消耗自然资源，造成废物积累和环境污染的情</a:t>
            </a:r>
            <a:r>
              <a:rPr lang="zh-CN" altLang="en-US" sz="2400" b="1"/>
              <a:t>况。</a:t>
            </a:r>
            <a:endParaRPr lang="zh-CN" altLang="en-US" sz="2400" b="1"/>
          </a:p>
          <a:p>
            <a:r>
              <a:rPr lang="zh-CN" altLang="en-US" sz="2400" b="1"/>
              <a:t>A.宇宙飞船中航天员的排泄物经过处理净化，变成氧气、水和盐回收，再给航天员使用</a:t>
            </a:r>
            <a:endParaRPr lang="zh-CN" altLang="en-US" sz="2400" b="1"/>
          </a:p>
          <a:p>
            <a:r>
              <a:rPr lang="zh-CN" altLang="en-US" sz="2400" b="1"/>
              <a:t>B.猪粪和部分秸秆被用作沼气池的原料，产生的沼气可供做饭、照明</a:t>
            </a:r>
            <a:endParaRPr lang="zh-CN" altLang="en-US" sz="2400" b="1"/>
          </a:p>
          <a:p>
            <a:r>
              <a:rPr lang="zh-CN" altLang="en-US" sz="2400" b="1"/>
              <a:t>C.某地投入大量资金组织村民种植苹果树，因销路不畅导致苹果成熟后落地、大量腐烂</a:t>
            </a:r>
            <a:endParaRPr lang="zh-CN" altLang="en-US" sz="2400" b="1"/>
          </a:p>
          <a:p>
            <a:r>
              <a:rPr lang="zh-CN" altLang="en-US" sz="2400" b="1"/>
              <a:t>D.某地为提高农作物产量，大量消耗水资源、化肥和农药，造成土壤、地下水污染   </a:t>
            </a:r>
            <a:r>
              <a:rPr lang="zh-CN" altLang="en-US" sz="2400" b="1">
                <a:solidFill>
                  <a:srgbClr val="00B050"/>
                </a:solidFill>
              </a:rPr>
              <a:t>分析</a:t>
            </a:r>
            <a:r>
              <a:rPr lang="zh-CN" altLang="en-US" sz="2400" b="1"/>
              <a:t>：</a:t>
            </a:r>
            <a:r>
              <a:rPr lang="en-US" altLang="zh-CN" sz="2400" b="1"/>
              <a:t>AB</a:t>
            </a:r>
            <a:r>
              <a:rPr sz="2400" b="1"/>
              <a:t>属于废物再利用，不符合要点</a:t>
            </a:r>
            <a:r>
              <a:rPr sz="2400" b="1">
                <a:solidFill>
                  <a:srgbClr val="FF0000"/>
                </a:solidFill>
                <a:latin typeface="宋体" panose="02010600030101010101" pitchFamily="2" charset="-122"/>
                <a:ea typeface="宋体" panose="02010600030101010101" pitchFamily="2" charset="-122"/>
                <a:sym typeface="+mn-ea"/>
              </a:rPr>
              <a:t>①②。</a:t>
            </a:r>
            <a:r>
              <a:rPr lang="en-US" altLang="zh-CN" sz="2400" b="1"/>
              <a:t>C</a:t>
            </a:r>
            <a:r>
              <a:rPr sz="2400" b="1">
                <a:sym typeface="+mn-ea"/>
              </a:rPr>
              <a:t>因销路不畅导致苹果腐烂，不符合要点</a:t>
            </a:r>
            <a:r>
              <a:rPr sz="2400" b="1">
                <a:solidFill>
                  <a:srgbClr val="FF0000"/>
                </a:solidFill>
                <a:latin typeface="宋体" panose="02010600030101010101" pitchFamily="2" charset="-122"/>
                <a:ea typeface="宋体" panose="02010600030101010101" pitchFamily="2" charset="-122"/>
                <a:sym typeface="+mn-ea"/>
              </a:rPr>
              <a:t>①②。</a:t>
            </a:r>
            <a:r>
              <a:rPr lang="en-US" altLang="zh-CN" sz="2400" b="1"/>
              <a:t>D</a:t>
            </a:r>
            <a:r>
              <a:rPr sz="2400" b="1"/>
              <a:t>符合定义，故选</a:t>
            </a:r>
            <a:r>
              <a:rPr lang="en-US" altLang="zh-CN" sz="2400" b="1"/>
              <a:t>D</a:t>
            </a:r>
            <a:r>
              <a:rPr sz="2400" b="1"/>
              <a:t>。</a:t>
            </a:r>
            <a:endParaRPr sz="2400" b="1"/>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73</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微商一般是指以个人为单位的、利用web3.0时代所衍生的载体渠道，将传统方式与互联网结合，不存在区域限制，且可移动地实现销售渠道新突破的小型个体行为。</a:t>
            </a:r>
            <a:endParaRPr lang="zh-CN" altLang="en-US" sz="2400" b="1"/>
          </a:p>
          <a:p>
            <a:r>
              <a:rPr lang="zh-CN" altLang="en-US" sz="2400" b="1"/>
              <a:t>根据上述定义，下列属于微商的是：</a:t>
            </a:r>
            <a:endParaRPr lang="zh-CN" altLang="en-US" sz="2400" b="1"/>
          </a:p>
          <a:p>
            <a:r>
              <a:rPr lang="zh-CN" altLang="en-US" sz="2400" b="1"/>
              <a:t>A.某大型化妆品公司在微信账号上销售商品，吸引了一大批消费者</a:t>
            </a:r>
            <a:endParaRPr lang="zh-CN" altLang="en-US" sz="2400" b="1"/>
          </a:p>
          <a:p>
            <a:r>
              <a:rPr lang="zh-CN" altLang="en-US" sz="2400" b="1"/>
              <a:t>B.某眼镜店通过大力宣传吸引了许多年轻消费者进店购买</a:t>
            </a:r>
            <a:endParaRPr lang="zh-CN" altLang="en-US" sz="2400" b="1"/>
          </a:p>
          <a:p>
            <a:r>
              <a:rPr lang="zh-CN" altLang="en-US" sz="2400" b="1"/>
              <a:t>C.李某开的饭店为周边居民提供电话预定、上门送外卖的服务</a:t>
            </a:r>
            <a:endParaRPr lang="zh-CN" altLang="en-US" sz="2400" b="1"/>
          </a:p>
          <a:p>
            <a:r>
              <a:rPr lang="zh-CN" altLang="en-US" sz="2400" b="1"/>
              <a:t>D.张某在市中心的服装店生意不错，他在微信上卖出的更多</a:t>
            </a:r>
            <a:endParaRPr lang="zh-CN" altLang="en-US" sz="2400" b="1"/>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411480"/>
            <a:ext cx="10852150" cy="5925820"/>
          </a:xfrm>
        </p:spPr>
        <p:txBody>
          <a:bodyPr/>
          <a:p>
            <a:r>
              <a:rPr sz="2400" b="1">
                <a:solidFill>
                  <a:srgbClr val="00B050"/>
                </a:solidFill>
                <a:sym typeface="+mn-ea"/>
              </a:rPr>
              <a:t>真题</a:t>
            </a:r>
            <a:r>
              <a:rPr lang="en-US" altLang="zh-CN" sz="2400" b="1">
                <a:solidFill>
                  <a:srgbClr val="00B050"/>
                </a:solidFill>
                <a:sym typeface="+mn-ea"/>
              </a:rPr>
              <a:t>73</a:t>
            </a:r>
            <a:r>
              <a:rPr sz="2400" b="1">
                <a:solidFill>
                  <a:srgbClr val="00B050"/>
                </a:solidFill>
                <a:sym typeface="+mn-ea"/>
              </a:rPr>
              <a:t>分析</a:t>
            </a:r>
            <a:r>
              <a:rPr sz="2400">
                <a:solidFill>
                  <a:srgbClr val="00B050"/>
                </a:solidFill>
                <a:sym typeface="+mn-ea"/>
              </a:rPr>
              <a:t>：</a:t>
            </a:r>
            <a:r>
              <a:rPr lang="zh-CN" altLang="en-US" sz="2400" b="1"/>
              <a:t>微商一般是指</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以个人为单位</a:t>
            </a:r>
            <a:r>
              <a:rPr lang="zh-CN" altLang="en-US" sz="2400" b="1"/>
              <a:t>的、利用web3.0时代所衍生的载体渠道，</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将传统方式与互联网结合</a:t>
            </a:r>
            <a:r>
              <a:rPr lang="zh-CN" altLang="en-US" sz="2400" b="1"/>
              <a:t>，不存在区域限制，且可移动地实现销售渠道新突破的小型个体行为。</a:t>
            </a:r>
            <a:endParaRPr lang="zh-CN" altLang="en-US" sz="2400" b="1"/>
          </a:p>
          <a:p>
            <a:r>
              <a:rPr lang="zh-CN" altLang="en-US" sz="2400" b="1"/>
              <a:t>根据上述定义，下列属于微商的是：</a:t>
            </a:r>
            <a:endParaRPr lang="zh-CN" altLang="en-US" sz="2400" b="1"/>
          </a:p>
          <a:p>
            <a:r>
              <a:rPr lang="zh-CN" altLang="en-US" sz="2400" b="1"/>
              <a:t>A.某大型化妆品公司在微信账号上销售商品，吸引了一大批消费者</a:t>
            </a:r>
            <a:endParaRPr lang="zh-CN" altLang="en-US" sz="2400" b="1"/>
          </a:p>
          <a:p>
            <a:r>
              <a:rPr lang="zh-CN" altLang="en-US" sz="2400" b="1"/>
              <a:t>B.某眼镜店通过大力宣传吸引了许多年轻消费者进店购买</a:t>
            </a:r>
            <a:endParaRPr lang="zh-CN" altLang="en-US" sz="2400" b="1"/>
          </a:p>
          <a:p>
            <a:r>
              <a:rPr lang="zh-CN" altLang="en-US" sz="2400" b="1"/>
              <a:t>C.李某开的饭店为周边居民提供电话预定、上门送外卖的服务</a:t>
            </a:r>
            <a:endParaRPr lang="zh-CN" altLang="en-US" sz="2400" b="1"/>
          </a:p>
          <a:p>
            <a:r>
              <a:rPr lang="zh-CN" altLang="en-US" sz="2400" b="1"/>
              <a:t>D.张某在市中心的服装店生意不错，他在微信上卖出的更多</a:t>
            </a:r>
            <a:endParaRPr lang="zh-CN" altLang="en-US" sz="2400" b="1"/>
          </a:p>
          <a:p>
            <a:r>
              <a:rPr lang="zh-CN" altLang="en-US" sz="2400" b="1"/>
              <a:t>分析：</a:t>
            </a:r>
            <a:r>
              <a:rPr lang="en-US" altLang="zh-CN" sz="2400" b="1">
                <a:solidFill>
                  <a:srgbClr val="00B050"/>
                </a:solidFill>
              </a:rPr>
              <a:t>A</a:t>
            </a:r>
            <a:r>
              <a:rPr sz="2400" b="1">
                <a:solidFill>
                  <a:srgbClr val="00B050"/>
                </a:solidFill>
              </a:rPr>
              <a:t>是公司行为，不符合要点。</a:t>
            </a:r>
            <a:r>
              <a:rPr lang="en-US" altLang="zh-CN" sz="2400" b="1"/>
              <a:t>B</a:t>
            </a:r>
            <a:r>
              <a:rPr sz="2400" b="1">
                <a:sym typeface="+mn-ea"/>
              </a:rPr>
              <a:t>大力宣传，不符合要点。</a:t>
            </a:r>
            <a:r>
              <a:rPr lang="en-US" altLang="zh-CN" sz="2400" b="1">
                <a:solidFill>
                  <a:srgbClr val="00B050"/>
                </a:solidFill>
              </a:rPr>
              <a:t>C</a:t>
            </a:r>
            <a:r>
              <a:rPr sz="2400" b="1">
                <a:solidFill>
                  <a:srgbClr val="00B050"/>
                </a:solidFill>
              </a:rPr>
              <a:t>是电话订餐，不是网络销售。</a:t>
            </a:r>
            <a:r>
              <a:rPr lang="en-US" altLang="zh-CN" sz="2400" b="1"/>
              <a:t>D</a:t>
            </a:r>
            <a:r>
              <a:rPr sz="2400" b="1"/>
              <a:t>符合定义，故选</a:t>
            </a:r>
            <a:r>
              <a:rPr lang="en-US" altLang="zh-CN" sz="2400" b="1"/>
              <a:t>D</a:t>
            </a:r>
            <a:r>
              <a:rPr sz="2400" b="1"/>
              <a:t>。</a:t>
            </a:r>
            <a:endParaRPr sz="2400" b="1"/>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a:t>
            </a:r>
            <a:r>
              <a:t>社会学</a:t>
            </a:r>
          </a:p>
        </p:txBody>
      </p:sp>
      <p:sp>
        <p:nvSpPr>
          <p:cNvPr id="3" name="内容占位符 2"/>
          <p:cNvSpPr>
            <a:spLocks noGrp="1"/>
          </p:cNvSpPr>
          <p:nvPr>
            <p:ph idx="1"/>
          </p:nvPr>
        </p:nvSpPr>
        <p:spPr/>
        <p:txBody>
          <a:bodyPr/>
          <a:p>
            <a:r>
              <a:rPr lang="zh-CN" altLang="en-US" sz="2400" b="1"/>
              <a:t>社会学类型的题目选项事例和生活的契合度会比较高，在不违背所给定义关键信息的前提下，考生可以带入一些生活经验或自己对定义的理解，这样对分析选项事例会有一定的帮助。</a:t>
            </a:r>
            <a:endParaRPr lang="zh-CN" altLang="en-US" sz="2400" b="1"/>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74</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非我所创综合症或NIH综合症，是社会、公司和组织中的一种文化现象，人们不愿意使用、购买或者接受某种产品、研究成果或者知识，不是出于技术或者法律等因素，而只是因为它源自其他地方。</a:t>
            </a:r>
            <a:endParaRPr lang="zh-CN" altLang="en-US" sz="2400" b="1"/>
          </a:p>
          <a:p>
            <a:r>
              <a:rPr lang="zh-CN" altLang="en-US" sz="2400" b="1"/>
              <a:t>根据上述定义，下列选项中涉及非我所创综合症的是：</a:t>
            </a:r>
            <a:endParaRPr lang="zh-CN" altLang="en-US" sz="2400" b="1"/>
          </a:p>
          <a:p>
            <a:r>
              <a:rPr lang="zh-CN" altLang="en-US" sz="2400" b="1"/>
              <a:t>A.每年“九一八”纪念日时小李都会将自己的日系车标摘下</a:t>
            </a:r>
            <a:endParaRPr lang="zh-CN" altLang="en-US" sz="2400" b="1"/>
          </a:p>
          <a:p>
            <a:r>
              <a:rPr lang="zh-CN" altLang="en-US" sz="2400" b="1"/>
              <a:t>B.甲国某公司经检验后退回一整批不合格的乙国进口光学器材</a:t>
            </a:r>
            <a:endParaRPr lang="zh-CN" altLang="en-US" sz="2400" b="1"/>
          </a:p>
          <a:p>
            <a:r>
              <a:rPr lang="zh-CN" altLang="en-US" sz="2400" b="1"/>
              <a:t>C.某国宣布全面禁止进口日本福岛第一核电站周边八个县的水产品</a:t>
            </a:r>
            <a:endParaRPr lang="zh-CN" altLang="en-US" sz="2400" b="1"/>
          </a:p>
          <a:p>
            <a:r>
              <a:rPr lang="zh-CN" altLang="en-US" sz="2400" b="1"/>
              <a:t>D.有强烈爱国情绪的某国居民只购买本国生产的手机</a:t>
            </a:r>
            <a:endParaRPr lang="zh-CN" altLang="en-US" sz="2400" b="1"/>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79575"/>
            <a:ext cx="10852237" cy="648000"/>
          </a:xfrm>
        </p:spPr>
        <p:txBody>
          <a:bodyPr/>
          <a:p>
            <a:r>
              <a:rPr lang="zh-CN" altLang="en-US">
                <a:solidFill>
                  <a:srgbClr val="00B050"/>
                </a:solidFill>
              </a:rPr>
              <a:t>真题</a:t>
            </a:r>
            <a:r>
              <a:rPr lang="en-US" altLang="zh-CN">
                <a:solidFill>
                  <a:srgbClr val="00B050"/>
                </a:solidFill>
              </a:rPr>
              <a:t>74</a:t>
            </a:r>
            <a:r>
              <a:rPr>
                <a:solidFill>
                  <a:srgbClr val="00B050"/>
                </a:solidFill>
              </a:rPr>
              <a:t>分析</a:t>
            </a:r>
            <a:endParaRPr>
              <a:solidFill>
                <a:srgbClr val="00B050"/>
              </a:solidFill>
            </a:endParaRPr>
          </a:p>
        </p:txBody>
      </p:sp>
      <p:sp>
        <p:nvSpPr>
          <p:cNvPr id="3" name="内容占位符 2"/>
          <p:cNvSpPr>
            <a:spLocks noGrp="1"/>
          </p:cNvSpPr>
          <p:nvPr>
            <p:ph idx="1"/>
          </p:nvPr>
        </p:nvSpPr>
        <p:spPr>
          <a:xfrm>
            <a:off x="669925" y="789305"/>
            <a:ext cx="10852150" cy="5547995"/>
          </a:xfrm>
        </p:spPr>
        <p:txBody>
          <a:bodyPr/>
          <a:p>
            <a:r>
              <a:rPr lang="zh-CN" altLang="en-US" sz="2400" b="1"/>
              <a:t>非我所创综合症或NIH综合症，是社会、公司和组织中的一种文化现象，人们</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不愿意使用、购买或者接受某种产品、研究成果或者知识</a:t>
            </a:r>
            <a:r>
              <a:rPr lang="zh-CN" altLang="en-US" sz="2400" b="1"/>
              <a:t>，</a:t>
            </a:r>
            <a:r>
              <a:rPr lang="zh-CN" altLang="en-US" sz="2400" b="1">
                <a:solidFill>
                  <a:srgbClr val="00B050"/>
                </a:solidFill>
                <a:latin typeface="宋体" panose="02010600030101010101" pitchFamily="2" charset="-122"/>
                <a:ea typeface="宋体" panose="02010600030101010101" pitchFamily="2" charset="-122"/>
              </a:rPr>
              <a:t>②</a:t>
            </a:r>
            <a:r>
              <a:rPr lang="zh-CN" altLang="en-US" sz="2400" b="1">
                <a:solidFill>
                  <a:srgbClr val="00B050"/>
                </a:solidFill>
              </a:rPr>
              <a:t>不是出于技术或者法律等因素，而只是因为它源自其他地方</a:t>
            </a:r>
            <a:r>
              <a:rPr lang="zh-CN" altLang="en-US" sz="2400" b="1"/>
              <a:t>。</a:t>
            </a:r>
            <a:endParaRPr lang="zh-CN" altLang="en-US" sz="2400" b="1"/>
          </a:p>
          <a:p>
            <a:r>
              <a:rPr lang="zh-CN" altLang="en-US" sz="2400" b="1"/>
              <a:t>根据上述定义，下列选项中涉及非我所创综合症的是：</a:t>
            </a:r>
            <a:endParaRPr lang="zh-CN" altLang="en-US" sz="2400" b="1"/>
          </a:p>
          <a:p>
            <a:r>
              <a:rPr lang="zh-CN" altLang="en-US" sz="2400" b="1"/>
              <a:t>A.每年“九一八”纪念日时小李都会将自己的日系车标摘下</a:t>
            </a:r>
            <a:endParaRPr lang="zh-CN" altLang="en-US" sz="2400" b="1"/>
          </a:p>
          <a:p>
            <a:r>
              <a:rPr lang="zh-CN" altLang="en-US" sz="2400" b="1"/>
              <a:t>B.甲国某公司经检验后退回一整批不合格的乙国进口光学器材</a:t>
            </a:r>
            <a:endParaRPr lang="zh-CN" altLang="en-US" sz="2400" b="1"/>
          </a:p>
          <a:p>
            <a:r>
              <a:rPr lang="zh-CN" altLang="en-US" sz="2400" b="1"/>
              <a:t>C.某国宣布全面禁止进口日本福岛第一核电站周边八个县的水产品</a:t>
            </a:r>
            <a:endParaRPr lang="zh-CN" altLang="en-US" sz="2400" b="1"/>
          </a:p>
          <a:p>
            <a:r>
              <a:rPr lang="zh-CN" altLang="en-US" sz="2400" b="1"/>
              <a:t>D.有强烈爱国情绪的某国居民只购买本国生产的手机</a:t>
            </a:r>
            <a:endParaRPr lang="zh-CN" altLang="en-US" sz="2400" b="1"/>
          </a:p>
          <a:p>
            <a:r>
              <a:rPr lang="zh-CN" altLang="en-US" sz="2400" b="1"/>
              <a:t>分析：</a:t>
            </a:r>
            <a:r>
              <a:rPr lang="en-US" altLang="zh-CN" sz="2400" b="1"/>
              <a:t>A</a:t>
            </a:r>
            <a:r>
              <a:rPr sz="2400" b="1"/>
              <a:t>已经购买</a:t>
            </a:r>
            <a:r>
              <a:rPr sz="2400" b="1">
                <a:sym typeface="+mn-ea"/>
              </a:rPr>
              <a:t>日系车，不符合要点</a:t>
            </a:r>
            <a:r>
              <a:rPr sz="2400" b="1">
                <a:solidFill>
                  <a:srgbClr val="FF0000"/>
                </a:solidFill>
                <a:latin typeface="宋体" panose="02010600030101010101" pitchFamily="2" charset="-122"/>
                <a:ea typeface="宋体" panose="02010600030101010101" pitchFamily="2" charset="-122"/>
                <a:sym typeface="+mn-ea"/>
              </a:rPr>
              <a:t>①</a:t>
            </a:r>
            <a:r>
              <a:rPr sz="2400" b="1">
                <a:sym typeface="+mn-ea"/>
              </a:rPr>
              <a:t>。</a:t>
            </a:r>
            <a:r>
              <a:rPr lang="en-US" altLang="zh-CN" sz="2400" b="1"/>
              <a:t>B</a:t>
            </a:r>
            <a:r>
              <a:rPr sz="2400" b="1"/>
              <a:t>是退回不合格、</a:t>
            </a:r>
            <a:r>
              <a:rPr lang="en-US" altLang="zh-CN" sz="2400" b="1"/>
              <a:t>C</a:t>
            </a:r>
            <a:r>
              <a:rPr sz="2400" b="1"/>
              <a:t>是怕污染，不符合要点</a:t>
            </a:r>
            <a:r>
              <a:rPr sz="2400" b="1">
                <a:solidFill>
                  <a:srgbClr val="00B050"/>
                </a:solidFill>
                <a:latin typeface="宋体" panose="02010600030101010101" pitchFamily="2" charset="-122"/>
                <a:ea typeface="宋体" panose="02010600030101010101" pitchFamily="2" charset="-122"/>
                <a:sym typeface="+mn-ea"/>
              </a:rPr>
              <a:t>②</a:t>
            </a:r>
            <a:r>
              <a:rPr sz="2400" b="1"/>
              <a:t>。</a:t>
            </a:r>
            <a:r>
              <a:rPr lang="en-US" altLang="zh-CN" sz="2400" b="1"/>
              <a:t>D</a:t>
            </a:r>
            <a:r>
              <a:rPr sz="2400" b="1"/>
              <a:t>符合定义，选</a:t>
            </a:r>
            <a:r>
              <a:rPr lang="en-US" altLang="zh-CN" sz="2400" b="1"/>
              <a:t>D</a:t>
            </a:r>
            <a:r>
              <a:rPr sz="2400" b="1"/>
              <a:t>。</a:t>
            </a:r>
            <a:endParaRPr sz="2400" b="1"/>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a:t>
            </a:r>
            <a:r>
              <a:t>法律法规</a:t>
            </a:r>
          </a:p>
        </p:txBody>
      </p:sp>
      <p:sp>
        <p:nvSpPr>
          <p:cNvPr id="3" name="内容占位符 2"/>
          <p:cNvSpPr>
            <a:spLocks noGrp="1"/>
          </p:cNvSpPr>
          <p:nvPr>
            <p:ph idx="1"/>
          </p:nvPr>
        </p:nvSpPr>
        <p:spPr/>
        <p:txBody>
          <a:bodyPr/>
          <a:p>
            <a:r>
              <a:rPr lang="zh-CN" altLang="en-US" sz="2400" b="1"/>
              <a:t>法律法规题目一般会给出明确的定义，即法律条款里的定义，因而更加详细严谨。主要考查要点为主体、客体、目的、手段和结果等，考生需要将选项事例和定义要点进行仔细对比。</a:t>
            </a:r>
            <a:endParaRPr lang="zh-CN" altLang="en-US" sz="2400" b="1"/>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299720"/>
            <a:ext cx="10852150" cy="6037580"/>
          </a:xfrm>
        </p:spPr>
        <p:txBody>
          <a:bodyPr/>
          <a:p>
            <a:r>
              <a:rPr lang="zh-CN" altLang="en-US" sz="2400" b="1">
                <a:solidFill>
                  <a:srgbClr val="00B050"/>
                </a:solidFill>
              </a:rPr>
              <a:t>真题</a:t>
            </a:r>
            <a:r>
              <a:rPr lang="en-US" altLang="zh-CN" sz="2400" b="1">
                <a:solidFill>
                  <a:srgbClr val="00B050"/>
                </a:solidFill>
              </a:rPr>
              <a:t>75</a:t>
            </a:r>
            <a:r>
              <a:rPr sz="2400" b="1"/>
              <a:t>：</a:t>
            </a:r>
            <a:r>
              <a:rPr lang="zh-CN" altLang="en-US" sz="2400" b="1"/>
              <a:t>疑罪是指司法机关对被告人是否犯罪或罪行轻重难以确证的情况。疑罪从无原则是现代刑法“有利被告”思想的体现，是无罪推定原则的具体内容之一。即在不能证明被告人有罪又不能证明被告人无罪的情况下，推定被告人无罪。</a:t>
            </a:r>
            <a:endParaRPr lang="zh-CN" altLang="en-US" sz="2400" b="1"/>
          </a:p>
          <a:p>
            <a:r>
              <a:rPr lang="zh-CN" altLang="en-US" sz="2400" b="1"/>
              <a:t>根据上述定义，下列采用了无罪推定原则的是：</a:t>
            </a:r>
            <a:endParaRPr lang="zh-CN" altLang="en-US" sz="2400" b="1"/>
          </a:p>
          <a:p>
            <a:r>
              <a:rPr lang="zh-CN" altLang="en-US" sz="2400" b="1"/>
              <a:t>A.赵六因到其他人网络密码被起诉，但由于被证明从来不使用网络，法院判其无罪</a:t>
            </a:r>
            <a:endParaRPr lang="zh-CN" altLang="en-US" sz="2400" b="1"/>
          </a:p>
          <a:p>
            <a:r>
              <a:rPr lang="zh-CN" altLang="en-US" sz="2400" b="1"/>
              <a:t>B.史某和汤某打架，两人都受了伤，因无法确定谁先动手，法庭建议庭外和解</a:t>
            </a:r>
            <a:endParaRPr lang="zh-CN" altLang="en-US" sz="2400" b="1"/>
          </a:p>
          <a:p>
            <a:r>
              <a:rPr lang="zh-CN" altLang="en-US" sz="2400" b="1"/>
              <a:t>C.钱某因涉嫌投毒被起诉，后因证据不足，法院判决钱某无罪</a:t>
            </a:r>
            <a:endParaRPr lang="zh-CN" altLang="en-US" sz="2400" b="1"/>
          </a:p>
          <a:p>
            <a:r>
              <a:rPr lang="zh-CN" altLang="en-US" sz="2400" b="1"/>
              <a:t>D.张三起诉李四侵权，但因拿不出任何证据，结果败诉</a:t>
            </a:r>
            <a:endParaRPr lang="zh-CN" altLang="en-US" sz="2400" b="1"/>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92735" y="299720"/>
            <a:ext cx="11624310" cy="6037580"/>
          </a:xfrm>
        </p:spPr>
        <p:txBody>
          <a:bodyPr/>
          <a:p>
            <a:r>
              <a:rPr lang="zh-CN" altLang="en-US" sz="2400" b="1">
                <a:solidFill>
                  <a:srgbClr val="00B050"/>
                </a:solidFill>
              </a:rPr>
              <a:t>真题</a:t>
            </a:r>
            <a:r>
              <a:rPr lang="en-US" altLang="zh-CN" sz="2400" b="1">
                <a:solidFill>
                  <a:srgbClr val="00B050"/>
                </a:solidFill>
              </a:rPr>
              <a:t>75</a:t>
            </a:r>
            <a:r>
              <a:rPr sz="2400" b="1">
                <a:solidFill>
                  <a:srgbClr val="00B050"/>
                </a:solidFill>
              </a:rPr>
              <a:t>分析</a:t>
            </a:r>
            <a:r>
              <a:rPr sz="2400" b="1"/>
              <a:t>：</a:t>
            </a:r>
            <a:r>
              <a:rPr lang="zh-CN" altLang="en-US" sz="2400" b="1"/>
              <a:t>疑罪是指司法机关对被告人是否</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犯罪</a:t>
            </a:r>
            <a:r>
              <a:rPr lang="zh-CN" altLang="en-US" sz="2400" b="1"/>
              <a:t>或罪行轻重难以确证的情况。疑罪从无原则是现代刑法“有利被告”思想的体现，是无罪推定原则的具体内容之一。即在</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不能证明被告人有罪又不能证明被告人无罪</a:t>
            </a:r>
            <a:r>
              <a:rPr lang="zh-CN" altLang="en-US" sz="2400" b="1"/>
              <a:t>的情况下，</a:t>
            </a:r>
            <a:r>
              <a:rPr lang="zh-CN" altLang="en-US" sz="2400" b="1">
                <a:solidFill>
                  <a:srgbClr val="FF0000"/>
                </a:solidFill>
                <a:latin typeface="宋体" panose="02010600030101010101" pitchFamily="2" charset="-122"/>
                <a:ea typeface="宋体" panose="02010600030101010101" pitchFamily="2" charset="-122"/>
              </a:rPr>
              <a:t>③</a:t>
            </a:r>
            <a:r>
              <a:rPr lang="zh-CN" altLang="en-US" sz="2400" b="1">
                <a:solidFill>
                  <a:srgbClr val="FF0000"/>
                </a:solidFill>
              </a:rPr>
              <a:t>推定被告人无罪</a:t>
            </a:r>
            <a:r>
              <a:rPr lang="zh-CN" altLang="en-US" sz="2400" b="1"/>
              <a:t>。     下列采用了无罪推定原则的是：</a:t>
            </a:r>
            <a:endParaRPr lang="zh-CN" altLang="en-US" sz="2400" b="1"/>
          </a:p>
          <a:p>
            <a:r>
              <a:rPr lang="zh-CN" altLang="en-US" sz="2400" b="1"/>
              <a:t>A.赵六因到其他人网络密码被起诉，但由于被证明从来不使用网络，法院判其无罪</a:t>
            </a:r>
            <a:endParaRPr lang="zh-CN" altLang="en-US" sz="2400" b="1"/>
          </a:p>
          <a:p>
            <a:r>
              <a:rPr lang="zh-CN" altLang="en-US" sz="2400" b="1"/>
              <a:t>B.史某和汤某打架，两人都受了伤，因无法确定谁先动手，法庭建议庭外和解</a:t>
            </a:r>
            <a:endParaRPr lang="zh-CN" altLang="en-US" sz="2400" b="1"/>
          </a:p>
          <a:p>
            <a:r>
              <a:rPr lang="zh-CN" altLang="en-US" sz="2400" b="1"/>
              <a:t>C.钱某因涉嫌投毒被起诉，后因证据不足，法院判决钱某无罪</a:t>
            </a:r>
            <a:endParaRPr lang="zh-CN" altLang="en-US" sz="2400" b="1"/>
          </a:p>
          <a:p>
            <a:r>
              <a:rPr lang="zh-CN" altLang="en-US" sz="2400" b="1"/>
              <a:t>D.张三起诉李四侵权，但因拿不出任何证据，结果败诉</a:t>
            </a:r>
            <a:endParaRPr lang="zh-CN" altLang="en-US" sz="2400" b="1"/>
          </a:p>
          <a:p>
            <a:r>
              <a:rPr lang="zh-CN" altLang="en-US" sz="2400" b="1"/>
              <a:t>分析：</a:t>
            </a:r>
            <a:r>
              <a:rPr lang="en-US" altLang="zh-CN" sz="2400" b="1">
                <a:solidFill>
                  <a:srgbClr val="00B050"/>
                </a:solidFill>
              </a:rPr>
              <a:t>A</a:t>
            </a:r>
            <a:r>
              <a:rPr sz="2400" b="1">
                <a:solidFill>
                  <a:srgbClr val="00B050"/>
                </a:solidFill>
                <a:sym typeface="+mn-ea"/>
              </a:rPr>
              <a:t>从来不使用网络</a:t>
            </a:r>
            <a:r>
              <a:rPr lang="en-US" altLang="zh-CN" sz="2400" b="1">
                <a:solidFill>
                  <a:srgbClr val="00B050"/>
                </a:solidFill>
                <a:sym typeface="+mn-ea"/>
              </a:rPr>
              <a:t>,</a:t>
            </a:r>
            <a:r>
              <a:rPr sz="2400" b="1">
                <a:solidFill>
                  <a:srgbClr val="00B050"/>
                </a:solidFill>
                <a:sym typeface="+mn-ea"/>
              </a:rPr>
              <a:t>有证据证明其无罪，不符合</a:t>
            </a:r>
            <a:r>
              <a:rPr sz="2400" b="1">
                <a:solidFill>
                  <a:srgbClr val="FF0000"/>
                </a:solidFill>
                <a:latin typeface="宋体" panose="02010600030101010101" pitchFamily="2" charset="-122"/>
                <a:ea typeface="宋体" panose="02010600030101010101" pitchFamily="2" charset="-122"/>
                <a:sym typeface="+mn-ea"/>
              </a:rPr>
              <a:t>②</a:t>
            </a:r>
            <a:r>
              <a:rPr sz="2400" b="1">
                <a:sym typeface="+mn-ea"/>
              </a:rPr>
              <a:t>。</a:t>
            </a:r>
            <a:r>
              <a:rPr lang="en-US" altLang="zh-CN" sz="2400" b="1">
                <a:sym typeface="+mn-ea"/>
              </a:rPr>
              <a:t>B</a:t>
            </a:r>
            <a:r>
              <a:rPr sz="2400" b="1">
                <a:sym typeface="+mn-ea"/>
              </a:rPr>
              <a:t>庭外和解，并未推定无罪，不符合</a:t>
            </a:r>
            <a:r>
              <a:rPr sz="2400" b="1">
                <a:solidFill>
                  <a:srgbClr val="FF0000"/>
                </a:solidFill>
                <a:latin typeface="宋体" panose="02010600030101010101" pitchFamily="2" charset="-122"/>
                <a:ea typeface="宋体" panose="02010600030101010101" pitchFamily="2" charset="-122"/>
                <a:sym typeface="+mn-ea"/>
              </a:rPr>
              <a:t>③</a:t>
            </a:r>
            <a:r>
              <a:rPr sz="2400" b="1">
                <a:sym typeface="+mn-ea"/>
              </a:rPr>
              <a:t>。</a:t>
            </a:r>
            <a:r>
              <a:rPr lang="en-US" altLang="zh-CN" sz="2400" b="1">
                <a:solidFill>
                  <a:srgbClr val="00B050"/>
                </a:solidFill>
                <a:sym typeface="+mn-ea"/>
              </a:rPr>
              <a:t>D</a:t>
            </a:r>
            <a:r>
              <a:rPr sz="2400" b="1">
                <a:solidFill>
                  <a:srgbClr val="00B050"/>
                </a:solidFill>
                <a:sym typeface="+mn-ea"/>
              </a:rPr>
              <a:t>是民事诉讼，不符合</a:t>
            </a:r>
            <a:r>
              <a:rPr sz="2400" b="1">
                <a:solidFill>
                  <a:srgbClr val="FF0000"/>
                </a:solidFill>
                <a:latin typeface="宋体" panose="02010600030101010101" pitchFamily="2" charset="-122"/>
                <a:ea typeface="宋体" panose="02010600030101010101" pitchFamily="2" charset="-122"/>
                <a:sym typeface="+mn-ea"/>
              </a:rPr>
              <a:t>①</a:t>
            </a:r>
            <a:r>
              <a:rPr sz="2400" b="1">
                <a:sym typeface="+mn-ea"/>
              </a:rPr>
              <a:t>。</a:t>
            </a:r>
            <a:r>
              <a:rPr lang="en-US" altLang="zh-CN" sz="2400" b="1">
                <a:sym typeface="+mn-ea"/>
              </a:rPr>
              <a:t>C</a:t>
            </a:r>
            <a:r>
              <a:rPr sz="2400" b="1">
                <a:sym typeface="+mn-ea"/>
              </a:rPr>
              <a:t>符合定义，故选</a:t>
            </a:r>
            <a:r>
              <a:rPr lang="en-US" altLang="zh-CN" sz="2400" b="1">
                <a:sym typeface="+mn-ea"/>
              </a:rPr>
              <a:t>C</a:t>
            </a:r>
            <a:r>
              <a:rPr sz="2400" b="1">
                <a:sym typeface="+mn-ea"/>
              </a:rPr>
              <a:t>。</a:t>
            </a:r>
            <a:endParaRPr sz="2400" b="1">
              <a:sym typeface="+mn-ea"/>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5.</a:t>
            </a:r>
            <a:r>
              <a:t>行政管理</a:t>
            </a:r>
          </a:p>
        </p:txBody>
      </p:sp>
      <p:sp>
        <p:nvSpPr>
          <p:cNvPr id="3" name="内容占位符 2"/>
          <p:cNvSpPr>
            <a:spLocks noGrp="1"/>
          </p:cNvSpPr>
          <p:nvPr>
            <p:ph idx="1"/>
          </p:nvPr>
        </p:nvSpPr>
        <p:spPr/>
        <p:txBody>
          <a:bodyPr/>
          <a:p>
            <a:r>
              <a:rPr lang="zh-CN" altLang="en-US" sz="2400" b="1"/>
              <a:t>行政管理类题目与法律法规类题目类似，大部分是对定义要点的考查，考生在解题时，要注意准确分析题干要点。</a:t>
            </a:r>
            <a:endParaRPr lang="zh-CN" altLang="en-US" sz="2400" b="1"/>
          </a:p>
          <a:p>
            <a:endParaRPr lang="zh-CN" altLang="en-US" sz="2400" b="1"/>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4185" y="617220"/>
            <a:ext cx="11212195" cy="5720080"/>
          </a:xfrm>
        </p:spPr>
        <p:txBody>
          <a:bodyPr/>
          <a:p>
            <a:r>
              <a:rPr lang="zh-CN" altLang="en-US" sz="2400" b="1">
                <a:solidFill>
                  <a:srgbClr val="00B050"/>
                </a:solidFill>
              </a:rPr>
              <a:t>真题</a:t>
            </a:r>
            <a:r>
              <a:rPr lang="en-US" altLang="zh-CN" sz="2400" b="1">
                <a:solidFill>
                  <a:srgbClr val="00B050"/>
                </a:solidFill>
              </a:rPr>
              <a:t>76</a:t>
            </a:r>
            <a:r>
              <a:rPr sz="2400" b="1"/>
              <a:t>：</a:t>
            </a:r>
            <a:r>
              <a:rPr lang="zh-CN" altLang="en-US" sz="2400" b="1"/>
              <a:t>政府失灵是指个人对公共物品的需求在现代民主政治中得不到很好的满足，公共部分在提供公共物品时趋于浪费和滥用资源，致使公共支出规模过大或者效率降低，政府的活动或干预措施缺乏效率、或者说政府做出了降低经济效率的决策或不能实施改善经济效率的决策。</a:t>
            </a:r>
            <a:endParaRPr lang="zh-CN" altLang="en-US" sz="2400" b="1"/>
          </a:p>
          <a:p>
            <a:r>
              <a:rPr lang="zh-CN" altLang="en-US" sz="2400" b="1"/>
              <a:t>根据上述定义，下列属于政府失灵的是：</a:t>
            </a:r>
            <a:endParaRPr lang="zh-CN" altLang="en-US" sz="2400" b="1"/>
          </a:p>
          <a:p>
            <a:r>
              <a:rPr lang="zh-CN" altLang="en-US" sz="2400" b="1"/>
              <a:t>A.私立医院的优质医疗服务只有少数富人群体可以享用</a:t>
            </a:r>
            <a:endParaRPr lang="zh-CN" altLang="en-US" sz="2400" b="1"/>
          </a:p>
          <a:p>
            <a:r>
              <a:rPr lang="zh-CN" altLang="en-US" sz="2400" b="1"/>
              <a:t>B.购买国产汽车可以享受政府补贴的政策使得进口汽车的销量受到严重影响</a:t>
            </a:r>
            <a:endParaRPr lang="zh-CN" altLang="en-US" sz="2400" b="1"/>
          </a:p>
          <a:p>
            <a:r>
              <a:rPr lang="zh-CN" altLang="en-US" sz="2400" b="1"/>
              <a:t>C.因资格审查政策有漏洞，大批经济适用房被有多套住房的人买走</a:t>
            </a:r>
            <a:endParaRPr lang="zh-CN" altLang="en-US" sz="2400" b="1"/>
          </a:p>
          <a:p>
            <a:r>
              <a:rPr lang="zh-CN" altLang="en-US" sz="2400" b="1"/>
              <a:t>D.政府的西部开发计划使得不少高科技人才流向西部边远地区</a:t>
            </a:r>
            <a:endParaRPr lang="zh-CN" altLang="en-US" sz="2400" b="1"/>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4185" y="316865"/>
            <a:ext cx="11212195" cy="6020435"/>
          </a:xfrm>
        </p:spPr>
        <p:txBody>
          <a:bodyPr/>
          <a:p>
            <a:r>
              <a:rPr lang="zh-CN" altLang="en-US" sz="2400" b="1">
                <a:solidFill>
                  <a:srgbClr val="00B050"/>
                </a:solidFill>
              </a:rPr>
              <a:t>真题</a:t>
            </a:r>
            <a:r>
              <a:rPr lang="en-US" altLang="zh-CN" sz="2400" b="1">
                <a:solidFill>
                  <a:srgbClr val="00B050"/>
                </a:solidFill>
              </a:rPr>
              <a:t>76</a:t>
            </a:r>
            <a:r>
              <a:rPr sz="2400" b="1">
                <a:solidFill>
                  <a:srgbClr val="00B050"/>
                </a:solidFill>
              </a:rPr>
              <a:t>分析</a:t>
            </a:r>
            <a:r>
              <a:rPr sz="2400" b="1"/>
              <a:t>：</a:t>
            </a:r>
            <a:r>
              <a:rPr lang="zh-CN" altLang="en-US" sz="2400" b="1"/>
              <a:t>政府失灵是指个人对公共物品的需求在现代民主政治中得不到很好的满足，公共部分在提供公共物品时趋于浪费和滥用资源，致使公共支出规模过大或者效率降低，</a:t>
            </a:r>
            <a:r>
              <a:rPr lang="zh-CN" altLang="en-US" sz="2400" b="1">
                <a:solidFill>
                  <a:srgbClr val="FF0000"/>
                </a:solidFill>
              </a:rPr>
              <a:t>政府的活动或干预措施缺乏效率</a:t>
            </a:r>
            <a:r>
              <a:rPr lang="zh-CN" altLang="en-US" sz="2400" b="1"/>
              <a:t>、或者说政府做出了降低经济效率的决策或不能实施改善经济效率的决策。</a:t>
            </a:r>
            <a:endParaRPr lang="zh-CN" altLang="en-US" sz="2400" b="1"/>
          </a:p>
          <a:p>
            <a:r>
              <a:rPr lang="zh-CN" altLang="en-US" sz="2400" b="1"/>
              <a:t>根据上述定义，下列属于政府失灵的是：</a:t>
            </a:r>
            <a:endParaRPr lang="zh-CN" altLang="en-US" sz="2400" b="1"/>
          </a:p>
          <a:p>
            <a:r>
              <a:rPr lang="zh-CN" altLang="en-US" sz="2400" b="1"/>
              <a:t>A.私立医院的优质医疗服务只有少数富人群体可以享用</a:t>
            </a:r>
            <a:endParaRPr lang="zh-CN" altLang="en-US" sz="2400" b="1"/>
          </a:p>
          <a:p>
            <a:r>
              <a:rPr lang="zh-CN" altLang="en-US" sz="2400" b="1"/>
              <a:t>B.购买国产汽车可以享受政府补贴的政策使得进口汽车的销量受到严重影响</a:t>
            </a:r>
            <a:endParaRPr lang="zh-CN" altLang="en-US" sz="2400" b="1"/>
          </a:p>
          <a:p>
            <a:r>
              <a:rPr lang="zh-CN" altLang="en-US" sz="2400" b="1"/>
              <a:t>C.因资格审查政策有漏洞，大批经济适用房被有多套住房的人买走</a:t>
            </a:r>
            <a:endParaRPr lang="zh-CN" altLang="en-US" sz="2400" b="1"/>
          </a:p>
          <a:p>
            <a:r>
              <a:rPr lang="zh-CN" altLang="en-US" sz="2400" b="1"/>
              <a:t>D.政府的西部开发计划使得不少高科技人才流向西部边远地区</a:t>
            </a:r>
            <a:endParaRPr lang="zh-CN" altLang="en-US" sz="2400" b="1"/>
          </a:p>
          <a:p>
            <a:r>
              <a:rPr lang="zh-CN" altLang="en-US" sz="2400" b="1"/>
              <a:t>分析：关键信息：</a:t>
            </a:r>
            <a:r>
              <a:rPr sz="2400" b="1">
                <a:solidFill>
                  <a:srgbClr val="FF0000"/>
                </a:solidFill>
                <a:sym typeface="+mn-ea"/>
              </a:rPr>
              <a:t>政府的活动或干预措施缺乏效率</a:t>
            </a:r>
            <a:r>
              <a:rPr lang="zh-CN" altLang="en-US" sz="2400" b="1"/>
              <a:t>。只有</a:t>
            </a:r>
            <a:r>
              <a:rPr lang="en-US" altLang="zh-CN" sz="2400" b="1"/>
              <a:t>C</a:t>
            </a:r>
            <a:r>
              <a:rPr sz="2400" b="1"/>
              <a:t>是</a:t>
            </a:r>
            <a:r>
              <a:rPr lang="en-US" altLang="zh-CN" sz="2400" b="1"/>
              <a:t>“</a:t>
            </a:r>
            <a:r>
              <a:rPr sz="2400" b="1">
                <a:sym typeface="+mn-ea"/>
              </a:rPr>
              <a:t>政策有漏洞</a:t>
            </a:r>
            <a:r>
              <a:rPr lang="en-US" altLang="zh-CN" sz="2400" b="1"/>
              <a:t>”</a:t>
            </a:r>
            <a:r>
              <a:rPr sz="2400" b="1"/>
              <a:t>符合题意。</a:t>
            </a:r>
            <a:r>
              <a:rPr lang="en-US" altLang="zh-CN" sz="2400" b="1"/>
              <a:t>A</a:t>
            </a:r>
            <a:r>
              <a:rPr sz="2400" b="1"/>
              <a:t>是</a:t>
            </a:r>
            <a:r>
              <a:rPr sz="2400" b="1">
                <a:sym typeface="+mn-ea"/>
              </a:rPr>
              <a:t>私立医院，不是政府。</a:t>
            </a:r>
            <a:r>
              <a:rPr lang="en-US" altLang="zh-CN" sz="2400" b="1"/>
              <a:t>BD</a:t>
            </a:r>
            <a:r>
              <a:rPr sz="2400" b="1"/>
              <a:t>没有体现</a:t>
            </a:r>
            <a:r>
              <a:rPr lang="en-US" altLang="zh-CN" sz="2400" b="1"/>
              <a:t>“</a:t>
            </a:r>
            <a:r>
              <a:rPr sz="2400" b="1">
                <a:solidFill>
                  <a:srgbClr val="FF0000"/>
                </a:solidFill>
                <a:sym typeface="+mn-ea"/>
              </a:rPr>
              <a:t>缺乏效率</a:t>
            </a:r>
            <a:r>
              <a:rPr lang="en-US" altLang="zh-CN" sz="2400" b="1"/>
              <a:t>”</a:t>
            </a:r>
            <a:r>
              <a:rPr sz="2400" b="1"/>
              <a:t>。故选</a:t>
            </a:r>
            <a:r>
              <a:rPr lang="en-US" altLang="zh-CN" sz="2400" b="1"/>
              <a:t>C</a:t>
            </a:r>
            <a:r>
              <a:rPr sz="2400" b="1"/>
              <a:t>。</a:t>
            </a:r>
            <a:endParaRPr sz="2400" b="1"/>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77</a:t>
            </a:r>
            <a:endParaRPr lang="en-US" altLang="zh-CN">
              <a:solidFill>
                <a:srgbClr val="00B050"/>
              </a:solidFill>
            </a:endParaRPr>
          </a:p>
        </p:txBody>
      </p:sp>
      <p:sp>
        <p:nvSpPr>
          <p:cNvPr id="3" name="内容占位符 2"/>
          <p:cNvSpPr>
            <a:spLocks noGrp="1"/>
          </p:cNvSpPr>
          <p:nvPr>
            <p:ph idx="1"/>
          </p:nvPr>
        </p:nvSpPr>
        <p:spPr>
          <a:xfrm>
            <a:off x="360680" y="1296035"/>
            <a:ext cx="11899265" cy="5041265"/>
          </a:xfrm>
        </p:spPr>
        <p:txBody>
          <a:bodyPr/>
          <a:p>
            <a:r>
              <a:rPr lang="zh-CN" altLang="en-US" sz="2400" b="1"/>
              <a:t>微问政指相关政府部门通过微博与网民互动，讨论社会公众话题，征询意见。</a:t>
            </a:r>
            <a:endParaRPr lang="zh-CN" altLang="en-US" sz="2400" b="1"/>
          </a:p>
          <a:p>
            <a:r>
              <a:rPr lang="zh-CN" altLang="en-US" sz="2400" b="1"/>
              <a:t>根据上述定义，下列属于微问政的是：</a:t>
            </a:r>
            <a:endParaRPr lang="zh-CN" altLang="en-US" sz="2400" b="1"/>
          </a:p>
          <a:p>
            <a:r>
              <a:rPr lang="zh-CN" altLang="en-US" sz="2400" b="1"/>
              <a:t>A.某市国土房管局在官方微博上推出系列活动，邀请市民就所关心的问题参与讨论</a:t>
            </a:r>
            <a:endParaRPr lang="zh-CN" altLang="en-US" sz="2400" b="1"/>
          </a:p>
          <a:p>
            <a:r>
              <a:rPr lang="zh-CN" altLang="en-US" sz="2400" b="1"/>
              <a:t>B.某企业建立了网络互动平台，对员工关心的问题进行解答，受到了员工的热捧</a:t>
            </a:r>
            <a:endParaRPr lang="zh-CN" altLang="en-US" sz="2400" b="1"/>
          </a:p>
          <a:p>
            <a:r>
              <a:rPr lang="zh-CN" altLang="en-US" sz="2400" b="1"/>
              <a:t>C.某市工商局在社区设立一名指导员，负责开展消费维权知识讲座，帮助解决纠纷</a:t>
            </a:r>
            <a:endParaRPr lang="zh-CN" altLang="en-US" sz="2400" b="1"/>
          </a:p>
          <a:p>
            <a:r>
              <a:rPr lang="zh-CN" altLang="en-US" sz="2400" b="1"/>
              <a:t>D.某大学广播站面向全体师生开通微信群，社会焦点问题成了大家的热门话题</a:t>
            </a:r>
            <a:endParaRPr lang="zh-CN" altLang="en-US" sz="2400" b="1"/>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384810"/>
            <a:ext cx="12260580" cy="5952490"/>
          </a:xfrm>
        </p:spPr>
        <p:txBody>
          <a:bodyPr/>
          <a:p>
            <a:r>
              <a:rPr lang="zh-CN" altLang="en-US" sz="2400" b="1">
                <a:solidFill>
                  <a:srgbClr val="00B050"/>
                </a:solidFill>
              </a:rPr>
              <a:t>真题</a:t>
            </a:r>
            <a:r>
              <a:rPr lang="en-US" altLang="zh-CN" sz="2400" b="1">
                <a:solidFill>
                  <a:srgbClr val="00B050"/>
                </a:solidFill>
              </a:rPr>
              <a:t>77</a:t>
            </a:r>
            <a:r>
              <a:rPr sz="2400" b="1">
                <a:solidFill>
                  <a:srgbClr val="00B050"/>
                </a:solidFill>
              </a:rPr>
              <a:t>分析</a:t>
            </a:r>
            <a:r>
              <a:rPr sz="2400" b="1"/>
              <a:t>：</a:t>
            </a:r>
            <a:r>
              <a:rPr lang="zh-CN" altLang="en-US" sz="2400" b="1"/>
              <a:t>微问政指</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相关政府部门</a:t>
            </a:r>
            <a:r>
              <a:rPr lang="zh-CN" altLang="en-US" sz="2400" b="1">
                <a:solidFill>
                  <a:srgbClr val="00B050"/>
                </a:solidFill>
                <a:latin typeface="宋体" panose="02010600030101010101" pitchFamily="2" charset="-122"/>
                <a:ea typeface="宋体" panose="02010600030101010101" pitchFamily="2" charset="-122"/>
              </a:rPr>
              <a:t>②</a:t>
            </a:r>
            <a:r>
              <a:rPr lang="zh-CN" altLang="en-US" sz="2400" b="1">
                <a:solidFill>
                  <a:srgbClr val="00B050"/>
                </a:solidFill>
              </a:rPr>
              <a:t>通过微博与网民互动</a:t>
            </a:r>
            <a:r>
              <a:rPr lang="zh-CN" altLang="en-US" sz="2400" b="1"/>
              <a:t>，讨论社会公众话题，征询意见。</a:t>
            </a:r>
            <a:endParaRPr lang="zh-CN" altLang="en-US" sz="2400" b="1"/>
          </a:p>
          <a:p>
            <a:r>
              <a:rPr lang="zh-CN" altLang="en-US" sz="2400" b="1"/>
              <a:t>根据上述定义，下列属于微问政的是：</a:t>
            </a:r>
            <a:endParaRPr lang="zh-CN" altLang="en-US" sz="2400" b="1"/>
          </a:p>
          <a:p>
            <a:r>
              <a:rPr lang="zh-CN" altLang="en-US" sz="2400" b="1"/>
              <a:t>A.某市国土房管局在官方微博上推出系列活动，邀请市民就所关心的问题参与讨论</a:t>
            </a:r>
            <a:endParaRPr lang="zh-CN" altLang="en-US" sz="2400" b="1"/>
          </a:p>
          <a:p>
            <a:r>
              <a:rPr lang="zh-CN" altLang="en-US" sz="2400" b="1"/>
              <a:t>B.某企业建立了网络互动平台，对员工关心的问题进行解答，受到了员工的热捧</a:t>
            </a:r>
            <a:endParaRPr lang="zh-CN" altLang="en-US" sz="2400" b="1"/>
          </a:p>
          <a:p>
            <a:r>
              <a:rPr lang="zh-CN" altLang="en-US" sz="2400" b="1"/>
              <a:t>C.某市工商局在社区设立一名指导员，负责开展消费维权知识讲座，帮助解决纠纷</a:t>
            </a:r>
            <a:endParaRPr lang="zh-CN" altLang="en-US" sz="2400" b="1"/>
          </a:p>
          <a:p>
            <a:r>
              <a:rPr lang="zh-CN" altLang="en-US" sz="2400" b="1"/>
              <a:t>D.某大学广播站面向全体师生开通微信群，社会焦点问题成了大家的热门话题</a:t>
            </a:r>
            <a:endParaRPr lang="zh-CN" altLang="en-US" sz="2400" b="1"/>
          </a:p>
          <a:p>
            <a:r>
              <a:rPr lang="zh-CN" altLang="en-US" sz="2400" b="1"/>
              <a:t>分析：</a:t>
            </a:r>
            <a:r>
              <a:rPr lang="en-US" altLang="zh-CN" sz="2400" b="1">
                <a:solidFill>
                  <a:srgbClr val="00B050"/>
                </a:solidFill>
              </a:rPr>
              <a:t>B</a:t>
            </a:r>
            <a:r>
              <a:rPr sz="2400" b="1">
                <a:solidFill>
                  <a:srgbClr val="00B050"/>
                </a:solidFill>
              </a:rPr>
              <a:t>是</a:t>
            </a:r>
            <a:r>
              <a:rPr sz="2400" b="1">
                <a:solidFill>
                  <a:srgbClr val="00B050"/>
                </a:solidFill>
                <a:sym typeface="+mn-ea"/>
              </a:rPr>
              <a:t>网络互动平台</a:t>
            </a:r>
            <a:r>
              <a:rPr sz="2400" b="1"/>
              <a:t>，</a:t>
            </a:r>
            <a:r>
              <a:rPr lang="en-US" altLang="zh-CN" sz="2400" b="1"/>
              <a:t>C</a:t>
            </a:r>
            <a:r>
              <a:rPr sz="2400" b="1"/>
              <a:t>是讲座，</a:t>
            </a:r>
            <a:r>
              <a:rPr lang="en-US" altLang="zh-CN" sz="2400" b="1">
                <a:solidFill>
                  <a:srgbClr val="00B050"/>
                </a:solidFill>
              </a:rPr>
              <a:t>D</a:t>
            </a:r>
            <a:r>
              <a:rPr sz="2400" b="1">
                <a:solidFill>
                  <a:srgbClr val="00B050"/>
                </a:solidFill>
              </a:rPr>
              <a:t>是</a:t>
            </a:r>
            <a:r>
              <a:rPr sz="2400" b="1">
                <a:solidFill>
                  <a:srgbClr val="00B050"/>
                </a:solidFill>
                <a:sym typeface="+mn-ea"/>
              </a:rPr>
              <a:t>微信群</a:t>
            </a:r>
            <a:r>
              <a:rPr sz="2400" b="1">
                <a:sym typeface="+mn-ea"/>
              </a:rPr>
              <a:t>，均不符合</a:t>
            </a:r>
            <a:r>
              <a:rPr sz="2400" b="1">
                <a:solidFill>
                  <a:srgbClr val="FF0000"/>
                </a:solidFill>
                <a:latin typeface="宋体" panose="02010600030101010101" pitchFamily="2" charset="-122"/>
                <a:ea typeface="宋体" panose="02010600030101010101" pitchFamily="2" charset="-122"/>
                <a:sym typeface="+mn-ea"/>
              </a:rPr>
              <a:t>①</a:t>
            </a:r>
            <a:r>
              <a:rPr sz="2400" b="1">
                <a:solidFill>
                  <a:srgbClr val="00B050"/>
                </a:solidFill>
                <a:latin typeface="宋体" panose="02010600030101010101" pitchFamily="2" charset="-122"/>
                <a:ea typeface="宋体" panose="02010600030101010101" pitchFamily="2" charset="-122"/>
                <a:sym typeface="+mn-ea"/>
              </a:rPr>
              <a:t>②</a:t>
            </a:r>
            <a:r>
              <a:rPr sz="2400" b="1">
                <a:sym typeface="+mn-ea"/>
              </a:rPr>
              <a:t>。只有</a:t>
            </a:r>
            <a:r>
              <a:rPr lang="en-US" altLang="zh-CN" sz="2400" b="1"/>
              <a:t>A</a:t>
            </a:r>
            <a:r>
              <a:rPr sz="2400" b="1"/>
              <a:t>符合定义，故选</a:t>
            </a:r>
            <a:r>
              <a:rPr lang="en-US" altLang="zh-CN" sz="2400" b="1"/>
              <a:t>A</a:t>
            </a:r>
            <a:r>
              <a:rPr sz="2400" b="1"/>
              <a:t>。</a:t>
            </a:r>
            <a:endParaRPr sz="2400" b="1"/>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6.</a:t>
            </a:r>
            <a:r>
              <a:t>语言文学</a:t>
            </a:r>
          </a:p>
        </p:txBody>
      </p:sp>
      <p:sp>
        <p:nvSpPr>
          <p:cNvPr id="3" name="内容占位符 2"/>
          <p:cNvSpPr>
            <a:spLocks noGrp="1"/>
          </p:cNvSpPr>
          <p:nvPr>
            <p:ph idx="1"/>
          </p:nvPr>
        </p:nvSpPr>
        <p:spPr/>
        <p:txBody>
          <a:bodyPr/>
          <a:p>
            <a:r>
              <a:rPr lang="zh-CN" altLang="en-US" sz="2400" b="1"/>
              <a:t>语言文学类题目的考查内容往往是曾经学过的或与生活息息相关的知识，因此考生并不会感到陌生。只需掌握分析和归纳定义的特征，也即提取要点法和归纳关键信息法，就可以以不变应万变。</a:t>
            </a:r>
            <a:endParaRPr lang="zh-CN" altLang="en-US" sz="2400" b="1"/>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78</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语流音变是单个语音组合成连续的语音流时，连在一起的几个音由于说话时语速快慢、音量高低、语气强弱的不同，相互影响、相互适应，由此而产生的语音的变化。</a:t>
            </a:r>
            <a:endParaRPr lang="zh-CN" altLang="en-US" sz="2400" b="1"/>
          </a:p>
          <a:p>
            <a:r>
              <a:rPr lang="zh-CN" altLang="en-US" sz="2400" b="1"/>
              <a:t>根据上述定义，下列属于语流音变的是：</a:t>
            </a:r>
            <a:endParaRPr lang="zh-CN" altLang="en-US" sz="2400" b="1"/>
          </a:p>
          <a:p>
            <a:r>
              <a:rPr lang="zh-CN" altLang="en-US" sz="2400" b="1"/>
              <a:t>A.北京人说话喜欢加儿化音，几乎每个名词后面都可以加</a:t>
            </a:r>
            <a:endParaRPr lang="zh-CN" altLang="en-US" sz="2400" b="1"/>
          </a:p>
          <a:p>
            <a:r>
              <a:rPr lang="zh-CN" altLang="en-US" sz="2400" b="1"/>
              <a:t>B.安徽方言中“n”“l”不分，会把“美女”读成“美铝”</a:t>
            </a:r>
            <a:endParaRPr lang="zh-CN" altLang="en-US" sz="2400" b="1"/>
          </a:p>
          <a:p>
            <a:r>
              <a:rPr lang="zh-CN" altLang="en-US" sz="2400" b="1"/>
              <a:t>C.英语里名词复数词尾-s本来读清音[s]，假如前面名词的最后一个音是浊音，就会受影响而变成浊音[z]</a:t>
            </a:r>
            <a:endParaRPr lang="zh-CN" altLang="en-US" sz="2400" b="1"/>
          </a:p>
          <a:p>
            <a:r>
              <a:rPr lang="zh-CN" altLang="en-US" sz="2400" b="1"/>
              <a:t>D.英语国家的学习者受母语的影响，在学汉语时会把“爸爸”说成“趴趴”</a:t>
            </a:r>
            <a:endParaRPr lang="zh-CN" altLang="en-US" sz="2400" b="1"/>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747395" y="342900"/>
            <a:ext cx="10852150" cy="6165215"/>
          </a:xfrm>
        </p:spPr>
        <p:txBody>
          <a:bodyPr/>
          <a:p>
            <a:r>
              <a:rPr sz="2400" b="1">
                <a:solidFill>
                  <a:srgbClr val="00B050"/>
                </a:solidFill>
                <a:sym typeface="+mn-ea"/>
              </a:rPr>
              <a:t>真题</a:t>
            </a:r>
            <a:r>
              <a:rPr lang="en-US" altLang="zh-CN" sz="2400" b="1">
                <a:solidFill>
                  <a:srgbClr val="00B050"/>
                </a:solidFill>
                <a:sym typeface="+mn-ea"/>
              </a:rPr>
              <a:t>78</a:t>
            </a:r>
            <a:r>
              <a:rPr sz="2400" b="1">
                <a:solidFill>
                  <a:srgbClr val="00B050"/>
                </a:solidFill>
                <a:sym typeface="+mn-ea"/>
              </a:rPr>
              <a:t>分析</a:t>
            </a:r>
            <a:r>
              <a:rPr sz="2400">
                <a:solidFill>
                  <a:srgbClr val="00B050"/>
                </a:solidFill>
                <a:sym typeface="+mn-ea"/>
              </a:rPr>
              <a:t>：</a:t>
            </a:r>
            <a:r>
              <a:rPr lang="zh-CN" altLang="en-US" sz="2400" b="1"/>
              <a:t>语流音变是单个语音组合成连续的语音流时，</a:t>
            </a:r>
            <a:r>
              <a:rPr lang="zh-CN" altLang="en-US" sz="2400" b="1">
                <a:solidFill>
                  <a:srgbClr val="FF0000"/>
                </a:solidFill>
              </a:rPr>
              <a:t>连在一起的几个音</a:t>
            </a:r>
            <a:r>
              <a:rPr lang="zh-CN" altLang="en-US" sz="2400" b="1"/>
              <a:t>由于说话时语速快慢、音量高低、语气强弱的不同，</a:t>
            </a:r>
            <a:r>
              <a:rPr lang="zh-CN" altLang="en-US" sz="2400" b="1">
                <a:solidFill>
                  <a:srgbClr val="FF0000"/>
                </a:solidFill>
              </a:rPr>
              <a:t>相互影响、相互适应，由此而产生的语音的变化</a:t>
            </a:r>
            <a:r>
              <a:rPr lang="zh-CN" altLang="en-US" sz="2400" b="1"/>
              <a:t>。</a:t>
            </a:r>
            <a:endParaRPr lang="zh-CN" altLang="en-US" sz="2400" b="1"/>
          </a:p>
          <a:p>
            <a:r>
              <a:rPr lang="zh-CN" altLang="en-US" sz="2400" b="1"/>
              <a:t>根据上述定义，下列属于语流音变的是：</a:t>
            </a:r>
            <a:endParaRPr lang="zh-CN" altLang="en-US" sz="2400" b="1"/>
          </a:p>
          <a:p>
            <a:r>
              <a:rPr lang="zh-CN" altLang="en-US" sz="2400" b="1"/>
              <a:t>A.北京人说话喜欢加儿化音，几乎每个名词后面都可以加</a:t>
            </a:r>
            <a:endParaRPr lang="zh-CN" altLang="en-US" sz="2400" b="1"/>
          </a:p>
          <a:p>
            <a:r>
              <a:rPr lang="zh-CN" altLang="en-US" sz="2400" b="1"/>
              <a:t>B.安徽方言中“n”“l”不分，会把“美女”读成“美铝”</a:t>
            </a:r>
            <a:endParaRPr lang="zh-CN" altLang="en-US" sz="2400" b="1"/>
          </a:p>
          <a:p>
            <a:r>
              <a:rPr lang="zh-CN" altLang="en-US" sz="2400" b="1"/>
              <a:t>C.英语里名词复数词尾-s本来读清音[s]，假如前面名词的最后一个音是浊音，就会受影响而变成浊音[z]</a:t>
            </a:r>
            <a:endParaRPr lang="zh-CN" altLang="en-US" sz="2400" b="1"/>
          </a:p>
          <a:p>
            <a:r>
              <a:rPr lang="zh-CN" altLang="en-US" sz="2400" b="1"/>
              <a:t>D.英语国家的学习者受母语的影响，在学汉语时会把“爸爸”说成“趴趴”</a:t>
            </a:r>
            <a:endParaRPr lang="zh-CN" altLang="en-US" sz="2400" b="1"/>
          </a:p>
          <a:p>
            <a:r>
              <a:rPr lang="zh-CN" altLang="en-US" sz="2400" b="1"/>
              <a:t>分析：关键信息是红色字部分。</a:t>
            </a:r>
            <a:r>
              <a:rPr lang="en-US" altLang="zh-CN" sz="2400" b="1"/>
              <a:t>A</a:t>
            </a:r>
            <a:r>
              <a:rPr sz="2400" b="1"/>
              <a:t>属于方言习惯。</a:t>
            </a:r>
            <a:r>
              <a:rPr lang="en-US" altLang="zh-CN" sz="2400" b="1"/>
              <a:t>B</a:t>
            </a:r>
            <a:r>
              <a:rPr sz="2400" b="1"/>
              <a:t>是声母区分不清导致的错误。</a:t>
            </a:r>
            <a:r>
              <a:rPr lang="en-US" altLang="zh-CN" sz="2400" b="1"/>
              <a:t>D</a:t>
            </a:r>
            <a:r>
              <a:rPr sz="2400" b="1"/>
              <a:t>是由于受到母语的影响而造成的读音不清。</a:t>
            </a:r>
            <a:r>
              <a:rPr lang="en-US" altLang="zh-CN" sz="2400" b="1"/>
              <a:t>C</a:t>
            </a:r>
            <a:r>
              <a:rPr sz="2400" b="1"/>
              <a:t>符合定义，选</a:t>
            </a:r>
            <a:r>
              <a:rPr lang="en-US" altLang="zh-CN" sz="2400" b="1"/>
              <a:t>C</a:t>
            </a:r>
            <a:r>
              <a:rPr sz="2400" b="1"/>
              <a:t>。</a:t>
            </a:r>
            <a:endParaRPr sz="2400" b="1"/>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48285" y="342265"/>
            <a:ext cx="11790045" cy="6261100"/>
          </a:xfrm>
        </p:spPr>
        <p:txBody>
          <a:bodyPr/>
          <a:p>
            <a:r>
              <a:rPr lang="zh-CN" altLang="en-US" sz="2400" b="1">
                <a:solidFill>
                  <a:srgbClr val="00B050"/>
                </a:solidFill>
              </a:rPr>
              <a:t>作业</a:t>
            </a:r>
            <a:r>
              <a:rPr lang="en-US" altLang="zh-CN" sz="2400" b="1">
                <a:solidFill>
                  <a:srgbClr val="00B050"/>
                </a:solidFill>
              </a:rPr>
              <a:t>1—</a:t>
            </a:r>
            <a:r>
              <a:rPr lang="zh-CN" altLang="en-US" sz="2400" b="1">
                <a:solidFill>
                  <a:srgbClr val="00B050"/>
                </a:solidFill>
              </a:rPr>
              <a:t>真题</a:t>
            </a:r>
            <a:r>
              <a:rPr lang="en-US" altLang="zh-CN" sz="2400" b="1">
                <a:solidFill>
                  <a:srgbClr val="00B050"/>
                </a:solidFill>
              </a:rPr>
              <a:t>79</a:t>
            </a:r>
            <a:r>
              <a:rPr sz="2400" b="1"/>
              <a:t>：</a:t>
            </a:r>
            <a:r>
              <a:rPr lang="zh-CN" altLang="en-US" sz="2400" b="1"/>
              <a:t>沉锚效应指的是人们在对某人某事作出判断时，易受第一印象或第一信息支配，就像沉入海底的锚一样把人的思想固定在某处。</a:t>
            </a:r>
            <a:endParaRPr lang="zh-CN" altLang="en-US" sz="2400" b="1"/>
          </a:p>
          <a:p>
            <a:r>
              <a:rPr lang="zh-CN" altLang="en-US" sz="2400" b="1"/>
              <a:t>根据上述定义，下列不符合沉锚效应的是：</a:t>
            </a:r>
            <a:endParaRPr lang="zh-CN" altLang="en-US" sz="2400" b="1"/>
          </a:p>
          <a:p>
            <a:r>
              <a:rPr lang="zh-CN" altLang="en-US" sz="2400" b="1"/>
              <a:t>A.小高在面试时西装革履，侃侃而谈，不卑不亢，主管对他很满意。但在实习期，主管发现小高做事虎头蛇尾，对他很失望，最终没有录取他</a:t>
            </a:r>
            <a:endParaRPr lang="zh-CN" altLang="en-US" sz="2400" b="1"/>
          </a:p>
          <a:p>
            <a:r>
              <a:rPr lang="zh-CN" altLang="en-US" sz="2400" b="1"/>
              <a:t>B.小刘开了一家饰品店，他有意将饰品价格标注得略高于顾客可以接受的价格，然后主动给顾客打折，顾客认为这家店的饰品都很实惠</a:t>
            </a:r>
            <a:endParaRPr lang="zh-CN" altLang="en-US" sz="2400" b="1"/>
          </a:p>
          <a:p>
            <a:r>
              <a:rPr lang="zh-CN" altLang="en-US" sz="2400" b="1"/>
              <a:t>C.张老师第一次上课时内容充实，言语幽默，学生对他评价很好，第二次上课时张老师讲课单调乏味，学生觉得张老师今天状态不好，影响了发挥</a:t>
            </a:r>
            <a:endParaRPr lang="zh-CN" altLang="en-US" sz="2400" b="1"/>
          </a:p>
          <a:p>
            <a:r>
              <a:rPr lang="zh-CN" altLang="en-US" sz="2400" b="1"/>
              <a:t>D.一家皮具制造商只在机场和高端百货商店建立专卖店，且有意与世界名牌店比邻，虽然其商品比其他同类国产商品价格略高，但近年来一直保持增长趋势</a:t>
            </a:r>
            <a:endParaRPr lang="zh-CN" altLang="en-US" sz="2400" b="1"/>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作业</a:t>
            </a:r>
            <a:r>
              <a:rPr lang="en-US" altLang="zh-CN">
                <a:solidFill>
                  <a:srgbClr val="00B050"/>
                </a:solidFill>
                <a:sym typeface="+mn-ea"/>
              </a:rPr>
              <a:t>2—</a:t>
            </a:r>
            <a:r>
              <a:rPr>
                <a:solidFill>
                  <a:srgbClr val="00B050"/>
                </a:solidFill>
                <a:sym typeface="+mn-ea"/>
              </a:rPr>
              <a:t>真题</a:t>
            </a:r>
            <a:r>
              <a:rPr lang="en-US" altLang="zh-CN">
                <a:solidFill>
                  <a:srgbClr val="00B050"/>
                </a:solidFill>
                <a:sym typeface="+mn-ea"/>
              </a:rPr>
              <a:t>80</a:t>
            </a:r>
            <a:r>
              <a:rPr>
                <a:sym typeface="+mn-ea"/>
              </a:rPr>
              <a:t>：</a:t>
            </a:r>
            <a:endParaRPr lang="zh-CN" altLang="en-US"/>
          </a:p>
        </p:txBody>
      </p:sp>
      <p:sp>
        <p:nvSpPr>
          <p:cNvPr id="3" name="内容占位符 2"/>
          <p:cNvSpPr>
            <a:spLocks noGrp="1"/>
          </p:cNvSpPr>
          <p:nvPr>
            <p:ph idx="1"/>
          </p:nvPr>
        </p:nvSpPr>
        <p:spPr/>
        <p:txBody>
          <a:bodyPr/>
          <a:p>
            <a:r>
              <a:rPr lang="zh-CN" altLang="en-US" sz="2400" b="1"/>
              <a:t>房地产经纪是以提取佣金为经济特征，为促成他人房地产交易，而从事房地产买卖交换、租赁、置换等信息提供、信托劳务、居间代理等业务的经济活动。</a:t>
            </a:r>
            <a:endParaRPr lang="zh-CN" altLang="en-US" sz="2400" b="1"/>
          </a:p>
          <a:p>
            <a:r>
              <a:rPr lang="zh-CN" altLang="en-US" sz="2400" b="1"/>
              <a:t>根据上述定义，下列属于房地产经纪的是：</a:t>
            </a:r>
            <a:endParaRPr lang="zh-CN" altLang="en-US" sz="2400" b="1"/>
          </a:p>
          <a:p>
            <a:r>
              <a:rPr lang="zh-CN" altLang="en-US" sz="2400" b="1"/>
              <a:t>A.作为社区工作者，张大妈经常为小区内买卖房屋的人牵线搭桥</a:t>
            </a:r>
            <a:endParaRPr lang="zh-CN" altLang="en-US" sz="2400" b="1"/>
          </a:p>
          <a:p>
            <a:r>
              <a:rPr lang="zh-CN" altLang="en-US" sz="2400" b="1"/>
              <a:t>B.某网站设置房地产专栏，免费为发布租房卖房信息的会员提供服务</a:t>
            </a:r>
            <a:endParaRPr lang="zh-CN" altLang="en-US" sz="2400" b="1"/>
          </a:p>
          <a:p>
            <a:r>
              <a:rPr lang="zh-CN" altLang="en-US" sz="2400" b="1"/>
              <a:t>C.某中介公司接受一位房地产开发商的委托，销售其新开发的商品房</a:t>
            </a:r>
            <a:endParaRPr lang="zh-CN" altLang="en-US" sz="2400" b="1"/>
          </a:p>
          <a:p>
            <a:r>
              <a:rPr lang="zh-CN" altLang="en-US" sz="2400" b="1"/>
              <a:t>D.物业顾问小李通过自己的房地产人脉关系买到一套性价比较高的房子</a:t>
            </a:r>
            <a:endParaRPr lang="zh-CN" altLang="en-US" sz="2400" b="1"/>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17370"/>
            <a:ext cx="10852237" cy="648000"/>
          </a:xfrm>
        </p:spPr>
        <p:txBody>
          <a:bodyPr/>
          <a:p>
            <a:r>
              <a:rPr>
                <a:solidFill>
                  <a:srgbClr val="00B050"/>
                </a:solidFill>
                <a:sym typeface="+mn-ea"/>
              </a:rPr>
              <a:t>作业</a:t>
            </a:r>
            <a:r>
              <a:rPr lang="en-US" altLang="zh-CN">
                <a:solidFill>
                  <a:srgbClr val="00B050"/>
                </a:solidFill>
                <a:sym typeface="+mn-ea"/>
              </a:rPr>
              <a:t>3—</a:t>
            </a:r>
            <a:r>
              <a:rPr>
                <a:solidFill>
                  <a:srgbClr val="00B050"/>
                </a:solidFill>
                <a:sym typeface="+mn-ea"/>
              </a:rPr>
              <a:t>真题</a:t>
            </a:r>
            <a:r>
              <a:rPr lang="en-US" altLang="zh-CN">
                <a:solidFill>
                  <a:srgbClr val="00B050"/>
                </a:solidFill>
                <a:sym typeface="+mn-ea"/>
              </a:rPr>
              <a:t>81</a:t>
            </a:r>
            <a:endParaRPr lang="en-US" altLang="zh-CN">
              <a:solidFill>
                <a:srgbClr val="00B050"/>
              </a:solidFill>
              <a:sym typeface="+mn-ea"/>
            </a:endParaRPr>
          </a:p>
        </p:txBody>
      </p:sp>
      <p:sp>
        <p:nvSpPr>
          <p:cNvPr id="3" name="内容占位符 2"/>
          <p:cNvSpPr>
            <a:spLocks noGrp="1"/>
          </p:cNvSpPr>
          <p:nvPr>
            <p:ph idx="1"/>
          </p:nvPr>
        </p:nvSpPr>
        <p:spPr>
          <a:xfrm>
            <a:off x="164465" y="1142365"/>
            <a:ext cx="11812270" cy="5186680"/>
          </a:xfrm>
        </p:spPr>
        <p:txBody>
          <a:bodyPr/>
          <a:p>
            <a:r>
              <a:rPr lang="zh-CN" altLang="en-US" sz="2400" b="1"/>
              <a:t>社会融入是指那些处于相对弱势地位的个体或群体能动地与特定社区中的个体与群体进行反思性、持续性互动的社会行动过程。</a:t>
            </a:r>
            <a:endParaRPr lang="zh-CN" altLang="en-US" sz="2400" b="1"/>
          </a:p>
          <a:p>
            <a:r>
              <a:rPr lang="zh-CN" altLang="en-US" sz="2400" b="1"/>
              <a:t>根据上述定义，下列不属于社会融入的是：</a:t>
            </a:r>
            <a:endParaRPr lang="zh-CN" altLang="en-US" sz="2400" b="1"/>
          </a:p>
          <a:p>
            <a:r>
              <a:rPr lang="zh-CN" altLang="en-US" sz="2400" b="1"/>
              <a:t>A.余秀华克服脑瘫带来的身体不便，无视村里人的歧视，最终在诗歌创作方面取得成功</a:t>
            </a:r>
            <a:endParaRPr lang="zh-CN" altLang="en-US" sz="2400" b="1"/>
          </a:p>
          <a:p>
            <a:r>
              <a:rPr lang="zh-CN" altLang="en-US" sz="2400" b="1"/>
              <a:t>B.小王出狱后饱受歧视，最终以善良、坚忍改变了大家对他的看法，获得了人们的尊重</a:t>
            </a:r>
            <a:endParaRPr lang="zh-CN" altLang="en-US" sz="2400" b="1"/>
          </a:p>
          <a:p>
            <a:r>
              <a:rPr lang="zh-CN" altLang="en-US" sz="2400" b="1"/>
              <a:t>C.小刘从银行辞职后，开了一家投资公司，利用自己积累的资源，公司发展迅速</a:t>
            </a:r>
            <a:endParaRPr lang="zh-CN" altLang="en-US" sz="2400" b="1"/>
          </a:p>
          <a:p>
            <a:r>
              <a:rPr lang="zh-CN" altLang="en-US" sz="2400" b="1"/>
              <a:t>D.徐先生为圆大学梦，在65岁时不顾他人看法，最终考入某大学</a:t>
            </a:r>
            <a:endParaRPr lang="zh-CN" altLang="en-US" sz="2400" b="1"/>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作业</a:t>
            </a:r>
            <a:r>
              <a:rPr lang="en-US" altLang="zh-CN">
                <a:solidFill>
                  <a:srgbClr val="00B050"/>
                </a:solidFill>
                <a:sym typeface="+mn-ea"/>
              </a:rPr>
              <a:t>4—</a:t>
            </a:r>
            <a:r>
              <a:rPr>
                <a:solidFill>
                  <a:srgbClr val="00B050"/>
                </a:solidFill>
                <a:sym typeface="+mn-ea"/>
              </a:rPr>
              <a:t>真题</a:t>
            </a:r>
            <a:r>
              <a:rPr lang="en-US" altLang="zh-CN">
                <a:solidFill>
                  <a:srgbClr val="00B050"/>
                </a:solidFill>
                <a:sym typeface="+mn-ea"/>
              </a:rPr>
              <a:t>82</a:t>
            </a:r>
            <a:endParaRPr lang="en-US" altLang="zh-CN">
              <a:solidFill>
                <a:srgbClr val="00B050"/>
              </a:solidFill>
              <a:sym typeface="+mn-ea"/>
            </a:endParaRPr>
          </a:p>
        </p:txBody>
      </p:sp>
      <p:sp>
        <p:nvSpPr>
          <p:cNvPr id="3" name="内容占位符 2"/>
          <p:cNvSpPr>
            <a:spLocks noGrp="1"/>
          </p:cNvSpPr>
          <p:nvPr>
            <p:ph idx="1"/>
          </p:nvPr>
        </p:nvSpPr>
        <p:spPr/>
        <p:txBody>
          <a:bodyPr/>
          <a:p>
            <a:r>
              <a:rPr lang="zh-CN" altLang="en-US" sz="2400" b="1"/>
              <a:t>我国婚姻法规定，禁止直系血亲和三代以内旁系血亲结婚。直系血亲是指和自己有直接血缘关系的亲属，三代以内旁系血亲是指与自己出身同一父母或同一祖父母、外祖父母，除直系血亲外的所有血亲。</a:t>
            </a:r>
            <a:endParaRPr lang="zh-CN" altLang="en-US" sz="2400" b="1"/>
          </a:p>
          <a:p>
            <a:r>
              <a:rPr lang="zh-CN" altLang="en-US" sz="2400" b="1"/>
              <a:t>根据上述定义，下列选项中的甲和乙可以结婚的是：</a:t>
            </a:r>
            <a:endParaRPr lang="zh-CN" altLang="en-US" sz="2400" b="1"/>
          </a:p>
          <a:p>
            <a:r>
              <a:rPr lang="zh-CN" altLang="en-US" sz="2400" b="1"/>
              <a:t>A.张某是甲（女）的姨父，乙系张某的儿子</a:t>
            </a:r>
            <a:endParaRPr lang="zh-CN" altLang="en-US" sz="2400" b="1"/>
          </a:p>
          <a:p>
            <a:r>
              <a:rPr lang="zh-CN" altLang="en-US" sz="2400" b="1"/>
              <a:t>B.李某是乙（女）的姑父，甲系李某的儿子</a:t>
            </a:r>
            <a:endParaRPr lang="zh-CN" altLang="en-US" sz="2400" b="1"/>
          </a:p>
          <a:p>
            <a:r>
              <a:rPr lang="zh-CN" altLang="en-US" sz="2400" b="1"/>
              <a:t>C.甲是林某与前夫的儿子，乙是林某与后夫的女儿</a:t>
            </a:r>
            <a:endParaRPr lang="zh-CN" altLang="en-US" sz="2400" b="1"/>
          </a:p>
          <a:p>
            <a:r>
              <a:rPr lang="zh-CN" altLang="en-US" sz="2400" b="1"/>
              <a:t>D.王某是张某的舅舅，甲系王某的儿子，乙系张某的女儿</a:t>
            </a:r>
            <a:endParaRPr lang="zh-CN" altLang="en-US" sz="2400" b="1"/>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作业</a:t>
            </a:r>
            <a:r>
              <a:rPr lang="en-US" altLang="zh-CN">
                <a:solidFill>
                  <a:srgbClr val="00B050"/>
                </a:solidFill>
                <a:sym typeface="+mn-ea"/>
              </a:rPr>
              <a:t>5</a:t>
            </a:r>
            <a:r>
              <a:rPr lang="en-US" altLang="zh-CN">
                <a:solidFill>
                  <a:srgbClr val="00B050"/>
                </a:solidFill>
                <a:sym typeface="+mn-ea"/>
              </a:rPr>
              <a:t>—</a:t>
            </a:r>
            <a:r>
              <a:rPr>
                <a:solidFill>
                  <a:srgbClr val="00B050"/>
                </a:solidFill>
                <a:sym typeface="+mn-ea"/>
              </a:rPr>
              <a:t>真题</a:t>
            </a:r>
            <a:r>
              <a:rPr lang="en-US" altLang="zh-CN">
                <a:solidFill>
                  <a:srgbClr val="00B050"/>
                </a:solidFill>
                <a:sym typeface="+mn-ea"/>
              </a:rPr>
              <a:t>83</a:t>
            </a:r>
            <a:endParaRPr lang="en-US" altLang="zh-CN">
              <a:solidFill>
                <a:srgbClr val="00B050"/>
              </a:solidFill>
              <a:sym typeface="+mn-ea"/>
            </a:endParaRPr>
          </a:p>
        </p:txBody>
      </p:sp>
      <p:sp>
        <p:nvSpPr>
          <p:cNvPr id="3" name="内容占位符 2"/>
          <p:cNvSpPr>
            <a:spLocks noGrp="1"/>
          </p:cNvSpPr>
          <p:nvPr>
            <p:ph idx="1"/>
          </p:nvPr>
        </p:nvSpPr>
        <p:spPr/>
        <p:txBody>
          <a:bodyPr/>
          <a:p>
            <a:r>
              <a:rPr lang="zh-CN" altLang="en-US" sz="2400" b="1"/>
              <a:t>组织学习是指组织为了实现发展目标、提高核心竞争力而围绕信息或知识技能所采取的各种行动，是组织不断努力改变或重新设计自身以适应持续变化的环境的过程。</a:t>
            </a:r>
            <a:endParaRPr lang="zh-CN" altLang="en-US" sz="2400" b="1"/>
          </a:p>
          <a:p>
            <a:r>
              <a:rPr lang="zh-CN" altLang="en-US" sz="2400" b="1"/>
              <a:t>根据上述定义，下列属于组织学习的是：</a:t>
            </a:r>
            <a:endParaRPr lang="zh-CN" altLang="en-US" sz="2400" b="1"/>
          </a:p>
          <a:p>
            <a:r>
              <a:rPr lang="zh-CN" altLang="en-US" sz="2400" b="1"/>
              <a:t>A.我国某大型国企派人学习科技课程</a:t>
            </a:r>
            <a:endParaRPr lang="zh-CN" altLang="en-US" sz="2400" b="1"/>
          </a:p>
          <a:p>
            <a:r>
              <a:rPr lang="zh-CN" altLang="en-US" sz="2400" b="1"/>
              <a:t>B.李明为了晋升去参加周末管理课程</a:t>
            </a:r>
            <a:endParaRPr lang="zh-CN" altLang="en-US" sz="2400" b="1"/>
          </a:p>
          <a:p>
            <a:r>
              <a:rPr lang="zh-CN" altLang="en-US" sz="2400" b="1"/>
              <a:t>C.某外企工作团队节假日去三亚度假</a:t>
            </a:r>
            <a:endParaRPr lang="zh-CN" altLang="en-US" sz="2400" b="1"/>
          </a:p>
          <a:p>
            <a:r>
              <a:rPr lang="zh-CN" altLang="en-US" sz="2400" b="1"/>
              <a:t>D.某集团组织新近员工开展户外拓展</a:t>
            </a:r>
            <a:endParaRPr lang="zh-CN" altLang="en-US" sz="2400" b="1"/>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作业</a:t>
            </a:r>
            <a:r>
              <a:rPr lang="en-US" altLang="zh-CN">
                <a:solidFill>
                  <a:srgbClr val="00B050"/>
                </a:solidFill>
                <a:sym typeface="+mn-ea"/>
              </a:rPr>
              <a:t>6</a:t>
            </a:r>
            <a:r>
              <a:rPr lang="en-US" altLang="zh-CN">
                <a:solidFill>
                  <a:srgbClr val="00B050"/>
                </a:solidFill>
                <a:sym typeface="+mn-ea"/>
              </a:rPr>
              <a:t>—</a:t>
            </a:r>
            <a:r>
              <a:rPr>
                <a:solidFill>
                  <a:srgbClr val="00B050"/>
                </a:solidFill>
                <a:sym typeface="+mn-ea"/>
              </a:rPr>
              <a:t>真题</a:t>
            </a:r>
            <a:r>
              <a:rPr lang="en-US" altLang="zh-CN">
                <a:solidFill>
                  <a:srgbClr val="00B050"/>
                </a:solidFill>
                <a:sym typeface="+mn-ea"/>
              </a:rPr>
              <a:t>84</a:t>
            </a:r>
            <a:endParaRPr lang="zh-CN" altLang="en-US"/>
          </a:p>
        </p:txBody>
      </p:sp>
      <p:sp>
        <p:nvSpPr>
          <p:cNvPr id="3" name="内容占位符 2"/>
          <p:cNvSpPr>
            <a:spLocks noGrp="1"/>
          </p:cNvSpPr>
          <p:nvPr>
            <p:ph idx="1"/>
          </p:nvPr>
        </p:nvSpPr>
        <p:spPr/>
        <p:txBody>
          <a:bodyPr/>
          <a:p>
            <a:r>
              <a:rPr lang="zh-CN" altLang="en-US" sz="2400" b="1"/>
              <a:t>回文是指用相同语句回环往复地说明的一种修辞手法，形式上表现为词组相同但语序相反。</a:t>
            </a:r>
            <a:endParaRPr lang="zh-CN" altLang="en-US" sz="2400" b="1"/>
          </a:p>
          <a:p>
            <a:r>
              <a:rPr lang="zh-CN" altLang="en-US" sz="2400" b="1"/>
              <a:t>根据上述定义，下列属于回文的是：	</a:t>
            </a:r>
            <a:endParaRPr lang="zh-CN" altLang="en-US" sz="2400" b="1"/>
          </a:p>
          <a:p>
            <a:r>
              <a:rPr lang="zh-CN" altLang="en-US" sz="2400" b="1"/>
              <a:t>A.雾锁山头山锁雾，天连水尾水连天</a:t>
            </a:r>
            <a:endParaRPr lang="zh-CN" altLang="en-US" sz="2400" b="1"/>
          </a:p>
          <a:p>
            <a:r>
              <a:rPr lang="zh-CN" altLang="en-US" sz="2400" b="1"/>
              <a:t>B.寻寻觅觅，冷冷清清，凄凄惨惨戚戚</a:t>
            </a:r>
            <a:endParaRPr lang="zh-CN" altLang="en-US" sz="2400" b="1"/>
          </a:p>
          <a:p>
            <a:r>
              <a:rPr lang="zh-CN" altLang="en-US" sz="2400" b="1"/>
              <a:t>C.东边日出西边雨，道是无晴却有晴</a:t>
            </a:r>
            <a:endParaRPr lang="zh-CN" altLang="en-US" sz="2400" b="1"/>
          </a:p>
          <a:p>
            <a:r>
              <a:rPr lang="zh-CN" altLang="en-US" sz="2400" b="1"/>
              <a:t>D.主人下马客在船，举杯欲饮无管弦</a:t>
            </a:r>
            <a:endParaRPr lang="zh-CN" altLang="en-US" sz="2400" b="1"/>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ags/tag91.xml><?xml version="1.0" encoding="utf-8"?>
<p:tagLst xmlns:p="http://schemas.openxmlformats.org/presentationml/2006/main">
  <p:tag name="KSO_WM_BEAUTIFY_FLAG" val="#wm#"/>
  <p:tag name="KSO_WM_TEMPLATE_CATEGORY" val="custom"/>
  <p:tag name="KSO_WM_TEMPLATE_INDEX" val="20187308"/>
</p:tagLst>
</file>

<file path=ppt/tags/tag92.xml><?xml version="1.0" encoding="utf-8"?>
<p:tagLst xmlns:p="http://schemas.openxmlformats.org/presentationml/2006/main">
  <p:tag name="KSO_WM_BEAUTIFY_FLAG" val="#wm#"/>
  <p:tag name="KSO_WM_TEMPLATE_CATEGORY" val="custom"/>
  <p:tag name="KSO_WM_TEMPLATE_INDEX" val="20187308"/>
</p:tagLst>
</file>

<file path=ppt/tags/tag93.xml><?xml version="1.0" encoding="utf-8"?>
<p:tagLst xmlns:p="http://schemas.openxmlformats.org/presentationml/2006/main">
  <p:tag name="KSO_WM_BEAUTIFY_FLAG" val="#wm#"/>
  <p:tag name="KSO_WM_TEMPLATE_CATEGORY" val="custom"/>
  <p:tag name="KSO_WM_TEMPLATE_INDEX" val="20187308"/>
</p:tagLst>
</file>

<file path=ppt/tags/tag94.xml><?xml version="1.0" encoding="utf-8"?>
<p:tagLst xmlns:p="http://schemas.openxmlformats.org/presentationml/2006/main">
  <p:tag name="KSO_WM_BEAUTIFY_FLAG" val="#wm#"/>
  <p:tag name="KSO_WM_TEMPLATE_CATEGORY" val="custom"/>
  <p:tag name="KSO_WM_TEMPLATE_INDEX" val="20187308"/>
</p:tagLst>
</file>

<file path=ppt/tags/tag95.xml><?xml version="1.0" encoding="utf-8"?>
<p:tagLst xmlns:p="http://schemas.openxmlformats.org/presentationml/2006/main">
  <p:tag name="KSO_WM_BEAUTIFY_FLAG" val="#wm#"/>
  <p:tag name="KSO_WM_TEMPLATE_CATEGORY" val="custom"/>
  <p:tag name="KSO_WM_TEMPLATE_INDEX" val="20187308"/>
</p:tagLst>
</file>

<file path=ppt/tags/tag96.xml><?xml version="1.0" encoding="utf-8"?>
<p:tagLst xmlns:p="http://schemas.openxmlformats.org/presentationml/2006/main">
  <p:tag name="KSO_WM_BEAUTIFY_FLAG" val="#wm#"/>
  <p:tag name="KSO_WM_TEMPLATE_CATEGORY" val="custom"/>
  <p:tag name="KSO_WM_TEMPLATE_INDEX" val="20187308"/>
</p:tagLst>
</file>

<file path=ppt/tags/tag97.xml><?xml version="1.0" encoding="utf-8"?>
<p:tagLst xmlns:p="http://schemas.openxmlformats.org/presentationml/2006/main">
  <p:tag name="KSO_WM_BEAUTIFY_FLAG" val="#wm#"/>
  <p:tag name="KSO_WM_TEMPLATE_CATEGORY" val="custom"/>
  <p:tag name="KSO_WM_TEMPLATE_INDEX" val="20187308"/>
</p:tagLst>
</file>

<file path=ppt/tags/tag98.xml><?xml version="1.0" encoding="utf-8"?>
<p:tagLst xmlns:p="http://schemas.openxmlformats.org/presentationml/2006/main">
  <p:tag name="KSO_WM_BEAUTIFY_FLAG" val="#wm#"/>
  <p:tag name="KSO_WM_TEMPLATE_CATEGORY" val="custom"/>
  <p:tag name="KSO_WM_TEMPLATE_INDEX" val="20187308"/>
</p:tagLst>
</file>

<file path=ppt/tags/tag99.xml><?xml version="1.0" encoding="utf-8"?>
<p:tagLst xmlns:p="http://schemas.openxmlformats.org/presentationml/2006/main">
  <p:tag name="KSO_WM_BEAUTIFY_FLAG" val="#wm#"/>
  <p:tag name="KSO_WM_TEMPLATE_CATEGORY" val="custom"/>
  <p:tag name="KSO_WM_TEMPLATE_INDEX" val="20187308"/>
</p:tagLst>
</file>

<file path=ppt/tags/tag100.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8589</Words>
  <Application>WPS 演示</Application>
  <PresentationFormat>宽屏</PresentationFormat>
  <Paragraphs>286</Paragraphs>
  <Slides>37</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37</vt:i4>
      </vt:variant>
    </vt:vector>
  </HeadingPairs>
  <TitlesOfParts>
    <vt:vector size="43" baseType="lpstr">
      <vt:lpstr>Arial</vt:lpstr>
      <vt:lpstr>宋体</vt:lpstr>
      <vt:lpstr>Wingdings</vt:lpstr>
      <vt:lpstr>微软雅黑</vt:lpstr>
      <vt:lpstr>Arial Unicode MS</vt:lpstr>
      <vt:lpstr>Office 主题​​</vt:lpstr>
      <vt:lpstr>公务员考试中的逻辑学</vt:lpstr>
      <vt:lpstr>作业分析1</vt:lpstr>
      <vt:lpstr>作业分析2</vt:lpstr>
      <vt:lpstr>作业分析3：</vt:lpstr>
      <vt:lpstr>PowerPoint 演示文稿</vt:lpstr>
      <vt:lpstr>作业分析5：</vt:lpstr>
      <vt:lpstr>PowerPoint 演示文稿</vt:lpstr>
      <vt:lpstr>第五讲：定义判断考查学科</vt:lpstr>
      <vt:lpstr>1.心理学</vt:lpstr>
      <vt:lpstr>真题70分析</vt:lpstr>
      <vt:lpstr>PowerPoint 演示文稿</vt:lpstr>
      <vt:lpstr>PowerPoint 演示文稿</vt:lpstr>
      <vt:lpstr>2.经济学</vt:lpstr>
      <vt:lpstr>PowerPoint 演示文稿</vt:lpstr>
      <vt:lpstr>PowerPoint 演示文稿</vt:lpstr>
      <vt:lpstr>真题73</vt:lpstr>
      <vt:lpstr>PowerPoint 演示文稿</vt:lpstr>
      <vt:lpstr>3.社会学</vt:lpstr>
      <vt:lpstr>真题74</vt:lpstr>
      <vt:lpstr>真题74分析</vt:lpstr>
      <vt:lpstr>4.法律法规</vt:lpstr>
      <vt:lpstr>PowerPoint 演示文稿</vt:lpstr>
      <vt:lpstr>PowerPoint 演示文稿</vt:lpstr>
      <vt:lpstr>5.行政管理</vt:lpstr>
      <vt:lpstr>PowerPoint 演示文稿</vt:lpstr>
      <vt:lpstr>PowerPoint 演示文稿</vt:lpstr>
      <vt:lpstr>真题77</vt:lpstr>
      <vt:lpstr>PowerPoint 演示文稿</vt:lpstr>
      <vt:lpstr>6.语言文学</vt:lpstr>
      <vt:lpstr>真题78</vt:lpstr>
      <vt:lpstr>PowerPoint 演示文稿</vt:lpstr>
      <vt:lpstr>PowerPoint 演示文稿</vt:lpstr>
      <vt:lpstr>作业2—真题80：</vt:lpstr>
      <vt:lpstr>作业3—真题81</vt:lpstr>
      <vt:lpstr>作业4—真题82</vt:lpstr>
      <vt:lpstr>作业5—真题83</vt:lpstr>
      <vt:lpstr>作业6—真题84</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41</cp:revision>
  <dcterms:created xsi:type="dcterms:W3CDTF">2019-06-19T02:08:00Z</dcterms:created>
  <dcterms:modified xsi:type="dcterms:W3CDTF">2020-03-11T02:31:58Z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