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7"/>
  </p:handoutMasterIdLst>
  <p:sldIdLst>
    <p:sldId id="256" r:id="rId3"/>
    <p:sldId id="285" r:id="rId5"/>
    <p:sldId id="286" r:id="rId6"/>
    <p:sldId id="287" r:id="rId7"/>
    <p:sldId id="288" r:id="rId8"/>
    <p:sldId id="289" r:id="rId9"/>
    <p:sldId id="290" r:id="rId10"/>
    <p:sldId id="291" r:id="rId11"/>
    <p:sldId id="292" r:id="rId12"/>
    <p:sldId id="296" r:id="rId13"/>
    <p:sldId id="297" r:id="rId14"/>
    <p:sldId id="294" r:id="rId15"/>
    <p:sldId id="298" r:id="rId16"/>
    <p:sldId id="271" r:id="rId17"/>
    <p:sldId id="272" r:id="rId18"/>
    <p:sldId id="261" r:id="rId19"/>
    <p:sldId id="262" r:id="rId20"/>
    <p:sldId id="306" r:id="rId21"/>
    <p:sldId id="264" r:id="rId22"/>
    <p:sldId id="308" r:id="rId23"/>
    <p:sldId id="265" r:id="rId24"/>
    <p:sldId id="266" r:id="rId25"/>
    <p:sldId id="322" r:id="rId26"/>
    <p:sldId id="267" r:id="rId27"/>
    <p:sldId id="323" r:id="rId28"/>
    <p:sldId id="269" r:id="rId29"/>
    <p:sldId id="334" r:id="rId30"/>
    <p:sldId id="270" r:id="rId31"/>
    <p:sldId id="305" r:id="rId32"/>
    <p:sldId id="307" r:id="rId33"/>
    <p:sldId id="299" r:id="rId34"/>
    <p:sldId id="300" r:id="rId35"/>
    <p:sldId id="301"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33"/>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0995"/>
            <a:ext cx="10852237" cy="950984"/>
          </a:xfrm>
        </p:spPr>
        <p:txBody>
          <a:bodyPr/>
          <a:lstStyle/>
          <a:p>
            <a:r>
              <a:rPr lang="zh-CN" altLang="en-US" sz="4000" b="1"/>
              <a:t>第四讲：判断推理模块中的定义判断实战技巧</a:t>
            </a:r>
            <a:endParaRPr lang="en-US" altLang="zh-CN"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157045"/>
            <a:ext cx="10852237" cy="648000"/>
          </a:xfrm>
        </p:spPr>
        <p:txBody>
          <a:bodyPr/>
          <a:p>
            <a:r>
              <a:rPr lang="zh-CN" altLang="en-US"/>
              <a:t>作业讲解</a:t>
            </a:r>
            <a:r>
              <a:rPr lang="en-US" altLang="zh-CN"/>
              <a:t>1</a:t>
            </a:r>
            <a:endParaRPr lang="en-US" altLang="zh-CN"/>
          </a:p>
        </p:txBody>
      </p:sp>
      <p:sp>
        <p:nvSpPr>
          <p:cNvPr id="3" name="内容占位符 2"/>
          <p:cNvSpPr>
            <a:spLocks noGrp="1"/>
          </p:cNvSpPr>
          <p:nvPr>
            <p:ph idx="1"/>
          </p:nvPr>
        </p:nvSpPr>
        <p:spPr>
          <a:xfrm>
            <a:off x="669882" y="804510"/>
            <a:ext cx="10852237" cy="5041355"/>
          </a:xfrm>
        </p:spPr>
        <p:txBody>
          <a:bodyPr/>
          <a:p>
            <a:r>
              <a:rPr lang="zh-CN" altLang="en-US" sz="2400" b="1">
                <a:solidFill>
                  <a:srgbClr val="00B050"/>
                </a:solidFill>
              </a:rPr>
              <a:t>真题</a:t>
            </a:r>
            <a:r>
              <a:rPr lang="en-US" altLang="zh-CN" sz="2400" b="1">
                <a:solidFill>
                  <a:srgbClr val="00B050"/>
                </a:solidFill>
              </a:rPr>
              <a:t>50</a:t>
            </a:r>
            <a:r>
              <a:rPr sz="2400" b="1"/>
              <a:t>（川</a:t>
            </a:r>
            <a:r>
              <a:rPr lang="en-US" altLang="zh-CN" sz="2400" b="1"/>
              <a:t>2019</a:t>
            </a:r>
            <a:r>
              <a:rPr sz="2400" b="1"/>
              <a:t>上</a:t>
            </a:r>
            <a:r>
              <a:rPr lang="en-US" altLang="zh-CN" sz="2400" b="1"/>
              <a:t>-</a:t>
            </a:r>
            <a:r>
              <a:rPr lang="zh-CN" altLang="en-US" sz="2400" b="1"/>
              <a:t>2</a:t>
            </a:r>
            <a:r>
              <a:rPr lang="en-US" altLang="zh-CN" sz="2400" b="1"/>
              <a:t>8</a:t>
            </a:r>
            <a:r>
              <a:rPr lang="zh-CN" altLang="en-US" sz="2400" b="1"/>
              <a:t>）：互联网发展初期，传统媒体出于新闻传播和培育新渠道的目的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网络媒体进行转载，“拿来主义”成为各大平台的</a:t>
            </a:r>
            <a:r>
              <a:rPr lang="zh-CN" altLang="en-US" sz="2400" b="1">
                <a:solidFill>
                  <a:srgbClr val="FF0000"/>
                </a:solidFill>
              </a:rPr>
              <a:t>“潜规则”</a:t>
            </a:r>
            <a:r>
              <a:rPr lang="zh-CN" altLang="en-US" sz="2400" b="1"/>
              <a:t>。但过去一年来，这个定律似乎正在被打破。网络媒体迎来内容创业的风潮，付费社区、音频问答、在线课程等知识付费产品表现抢眼，互联网内容付费</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  </a:t>
            </a:r>
            <a:endParaRPr lang="zh-CN" altLang="en-US" sz="2400" b="1"/>
          </a:p>
          <a:p>
            <a:r>
              <a:rPr lang="zh-CN" altLang="en-US" sz="2400" b="1"/>
              <a:t>A. 支持     蔚然成风          B.  允许     方兴未艾</a:t>
            </a:r>
            <a:endParaRPr lang="zh-CN" altLang="en-US" sz="2400" b="1"/>
          </a:p>
          <a:p>
            <a:r>
              <a:rPr lang="en-US" altLang="zh-CN" sz="2400" b="1"/>
              <a:t>C</a:t>
            </a:r>
            <a:r>
              <a:rPr lang="zh-CN" altLang="en-US" sz="2400" b="1"/>
              <a:t>. 默许     悄然兴起          D.  同意     深入人心</a:t>
            </a:r>
            <a:endParaRPr lang="zh-CN" altLang="en-US" sz="2400" b="1"/>
          </a:p>
          <a:p>
            <a:r>
              <a:rPr lang="zh-CN" altLang="en-US" sz="2400" b="1"/>
              <a:t>分析：第一空与</a:t>
            </a:r>
            <a:r>
              <a:rPr lang="en-US" altLang="zh-CN" sz="2400" b="1"/>
              <a:t>“</a:t>
            </a:r>
            <a:r>
              <a:rPr sz="2400" b="1"/>
              <a:t>潜规则</a:t>
            </a:r>
            <a:r>
              <a:rPr lang="en-US" altLang="zh-CN" sz="2400" b="1"/>
              <a:t>”</a:t>
            </a:r>
            <a:r>
              <a:rPr sz="2400" b="1"/>
              <a:t>对应，只有</a:t>
            </a:r>
            <a:r>
              <a:rPr lang="en-US" altLang="zh-CN" sz="2400" b="1"/>
              <a:t>“</a:t>
            </a:r>
            <a:r>
              <a:rPr sz="2400" b="1"/>
              <a:t>默许</a:t>
            </a:r>
            <a:r>
              <a:rPr lang="en-US" altLang="zh-CN" sz="2400" b="1"/>
              <a:t>”</a:t>
            </a:r>
            <a:r>
              <a:rPr sz="2400" b="1"/>
              <a:t>与文意相符，验证</a:t>
            </a:r>
            <a:r>
              <a:rPr lang="en-US" altLang="zh-CN" sz="2400" b="1"/>
              <a:t>“</a:t>
            </a:r>
            <a:r>
              <a:rPr sz="2400" b="1">
                <a:sym typeface="+mn-ea"/>
              </a:rPr>
              <a:t> 悄然兴起</a:t>
            </a:r>
            <a:r>
              <a:rPr lang="en-US" altLang="zh-CN" sz="2400" b="1"/>
              <a:t>”</a:t>
            </a:r>
            <a:r>
              <a:rPr sz="2400" b="1"/>
              <a:t>。故选</a:t>
            </a:r>
            <a:r>
              <a:rPr lang="en-US" altLang="zh-CN" sz="2400" b="1"/>
              <a:t>C</a:t>
            </a:r>
            <a:r>
              <a:rPr sz="2400" b="1"/>
              <a:t>。</a:t>
            </a:r>
            <a:endParaRPr sz="2400" b="1"/>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19437" y="218005"/>
            <a:ext cx="10852237" cy="648000"/>
          </a:xfrm>
        </p:spPr>
        <p:txBody>
          <a:bodyPr/>
          <a:p>
            <a:r>
              <a:rPr>
                <a:sym typeface="+mn-ea"/>
              </a:rPr>
              <a:t>作业讲解</a:t>
            </a:r>
            <a:r>
              <a:rPr lang="en-US" altLang="zh-CN">
                <a:sym typeface="+mn-ea"/>
              </a:rPr>
              <a:t>2</a:t>
            </a:r>
            <a:endParaRPr lang="en-US" altLang="zh-CN">
              <a:sym typeface="+mn-ea"/>
            </a:endParaRPr>
          </a:p>
        </p:txBody>
      </p:sp>
      <p:sp>
        <p:nvSpPr>
          <p:cNvPr id="3" name="内容占位符 2"/>
          <p:cNvSpPr>
            <a:spLocks noGrp="1"/>
          </p:cNvSpPr>
          <p:nvPr>
            <p:ph idx="1"/>
          </p:nvPr>
        </p:nvSpPr>
        <p:spPr>
          <a:xfrm>
            <a:off x="669882" y="969610"/>
            <a:ext cx="10852237" cy="5041355"/>
          </a:xfrm>
        </p:spPr>
        <p:txBody>
          <a:bodyPr/>
          <a:p>
            <a:r>
              <a:rPr sz="2400" b="1">
                <a:solidFill>
                  <a:srgbClr val="00B050"/>
                </a:solidFill>
                <a:sym typeface="+mn-ea"/>
              </a:rPr>
              <a:t>真题</a:t>
            </a:r>
            <a:r>
              <a:rPr lang="en-US" altLang="zh-CN" sz="2400" b="1">
                <a:solidFill>
                  <a:srgbClr val="00B050"/>
                </a:solidFill>
                <a:sym typeface="+mn-ea"/>
              </a:rPr>
              <a:t>51</a:t>
            </a:r>
            <a:r>
              <a:rPr sz="2400" b="1">
                <a:sym typeface="+mn-ea"/>
              </a:rPr>
              <a:t>（川</a:t>
            </a:r>
            <a:r>
              <a:rPr lang="en-US" altLang="zh-CN" sz="2400" b="1">
                <a:sym typeface="+mn-ea"/>
              </a:rPr>
              <a:t>2019</a:t>
            </a:r>
            <a:r>
              <a:rPr sz="2400" b="1">
                <a:sym typeface="+mn-ea"/>
              </a:rPr>
              <a:t>上</a:t>
            </a:r>
            <a:r>
              <a:rPr lang="en-US" altLang="zh-CN" sz="2400" b="1">
                <a:sym typeface="+mn-ea"/>
              </a:rPr>
              <a:t>-30</a:t>
            </a:r>
            <a:r>
              <a:rPr sz="2400" b="1">
                <a:sym typeface="+mn-ea"/>
              </a:rPr>
              <a:t>）：</a:t>
            </a:r>
            <a:r>
              <a:rPr lang="zh-CN" altLang="en-US" sz="2400" b="1"/>
              <a:t>金砖是中国传统窑砖烧制业中的珍品，古时专供宫殿等重要建筑使用，因质地坚细、敲之有金石之声而得名。帝制结束后，</a:t>
            </a:r>
            <a:r>
              <a:rPr lang="zh-CN" altLang="en-US" sz="2400" b="1">
                <a:solidFill>
                  <a:srgbClr val="FF0000"/>
                </a:solidFill>
              </a:rPr>
              <a:t>金砖不再被需要</a:t>
            </a:r>
            <a:r>
              <a:rPr lang="zh-CN" altLang="en-US" sz="2400" b="1"/>
              <a:t>，制作手艺</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民间。20世纪80年代，砖瓦匠人金梅泉通过摸索，初步恢复了金砖的古法制作，令金砖</a:t>
            </a:r>
            <a:r>
              <a:rPr lang="en-US" altLang="zh-CN" sz="2400" b="1">
                <a:solidFill>
                  <a:srgbClr val="00B050"/>
                </a:solidFill>
              </a:rPr>
              <a:t>“</a:t>
            </a:r>
            <a:r>
              <a:rPr sz="2400" b="1">
                <a:solidFill>
                  <a:srgbClr val="00B050"/>
                </a:solidFill>
                <a:latin typeface="Times New Roman" panose="02020603050405020304" charset="0"/>
                <a:cs typeface="Times New Roman" panose="02020603050405020304" charset="0"/>
                <a:sym typeface="+mn-ea"/>
              </a:rPr>
              <a:t>͟͟͟͟͟</a:t>
            </a:r>
            <a:r>
              <a:rPr sz="2400" b="1">
                <a:solidFill>
                  <a:srgbClr val="00B050"/>
                </a:solidFill>
                <a:sym typeface="+mn-ea"/>
              </a:rPr>
              <a:t> </a:t>
            </a:r>
            <a:r>
              <a:rPr sz="2400" b="1">
                <a:solidFill>
                  <a:srgbClr val="00B050"/>
                </a:solidFill>
                <a:latin typeface="Times New Roman" panose="02020603050405020304" charset="0"/>
                <a:cs typeface="Times New Roman" panose="02020603050405020304" charset="0"/>
                <a:sym typeface="+mn-ea"/>
              </a:rPr>
              <a:t>͟͟͟͟͟͟͟͟͟</a:t>
            </a:r>
            <a:r>
              <a:rPr sz="2400" b="1">
                <a:solidFill>
                  <a:srgbClr val="00B050"/>
                </a:solidFill>
                <a:sym typeface="+mn-ea"/>
              </a:rPr>
              <a:t>  </a:t>
            </a:r>
            <a:r>
              <a:rPr lang="en-US" altLang="zh-CN" sz="2400" b="1">
                <a:solidFill>
                  <a:srgbClr val="00B050"/>
                </a:solidFill>
              </a:rPr>
              <a:t>”</a:t>
            </a:r>
            <a:r>
              <a:rPr lang="zh-CN" altLang="en-US" sz="2400" b="1"/>
              <a:t>，该技艺被列入中国首批国家级非物质文化遗产名录。</a:t>
            </a:r>
            <a:endParaRPr lang="zh-CN" altLang="en-US" sz="2400" b="1"/>
          </a:p>
          <a:p>
            <a:r>
              <a:rPr lang="zh-CN" altLang="en-US" sz="2400" b="1"/>
              <a:t>A. 散落    死而复生       B. 流落     柳暗花明</a:t>
            </a:r>
            <a:endParaRPr lang="zh-CN" altLang="en-US" sz="2400" b="1"/>
          </a:p>
          <a:p>
            <a:r>
              <a:rPr lang="zh-CN" altLang="en-US" sz="2400" b="1"/>
              <a:t>C. 流传    重见天日       D. 散失     卷土重来</a:t>
            </a:r>
            <a:endParaRPr lang="zh-CN" altLang="en-US" sz="2400" b="1"/>
          </a:p>
          <a:p>
            <a:r>
              <a:rPr lang="zh-CN" altLang="en-US" sz="2400" b="1"/>
              <a:t>分析：</a:t>
            </a:r>
            <a:r>
              <a:rPr lang="en-US" altLang="zh-CN" sz="2400" b="1"/>
              <a:t>“</a:t>
            </a:r>
            <a:r>
              <a:rPr sz="2400" b="1">
                <a:solidFill>
                  <a:srgbClr val="FF0000"/>
                </a:solidFill>
                <a:sym typeface="+mn-ea"/>
              </a:rPr>
              <a:t>金砖不再被需要</a:t>
            </a:r>
            <a:r>
              <a:rPr lang="en-US" altLang="zh-CN" sz="2400" b="1"/>
              <a:t>”</a:t>
            </a:r>
            <a:r>
              <a:rPr sz="2400" b="1"/>
              <a:t>排除</a:t>
            </a:r>
            <a:r>
              <a:rPr lang="en-US" altLang="zh-CN" sz="2400" b="1"/>
              <a:t>C.“</a:t>
            </a:r>
            <a:r>
              <a:rPr sz="2400" b="1">
                <a:sym typeface="+mn-ea"/>
              </a:rPr>
              <a:t>卷土重来</a:t>
            </a:r>
            <a:r>
              <a:rPr lang="en-US" altLang="zh-CN" sz="2400" b="1"/>
              <a:t>”</a:t>
            </a:r>
            <a:r>
              <a:rPr sz="2400" b="1"/>
              <a:t>贬义，排除</a:t>
            </a:r>
            <a:r>
              <a:rPr lang="en-US" altLang="zh-CN" sz="2400" b="1"/>
              <a:t>D</a:t>
            </a:r>
            <a:r>
              <a:rPr sz="2400" b="1"/>
              <a:t>。</a:t>
            </a:r>
            <a:r>
              <a:rPr lang="en-US" altLang="zh-CN" sz="2400" b="1"/>
              <a:t>“</a:t>
            </a:r>
            <a:r>
              <a:rPr sz="2400" b="1">
                <a:sym typeface="+mn-ea"/>
              </a:rPr>
              <a:t>流落</a:t>
            </a:r>
            <a:r>
              <a:rPr lang="en-US" altLang="zh-CN" sz="2400" b="1"/>
              <a:t>”</a:t>
            </a:r>
            <a:r>
              <a:rPr sz="2400" b="1"/>
              <a:t>一般指人，而且</a:t>
            </a:r>
            <a:r>
              <a:rPr lang="en-US" altLang="zh-CN" sz="2400" b="1"/>
              <a:t>“</a:t>
            </a:r>
            <a:r>
              <a:rPr sz="2400" b="1">
                <a:sym typeface="+mn-ea"/>
              </a:rPr>
              <a:t>柳暗花明</a:t>
            </a:r>
            <a:r>
              <a:rPr lang="en-US" altLang="zh-CN" sz="2400" b="1"/>
              <a:t>”</a:t>
            </a:r>
            <a:r>
              <a:rPr sz="2400" b="1"/>
              <a:t>填入空格式不必加引号的，排除</a:t>
            </a:r>
            <a:r>
              <a:rPr lang="en-US" altLang="zh-CN" sz="2400" b="1"/>
              <a:t>B</a:t>
            </a:r>
            <a:r>
              <a:rPr sz="2400" b="1"/>
              <a:t>。</a:t>
            </a:r>
            <a:r>
              <a:rPr lang="en-US" altLang="zh-CN" sz="2400" b="1"/>
              <a:t>“</a:t>
            </a:r>
            <a:r>
              <a:rPr sz="2400" b="1">
                <a:sym typeface="+mn-ea"/>
              </a:rPr>
              <a:t>死而复生</a:t>
            </a:r>
            <a:r>
              <a:rPr lang="en-US" altLang="zh-CN" sz="2400" b="1"/>
              <a:t>”</a:t>
            </a:r>
            <a:r>
              <a:rPr sz="2400" b="1"/>
              <a:t>形容事物需要加引号，故选</a:t>
            </a:r>
            <a:r>
              <a:rPr lang="en-US" altLang="zh-CN" sz="2400" b="1"/>
              <a:t>A</a:t>
            </a:r>
            <a:r>
              <a:rPr sz="2400" b="1"/>
              <a:t>。</a:t>
            </a:r>
            <a:endParaRPr sz="2400" b="1"/>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作业讲解</a:t>
            </a:r>
            <a:r>
              <a:rPr lang="en-US" altLang="zh-CN">
                <a:sym typeface="+mn-ea"/>
              </a:rPr>
              <a:t>3</a:t>
            </a:r>
            <a:endParaRPr lang="en-US" altLang="zh-CN">
              <a:sym typeface="+mn-ea"/>
            </a:endParaRPr>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52</a:t>
            </a:r>
            <a:r>
              <a:rPr sz="2400" b="1">
                <a:sym typeface="+mn-ea"/>
              </a:rPr>
              <a:t>（川</a:t>
            </a:r>
            <a:r>
              <a:rPr lang="en-US" altLang="zh-CN" sz="2400" b="1">
                <a:sym typeface="+mn-ea"/>
              </a:rPr>
              <a:t>2012</a:t>
            </a:r>
            <a:r>
              <a:rPr sz="2400" b="1">
                <a:sym typeface="+mn-ea"/>
              </a:rPr>
              <a:t>上</a:t>
            </a:r>
            <a:r>
              <a:rPr lang="en-US" altLang="zh-CN" sz="2400" b="1">
                <a:sym typeface="+mn-ea"/>
              </a:rPr>
              <a:t>-28</a:t>
            </a:r>
            <a:r>
              <a:rPr sz="2400" b="1">
                <a:sym typeface="+mn-ea"/>
              </a:rPr>
              <a:t>）：</a:t>
            </a:r>
            <a:r>
              <a:rPr lang="zh-CN" altLang="en-US" sz="2400" b="1"/>
              <a:t>越来越多的年轻观众对京剧缺乏了解，不懂得欣赏京剧的美；还有一部分人对舶来品</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r>
              <a:rPr lang="zh-CN" altLang="en-US" sz="2400" b="1">
                <a:solidFill>
                  <a:srgbClr val="FF0000"/>
                </a:solidFill>
              </a:rPr>
              <a:t>认为都比国内的好</a:t>
            </a:r>
            <a:r>
              <a:rPr lang="zh-CN" altLang="en-US" sz="2400" b="1"/>
              <a:t>，对于自己国家的传统艺术，却认为是老土的、过时的东西，而</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另眼相看    不屑一顾                 B. 青眼有加    不足挂齿</a:t>
            </a:r>
            <a:endParaRPr lang="zh-CN" altLang="en-US" sz="2400" b="1"/>
          </a:p>
          <a:p>
            <a:r>
              <a:rPr lang="zh-CN" altLang="en-US" sz="2400" b="1"/>
              <a:t>C. 刮目相看    嗤之以鼻                 D. 一见钟情    充耳不闻</a:t>
            </a:r>
            <a:endParaRPr lang="zh-CN" altLang="en-US" sz="2400" b="1"/>
          </a:p>
          <a:p>
            <a:r>
              <a:rPr lang="zh-CN" altLang="en-US" sz="2400" b="1"/>
              <a:t>分析：此题关键在第二空，文段讲述的是观众对京剧等传统艺术的看法，“嗤之以鼻”贬义，语义过重，“充耳不闻”和“不足挂齿”搭配不当。故选</a:t>
            </a:r>
            <a:r>
              <a:rPr lang="en-US" altLang="zh-CN" sz="2400" b="1"/>
              <a:t>A</a:t>
            </a:r>
            <a:r>
              <a:rPr sz="2400" b="1"/>
              <a:t>。</a:t>
            </a:r>
            <a:endParaRPr lang="zh-CN" altLang="en-US" sz="2400" b="1"/>
          </a:p>
          <a:p>
            <a:endParaRPr lang="zh-CN" altLang="en-US" sz="2400" b="1"/>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作业讲解</a:t>
            </a:r>
            <a:r>
              <a:rPr lang="en-US" altLang="zh-CN">
                <a:sym typeface="+mn-ea"/>
              </a:rPr>
              <a:t>4</a:t>
            </a:r>
            <a:endParaRPr lang="en-US" altLang="zh-CN">
              <a:sym typeface="+mn-ea"/>
            </a:endParaRPr>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53</a:t>
            </a:r>
            <a:r>
              <a:rPr sz="2400" b="1">
                <a:sym typeface="+mn-ea"/>
              </a:rPr>
              <a:t>（川</a:t>
            </a:r>
            <a:r>
              <a:rPr lang="en-US" altLang="zh-CN" sz="2400" b="1">
                <a:sym typeface="+mn-ea"/>
              </a:rPr>
              <a:t>2012</a:t>
            </a:r>
            <a:r>
              <a:rPr sz="2400" b="1">
                <a:sym typeface="+mn-ea"/>
              </a:rPr>
              <a:t>上</a:t>
            </a:r>
            <a:r>
              <a:rPr lang="en-US" altLang="zh-CN" sz="2400" b="1">
                <a:sym typeface="+mn-ea"/>
              </a:rPr>
              <a:t>-29</a:t>
            </a:r>
            <a:r>
              <a:rPr sz="2400" b="1">
                <a:sym typeface="+mn-ea"/>
              </a:rPr>
              <a:t>）：</a:t>
            </a:r>
            <a:r>
              <a:rPr sz="2400" b="1">
                <a:sym typeface="+mn-ea"/>
              </a:rPr>
              <a:t>鲁迅精神</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于当代文化建设的，首先就是在“立人”这件事上应该做什么和怎么做，产业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重要，但如果人“立”不住，产业将不可避免地空壳化。这不仅因为产业需要内容做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sz="2400" b="1">
                <a:sym typeface="+mn-ea"/>
              </a:rPr>
              <a:t>，更因为内容是需要人来创造的。</a:t>
            </a:r>
            <a:endParaRPr lang="zh-CN" altLang="en-US" sz="2400" b="1"/>
          </a:p>
          <a:p>
            <a:r>
              <a:rPr sz="2400" b="1">
                <a:sym typeface="+mn-ea"/>
              </a:rPr>
              <a:t>依次填入划横线部分最恰当的一项是（    ）。</a:t>
            </a:r>
            <a:endParaRPr lang="zh-CN" altLang="en-US" sz="2400" b="1"/>
          </a:p>
          <a:p>
            <a:r>
              <a:rPr sz="2400" b="1">
                <a:sym typeface="+mn-ea"/>
              </a:rPr>
              <a:t>A. 昭示  固然  支撑          B. 明示  当然  支持</a:t>
            </a:r>
            <a:endParaRPr lang="zh-CN" altLang="en-US" sz="2400" b="1"/>
          </a:p>
          <a:p>
            <a:r>
              <a:rPr sz="2400" b="1">
                <a:sym typeface="+mn-ea"/>
              </a:rPr>
              <a:t>C. 暗示  虽然  后盾          D. 显示  肯定  支柱</a:t>
            </a:r>
            <a:endParaRPr lang="zh-CN" altLang="en-US" sz="2400" b="1"/>
          </a:p>
          <a:p>
            <a:endParaRPr lang="zh-CN" altLang="en-US" sz="2400" b="1"/>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46362" y="54175"/>
            <a:ext cx="10852237" cy="648000"/>
          </a:xfrm>
        </p:spPr>
        <p:txBody>
          <a:bodyPr/>
          <a:p>
            <a:r>
              <a:rPr>
                <a:sym typeface="+mn-ea"/>
              </a:rPr>
              <a:t>作业讲解</a:t>
            </a:r>
            <a:r>
              <a:rPr lang="en-US" altLang="zh-CN">
                <a:sym typeface="+mn-ea"/>
              </a:rPr>
              <a:t>5</a:t>
            </a:r>
            <a:endParaRPr lang="en-US" altLang="zh-CN">
              <a:sym typeface="+mn-ea"/>
            </a:endParaRPr>
          </a:p>
        </p:txBody>
      </p:sp>
      <p:sp>
        <p:nvSpPr>
          <p:cNvPr id="3" name="内容占位符 2"/>
          <p:cNvSpPr>
            <a:spLocks noGrp="1"/>
          </p:cNvSpPr>
          <p:nvPr>
            <p:ph idx="1"/>
          </p:nvPr>
        </p:nvSpPr>
        <p:spPr>
          <a:xfrm>
            <a:off x="283210" y="814705"/>
            <a:ext cx="11401425" cy="5901055"/>
          </a:xfrm>
        </p:spPr>
        <p:txBody>
          <a:bodyPr/>
          <a:p>
            <a:r>
              <a:rPr sz="2400" b="1">
                <a:solidFill>
                  <a:srgbClr val="00B050"/>
                </a:solidFill>
                <a:sym typeface="+mn-ea"/>
              </a:rPr>
              <a:t>真题</a:t>
            </a:r>
            <a:r>
              <a:rPr lang="en-US" altLang="zh-CN" sz="2400" b="1">
                <a:solidFill>
                  <a:srgbClr val="00B050"/>
                </a:solidFill>
                <a:sym typeface="+mn-ea"/>
              </a:rPr>
              <a:t>54</a:t>
            </a:r>
            <a:r>
              <a:rPr sz="2400" b="1">
                <a:sym typeface="+mn-ea"/>
              </a:rPr>
              <a:t>（川</a:t>
            </a:r>
            <a:r>
              <a:rPr lang="en-US" altLang="zh-CN" sz="2400" b="1">
                <a:sym typeface="+mn-ea"/>
              </a:rPr>
              <a:t>2012</a:t>
            </a:r>
            <a:r>
              <a:rPr sz="2400" b="1">
                <a:sym typeface="+mn-ea"/>
              </a:rPr>
              <a:t>上</a:t>
            </a:r>
            <a:r>
              <a:rPr lang="en-US" altLang="zh-CN" sz="2400" b="1">
                <a:sym typeface="+mn-ea"/>
              </a:rPr>
              <a:t>-30</a:t>
            </a:r>
            <a:r>
              <a:rPr sz="2400" b="1">
                <a:sym typeface="+mn-ea"/>
              </a:rPr>
              <a:t>）：</a:t>
            </a:r>
            <a:r>
              <a:rPr lang="zh-CN" altLang="en-US" sz="2400" b="1"/>
              <a:t>克罗地亚在入欧盟的过程中，将国内仅有的数十家大型国企卖给了外国投资者，而很多工厂企业也在入欧盟改革中纷纷关闭，有人说这将使得克罗地亚的</a:t>
            </a:r>
            <a:r>
              <a:rPr lang="zh-CN" altLang="en-US" sz="2400" b="1">
                <a:solidFill>
                  <a:srgbClr val="00B050"/>
                </a:solidFill>
              </a:rPr>
              <a:t>发展</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。但是，克罗地亚目前的经济水平</a:t>
            </a:r>
            <a:r>
              <a:rPr lang="zh-CN" altLang="en-US" sz="2400" b="1">
                <a:solidFill>
                  <a:srgbClr val="FF0000"/>
                </a:solidFill>
              </a:rPr>
              <a:t>比</a:t>
            </a:r>
            <a:r>
              <a:rPr lang="zh-CN" altLang="en-US" sz="2400" b="1"/>
              <a:t>起欧盟中那些负债累累的国家</a:t>
            </a:r>
            <a:r>
              <a:rPr lang="zh-CN" altLang="en-US" sz="2400" b="1">
                <a:solidFill>
                  <a:srgbClr val="FF0000"/>
                </a:solidFill>
              </a:rPr>
              <a:t>来说还是要</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，现在看来，加入欧盟后克罗地亚将负担援助他国的义务才是大问题，这恐怕与克罗地亚人的预期</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A. 难以可期   聊以自慰   相差甚大     B. 难以实现   稍胜一筹   相去甚远</a:t>
            </a:r>
            <a:endParaRPr lang="zh-CN" altLang="en-US" sz="2400" b="1"/>
          </a:p>
          <a:p>
            <a:r>
              <a:rPr lang="zh-CN" altLang="en-US" sz="2400" b="1"/>
              <a:t>C. 难以为继   略胜一筹   相差甚远     D. 难以持续   后来居上   相去良多</a:t>
            </a:r>
            <a:endParaRPr lang="zh-CN" altLang="en-US" sz="2400" b="1"/>
          </a:p>
          <a:p>
            <a:r>
              <a:rPr lang="zh-CN" altLang="en-US" sz="2400" b="1"/>
              <a:t>分析：先看第一空，“难以可期”</a:t>
            </a:r>
            <a:r>
              <a:rPr sz="2400" b="1">
                <a:sym typeface="+mn-ea"/>
              </a:rPr>
              <a:t>填入</a:t>
            </a:r>
            <a:r>
              <a:rPr sz="2400" b="1">
                <a:sym typeface="+mn-ea"/>
              </a:rPr>
              <a:t>第二空文意不通，</a:t>
            </a:r>
            <a:r>
              <a:rPr lang="zh-CN" altLang="en-US" sz="2400" b="1"/>
              <a:t>排除</a:t>
            </a:r>
            <a:r>
              <a:rPr lang="en-US" altLang="zh-CN" sz="2400" b="1"/>
              <a:t>A</a:t>
            </a:r>
            <a:r>
              <a:rPr sz="2400" b="1"/>
              <a:t>。</a:t>
            </a:r>
            <a:r>
              <a:rPr lang="zh-CN" altLang="en-US" sz="2400" b="1"/>
              <a:t>“实现”一般与“目标”等搭配，排除</a:t>
            </a:r>
            <a:r>
              <a:rPr lang="en-US" altLang="zh-CN" sz="2400" b="1"/>
              <a:t>B</a:t>
            </a:r>
            <a:r>
              <a:rPr sz="2400" b="1"/>
              <a:t>。</a:t>
            </a:r>
            <a:r>
              <a:rPr sz="2400" b="1">
                <a:sym typeface="+mn-ea"/>
              </a:rPr>
              <a:t>“后来居上”填入</a:t>
            </a:r>
            <a:r>
              <a:rPr lang="zh-CN" altLang="en-US" sz="2400" b="1"/>
              <a:t>第二空文意不通，排除</a:t>
            </a:r>
            <a:r>
              <a:rPr lang="en-US" altLang="zh-CN" sz="2400" b="1"/>
              <a:t>D</a:t>
            </a:r>
            <a:r>
              <a:rPr lang="zh-CN" altLang="en-US" sz="2400" b="1"/>
              <a:t>。故选C。</a:t>
            </a:r>
            <a:endParaRPr lang="zh-CN" altLang="en-US" sz="2400" b="1"/>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作业讲解</a:t>
            </a:r>
            <a:r>
              <a:rPr lang="en-US" altLang="zh-CN">
                <a:sym typeface="+mn-ea"/>
              </a:rPr>
              <a:t>6</a:t>
            </a:r>
            <a:endParaRPr lang="en-US" altLang="zh-CN">
              <a:sym typeface="+mn-ea"/>
            </a:endParaRPr>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55</a:t>
            </a:r>
            <a:r>
              <a:rPr sz="2400" b="1">
                <a:sym typeface="+mn-ea"/>
              </a:rPr>
              <a:t>（川</a:t>
            </a:r>
            <a:r>
              <a:rPr lang="en-US" altLang="zh-CN" sz="2400" b="1">
                <a:sym typeface="+mn-ea"/>
              </a:rPr>
              <a:t>2012</a:t>
            </a:r>
            <a:r>
              <a:rPr sz="2400" b="1">
                <a:sym typeface="+mn-ea"/>
              </a:rPr>
              <a:t>上</a:t>
            </a:r>
            <a:r>
              <a:rPr lang="en-US" altLang="zh-CN" sz="2400" b="1">
                <a:sym typeface="+mn-ea"/>
              </a:rPr>
              <a:t>-31</a:t>
            </a:r>
            <a:r>
              <a:rPr sz="2400" b="1">
                <a:sym typeface="+mn-ea"/>
              </a:rPr>
              <a:t>）：</a:t>
            </a:r>
            <a:r>
              <a:rPr lang="zh-CN" altLang="en-US" sz="2400" b="1"/>
              <a:t> 文化认同作为小到一个群体、大到一个民族向心力的有机“粘合剂”，是凝聚这个群体和民族伟大精神力量的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r>
              <a:rPr lang="zh-CN" altLang="en-US" sz="2400" b="1">
                <a:solidFill>
                  <a:srgbClr val="FF0000"/>
                </a:solidFill>
              </a:rPr>
              <a:t>文化认同如果缺失，</a:t>
            </a:r>
            <a:r>
              <a:rPr lang="zh-CN" altLang="en-US" sz="2400" b="1"/>
              <a:t>社会语境便趋于焦虑，</a:t>
            </a:r>
            <a:r>
              <a:rPr lang="zh-CN" altLang="en-US" sz="2400" b="1">
                <a:solidFill>
                  <a:srgbClr val="FF0000"/>
                </a:solidFill>
              </a:rPr>
              <a:t>人们的价值取向便会</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。因为文化认同相对于政治认同和社会认同，具有更深远的</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olidFill>
                  <a:schemeClr val="tx1"/>
                </a:solidFill>
                <a:latin typeface="Times New Roman" panose="02020603050405020304" charset="0"/>
                <a:cs typeface="Times New Roman" panose="02020603050405020304" charset="0"/>
                <a:sym typeface="+mn-ea"/>
              </a:rPr>
              <a:t>͟͟͟͟͟͟͟͟͟</a:t>
            </a:r>
            <a:r>
              <a:rPr sz="2400" b="1">
                <a:solidFill>
                  <a:schemeClr val="tx1"/>
                </a:solidFill>
                <a:sym typeface="+mn-ea"/>
              </a:rPr>
              <a:t> </a:t>
            </a:r>
            <a:r>
              <a:rPr sz="2400" b="1">
                <a:sym typeface="+mn-ea"/>
              </a:rPr>
              <a:t> </a:t>
            </a:r>
            <a:r>
              <a:rPr lang="zh-CN" altLang="en-US" sz="2400" b="1"/>
              <a:t>。</a:t>
            </a:r>
            <a:endParaRPr lang="zh-CN" altLang="en-US" sz="2400" b="1"/>
          </a:p>
          <a:p>
            <a:r>
              <a:rPr lang="zh-CN" altLang="en-US" sz="2400" b="1"/>
              <a:t>依次填入划横线部分最恰当的一项是（    ）。</a:t>
            </a:r>
            <a:endParaRPr lang="zh-CN" altLang="en-US" sz="2400" b="1"/>
          </a:p>
          <a:p>
            <a:r>
              <a:rPr lang="zh-CN" altLang="en-US" sz="2400" b="1"/>
              <a:t>A. 基础    丧失    意义     B. 根本    丢失    价值</a:t>
            </a:r>
            <a:endParaRPr lang="zh-CN" altLang="en-US" sz="2400" b="1"/>
          </a:p>
          <a:p>
            <a:r>
              <a:rPr lang="zh-CN" altLang="en-US" sz="2400" b="1"/>
              <a:t>C. 根基    迷失    内涵     D. 基础    失落    涵义</a:t>
            </a:r>
            <a:endParaRPr lang="zh-CN" altLang="en-US" sz="2400" b="1"/>
          </a:p>
          <a:p>
            <a:r>
              <a:rPr lang="zh-CN" altLang="en-US" sz="2400" b="1"/>
              <a:t>分析：本题关键在于第二空，缺乏文化认同会对价值取向产生影响，用“迷失”最为恰当。“丧失”语意过重。</a:t>
            </a:r>
            <a:endParaRPr lang="zh-CN" altLang="en-US" sz="2400" b="1"/>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定义判断实战技巧</a:t>
            </a:r>
            <a:endParaRPr lang="zh-CN" altLang="en-US"/>
          </a:p>
        </p:txBody>
      </p:sp>
      <p:sp>
        <p:nvSpPr>
          <p:cNvPr id="3" name="内容占位符 2"/>
          <p:cNvSpPr>
            <a:spLocks noGrp="1"/>
          </p:cNvSpPr>
          <p:nvPr>
            <p:ph idx="1"/>
          </p:nvPr>
        </p:nvSpPr>
        <p:spPr/>
        <p:txBody>
          <a:bodyPr/>
          <a:p>
            <a:r>
              <a:rPr lang="zh-CN" altLang="en-US" sz="2400" b="1"/>
              <a:t>定义判断题要求考生严格依据定义选出一个</a:t>
            </a:r>
            <a:r>
              <a:rPr lang="zh-CN" altLang="en-US" sz="2400" b="1">
                <a:solidFill>
                  <a:srgbClr val="FF0000"/>
                </a:solidFill>
              </a:rPr>
              <a:t>最符合或最不符合</a:t>
            </a:r>
            <a:r>
              <a:rPr lang="zh-CN" altLang="en-US" sz="2400" b="1"/>
              <a:t>该定义的选项。因此，解答定义判断题首先必须</a:t>
            </a:r>
            <a:r>
              <a:rPr lang="zh-CN" altLang="en-US" sz="2400" b="1">
                <a:solidFill>
                  <a:srgbClr val="FF0000"/>
                </a:solidFill>
              </a:rPr>
              <a:t>快速、准确地锁定定义的要点或归纳定义的关键信息</a:t>
            </a:r>
            <a:r>
              <a:rPr lang="zh-CN" altLang="en-US" sz="2400" b="1"/>
              <a:t>，再逐一对照选项，得出正确答案。</a:t>
            </a:r>
            <a:endParaRPr lang="zh-CN" altLang="en-US" sz="2400" b="1"/>
          </a:p>
          <a:p>
            <a:r>
              <a:rPr lang="zh-CN" altLang="en-US" sz="2400" b="1"/>
              <a:t>一、分析定义特征</a:t>
            </a:r>
            <a:endParaRPr lang="zh-CN" altLang="en-US" sz="2400" b="1"/>
          </a:p>
          <a:p>
            <a:r>
              <a:rPr lang="zh-CN" altLang="en-US" sz="2400" b="1"/>
              <a:t>二、归纳定义特征</a:t>
            </a:r>
            <a:endParaRPr lang="zh-CN" altLang="en-US" sz="2400" b="1"/>
          </a:p>
          <a:p>
            <a:r>
              <a:rPr lang="zh-CN" altLang="en-US" sz="2400" b="1"/>
              <a:t>三、判断定义间的关系</a:t>
            </a:r>
            <a:endParaRPr lang="zh-CN" altLang="en-US" sz="2400" b="1"/>
          </a:p>
          <a:p>
            <a:r>
              <a:rPr lang="zh-CN" altLang="en-US" sz="2400" b="1"/>
              <a:t>四、对比选项内容</a:t>
            </a:r>
            <a:endParaRPr lang="zh-CN" altLang="en-US" sz="2400" b="1"/>
          </a:p>
          <a:p>
            <a:endParaRPr lang="zh-CN" altLang="en-US" sz="2400" b="1"/>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一、分析定义特征</a:t>
            </a:r>
            <a:br>
              <a:rPr lang="zh-CN" altLang="en-US" b="1"/>
            </a:br>
            <a:endParaRPr lang="zh-CN" altLang="en-US"/>
          </a:p>
        </p:txBody>
      </p:sp>
      <p:sp>
        <p:nvSpPr>
          <p:cNvPr id="3" name="内容占位符 2"/>
          <p:cNvSpPr>
            <a:spLocks noGrp="1"/>
          </p:cNvSpPr>
          <p:nvPr>
            <p:ph idx="1"/>
          </p:nvPr>
        </p:nvSpPr>
        <p:spPr/>
        <p:txBody>
          <a:bodyPr/>
          <a:p>
            <a:r>
              <a:rPr lang="zh-CN" altLang="en-US" sz="2400" b="1"/>
              <a:t>要想准确分析定义的内涵，就要把握好定义的特征。即</a:t>
            </a:r>
            <a:r>
              <a:rPr lang="zh-CN" altLang="en-US" sz="2400" b="1">
                <a:solidFill>
                  <a:srgbClr val="FF0000"/>
                </a:solidFill>
              </a:rPr>
              <a:t>寻找定义的要点</a:t>
            </a:r>
            <a:r>
              <a:rPr lang="zh-CN" altLang="en-US" sz="2400" b="1"/>
              <a:t>。在寻找定义的要点时，可以从主体、客体、目的、原因、条件、方式、结果、本质等方面考虑。</a:t>
            </a:r>
            <a:endParaRPr lang="zh-CN" altLang="en-US" sz="2400" b="1"/>
          </a:p>
          <a:p>
            <a:endParaRPr lang="zh-CN" altLang="en-US" sz="2400" b="1"/>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316230"/>
            <a:ext cx="10852150" cy="6021070"/>
          </a:xfrm>
        </p:spPr>
        <p:txBody>
          <a:bodyPr/>
          <a:p>
            <a:r>
              <a:rPr lang="zh-CN" altLang="en-US" sz="2400" b="1">
                <a:solidFill>
                  <a:srgbClr val="00B050"/>
                </a:solidFill>
              </a:rPr>
              <a:t>真题</a:t>
            </a:r>
            <a:r>
              <a:rPr lang="en-US" altLang="zh-CN" sz="2400" b="1">
                <a:solidFill>
                  <a:srgbClr val="00B050"/>
                </a:solidFill>
              </a:rPr>
              <a:t>56</a:t>
            </a:r>
            <a:r>
              <a:rPr sz="2400" b="1"/>
              <a:t>：</a:t>
            </a:r>
            <a:r>
              <a:rPr lang="zh-CN" altLang="en-US" sz="2400" b="1"/>
              <a:t>信息腐败指的是手中掌握公共权力的人，借用自身的权力获得某些特殊信息，然后由自己或其代理人利用这些垄断信息从事某些牟利活动的一种违法乱纪行为。</a:t>
            </a:r>
            <a:endParaRPr lang="zh-CN" altLang="en-US" sz="2400" b="1"/>
          </a:p>
          <a:p>
            <a:r>
              <a:rPr lang="zh-CN" altLang="en-US" sz="2400" b="1"/>
              <a:t>根据上述定义，下列涉及信息腐败的是：</a:t>
            </a:r>
            <a:endParaRPr lang="zh-CN" altLang="en-US" sz="2400" b="1"/>
          </a:p>
          <a:p>
            <a:r>
              <a:rPr lang="zh-CN" altLang="en-US" sz="2400" b="1"/>
              <a:t>A.市政府某局干部为了个人升迁，贿赂有关人员，多次修改个人档案信息</a:t>
            </a:r>
            <a:endParaRPr lang="zh-CN" altLang="en-US" sz="2400" b="1"/>
          </a:p>
          <a:p>
            <a:r>
              <a:rPr lang="zh-CN" altLang="en-US" sz="2400" b="1"/>
              <a:t>B.某法学院教授为了将其负责的研究生班办成品牌，私自使用秘密窃取的某资格考试试卷对该班学生进行辅导</a:t>
            </a:r>
            <a:endParaRPr lang="zh-CN" altLang="en-US" sz="2400" b="1"/>
          </a:p>
          <a:p>
            <a:r>
              <a:rPr lang="zh-CN" altLang="en-US" sz="2400" b="1"/>
              <a:t>C.省科技厅王处长离职后到某公司就职，他将自己研究的某项技术加以创新，为该公司开发出极具市场竞争力的新产品</a:t>
            </a:r>
            <a:endParaRPr lang="zh-CN" altLang="en-US" sz="2400" b="1"/>
          </a:p>
          <a:p>
            <a:r>
              <a:rPr lang="zh-CN" altLang="en-US" sz="2400" b="1"/>
              <a:t>D.副区长龙某将工程招标报名情况、投标企业业绩要求、中标方式等秘密信息泄露给某投标企业，并收受该企业50余万元</a:t>
            </a:r>
            <a:endParaRPr lang="zh-CN" altLang="en-US" sz="2400" b="1"/>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69925" y="316230"/>
            <a:ext cx="10852150" cy="6167120"/>
          </a:xfrm>
        </p:spPr>
        <p:txBody>
          <a:bodyPr/>
          <a:p>
            <a:pPr>
              <a:spcAft>
                <a:spcPts val="0"/>
              </a:spcAft>
            </a:pPr>
            <a:r>
              <a:rPr lang="zh-CN" altLang="en-US" sz="2400" b="1">
                <a:solidFill>
                  <a:srgbClr val="00B050"/>
                </a:solidFill>
              </a:rPr>
              <a:t>真题</a:t>
            </a:r>
            <a:r>
              <a:rPr lang="en-US" altLang="zh-CN" sz="2400" b="1">
                <a:solidFill>
                  <a:srgbClr val="00B050"/>
                </a:solidFill>
              </a:rPr>
              <a:t>56</a:t>
            </a:r>
            <a:r>
              <a:rPr sz="2400" b="1"/>
              <a:t>：</a:t>
            </a:r>
            <a:r>
              <a:rPr lang="zh-CN" altLang="en-US" sz="2400" b="1"/>
              <a:t>信息腐败指的是手中</a:t>
            </a:r>
            <a:r>
              <a:rPr lang="zh-CN" altLang="en-US" sz="2400" b="1">
                <a:solidFill>
                  <a:srgbClr val="FF0000"/>
                </a:solidFill>
              </a:rPr>
              <a:t>掌握公共权力的人</a:t>
            </a:r>
            <a:r>
              <a:rPr lang="zh-CN" altLang="en-US" sz="2400" b="1"/>
              <a:t>，借用自身的权力获得某些特殊信息，然后由自己或其代理人</a:t>
            </a:r>
            <a:r>
              <a:rPr lang="zh-CN" altLang="en-US" sz="2400" b="1">
                <a:solidFill>
                  <a:srgbClr val="FF0000"/>
                </a:solidFill>
              </a:rPr>
              <a:t>利用</a:t>
            </a:r>
            <a:r>
              <a:rPr lang="zh-CN" altLang="en-US" sz="2400" b="1">
                <a:solidFill>
                  <a:schemeClr val="tx1"/>
                </a:solidFill>
              </a:rPr>
              <a:t>这些</a:t>
            </a:r>
            <a:r>
              <a:rPr lang="zh-CN" altLang="en-US" sz="2400" b="1">
                <a:solidFill>
                  <a:srgbClr val="FF0000"/>
                </a:solidFill>
              </a:rPr>
              <a:t>垄断信息</a:t>
            </a:r>
            <a:r>
              <a:rPr lang="zh-CN" altLang="en-US" sz="2400" b="1"/>
              <a:t>从事某些牟利活动的一种违法乱纪行为。</a:t>
            </a:r>
            <a:endParaRPr lang="zh-CN" altLang="en-US" sz="2400" b="1"/>
          </a:p>
          <a:p>
            <a:pPr>
              <a:spcAft>
                <a:spcPts val="0"/>
              </a:spcAft>
            </a:pPr>
            <a:r>
              <a:rPr lang="zh-CN" altLang="en-US" sz="2400" b="1"/>
              <a:t>根据上述定义，下列涉及信息腐败的是：</a:t>
            </a:r>
            <a:endParaRPr lang="zh-CN" altLang="en-US" sz="2400" b="1"/>
          </a:p>
          <a:p>
            <a:pPr>
              <a:spcAft>
                <a:spcPts val="0"/>
              </a:spcAft>
            </a:pPr>
            <a:r>
              <a:rPr lang="zh-CN" altLang="en-US" sz="2400" b="1"/>
              <a:t>A.市政府某局干部为了个人升迁，贿赂有关人员，多次修改个人档案信息</a:t>
            </a:r>
            <a:endParaRPr lang="zh-CN" altLang="en-US" sz="2400" b="1"/>
          </a:p>
          <a:p>
            <a:pPr>
              <a:spcAft>
                <a:spcPts val="0"/>
              </a:spcAft>
            </a:pPr>
            <a:r>
              <a:rPr lang="zh-CN" altLang="en-US" sz="2400" b="1"/>
              <a:t>B.某法学院教授为了将其负责的研究生班办成品牌，私自使用秘密窃取的某资格考试试卷对该班学生进行辅导</a:t>
            </a:r>
            <a:endParaRPr lang="zh-CN" altLang="en-US" sz="2400" b="1"/>
          </a:p>
          <a:p>
            <a:pPr>
              <a:spcAft>
                <a:spcPts val="0"/>
              </a:spcAft>
            </a:pPr>
            <a:r>
              <a:rPr lang="zh-CN" altLang="en-US" sz="2400" b="1"/>
              <a:t>C.省科技厅</a:t>
            </a:r>
            <a:r>
              <a:rPr lang="zh-CN" altLang="en-US" sz="2400" b="1">
                <a:solidFill>
                  <a:srgbClr val="00B050"/>
                </a:solidFill>
              </a:rPr>
              <a:t>王处长离职后</a:t>
            </a:r>
            <a:r>
              <a:rPr lang="zh-CN" altLang="en-US" sz="2400" b="1"/>
              <a:t>到某公司就职，他将自己研究的某项技术加以创新，为该公司开发出极具市场竞争力的新产品</a:t>
            </a:r>
            <a:endParaRPr lang="zh-CN" altLang="en-US" sz="2400" b="1"/>
          </a:p>
          <a:p>
            <a:pPr>
              <a:spcAft>
                <a:spcPts val="0"/>
              </a:spcAft>
            </a:pPr>
            <a:r>
              <a:rPr lang="zh-CN" altLang="en-US" sz="2400" b="1"/>
              <a:t>D.副区长龙某将工程招标报名情况、投标企业业绩要求、中标方式等秘密信息泄露给某投标企业，并收受该企业50余万元</a:t>
            </a:r>
            <a:endParaRPr lang="zh-CN" altLang="en-US" sz="2400" b="1"/>
          </a:p>
          <a:p>
            <a:pPr>
              <a:spcAft>
                <a:spcPts val="0"/>
              </a:spcAft>
            </a:pPr>
            <a:r>
              <a:rPr lang="zh-CN" altLang="en-US" sz="2400" b="1"/>
              <a:t>分析：</a:t>
            </a:r>
            <a:r>
              <a:rPr lang="en-US" altLang="zh-CN" sz="2400" b="1"/>
              <a:t>A</a:t>
            </a:r>
            <a:r>
              <a:rPr sz="2400" b="1"/>
              <a:t>修改档案不涉及</a:t>
            </a:r>
            <a:r>
              <a:rPr lang="en-US" altLang="zh-CN" sz="2400" b="1"/>
              <a:t>“</a:t>
            </a:r>
            <a:r>
              <a:rPr sz="2400" b="1">
                <a:solidFill>
                  <a:srgbClr val="FF0000"/>
                </a:solidFill>
                <a:sym typeface="+mn-ea"/>
              </a:rPr>
              <a:t>垄断信息</a:t>
            </a:r>
            <a:r>
              <a:rPr lang="en-US" altLang="zh-CN" sz="2400" b="1"/>
              <a:t>”</a:t>
            </a:r>
            <a:r>
              <a:rPr sz="2400" b="1"/>
              <a:t>，</a:t>
            </a:r>
            <a:r>
              <a:rPr lang="en-US" altLang="zh-CN" sz="2400" b="1"/>
              <a:t>C</a:t>
            </a:r>
            <a:r>
              <a:rPr sz="2400" b="1"/>
              <a:t>处长离职后和</a:t>
            </a:r>
            <a:r>
              <a:rPr sz="2400" b="1">
                <a:sym typeface="+mn-ea"/>
              </a:rPr>
              <a:t>法学院教授均不是</a:t>
            </a:r>
            <a:r>
              <a:rPr lang="en-US" altLang="zh-CN" sz="2400" b="1">
                <a:sym typeface="+mn-ea"/>
              </a:rPr>
              <a:t>“</a:t>
            </a:r>
            <a:r>
              <a:rPr sz="2400" b="1">
                <a:solidFill>
                  <a:srgbClr val="FF0000"/>
                </a:solidFill>
                <a:sym typeface="+mn-ea"/>
              </a:rPr>
              <a:t>掌握公共权力的人</a:t>
            </a:r>
            <a:r>
              <a:rPr lang="en-US" altLang="zh-CN" sz="2400" b="1">
                <a:sym typeface="+mn-ea"/>
              </a:rPr>
              <a:t>”</a:t>
            </a:r>
            <a:r>
              <a:rPr sz="2400" b="1">
                <a:sym typeface="+mn-ea"/>
              </a:rPr>
              <a:t>，故选</a:t>
            </a:r>
            <a:r>
              <a:rPr lang="en-US" altLang="zh-CN" sz="2400" b="1">
                <a:sym typeface="+mn-ea"/>
              </a:rPr>
              <a:t>D</a:t>
            </a:r>
            <a:r>
              <a:rPr sz="2400" b="1">
                <a:sym typeface="+mn-ea"/>
              </a:rPr>
              <a:t>。</a:t>
            </a:r>
            <a:endParaRPr sz="2400" b="1">
              <a:sym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57</a:t>
            </a:r>
            <a:endParaRPr lang="en-US" altLang="zh-CN">
              <a:solidFill>
                <a:srgbClr val="00B050"/>
              </a:solidFill>
            </a:endParaRPr>
          </a:p>
        </p:txBody>
      </p:sp>
      <p:sp>
        <p:nvSpPr>
          <p:cNvPr id="3" name="内容占位符 2"/>
          <p:cNvSpPr>
            <a:spLocks noGrp="1"/>
          </p:cNvSpPr>
          <p:nvPr>
            <p:ph idx="1"/>
          </p:nvPr>
        </p:nvSpPr>
        <p:spPr>
          <a:xfrm>
            <a:off x="403225" y="1296035"/>
            <a:ext cx="11118850" cy="5041265"/>
          </a:xfrm>
        </p:spPr>
        <p:txBody>
          <a:bodyPr/>
          <a:p>
            <a:r>
              <a:rPr lang="zh-CN" altLang="en-US" sz="2400" b="1"/>
              <a:t>深度报道作为传统的新闻模式，指新闻工作者以社会发展现实问题为主要内容，以分析解释的科学方法进行报道，维护公众利益，引导舆论。报道不管如何定义，都离不开社会性和深刻性两大关键点。</a:t>
            </a:r>
            <a:endParaRPr lang="zh-CN" altLang="en-US" sz="2400" b="1"/>
          </a:p>
          <a:p>
            <a:r>
              <a:rPr lang="zh-CN" altLang="en-US" sz="2400" b="1"/>
              <a:t>根据上述定义，下列属于深度报道的是：</a:t>
            </a:r>
            <a:endParaRPr lang="zh-CN" altLang="en-US" sz="2400" b="1"/>
          </a:p>
          <a:p>
            <a:r>
              <a:rPr lang="zh-CN" altLang="en-US" sz="2400" b="1"/>
              <a:t>A.某记者对雾霾天气进行系列调查，在媒体上发布了一个半小时的新闻报道</a:t>
            </a:r>
            <a:endParaRPr lang="zh-CN" altLang="en-US" sz="2400" b="1"/>
          </a:p>
          <a:p>
            <a:r>
              <a:rPr lang="zh-CN" altLang="en-US" sz="2400" b="1"/>
              <a:t>B.某电视台晚间新闻中，对某部长到某地视察进行报道</a:t>
            </a:r>
            <a:endParaRPr lang="zh-CN" altLang="en-US" sz="2400" b="1"/>
          </a:p>
          <a:p>
            <a:r>
              <a:rPr lang="zh-CN" altLang="en-US" sz="2400" b="1"/>
              <a:t>C.多家报纸和网站针对马航MH370坠机事件的家属善后工作进行跟踪报道</a:t>
            </a:r>
            <a:endParaRPr lang="zh-CN" altLang="en-US" sz="2400" b="1"/>
          </a:p>
          <a:p>
            <a:r>
              <a:rPr lang="zh-CN" altLang="en-US" sz="2400" b="1"/>
              <a:t>D.某报纸刊出了对某市的报道，解释为什么该地值得投资</a:t>
            </a:r>
            <a:endParaRPr lang="zh-CN" altLang="en-US" sz="2400" b="1"/>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03225" y="367665"/>
            <a:ext cx="11118850" cy="5969635"/>
          </a:xfrm>
        </p:spPr>
        <p:txBody>
          <a:bodyPr/>
          <a:p>
            <a:r>
              <a:rPr lang="zh-CN" altLang="en-US" sz="2400" b="1">
                <a:solidFill>
                  <a:srgbClr val="00B050"/>
                </a:solidFill>
              </a:rPr>
              <a:t>真题</a:t>
            </a:r>
            <a:r>
              <a:rPr lang="en-US" altLang="zh-CN" sz="2400" b="1">
                <a:solidFill>
                  <a:srgbClr val="00B050"/>
                </a:solidFill>
              </a:rPr>
              <a:t>57</a:t>
            </a:r>
            <a:r>
              <a:rPr sz="2400" b="1"/>
              <a:t>：</a:t>
            </a:r>
            <a:r>
              <a:rPr lang="zh-CN" altLang="en-US" sz="2400" b="1"/>
              <a:t>深度报道作为传统的新闻模式，指新闻工作者</a:t>
            </a:r>
            <a:r>
              <a:rPr lang="zh-CN" altLang="en-US" sz="2400" b="1">
                <a:solidFill>
                  <a:srgbClr val="FF0000"/>
                </a:solidFill>
              </a:rPr>
              <a:t>以社会发展现实问题为主要内容</a:t>
            </a:r>
            <a:r>
              <a:rPr lang="zh-CN" altLang="en-US" sz="2400" b="1"/>
              <a:t>，以分析解释的科学方法进行报道，</a:t>
            </a:r>
            <a:r>
              <a:rPr lang="zh-CN" altLang="en-US" sz="2400" b="1">
                <a:solidFill>
                  <a:srgbClr val="00B050"/>
                </a:solidFill>
              </a:rPr>
              <a:t>维护公众利益，引导舆论</a:t>
            </a:r>
            <a:r>
              <a:rPr lang="zh-CN" altLang="en-US" sz="2400" b="1"/>
              <a:t>。报道不管如何定义，都</a:t>
            </a:r>
            <a:r>
              <a:rPr lang="zh-CN" altLang="en-US" sz="2400" b="1">
                <a:solidFill>
                  <a:srgbClr val="FF0000"/>
                </a:solidFill>
              </a:rPr>
              <a:t>离不开社会性和深刻性</a:t>
            </a:r>
            <a:r>
              <a:rPr lang="zh-CN" altLang="en-US" sz="2400" b="1"/>
              <a:t>两大关键点。</a:t>
            </a:r>
            <a:endParaRPr lang="zh-CN" altLang="en-US" sz="2400" b="1"/>
          </a:p>
          <a:p>
            <a:r>
              <a:rPr lang="zh-CN" altLang="en-US" sz="2400" b="1"/>
              <a:t>根据上述定义，下列属于深度报道的是：</a:t>
            </a:r>
            <a:endParaRPr lang="zh-CN" altLang="en-US" sz="2400" b="1"/>
          </a:p>
          <a:p>
            <a:r>
              <a:rPr lang="zh-CN" altLang="en-US" sz="2400" b="1"/>
              <a:t>A.某记者对雾霾天气进行系列调查，在媒体上发布了一个半小时的新闻报道</a:t>
            </a:r>
            <a:endParaRPr lang="zh-CN" altLang="en-US" sz="2400" b="1"/>
          </a:p>
          <a:p>
            <a:r>
              <a:rPr lang="zh-CN" altLang="en-US" sz="2400" b="1"/>
              <a:t>B.某电视台晚间新闻中，对某部长到某地视察进行报道</a:t>
            </a:r>
            <a:endParaRPr lang="zh-CN" altLang="en-US" sz="2400" b="1"/>
          </a:p>
          <a:p>
            <a:r>
              <a:rPr lang="zh-CN" altLang="en-US" sz="2400" b="1"/>
              <a:t>C.多家报纸和网站针对马航MH370坠机事件的家属善后工作进行跟踪报道</a:t>
            </a:r>
            <a:endParaRPr lang="zh-CN" altLang="en-US" sz="2400" b="1"/>
          </a:p>
          <a:p>
            <a:r>
              <a:rPr lang="zh-CN" altLang="en-US" sz="2400" b="1"/>
              <a:t>D.某报纸刊出了对某市的报道，解释为什么该地值得投资</a:t>
            </a:r>
            <a:endParaRPr lang="zh-CN" altLang="en-US" sz="2400" b="1"/>
          </a:p>
          <a:p>
            <a:r>
              <a:rPr lang="zh-CN" altLang="en-US" sz="2400" b="1"/>
              <a:t>分析：</a:t>
            </a:r>
            <a:r>
              <a:rPr lang="en-US" altLang="zh-CN" sz="2400" b="1"/>
              <a:t>B</a:t>
            </a:r>
            <a:r>
              <a:rPr sz="2400" b="1"/>
              <a:t>与</a:t>
            </a:r>
            <a:r>
              <a:rPr lang="en-US" altLang="zh-CN" sz="2400" b="1"/>
              <a:t>C</a:t>
            </a:r>
            <a:r>
              <a:rPr sz="2400" b="1"/>
              <a:t>都不是</a:t>
            </a:r>
            <a:r>
              <a:rPr lang="en-US" altLang="zh-CN" sz="2400" b="1"/>
              <a:t>“</a:t>
            </a:r>
            <a:r>
              <a:rPr sz="2400" b="1">
                <a:solidFill>
                  <a:srgbClr val="FF0000"/>
                </a:solidFill>
                <a:sym typeface="+mn-ea"/>
              </a:rPr>
              <a:t>社会发展现实问题</a:t>
            </a:r>
            <a:r>
              <a:rPr lang="en-US" altLang="zh-CN" sz="2400" b="1"/>
              <a:t>”</a:t>
            </a:r>
            <a:r>
              <a:rPr sz="2400" b="1"/>
              <a:t>，</a:t>
            </a:r>
            <a:r>
              <a:rPr lang="en-US" altLang="zh-CN" sz="2400" b="1"/>
              <a:t>D</a:t>
            </a:r>
            <a:r>
              <a:rPr sz="2400" b="1"/>
              <a:t>没有</a:t>
            </a:r>
            <a:r>
              <a:rPr lang="en-US" altLang="zh-CN" sz="2400" b="1"/>
              <a:t>“</a:t>
            </a:r>
            <a:r>
              <a:rPr sz="2400" b="1">
                <a:solidFill>
                  <a:srgbClr val="00B050"/>
                </a:solidFill>
                <a:sym typeface="+mn-ea"/>
              </a:rPr>
              <a:t>维护公众利益，引导舆论</a:t>
            </a:r>
            <a:r>
              <a:rPr lang="en-US" altLang="zh-CN" sz="2400" b="1"/>
              <a:t>”</a:t>
            </a:r>
            <a:r>
              <a:rPr sz="2400" b="1"/>
              <a:t>，</a:t>
            </a:r>
            <a:r>
              <a:rPr lang="en-US" altLang="zh-CN" sz="2400" b="1"/>
              <a:t>A</a:t>
            </a:r>
            <a:r>
              <a:rPr sz="2400" b="1"/>
              <a:t>符合定义要点。</a:t>
            </a:r>
            <a:r>
              <a:rPr sz="2400" b="1"/>
              <a:t>故选</a:t>
            </a:r>
            <a:r>
              <a:rPr lang="en-US" altLang="zh-CN" sz="2400" b="1"/>
              <a:t>A</a:t>
            </a:r>
            <a:r>
              <a:rPr sz="2400" b="1"/>
              <a:t>。</a:t>
            </a:r>
            <a:endParaRPr sz="2400" b="1"/>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rPr>
              <a:t>真题</a:t>
            </a:r>
            <a:r>
              <a:rPr lang="en-US" altLang="zh-CN">
                <a:solidFill>
                  <a:srgbClr val="00B050"/>
                </a:solidFill>
              </a:rPr>
              <a:t>58</a:t>
            </a:r>
            <a:endParaRPr lang="en-US" altLang="zh-CN">
              <a:solidFill>
                <a:srgbClr val="00B050"/>
              </a:solidFill>
            </a:endParaRP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solidFill>
                  <a:srgbClr val="00B050"/>
                </a:solidFill>
              </a:rPr>
              <a:t>真题</a:t>
            </a:r>
            <a:r>
              <a:rPr lang="en-US" altLang="zh-CN">
                <a:solidFill>
                  <a:srgbClr val="00B050"/>
                </a:solidFill>
              </a:rPr>
              <a:t>58</a:t>
            </a:r>
            <a:r>
              <a:rPr>
                <a:solidFill>
                  <a:srgbClr val="00B050"/>
                </a:solidFill>
              </a:rPr>
              <a:t>分析</a:t>
            </a:r>
            <a:endParaRPr>
              <a:solidFill>
                <a:srgbClr val="00B050"/>
              </a:solidFill>
            </a:endParaRP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二、归纳定义特征</a:t>
            </a:r>
            <a:endParaRPr lang="zh-CN" altLang="en-US"/>
          </a:p>
        </p:txBody>
      </p:sp>
      <p:sp>
        <p:nvSpPr>
          <p:cNvPr id="3" name="内容占位符 2"/>
          <p:cNvSpPr>
            <a:spLocks noGrp="1"/>
          </p:cNvSpPr>
          <p:nvPr>
            <p:ph idx="1"/>
          </p:nvPr>
        </p:nvSpPr>
        <p:spPr/>
        <p:txBody>
          <a:bodyPr/>
          <a:p>
            <a:r>
              <a:rPr lang="zh-CN" altLang="en-US" sz="2400" b="1"/>
              <a:t>当题目所给定义仅仅描述了一个具体的实例或过程，而没有明确的特征，我们无法通过提示词等快速找到定义的要点时，这就需要我们归纳定义的特征，提取其中的关键信息来理解这个定义。</a:t>
            </a:r>
            <a:r>
              <a:rPr lang="zh-CN" altLang="en-US" sz="2400" b="1">
                <a:solidFill>
                  <a:srgbClr val="FF0000"/>
                </a:solidFill>
              </a:rPr>
              <a:t>归纳关键信息既是提取有用信息的过程，也是舍弃无用信息、干扰信息的过程</a:t>
            </a:r>
            <a:r>
              <a:rPr lang="zh-CN" altLang="en-US" sz="2400" b="1"/>
              <a:t>。</a:t>
            </a:r>
            <a:endParaRPr lang="zh-CN" altLang="en-US" sz="2400" b="1"/>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59</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latin typeface="+mn-ea"/>
                <a:cs typeface="+mn-ea"/>
              </a:rPr>
              <a:t>真题</a:t>
            </a:r>
            <a:r>
              <a:rPr lang="en-US" altLang="zh-CN" sz="2400" b="1">
                <a:latin typeface="+mn-ea"/>
                <a:cs typeface="+mn-ea"/>
              </a:rPr>
              <a:t>59</a:t>
            </a:r>
            <a:r>
              <a:rPr sz="2400" b="1">
                <a:latin typeface="+mn-ea"/>
                <a:cs typeface="+mn-ea"/>
              </a:rPr>
              <a:t>：</a:t>
            </a:r>
            <a:r>
              <a:rPr lang="zh-CN" altLang="en-US" sz="2400" b="1">
                <a:latin typeface="+mn-ea"/>
                <a:cs typeface="+mn-ea"/>
              </a:rPr>
              <a:t>病毒式营销是指发起人把产品的最初信息发送到用户，再依靠用户自发进行口碑宣传的一种营销方法。这种战略像病毒一样，利用快速复制的方式将信息传向数以千计乃至百万计的受众。</a:t>
            </a:r>
            <a:endParaRPr lang="zh-CN" altLang="en-US" sz="2400" b="1">
              <a:latin typeface="+mn-ea"/>
              <a:cs typeface="+mn-ea"/>
            </a:endParaRPr>
          </a:p>
          <a:p>
            <a:r>
              <a:rPr lang="zh-CN" altLang="en-US" sz="2400" b="1">
                <a:latin typeface="+mn-ea"/>
                <a:cs typeface="+mn-ea"/>
              </a:rPr>
              <a:t>根据上述定义，下列属于病毒式营销的是：</a:t>
            </a:r>
            <a:endParaRPr lang="zh-CN" altLang="en-US" sz="2400" b="1">
              <a:latin typeface="+mn-ea"/>
              <a:cs typeface="+mn-ea"/>
            </a:endParaRPr>
          </a:p>
          <a:p>
            <a:r>
              <a:rPr lang="zh-CN" altLang="en-US" sz="2400" b="1">
                <a:latin typeface="+mn-ea"/>
                <a:cs typeface="+mn-ea"/>
              </a:rPr>
              <a:t>A.某公司通过发展客户作为营销渠道，鼓励他们向更多人推销该公司产品</a:t>
            </a:r>
            <a:endParaRPr lang="zh-CN" altLang="en-US" sz="2400" b="1">
              <a:latin typeface="+mn-ea"/>
              <a:cs typeface="+mn-ea"/>
            </a:endParaRPr>
          </a:p>
          <a:p>
            <a:r>
              <a:rPr lang="zh-CN" altLang="en-US" sz="2400" b="1">
                <a:latin typeface="+mn-ea"/>
                <a:cs typeface="+mn-ea"/>
              </a:rPr>
              <a:t>B.某企业举办广告创意设计大赛活动，让消费者自己设计相关产品的广告</a:t>
            </a:r>
            <a:endParaRPr lang="zh-CN" altLang="en-US" sz="2400" b="1">
              <a:latin typeface="+mn-ea"/>
              <a:cs typeface="+mn-ea"/>
            </a:endParaRPr>
          </a:p>
          <a:p>
            <a:r>
              <a:rPr lang="zh-CN" altLang="en-US" sz="2400" b="1">
                <a:latin typeface="+mn-ea"/>
                <a:cs typeface="+mn-ea"/>
              </a:rPr>
              <a:t>C.某公司通过电子邮箱随机发送产品广告，并告知转发该广告可参与抽奖</a:t>
            </a:r>
            <a:endParaRPr lang="zh-CN" altLang="en-US" sz="2400" b="1">
              <a:latin typeface="+mn-ea"/>
              <a:cs typeface="+mn-ea"/>
            </a:endParaRPr>
          </a:p>
          <a:p>
            <a:r>
              <a:rPr lang="zh-CN" altLang="en-US" sz="2400" b="1">
                <a:latin typeface="+mn-ea"/>
                <a:cs typeface="+mn-ea"/>
              </a:rPr>
              <a:t>D.某商家用标新立异的广告词宣传，网友纷纷转发使其迅速成为流行语</a:t>
            </a:r>
            <a:endParaRPr lang="zh-CN" altLang="en-US" sz="2400" b="1">
              <a:latin typeface="+mn-ea"/>
              <a:cs typeface="+mn-ea"/>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0225"/>
            <a:ext cx="10852237" cy="648000"/>
          </a:xfrm>
        </p:spPr>
        <p:txBody>
          <a:bodyPr/>
          <a:p>
            <a:r>
              <a:rPr lang="zh-CN" altLang="en-US">
                <a:solidFill>
                  <a:srgbClr val="00B050"/>
                </a:solidFill>
              </a:rPr>
              <a:t>真题</a:t>
            </a:r>
            <a:r>
              <a:rPr lang="en-US" altLang="zh-CN">
                <a:solidFill>
                  <a:srgbClr val="00B050"/>
                </a:solidFill>
              </a:rPr>
              <a:t>59</a:t>
            </a:r>
            <a:r>
              <a:rPr>
                <a:solidFill>
                  <a:srgbClr val="00B050"/>
                </a:solidFill>
              </a:rPr>
              <a:t>分析</a:t>
            </a:r>
            <a:endParaRPr>
              <a:solidFill>
                <a:srgbClr val="00B050"/>
              </a:solidFill>
            </a:endParaRPr>
          </a:p>
        </p:txBody>
      </p:sp>
      <p:sp>
        <p:nvSpPr>
          <p:cNvPr id="3" name="内容占位符 2"/>
          <p:cNvSpPr>
            <a:spLocks noGrp="1"/>
          </p:cNvSpPr>
          <p:nvPr>
            <p:ph idx="1"/>
          </p:nvPr>
        </p:nvSpPr>
        <p:spPr>
          <a:xfrm>
            <a:off x="669925" y="848360"/>
            <a:ext cx="10852150" cy="5488940"/>
          </a:xfrm>
        </p:spPr>
        <p:txBody>
          <a:bodyPr/>
          <a:p>
            <a:r>
              <a:rPr lang="zh-CN" altLang="en-US" sz="2400" b="1">
                <a:latin typeface="+mn-ea"/>
                <a:cs typeface="+mn-ea"/>
              </a:rPr>
              <a:t>真题</a:t>
            </a:r>
            <a:r>
              <a:rPr lang="en-US" altLang="zh-CN" sz="2400" b="1">
                <a:latin typeface="+mn-ea"/>
                <a:cs typeface="+mn-ea"/>
              </a:rPr>
              <a:t>59</a:t>
            </a:r>
            <a:r>
              <a:rPr sz="2400" b="1">
                <a:latin typeface="+mn-ea"/>
                <a:cs typeface="+mn-ea"/>
              </a:rPr>
              <a:t>：</a:t>
            </a:r>
            <a:r>
              <a:rPr lang="zh-CN" altLang="en-US" sz="2400" b="1">
                <a:latin typeface="+mn-ea"/>
                <a:cs typeface="+mn-ea"/>
              </a:rPr>
              <a:t>病毒式营销是指发起人把产品的最初信息发送到用户，再</a:t>
            </a:r>
            <a:r>
              <a:rPr lang="zh-CN" altLang="en-US" sz="2400" b="1">
                <a:solidFill>
                  <a:srgbClr val="FF0000"/>
                </a:solidFill>
                <a:latin typeface="+mn-ea"/>
                <a:cs typeface="+mn-ea"/>
              </a:rPr>
              <a:t>依靠用户自发</a:t>
            </a:r>
            <a:r>
              <a:rPr lang="zh-CN" altLang="en-US" sz="2400" b="1">
                <a:latin typeface="+mn-ea"/>
                <a:cs typeface="+mn-ea"/>
              </a:rPr>
              <a:t>进行口碑宣传的一种营销方法。这种战略像病毒一样，利用</a:t>
            </a:r>
            <a:r>
              <a:rPr lang="zh-CN" altLang="en-US" sz="2400" b="1">
                <a:solidFill>
                  <a:srgbClr val="FF0000"/>
                </a:solidFill>
                <a:latin typeface="+mn-ea"/>
                <a:cs typeface="+mn-ea"/>
              </a:rPr>
              <a:t>快速复制的方式将信息传向数以千计乃至百万计的受众</a:t>
            </a:r>
            <a:r>
              <a:rPr lang="zh-CN" altLang="en-US" sz="2400" b="1">
                <a:latin typeface="+mn-ea"/>
                <a:cs typeface="+mn-ea"/>
              </a:rPr>
              <a:t>。</a:t>
            </a:r>
            <a:endParaRPr lang="zh-CN" altLang="en-US" sz="2400" b="1">
              <a:latin typeface="+mn-ea"/>
              <a:cs typeface="+mn-ea"/>
            </a:endParaRPr>
          </a:p>
          <a:p>
            <a:r>
              <a:rPr lang="zh-CN" altLang="en-US" sz="2400" b="1">
                <a:latin typeface="+mn-ea"/>
                <a:cs typeface="+mn-ea"/>
              </a:rPr>
              <a:t>根据上述定义，下列属于病毒式营销的是：</a:t>
            </a:r>
            <a:endParaRPr lang="zh-CN" altLang="en-US" sz="2400" b="1">
              <a:latin typeface="+mn-ea"/>
              <a:cs typeface="+mn-ea"/>
            </a:endParaRPr>
          </a:p>
          <a:p>
            <a:r>
              <a:rPr lang="zh-CN" altLang="en-US" sz="2400" b="1">
                <a:latin typeface="+mn-ea"/>
                <a:cs typeface="+mn-ea"/>
              </a:rPr>
              <a:t>A.某公司通过发展客户作为营销渠道，鼓励他们向更多人推销该公司产品</a:t>
            </a:r>
            <a:endParaRPr lang="zh-CN" altLang="en-US" sz="2400" b="1">
              <a:latin typeface="+mn-ea"/>
              <a:cs typeface="+mn-ea"/>
            </a:endParaRPr>
          </a:p>
          <a:p>
            <a:r>
              <a:rPr lang="zh-CN" altLang="en-US" sz="2400" b="1">
                <a:latin typeface="+mn-ea"/>
                <a:cs typeface="+mn-ea"/>
              </a:rPr>
              <a:t>B.某企业举办广告创意设计大赛活动，让消费者自己设计相关产品的广告</a:t>
            </a:r>
            <a:endParaRPr lang="zh-CN" altLang="en-US" sz="2400" b="1">
              <a:latin typeface="+mn-ea"/>
              <a:cs typeface="+mn-ea"/>
            </a:endParaRPr>
          </a:p>
          <a:p>
            <a:r>
              <a:rPr lang="zh-CN" altLang="en-US" sz="2400" b="1">
                <a:latin typeface="+mn-ea"/>
                <a:cs typeface="+mn-ea"/>
              </a:rPr>
              <a:t>C.某公司通过电子邮箱随机发送产品广告，并告知转发该广告可参与抽奖</a:t>
            </a:r>
            <a:endParaRPr lang="zh-CN" altLang="en-US" sz="2400" b="1">
              <a:latin typeface="+mn-ea"/>
              <a:cs typeface="+mn-ea"/>
            </a:endParaRPr>
          </a:p>
          <a:p>
            <a:r>
              <a:rPr lang="zh-CN" altLang="en-US" sz="2400" b="1">
                <a:latin typeface="+mn-ea"/>
                <a:cs typeface="+mn-ea"/>
              </a:rPr>
              <a:t>D.某商家用标新立异的广告词宣传，网友纷纷转发使其迅速成为流行语</a:t>
            </a:r>
            <a:endParaRPr lang="zh-CN" altLang="en-US" sz="2400" b="1">
              <a:latin typeface="+mn-ea"/>
              <a:cs typeface="+mn-ea"/>
            </a:endParaRPr>
          </a:p>
          <a:p>
            <a:r>
              <a:rPr lang="zh-CN" altLang="en-US" sz="2400" b="1">
                <a:latin typeface="+mn-ea"/>
                <a:cs typeface="+mn-ea"/>
              </a:rPr>
              <a:t>分析：</a:t>
            </a:r>
            <a:r>
              <a:rPr lang="en-US" altLang="zh-CN" sz="2400" b="1">
                <a:latin typeface="+mn-ea"/>
                <a:cs typeface="+mn-ea"/>
              </a:rPr>
              <a:t>A</a:t>
            </a:r>
            <a:r>
              <a:rPr sz="2400" b="1">
                <a:latin typeface="+mn-ea"/>
                <a:cs typeface="+mn-ea"/>
              </a:rPr>
              <a:t>鼓励客户推销，</a:t>
            </a:r>
            <a:r>
              <a:rPr lang="en-US" altLang="zh-CN" sz="2400" b="1">
                <a:latin typeface="+mn-ea"/>
                <a:cs typeface="+mn-ea"/>
              </a:rPr>
              <a:t>B</a:t>
            </a:r>
            <a:r>
              <a:rPr sz="2400" b="1">
                <a:latin typeface="+mn-ea"/>
                <a:cs typeface="+mn-ea"/>
              </a:rPr>
              <a:t>举办大赛，</a:t>
            </a:r>
            <a:r>
              <a:rPr lang="en-US" altLang="zh-CN" sz="2400" b="1">
                <a:latin typeface="+mn-ea"/>
                <a:cs typeface="+mn-ea"/>
              </a:rPr>
              <a:t>C</a:t>
            </a:r>
            <a:r>
              <a:rPr sz="2400" b="1">
                <a:latin typeface="+mn-ea"/>
                <a:cs typeface="+mn-ea"/>
              </a:rPr>
              <a:t>告知抽奖，都不是</a:t>
            </a:r>
            <a:r>
              <a:rPr lang="en-US" altLang="zh-CN" sz="2400" b="1">
                <a:latin typeface="+mn-ea"/>
                <a:cs typeface="+mn-ea"/>
              </a:rPr>
              <a:t>“</a:t>
            </a:r>
            <a:r>
              <a:rPr sz="2400" b="1">
                <a:solidFill>
                  <a:srgbClr val="FF0000"/>
                </a:solidFill>
                <a:latin typeface="+mn-ea"/>
                <a:cs typeface="+mn-ea"/>
                <a:sym typeface="+mn-ea"/>
              </a:rPr>
              <a:t>依靠用户自发</a:t>
            </a:r>
            <a:r>
              <a:rPr lang="en-US" altLang="zh-CN" sz="2400" b="1">
                <a:latin typeface="+mn-ea"/>
                <a:cs typeface="+mn-ea"/>
              </a:rPr>
              <a:t>”</a:t>
            </a:r>
            <a:r>
              <a:rPr sz="2400" b="1">
                <a:latin typeface="+mn-ea"/>
                <a:cs typeface="+mn-ea"/>
              </a:rPr>
              <a:t>，只有</a:t>
            </a:r>
            <a:r>
              <a:rPr lang="en-US" altLang="zh-CN" sz="2400" b="1">
                <a:latin typeface="+mn-ea"/>
                <a:cs typeface="+mn-ea"/>
              </a:rPr>
              <a:t>D</a:t>
            </a:r>
            <a:r>
              <a:rPr sz="2400" b="1">
                <a:latin typeface="+mn-ea"/>
                <a:cs typeface="+mn-ea"/>
              </a:rPr>
              <a:t>符合定义。</a:t>
            </a:r>
            <a:endParaRPr sz="2400" b="1">
              <a:latin typeface="+mn-ea"/>
              <a:cs typeface="+mn-ea"/>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436880"/>
            <a:ext cx="12191365" cy="5900420"/>
          </a:xfrm>
        </p:spPr>
        <p:txBody>
          <a:bodyPr/>
          <a:p>
            <a:r>
              <a:rPr lang="zh-CN" altLang="en-US" sz="2400" b="1">
                <a:solidFill>
                  <a:srgbClr val="00B050"/>
                </a:solidFill>
              </a:rPr>
              <a:t>真题</a:t>
            </a:r>
            <a:r>
              <a:rPr lang="en-US" altLang="zh-CN" sz="2400" b="1">
                <a:solidFill>
                  <a:srgbClr val="00B050"/>
                </a:solidFill>
              </a:rPr>
              <a:t>60</a:t>
            </a:r>
            <a:r>
              <a:rPr sz="2400" b="1"/>
              <a:t>：</a:t>
            </a:r>
            <a:r>
              <a:rPr lang="zh-CN" altLang="en-US" sz="2400" b="1"/>
              <a:t>随着科学技术的发展，人机交流已经成为现实，这其中的关键是脑机接口技术。所谓脑机接口，就是连接大脑与计算机之间的信息系统，可以让大脑和计算机沟通。脑机接口可以从大脑传递信息到计算机，又可以从计算机传递信息进入大脑。</a:t>
            </a:r>
            <a:endParaRPr lang="zh-CN" altLang="en-US" sz="2400" b="1"/>
          </a:p>
          <a:p>
            <a:r>
              <a:rPr lang="zh-CN" altLang="en-US" sz="2400" b="1"/>
              <a:t>根据上述定义，下列应用不属于脑机接口技术的是：</a:t>
            </a:r>
            <a:endParaRPr lang="zh-CN" altLang="en-US" sz="2400" b="1"/>
          </a:p>
          <a:p>
            <a:r>
              <a:rPr lang="zh-CN" altLang="en-US" sz="2400" b="1"/>
              <a:t>A.某游戏玩家的大脑被植入一部装置，通过该装置用意念控制机械手，端起杯子喝茶</a:t>
            </a:r>
            <a:endParaRPr lang="zh-CN" altLang="en-US" sz="2400" b="1"/>
          </a:p>
          <a:p>
            <a:r>
              <a:rPr lang="zh-CN" altLang="en-US" sz="2400" b="1"/>
              <a:t>B.某游戏玩家佩戴一套义肢设备，经过多次练习，凭着坚强意志力，实现独立行走</a:t>
            </a:r>
            <a:endParaRPr lang="zh-CN" altLang="en-US" sz="2400" b="1"/>
          </a:p>
          <a:p>
            <a:r>
              <a:rPr lang="zh-CN" altLang="en-US" sz="2400" b="1"/>
              <a:t>C.某游戏玩家佩戴一种脸部饰品，饰品根据佩戴者的情绪变化做出相应的指示动作</a:t>
            </a:r>
            <a:endParaRPr lang="zh-CN" altLang="en-US" sz="2400" b="1"/>
          </a:p>
          <a:p>
            <a:r>
              <a:rPr lang="zh-CN" altLang="en-US" sz="2400" b="1"/>
              <a:t>D.某游戏玩家戴上一套高科技耳机，集中注意力，通过精神控制小球飞越各种障碍</a:t>
            </a:r>
            <a:endParaRPr lang="zh-CN" altLang="en-US" sz="2400" b="1"/>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5" y="436880"/>
            <a:ext cx="12191365" cy="5900420"/>
          </a:xfrm>
        </p:spPr>
        <p:txBody>
          <a:bodyPr/>
          <a:p>
            <a:r>
              <a:rPr lang="zh-CN" altLang="en-US" sz="2400" b="1">
                <a:solidFill>
                  <a:srgbClr val="00B050"/>
                </a:solidFill>
              </a:rPr>
              <a:t>真题</a:t>
            </a:r>
            <a:r>
              <a:rPr lang="en-US" altLang="zh-CN" sz="2400" b="1">
                <a:solidFill>
                  <a:srgbClr val="00B050"/>
                </a:solidFill>
              </a:rPr>
              <a:t>60</a:t>
            </a:r>
            <a:r>
              <a:rPr sz="2400" b="1">
                <a:solidFill>
                  <a:srgbClr val="00B050"/>
                </a:solidFill>
              </a:rPr>
              <a:t>分析</a:t>
            </a:r>
            <a:r>
              <a:rPr sz="2400" b="1"/>
              <a:t>：</a:t>
            </a:r>
            <a:r>
              <a:rPr lang="zh-CN" altLang="en-US" sz="2400" b="1"/>
              <a:t>随着科学技术的发展，人机交流已经成为现实，这其中的关键是脑机接口技术。所谓脑机接口，就是连接大脑与计算机之间的信息系统，可以让大脑和计算机沟通。脑机接口</a:t>
            </a:r>
            <a:r>
              <a:rPr lang="zh-CN" altLang="en-US" sz="2400" b="1">
                <a:solidFill>
                  <a:srgbClr val="00B050"/>
                </a:solidFill>
              </a:rPr>
              <a:t>可以从大脑传递信息到计算机，又可以从计算机传递信息进入大脑</a:t>
            </a:r>
            <a:r>
              <a:rPr lang="zh-CN" altLang="en-US" sz="2400" b="1"/>
              <a:t>。根据上述定义，下列应用</a:t>
            </a:r>
            <a:r>
              <a:rPr lang="zh-CN" altLang="en-US" sz="2400" b="1">
                <a:solidFill>
                  <a:srgbClr val="FF0000"/>
                </a:solidFill>
              </a:rPr>
              <a:t>不属于</a:t>
            </a:r>
            <a:r>
              <a:rPr lang="zh-CN" altLang="en-US" sz="2400" b="1"/>
              <a:t>脑机接口技术的是：</a:t>
            </a:r>
            <a:endParaRPr lang="zh-CN" altLang="en-US" sz="2400" b="1"/>
          </a:p>
          <a:p>
            <a:r>
              <a:rPr lang="zh-CN" altLang="en-US" sz="2400" b="1"/>
              <a:t>A.某游戏玩家的大脑被植入一部装置，通过该装置用意念控制机械手，端起杯子喝茶</a:t>
            </a:r>
            <a:endParaRPr lang="zh-CN" altLang="en-US" sz="2400" b="1"/>
          </a:p>
          <a:p>
            <a:r>
              <a:rPr lang="zh-CN" altLang="en-US" sz="2400" b="1"/>
              <a:t>B.某游戏玩家佩戴一套义肢设备，经过多次练习，凭着坚强意志力，实现独立行走</a:t>
            </a:r>
            <a:endParaRPr lang="zh-CN" altLang="en-US" sz="2400" b="1"/>
          </a:p>
          <a:p>
            <a:r>
              <a:rPr lang="zh-CN" altLang="en-US" sz="2400" b="1"/>
              <a:t>C.某游戏玩家佩戴一种脸部饰品，饰品根据佩戴者的情绪变化做出相应的指示动作</a:t>
            </a:r>
            <a:endParaRPr lang="zh-CN" altLang="en-US" sz="2400" b="1"/>
          </a:p>
          <a:p>
            <a:r>
              <a:rPr lang="zh-CN" altLang="en-US" sz="2400" b="1"/>
              <a:t>D.某游戏玩家戴上一套高科技耳机，集中注意力，通过精神控制小球飞越各种障碍</a:t>
            </a:r>
            <a:endParaRPr lang="zh-CN" altLang="en-US" sz="2400" b="1"/>
          </a:p>
          <a:p>
            <a:r>
              <a:rPr lang="zh-CN" altLang="en-US" sz="2400" b="1"/>
              <a:t>分析：</a:t>
            </a:r>
            <a:r>
              <a:rPr lang="en-US" altLang="zh-CN" sz="2400" b="1"/>
              <a:t>ACD</a:t>
            </a:r>
            <a:r>
              <a:rPr sz="2400" b="1"/>
              <a:t>均符合定义，</a:t>
            </a:r>
            <a:r>
              <a:rPr lang="en-US" altLang="zh-CN" sz="2400" b="1"/>
              <a:t>B</a:t>
            </a:r>
            <a:r>
              <a:rPr sz="2400" b="1"/>
              <a:t>只是</a:t>
            </a:r>
            <a:r>
              <a:rPr sz="2400" b="1">
                <a:sym typeface="+mn-ea"/>
              </a:rPr>
              <a:t>佩戴假肢，通过锻炼达到目的，故选</a:t>
            </a:r>
            <a:r>
              <a:rPr lang="en-US" altLang="zh-CN" sz="2400" b="1">
                <a:sym typeface="+mn-ea"/>
              </a:rPr>
              <a:t>B</a:t>
            </a:r>
            <a:r>
              <a:rPr sz="2400" b="1">
                <a:sym typeface="+mn-ea"/>
              </a:rPr>
              <a:t>。</a:t>
            </a:r>
            <a:endParaRPr sz="2400" b="1">
              <a:sym typeface="+mn-ea"/>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三、判断定义间的关系</a:t>
            </a:r>
            <a:endParaRPr lang="zh-CN" altLang="en-US"/>
          </a:p>
        </p:txBody>
      </p:sp>
      <p:sp>
        <p:nvSpPr>
          <p:cNvPr id="3" name="内容占位符 2"/>
          <p:cNvSpPr>
            <a:spLocks noGrp="1"/>
          </p:cNvSpPr>
          <p:nvPr>
            <p:ph idx="1"/>
          </p:nvPr>
        </p:nvSpPr>
        <p:spPr/>
        <p:txBody>
          <a:bodyPr/>
          <a:p>
            <a:r>
              <a:rPr sz="2400" b="1">
                <a:latin typeface="+mn-ea"/>
                <a:cs typeface="+mn-ea"/>
              </a:rPr>
              <a:t>随着考试难度的加大，题干中可能包括多个定义或者列举了多种情况，这是可能需要对题干定义间的关系进行判断。常见的定义间关系有：</a:t>
            </a:r>
            <a:endParaRPr sz="2400" b="1">
              <a:latin typeface="+mn-ea"/>
              <a:cs typeface="+mn-ea"/>
            </a:endParaRPr>
          </a:p>
          <a:p>
            <a:pPr marL="0" indent="0">
              <a:buNone/>
            </a:pPr>
            <a:r>
              <a:rPr lang="en-US" altLang="zh-CN" sz="2400" b="1">
                <a:solidFill>
                  <a:srgbClr val="FF0000"/>
                </a:solidFill>
                <a:latin typeface="+mn-ea"/>
                <a:cs typeface="+mn-ea"/>
              </a:rPr>
              <a:t>1.</a:t>
            </a:r>
            <a:r>
              <a:rPr sz="2400" b="1">
                <a:solidFill>
                  <a:srgbClr val="FF0000"/>
                </a:solidFill>
                <a:latin typeface="+mn-ea"/>
                <a:cs typeface="+mn-ea"/>
              </a:rPr>
              <a:t>并列关系：多个定义相互并列</a:t>
            </a:r>
            <a:endParaRPr sz="2400" b="1">
              <a:solidFill>
                <a:srgbClr val="FF0000"/>
              </a:solidFill>
              <a:latin typeface="+mn-ea"/>
              <a:cs typeface="+mn-ea"/>
            </a:endParaRPr>
          </a:p>
          <a:p>
            <a:pPr marL="0" indent="0">
              <a:buNone/>
            </a:pPr>
            <a:r>
              <a:rPr sz="2400" b="1">
                <a:latin typeface="+mn-ea"/>
                <a:cs typeface="+mn-ea"/>
              </a:rPr>
              <a:t> 例如：差别比例税率是指</a:t>
            </a:r>
            <a:r>
              <a:rPr sz="2400" b="1">
                <a:latin typeface="宋体" panose="02010600030101010101" pitchFamily="2" charset="-122"/>
                <a:ea typeface="宋体" panose="02010600030101010101" pitchFamily="2" charset="-122"/>
                <a:cs typeface="+mn-ea"/>
              </a:rPr>
              <a:t>……，</a:t>
            </a:r>
            <a:r>
              <a:rPr sz="2400" b="1">
                <a:latin typeface="+mn-ea"/>
                <a:cs typeface="+mn-ea"/>
              </a:rPr>
              <a:t>累进税率是指</a:t>
            </a:r>
            <a:r>
              <a:rPr sz="2400" b="1">
                <a:latin typeface="宋体" panose="02010600030101010101" pitchFamily="2" charset="-122"/>
                <a:ea typeface="宋体" panose="02010600030101010101" pitchFamily="2" charset="-122"/>
                <a:cs typeface="+mn-ea"/>
                <a:sym typeface="+mn-ea"/>
              </a:rPr>
              <a:t>……</a:t>
            </a:r>
            <a:endParaRPr sz="2400" b="1">
              <a:latin typeface="+mn-ea"/>
              <a:cs typeface="+mn-ea"/>
            </a:endParaRPr>
          </a:p>
          <a:p>
            <a:pPr marL="0" indent="0">
              <a:buNone/>
            </a:pPr>
            <a:r>
              <a:rPr lang="en-US" altLang="zh-CN" sz="2400" b="1">
                <a:solidFill>
                  <a:srgbClr val="FF0000"/>
                </a:solidFill>
                <a:latin typeface="+mn-ea"/>
                <a:cs typeface="+mn-ea"/>
              </a:rPr>
              <a:t>2.</a:t>
            </a:r>
            <a:r>
              <a:rPr sz="2400" b="1">
                <a:solidFill>
                  <a:srgbClr val="FF0000"/>
                </a:solidFill>
                <a:latin typeface="+mn-ea"/>
                <a:cs typeface="+mn-ea"/>
              </a:rPr>
              <a:t>包含关系：</a:t>
            </a:r>
            <a:endParaRPr sz="2400" b="1">
              <a:solidFill>
                <a:srgbClr val="FF0000"/>
              </a:solidFill>
              <a:latin typeface="+mn-ea"/>
              <a:cs typeface="+mn-ea"/>
            </a:endParaRPr>
          </a:p>
          <a:p>
            <a:pPr marL="0" indent="0">
              <a:buNone/>
            </a:pPr>
            <a:r>
              <a:rPr sz="2400" b="1">
                <a:latin typeface="+mn-ea"/>
                <a:cs typeface="+mn-ea"/>
              </a:rPr>
              <a:t>   </a:t>
            </a:r>
            <a:r>
              <a:rPr lang="en-US" altLang="zh-CN" sz="2400" b="1">
                <a:solidFill>
                  <a:srgbClr val="00B050"/>
                </a:solidFill>
                <a:latin typeface="+mn-ea"/>
                <a:cs typeface="+mn-ea"/>
              </a:rPr>
              <a:t>a)</a:t>
            </a:r>
            <a:r>
              <a:rPr sz="2400" b="1">
                <a:solidFill>
                  <a:srgbClr val="00B050"/>
                </a:solidFill>
                <a:latin typeface="+mn-ea"/>
                <a:cs typeface="+mn-ea"/>
              </a:rPr>
              <a:t>某个定义包括几种情况或几个小定义</a:t>
            </a:r>
            <a:endParaRPr sz="2400" b="1">
              <a:solidFill>
                <a:srgbClr val="00B050"/>
              </a:solidFill>
              <a:latin typeface="+mn-ea"/>
              <a:cs typeface="+mn-ea"/>
            </a:endParaRPr>
          </a:p>
          <a:p>
            <a:pPr marL="0" indent="0">
              <a:buNone/>
            </a:pPr>
            <a:r>
              <a:rPr sz="2400" b="1">
                <a:latin typeface="+mn-ea"/>
                <a:cs typeface="+mn-ea"/>
              </a:rPr>
              <a:t>例如：电子反对抗是指</a:t>
            </a:r>
            <a:r>
              <a:rPr sz="2400" b="1">
                <a:latin typeface="宋体" panose="02010600030101010101" pitchFamily="2" charset="-122"/>
                <a:ea typeface="宋体" panose="02010600030101010101" pitchFamily="2" charset="-122"/>
                <a:cs typeface="+mn-ea"/>
                <a:sym typeface="+mn-ea"/>
              </a:rPr>
              <a:t>……</a:t>
            </a:r>
            <a:r>
              <a:rPr sz="2400" b="1">
                <a:latin typeface="+mn-ea"/>
                <a:cs typeface="+mn-ea"/>
                <a:sym typeface="+mn-ea"/>
              </a:rPr>
              <a:t>，主要措施包含电子反侦察、</a:t>
            </a:r>
            <a:r>
              <a:rPr sz="2400" b="1">
                <a:latin typeface="+mn-ea"/>
                <a:cs typeface="+mn-ea"/>
                <a:sym typeface="+mn-ea"/>
              </a:rPr>
              <a:t>电子反干扰、、、</a:t>
            </a:r>
            <a:endParaRPr lang="en-US" altLang="zh-CN" sz="2400" b="1">
              <a:latin typeface="+mn-ea"/>
              <a:cs typeface="+mn-ea"/>
            </a:endParaRPr>
          </a:p>
          <a:p>
            <a:pPr marL="0" indent="0">
              <a:buNone/>
            </a:pPr>
            <a:r>
              <a:rPr lang="en-US" altLang="zh-CN" sz="2400" b="1">
                <a:latin typeface="+mn-ea"/>
                <a:cs typeface="+mn-ea"/>
              </a:rPr>
              <a:t>   </a:t>
            </a:r>
            <a:r>
              <a:rPr lang="en-US" altLang="zh-CN" sz="2400" b="1">
                <a:solidFill>
                  <a:srgbClr val="00B050"/>
                </a:solidFill>
                <a:latin typeface="+mn-ea"/>
                <a:cs typeface="+mn-ea"/>
              </a:rPr>
              <a:t>b)</a:t>
            </a:r>
            <a:r>
              <a:rPr sz="2400" b="1">
                <a:solidFill>
                  <a:srgbClr val="00B050"/>
                </a:solidFill>
                <a:latin typeface="+mn-ea"/>
                <a:cs typeface="+mn-ea"/>
              </a:rPr>
              <a:t>给出一个定义，并对定义中的某个概念进行解释性定义</a:t>
            </a:r>
            <a:endParaRPr sz="2400" b="1">
              <a:solidFill>
                <a:srgbClr val="00B050"/>
              </a:solidFill>
              <a:latin typeface="+mn-ea"/>
              <a:cs typeface="+mn-ea"/>
            </a:endParaRPr>
          </a:p>
          <a:p>
            <a:r>
              <a:rPr sz="2400" b="1">
                <a:latin typeface="+mn-ea"/>
                <a:cs typeface="+mn-ea"/>
              </a:rPr>
              <a:t>例如：附款行政行为是指</a:t>
            </a:r>
            <a:r>
              <a:rPr sz="2400" b="1">
                <a:latin typeface="宋体" panose="02010600030101010101" pitchFamily="2" charset="-122"/>
                <a:ea typeface="宋体" panose="02010600030101010101" pitchFamily="2" charset="-122"/>
                <a:cs typeface="+mn-ea"/>
                <a:sym typeface="+mn-ea"/>
              </a:rPr>
              <a:t>……</a:t>
            </a:r>
            <a:r>
              <a:rPr sz="2400" b="1">
                <a:latin typeface="+mn-ea"/>
                <a:cs typeface="+mn-ea"/>
                <a:sym typeface="+mn-ea"/>
              </a:rPr>
              <a:t>，这里的附款就是附条件</a:t>
            </a:r>
            <a:endParaRPr sz="2400" b="1">
              <a:latin typeface="+mn-ea"/>
              <a:cs typeface="+mn-ea"/>
              <a:sym typeface="+mn-ea"/>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13995" y="514350"/>
            <a:ext cx="11530330" cy="6115050"/>
          </a:xfrm>
        </p:spPr>
        <p:txBody>
          <a:bodyPr/>
          <a:p>
            <a:r>
              <a:rPr lang="zh-CN" altLang="en-US" sz="2400" b="1">
                <a:solidFill>
                  <a:srgbClr val="00B050"/>
                </a:solidFill>
              </a:rPr>
              <a:t>真题</a:t>
            </a:r>
            <a:r>
              <a:rPr lang="en-US" altLang="zh-CN" sz="2400" b="1">
                <a:solidFill>
                  <a:srgbClr val="00B050"/>
                </a:solidFill>
              </a:rPr>
              <a:t>61</a:t>
            </a:r>
            <a:r>
              <a:rPr sz="2400" b="1"/>
              <a:t>：</a:t>
            </a:r>
            <a:r>
              <a:rPr lang="zh-CN" altLang="en-US" sz="2400" b="1"/>
              <a:t>显性知识是能够被人类以一定符码系统（如语言、数学公式、各类图表、盲文、手势语、旗语等符号形式）加以完整表述的知识。隐性知识与其相对，通常是指人们知道却难以言述的知识，依靠个人经验获取。基于身体的隐性知识是指主体在认识过程中所产生和应用的隐性知识，多植根于人类身体机能的运用或对于工具的使用。</a:t>
            </a:r>
            <a:endParaRPr lang="zh-CN" altLang="en-US" sz="2400" b="1"/>
          </a:p>
          <a:p>
            <a:r>
              <a:rPr lang="zh-CN" altLang="en-US" sz="2400" b="1"/>
              <a:t>根据上述定义，下列行为运用基于身体的隐性知识最典型的一项是：</a:t>
            </a:r>
            <a:endParaRPr lang="zh-CN" altLang="en-US" sz="2400" b="1"/>
          </a:p>
          <a:p>
            <a:r>
              <a:rPr lang="zh-CN" altLang="en-US" sz="2400" b="1"/>
              <a:t>A.某公司开发了一套金融软件，能够让客户不花费现金就可以模拟炒股的情形</a:t>
            </a:r>
            <a:endParaRPr lang="zh-CN" altLang="en-US" sz="2400" b="1"/>
          </a:p>
          <a:p>
            <a:r>
              <a:rPr lang="zh-CN" altLang="en-US" sz="2400" b="1"/>
              <a:t>B.幼儿园老师通过讲故事、打比方等方法帮助孩子们理解一些成语的含义</a:t>
            </a:r>
            <a:endParaRPr lang="zh-CN" altLang="en-US" sz="2400" b="1"/>
          </a:p>
          <a:p>
            <a:r>
              <a:rPr lang="zh-CN" altLang="en-US" sz="2400" b="1"/>
              <a:t>C.一位具有20年外科手术经验的医生为患者进行骨髓移植手术</a:t>
            </a:r>
            <a:endParaRPr lang="zh-CN" altLang="en-US" sz="2400" b="1"/>
          </a:p>
          <a:p>
            <a:r>
              <a:rPr lang="zh-CN" altLang="en-US" sz="2400" b="1"/>
              <a:t>D.一些研究者利用浮力原理制造潜水艇，并设计了能够减少阻力的流线外形</a:t>
            </a:r>
            <a:endParaRPr lang="zh-CN" altLang="en-US" sz="2400" b="1"/>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2250" y="239395"/>
            <a:ext cx="11530330" cy="6475730"/>
          </a:xfrm>
        </p:spPr>
        <p:txBody>
          <a:bodyPr/>
          <a:p>
            <a:r>
              <a:rPr lang="zh-CN" altLang="en-US" sz="2400" b="1">
                <a:solidFill>
                  <a:srgbClr val="00B050"/>
                </a:solidFill>
              </a:rPr>
              <a:t>真题</a:t>
            </a:r>
            <a:r>
              <a:rPr lang="en-US" altLang="zh-CN" sz="2400" b="1">
                <a:solidFill>
                  <a:srgbClr val="00B050"/>
                </a:solidFill>
              </a:rPr>
              <a:t>61</a:t>
            </a:r>
            <a:r>
              <a:rPr sz="2400" b="1"/>
              <a:t>：</a:t>
            </a:r>
            <a:r>
              <a:rPr lang="zh-CN" altLang="en-US" sz="2400" b="1">
                <a:solidFill>
                  <a:srgbClr val="FF0000"/>
                </a:solidFill>
              </a:rPr>
              <a:t>显性知识</a:t>
            </a:r>
            <a:r>
              <a:rPr lang="zh-CN" altLang="en-US" sz="2400" b="1"/>
              <a:t>是能够被人类以一定符码系统（如语言、数学公式、各类图表、盲文、手势语、旗语等符号形式）加以完整表述的知识。</a:t>
            </a:r>
            <a:r>
              <a:rPr lang="zh-CN" altLang="en-US" sz="2400" b="1">
                <a:solidFill>
                  <a:srgbClr val="FF0000"/>
                </a:solidFill>
              </a:rPr>
              <a:t>隐性知识</a:t>
            </a:r>
            <a:r>
              <a:rPr lang="zh-CN" altLang="en-US" sz="2400" b="1"/>
              <a:t>与其相对，通常是指人们</a:t>
            </a:r>
            <a:r>
              <a:rPr lang="zh-CN" altLang="en-US" sz="2400" b="1">
                <a:solidFill>
                  <a:srgbClr val="00B050"/>
                </a:solidFill>
                <a:latin typeface="+mn-ea"/>
              </a:rPr>
              <a:t>①</a:t>
            </a:r>
            <a:r>
              <a:rPr lang="zh-CN" altLang="en-US" sz="2400" b="1">
                <a:solidFill>
                  <a:srgbClr val="00B050"/>
                </a:solidFill>
              </a:rPr>
              <a:t>知道却难以言述的知识</a:t>
            </a:r>
            <a:r>
              <a:rPr lang="zh-CN" altLang="en-US" sz="2400" b="1"/>
              <a:t>，</a:t>
            </a:r>
            <a:r>
              <a:rPr sz="2400" b="1">
                <a:solidFill>
                  <a:srgbClr val="00B050"/>
                </a:solidFill>
                <a:latin typeface="+mn-ea"/>
                <a:sym typeface="+mn-ea"/>
              </a:rPr>
              <a:t>②</a:t>
            </a:r>
            <a:r>
              <a:rPr lang="zh-CN" altLang="en-US" sz="2400" b="1">
                <a:solidFill>
                  <a:srgbClr val="00B050"/>
                </a:solidFill>
              </a:rPr>
              <a:t>依靠个人经验获取</a:t>
            </a:r>
            <a:r>
              <a:rPr lang="zh-CN" altLang="en-US" sz="2400" b="1"/>
              <a:t>。基于身体的隐性知识是指主体在认识过程中所产生和应用的隐性知识，</a:t>
            </a:r>
            <a:r>
              <a:rPr lang="zh-CN" altLang="en-US" sz="2400" b="1">
                <a:solidFill>
                  <a:srgbClr val="00B050"/>
                </a:solidFill>
                <a:latin typeface="+mn-ea"/>
              </a:rPr>
              <a:t>③</a:t>
            </a:r>
            <a:r>
              <a:rPr lang="zh-CN" altLang="en-US" sz="2400" b="1">
                <a:solidFill>
                  <a:srgbClr val="00B050"/>
                </a:solidFill>
              </a:rPr>
              <a:t>多植根于人类身体机能的运用或对于工具的使用</a:t>
            </a:r>
            <a:r>
              <a:rPr lang="zh-CN" altLang="en-US" sz="2400" b="1"/>
              <a:t>。</a:t>
            </a:r>
            <a:endParaRPr lang="zh-CN" altLang="en-US" sz="2400" b="1"/>
          </a:p>
          <a:p>
            <a:r>
              <a:rPr lang="zh-CN" altLang="en-US" sz="2400" b="1"/>
              <a:t>根据上述定义，下列行为运用基于身体的隐性知识最典型的一项是：</a:t>
            </a:r>
            <a:endParaRPr lang="zh-CN" altLang="en-US" sz="2400" b="1"/>
          </a:p>
          <a:p>
            <a:r>
              <a:rPr lang="zh-CN" altLang="en-US" sz="2400" b="1"/>
              <a:t>A.某公司开发了一套金融软件，能够让客户不花费现金就可以模拟炒股的情形</a:t>
            </a:r>
            <a:endParaRPr lang="zh-CN" altLang="en-US" sz="2400" b="1"/>
          </a:p>
          <a:p>
            <a:r>
              <a:rPr lang="zh-CN" altLang="en-US" sz="2400" b="1"/>
              <a:t>B.幼儿园老师通过讲故事、打比方等方法帮助孩子们理解一些成语的含义</a:t>
            </a:r>
            <a:endParaRPr lang="zh-CN" altLang="en-US" sz="2400" b="1"/>
          </a:p>
          <a:p>
            <a:r>
              <a:rPr lang="zh-CN" altLang="en-US" sz="2400" b="1"/>
              <a:t>C.一位具有20年外科手术经验的医生为患者进行骨髓移植手术</a:t>
            </a:r>
            <a:endParaRPr lang="zh-CN" altLang="en-US" sz="2400" b="1"/>
          </a:p>
          <a:p>
            <a:r>
              <a:rPr lang="zh-CN" altLang="en-US" sz="2400" b="1"/>
              <a:t>D.一些研究者利用浮力原理制造潜水艇，并设计了能够减少阻力的流线外形</a:t>
            </a:r>
            <a:endParaRPr lang="zh-CN" altLang="en-US" sz="2400" b="1"/>
          </a:p>
          <a:p>
            <a:r>
              <a:rPr lang="zh-CN" altLang="en-US" sz="2400" b="1"/>
              <a:t>分析：</a:t>
            </a:r>
            <a:r>
              <a:rPr sz="2400" b="1">
                <a:solidFill>
                  <a:srgbClr val="FF0000"/>
                </a:solidFill>
                <a:sym typeface="+mn-ea"/>
              </a:rPr>
              <a:t>隐性知识</a:t>
            </a:r>
            <a:r>
              <a:rPr lang="zh-CN" altLang="en-US" sz="2400" b="1"/>
              <a:t>的定义要点是</a:t>
            </a:r>
            <a:r>
              <a:rPr sz="2400" b="1">
                <a:solidFill>
                  <a:srgbClr val="00B050"/>
                </a:solidFill>
                <a:latin typeface="+mn-ea"/>
                <a:sym typeface="+mn-ea"/>
              </a:rPr>
              <a:t>①</a:t>
            </a:r>
            <a:r>
              <a:rPr sz="2400" b="1">
                <a:solidFill>
                  <a:srgbClr val="00B050"/>
                </a:solidFill>
                <a:latin typeface="+mn-ea"/>
                <a:sym typeface="+mn-ea"/>
              </a:rPr>
              <a:t>②</a:t>
            </a:r>
            <a:r>
              <a:rPr sz="2400" b="1">
                <a:solidFill>
                  <a:srgbClr val="00B050"/>
                </a:solidFill>
                <a:latin typeface="+mn-ea"/>
                <a:sym typeface="+mn-ea"/>
              </a:rPr>
              <a:t>③</a:t>
            </a:r>
            <a:r>
              <a:rPr sz="2400" b="1">
                <a:solidFill>
                  <a:srgbClr val="00B050"/>
                </a:solidFill>
                <a:latin typeface="+mn-ea"/>
                <a:cs typeface="+mn-ea"/>
                <a:sym typeface="+mn-ea"/>
              </a:rPr>
              <a:t>，</a:t>
            </a:r>
            <a:r>
              <a:rPr lang="en-US" altLang="zh-CN" sz="2400" b="1">
                <a:solidFill>
                  <a:schemeClr val="tx1"/>
                </a:solidFill>
                <a:latin typeface="+mn-ea"/>
                <a:cs typeface="+mn-ea"/>
                <a:sym typeface="+mn-ea"/>
              </a:rPr>
              <a:t>A</a:t>
            </a:r>
            <a:r>
              <a:rPr sz="2400" b="1">
                <a:solidFill>
                  <a:schemeClr val="tx1"/>
                </a:solidFill>
                <a:latin typeface="+mn-ea"/>
                <a:cs typeface="+mn-ea"/>
                <a:sym typeface="+mn-ea"/>
              </a:rPr>
              <a:t>金融软件不符合</a:t>
            </a:r>
            <a:r>
              <a:rPr sz="2400" b="1">
                <a:solidFill>
                  <a:schemeClr val="tx1"/>
                </a:solidFill>
                <a:latin typeface="+mn-ea"/>
                <a:sym typeface="+mn-ea"/>
              </a:rPr>
              <a:t>①②，</a:t>
            </a:r>
            <a:r>
              <a:rPr lang="en-US" altLang="zh-CN" sz="2400" b="1">
                <a:solidFill>
                  <a:schemeClr val="tx1"/>
                </a:solidFill>
                <a:latin typeface="+mn-ea"/>
                <a:cs typeface="+mn-ea"/>
                <a:sym typeface="+mn-ea"/>
              </a:rPr>
              <a:t>B</a:t>
            </a:r>
            <a:r>
              <a:rPr sz="2400" b="1">
                <a:solidFill>
                  <a:schemeClr val="tx1"/>
                </a:solidFill>
                <a:latin typeface="+mn-ea"/>
                <a:cs typeface="+mn-ea"/>
                <a:sym typeface="+mn-ea"/>
              </a:rPr>
              <a:t>讲故事打比方</a:t>
            </a:r>
            <a:r>
              <a:rPr sz="2400" b="1">
                <a:solidFill>
                  <a:schemeClr val="tx1"/>
                </a:solidFill>
                <a:latin typeface="+mn-ea"/>
                <a:cs typeface="+mn-ea"/>
                <a:sym typeface="+mn-ea"/>
              </a:rPr>
              <a:t>不符合</a:t>
            </a:r>
            <a:r>
              <a:rPr sz="2400" b="1">
                <a:solidFill>
                  <a:schemeClr val="tx1"/>
                </a:solidFill>
                <a:latin typeface="+mn-ea"/>
                <a:sym typeface="+mn-ea"/>
              </a:rPr>
              <a:t>①，</a:t>
            </a:r>
            <a:r>
              <a:rPr lang="en-US" altLang="zh-CN" sz="2400" b="1">
                <a:solidFill>
                  <a:schemeClr val="tx1"/>
                </a:solidFill>
                <a:latin typeface="+mn-ea"/>
                <a:cs typeface="+mn-ea"/>
                <a:sym typeface="+mn-ea"/>
              </a:rPr>
              <a:t>D</a:t>
            </a:r>
            <a:r>
              <a:rPr sz="2400" b="1">
                <a:solidFill>
                  <a:schemeClr val="tx1"/>
                </a:solidFill>
                <a:latin typeface="+mn-ea"/>
                <a:cs typeface="+mn-ea"/>
                <a:sym typeface="+mn-ea"/>
              </a:rPr>
              <a:t>是属于显性知识。只有</a:t>
            </a:r>
            <a:r>
              <a:rPr lang="en-US" altLang="zh-CN" sz="2400" b="1">
                <a:solidFill>
                  <a:schemeClr val="tx1"/>
                </a:solidFill>
                <a:latin typeface="+mn-ea"/>
                <a:cs typeface="+mn-ea"/>
                <a:sym typeface="+mn-ea"/>
              </a:rPr>
              <a:t>C</a:t>
            </a:r>
            <a:r>
              <a:rPr sz="2400" b="1">
                <a:solidFill>
                  <a:schemeClr val="tx1"/>
                </a:solidFill>
                <a:latin typeface="+mn-ea"/>
                <a:cs typeface="+mn-ea"/>
                <a:sym typeface="+mn-ea"/>
              </a:rPr>
              <a:t>符合定义，故选</a:t>
            </a:r>
            <a:r>
              <a:rPr lang="en-US" altLang="zh-CN" sz="2400" b="1">
                <a:solidFill>
                  <a:schemeClr val="tx1"/>
                </a:solidFill>
                <a:latin typeface="+mn-ea"/>
                <a:cs typeface="+mn-ea"/>
                <a:sym typeface="+mn-ea"/>
              </a:rPr>
              <a:t>C</a:t>
            </a:r>
            <a:r>
              <a:rPr sz="2400" b="1">
                <a:solidFill>
                  <a:schemeClr val="tx1"/>
                </a:solidFill>
                <a:latin typeface="+mn-ea"/>
                <a:cs typeface="+mn-ea"/>
                <a:sym typeface="+mn-ea"/>
              </a:rPr>
              <a:t>。</a:t>
            </a:r>
            <a:endParaRPr sz="2400" b="1">
              <a:solidFill>
                <a:schemeClr val="tx1"/>
              </a:solidFill>
              <a:latin typeface="+mn-ea"/>
              <a:cs typeface="+mn-ea"/>
              <a:sym typeface="+mn-ea"/>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00B050"/>
                </a:solidFill>
              </a:rPr>
              <a:t>真题</a:t>
            </a:r>
            <a:r>
              <a:rPr lang="en-US" altLang="zh-CN">
                <a:solidFill>
                  <a:srgbClr val="00B050"/>
                </a:solidFill>
              </a:rPr>
              <a:t>62</a:t>
            </a:r>
            <a:endParaRPr lang="en-US" altLang="zh-CN">
              <a:solidFill>
                <a:srgbClr val="00B050"/>
              </a:solidFill>
            </a:endParaRPr>
          </a:p>
        </p:txBody>
      </p:sp>
      <p:sp>
        <p:nvSpPr>
          <p:cNvPr id="3" name="内容占位符 2"/>
          <p:cNvSpPr>
            <a:spLocks noGrp="1"/>
          </p:cNvSpPr>
          <p:nvPr>
            <p:ph idx="1"/>
          </p:nvPr>
        </p:nvSpPr>
        <p:spPr/>
        <p:txBody>
          <a:bodyPr/>
          <a:p>
            <a:r>
              <a:rPr lang="zh-CN" altLang="en-US" sz="2400" b="1"/>
              <a:t>文化变迁是指由于族群社会内部的发展或由于不同族群之间的接触而引起的一个族群文化的改变。由于发明或借用而增添新的事物，由此导致旧事物丧失，是一种文化变迁；由于生态环境及社会生活变化，在没有替代物的情况下有些文化因素自动消失，也属于文化变迁。</a:t>
            </a:r>
            <a:endParaRPr lang="zh-CN" altLang="en-US" sz="2400" b="1"/>
          </a:p>
          <a:p>
            <a:r>
              <a:rPr lang="zh-CN" altLang="en-US" sz="2400" b="1"/>
              <a:t>根据上述定义，下列不属于文化变迁的是：</a:t>
            </a:r>
            <a:endParaRPr lang="zh-CN" altLang="en-US" sz="2400" b="1"/>
          </a:p>
          <a:p>
            <a:r>
              <a:rPr lang="zh-CN" altLang="en-US" sz="2400" b="1"/>
              <a:t>A.拥有灿烂文化的庞贝古城在维苏威火山的大爆发中消失了</a:t>
            </a:r>
            <a:endParaRPr lang="zh-CN" altLang="en-US" sz="2400" b="1"/>
          </a:p>
          <a:p>
            <a:r>
              <a:rPr lang="zh-CN" altLang="en-US" sz="2400" b="1"/>
              <a:t>B.古代玛雅人和玛雅文化一起在历史长河中消失了</a:t>
            </a:r>
            <a:endParaRPr lang="zh-CN" altLang="en-US" sz="2400" b="1"/>
          </a:p>
          <a:p>
            <a:r>
              <a:rPr lang="zh-CN" altLang="en-US" sz="2400" b="1"/>
              <a:t>C.随着英国的殖民与发展，英语成为许多亚洲国家的官方语言</a:t>
            </a:r>
            <a:endParaRPr lang="zh-CN" altLang="en-US" sz="2400" b="1"/>
          </a:p>
          <a:p>
            <a:r>
              <a:rPr lang="zh-CN" altLang="en-US" sz="2400" b="1"/>
              <a:t>D.由于汽车的出现，伦敦的出租马车渐渐退出了历史舞台</a:t>
            </a:r>
            <a:endParaRPr lang="zh-CN" altLang="en-US" sz="2400" b="1"/>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15620" y="229870"/>
            <a:ext cx="10852150" cy="6510655"/>
          </a:xfrm>
        </p:spPr>
        <p:txBody>
          <a:bodyPr/>
          <a:p>
            <a:r>
              <a:rPr lang="zh-CN" altLang="en-US" sz="2400" b="1">
                <a:solidFill>
                  <a:srgbClr val="00B050"/>
                </a:solidFill>
              </a:rPr>
              <a:t>真题</a:t>
            </a:r>
            <a:r>
              <a:rPr lang="en-US" altLang="zh-CN" sz="2400" b="1">
                <a:solidFill>
                  <a:srgbClr val="00B050"/>
                </a:solidFill>
              </a:rPr>
              <a:t>62</a:t>
            </a:r>
            <a:r>
              <a:rPr sz="2400" b="1"/>
              <a:t>：</a:t>
            </a:r>
            <a:r>
              <a:rPr lang="zh-CN" altLang="en-US" sz="2400" b="1"/>
              <a:t>文化变迁是指</a:t>
            </a:r>
            <a:r>
              <a:rPr lang="zh-CN" altLang="en-US" sz="2400" b="1">
                <a:solidFill>
                  <a:srgbClr val="FF0000"/>
                </a:solidFill>
                <a:latin typeface="宋体" panose="02010600030101010101" pitchFamily="2" charset="-122"/>
                <a:ea typeface="宋体" panose="02010600030101010101" pitchFamily="2" charset="-122"/>
              </a:rPr>
              <a:t>①</a:t>
            </a:r>
            <a:r>
              <a:rPr lang="zh-CN" altLang="en-US" sz="2400" b="1">
                <a:solidFill>
                  <a:srgbClr val="FF0000"/>
                </a:solidFill>
              </a:rPr>
              <a:t>由于</a:t>
            </a:r>
            <a:r>
              <a:rPr lang="zh-CN" altLang="en-US" sz="2400" b="1"/>
              <a:t>族群社会内部的发展或由于不同族群之间的接触而引起的一个族群文化的改变。</a:t>
            </a:r>
            <a:r>
              <a:rPr lang="zh-CN" altLang="en-US" sz="2400" b="1">
                <a:solidFill>
                  <a:srgbClr val="FF0000"/>
                </a:solidFill>
                <a:latin typeface="宋体" panose="02010600030101010101" pitchFamily="2" charset="-122"/>
                <a:ea typeface="宋体" panose="02010600030101010101" pitchFamily="2" charset="-122"/>
              </a:rPr>
              <a:t>②</a:t>
            </a:r>
            <a:r>
              <a:rPr lang="zh-CN" altLang="en-US" sz="2400" b="1">
                <a:solidFill>
                  <a:srgbClr val="FF0000"/>
                </a:solidFill>
              </a:rPr>
              <a:t>由于</a:t>
            </a:r>
            <a:r>
              <a:rPr lang="zh-CN" altLang="en-US" sz="2400" b="1"/>
              <a:t>发明或借用而增添新的事物，由此导致旧事物丧失，是一种文化变迁；</a:t>
            </a:r>
            <a:r>
              <a:rPr lang="zh-CN" altLang="en-US" sz="2400" b="1">
                <a:solidFill>
                  <a:srgbClr val="FF0000"/>
                </a:solidFill>
                <a:latin typeface="宋体" panose="02010600030101010101" pitchFamily="2" charset="-122"/>
                <a:ea typeface="宋体" panose="02010600030101010101" pitchFamily="2" charset="-122"/>
              </a:rPr>
              <a:t>③</a:t>
            </a:r>
            <a:r>
              <a:rPr lang="zh-CN" altLang="en-US" sz="2400" b="1">
                <a:solidFill>
                  <a:srgbClr val="FF0000"/>
                </a:solidFill>
              </a:rPr>
              <a:t>由于</a:t>
            </a:r>
            <a:r>
              <a:rPr lang="zh-CN" altLang="en-US" sz="2400" b="1"/>
              <a:t>生态环境及社会生活变化，在没有替代物的情况下有些文化因素自动消失，也属于文化变迁。</a:t>
            </a:r>
            <a:endParaRPr lang="zh-CN" altLang="en-US" sz="2400" b="1"/>
          </a:p>
          <a:p>
            <a:r>
              <a:rPr lang="zh-CN" altLang="en-US" sz="2400" b="1"/>
              <a:t>根据上述定义，下列</a:t>
            </a:r>
            <a:r>
              <a:rPr lang="zh-CN" altLang="en-US" sz="2400" b="1">
                <a:solidFill>
                  <a:srgbClr val="FF0000"/>
                </a:solidFill>
              </a:rPr>
              <a:t>不属于文化变迁</a:t>
            </a:r>
            <a:r>
              <a:rPr lang="zh-CN" altLang="en-US" sz="2400" b="1"/>
              <a:t>的是：</a:t>
            </a:r>
            <a:endParaRPr lang="zh-CN" altLang="en-US" sz="2400" b="1"/>
          </a:p>
          <a:p>
            <a:r>
              <a:rPr lang="zh-CN" altLang="en-US" sz="2400" b="1"/>
              <a:t>A.拥有灿烂文化的庞贝古城在维苏威火山的大爆发中消失了</a:t>
            </a:r>
            <a:endParaRPr lang="zh-CN" altLang="en-US" sz="2400" b="1"/>
          </a:p>
          <a:p>
            <a:r>
              <a:rPr lang="zh-CN" altLang="en-US" sz="2400" b="1"/>
              <a:t>B.古代玛雅人和玛雅文化一起在历史长河中消失了</a:t>
            </a:r>
            <a:endParaRPr lang="zh-CN" altLang="en-US" sz="2400" b="1"/>
          </a:p>
          <a:p>
            <a:r>
              <a:rPr lang="zh-CN" altLang="en-US" sz="2400" b="1"/>
              <a:t>C.随着英国的殖民与发展，英语成为许多亚洲国家的官方语言</a:t>
            </a:r>
            <a:endParaRPr lang="zh-CN" altLang="en-US" sz="2400" b="1"/>
          </a:p>
          <a:p>
            <a:r>
              <a:rPr lang="zh-CN" altLang="en-US" sz="2400" b="1"/>
              <a:t>D.由于汽车的出现，伦敦的出租马车渐渐退出了历史舞台</a:t>
            </a:r>
            <a:endParaRPr lang="zh-CN" altLang="en-US" sz="2400" b="1"/>
          </a:p>
          <a:p>
            <a:r>
              <a:rPr lang="zh-CN" altLang="en-US" sz="2400" b="1"/>
              <a:t>分析：</a:t>
            </a:r>
            <a:r>
              <a:rPr lang="en-US" altLang="zh-CN" sz="2400" b="1"/>
              <a:t>A</a:t>
            </a:r>
            <a:r>
              <a:rPr sz="2400" b="1"/>
              <a:t>是由于火山爆发而消失不属于</a:t>
            </a:r>
            <a:r>
              <a:rPr sz="2400" b="1">
                <a:latin typeface="+mn-ea"/>
                <a:cs typeface="+mn-ea"/>
              </a:rPr>
              <a:t>①②③中任何一种，</a:t>
            </a:r>
            <a:r>
              <a:rPr lang="en-US" altLang="zh-CN" sz="2400" b="1">
                <a:latin typeface="+mn-ea"/>
                <a:cs typeface="+mn-ea"/>
              </a:rPr>
              <a:t>B</a:t>
            </a:r>
            <a:r>
              <a:rPr sz="2400" b="1">
                <a:latin typeface="+mn-ea"/>
                <a:cs typeface="+mn-ea"/>
              </a:rPr>
              <a:t>属于文化自动消失，对应③，</a:t>
            </a:r>
            <a:r>
              <a:rPr lang="en-US" altLang="zh-CN" sz="2400" b="1">
                <a:latin typeface="+mn-ea"/>
                <a:cs typeface="+mn-ea"/>
              </a:rPr>
              <a:t>B</a:t>
            </a:r>
            <a:r>
              <a:rPr sz="2400" b="1">
                <a:latin typeface="+mn-ea"/>
                <a:cs typeface="+mn-ea"/>
              </a:rPr>
              <a:t>属于不同族群之间的接触而引起族群文化的改变，对应①；</a:t>
            </a:r>
            <a:r>
              <a:rPr lang="en-US" altLang="zh-CN" sz="2400" b="1">
                <a:latin typeface="+mn-ea"/>
                <a:cs typeface="+mn-ea"/>
              </a:rPr>
              <a:t>B</a:t>
            </a:r>
            <a:r>
              <a:rPr sz="2400" b="1">
                <a:latin typeface="+mn-ea"/>
                <a:cs typeface="+mn-ea"/>
              </a:rPr>
              <a:t>属于</a:t>
            </a:r>
            <a:r>
              <a:rPr sz="2400" b="1">
                <a:latin typeface="+mn-ea"/>
                <a:cs typeface="+mn-ea"/>
                <a:sym typeface="+mn-ea"/>
              </a:rPr>
              <a:t>增添新的事物而导致旧事物丧失，对应②，故选</a:t>
            </a:r>
            <a:r>
              <a:rPr lang="en-US" altLang="zh-CN" sz="2400" b="1">
                <a:latin typeface="+mn-ea"/>
                <a:cs typeface="+mn-ea"/>
                <a:sym typeface="+mn-ea"/>
              </a:rPr>
              <a:t>A</a:t>
            </a:r>
            <a:r>
              <a:rPr sz="2400" b="1">
                <a:latin typeface="+mn-ea"/>
                <a:cs typeface="+mn-ea"/>
                <a:sym typeface="+mn-ea"/>
              </a:rPr>
              <a:t>。</a:t>
            </a:r>
            <a:endParaRPr sz="2400" b="1">
              <a:latin typeface="+mn-ea"/>
              <a:cs typeface="+mn-ea"/>
              <a:sym typeface="+mn-ea"/>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四、对比选项内容</a:t>
            </a:r>
            <a:endParaRPr lang="zh-CN" altLang="en-US"/>
          </a:p>
        </p:txBody>
      </p:sp>
      <p:sp>
        <p:nvSpPr>
          <p:cNvPr id="3" name="内容占位符 2"/>
          <p:cNvSpPr>
            <a:spLocks noGrp="1"/>
          </p:cNvSpPr>
          <p:nvPr>
            <p:ph idx="1"/>
          </p:nvPr>
        </p:nvSpPr>
        <p:spPr/>
        <p:txBody>
          <a:bodyPr/>
          <a:p>
            <a:r>
              <a:rPr lang="zh-CN" altLang="en-US" sz="2400" b="1">
                <a:solidFill>
                  <a:srgbClr val="FF0000"/>
                </a:solidFill>
              </a:rPr>
              <a:t>对于一些要求选择</a:t>
            </a:r>
            <a:r>
              <a:rPr lang="zh-CN" altLang="en-US" sz="2400" b="1">
                <a:solidFill>
                  <a:srgbClr val="00B050"/>
                </a:solidFill>
              </a:rPr>
              <a:t>不符合</a:t>
            </a:r>
            <a:r>
              <a:rPr lang="zh-CN" altLang="en-US" sz="2400" b="1">
                <a:solidFill>
                  <a:srgbClr val="FF0000"/>
                </a:solidFill>
              </a:rPr>
              <a:t>的题目，可以直接对比四个选项，并结合题干定义，选出不同于其他三项的一项，也就是正确答案</a:t>
            </a:r>
            <a:r>
              <a:rPr lang="zh-CN" altLang="en-US" sz="2400" b="1"/>
              <a:t>。对比选项内容的方法可以加快做题的速度，但需要和分析定义特征及归纳定义特征法结合使用，准确提取定义要点或归纳关键信息，才能确保答案的准确性。</a:t>
            </a:r>
            <a:endParaRPr lang="zh-CN" altLang="en-US" sz="2400" b="1"/>
          </a:p>
          <a:p>
            <a:r>
              <a:rPr lang="zh-CN" altLang="en-US" sz="2400" b="1">
                <a:solidFill>
                  <a:srgbClr val="00B050"/>
                </a:solidFill>
              </a:rPr>
              <a:t>真题</a:t>
            </a:r>
            <a:r>
              <a:rPr lang="en-US" altLang="zh-CN" sz="2400" b="1">
                <a:solidFill>
                  <a:srgbClr val="00B050"/>
                </a:solidFill>
              </a:rPr>
              <a:t>63</a:t>
            </a:r>
            <a:r>
              <a:rPr sz="2400" b="1"/>
              <a:t>：</a:t>
            </a:r>
            <a:r>
              <a:rPr lang="zh-CN" altLang="en-US" sz="2400" b="1"/>
              <a:t>耦合效应也称互动效应，是指群体中两个或两个以上的个体通过相互作用而彼此影响，从而联合起来产生増力的现象。</a:t>
            </a:r>
            <a:endParaRPr lang="zh-CN" altLang="en-US" sz="2400" b="1"/>
          </a:p>
          <a:p>
            <a:r>
              <a:rPr lang="zh-CN" altLang="en-US" sz="2400" b="1"/>
              <a:t>根据上述定义，下列不属于耦合现象的是：</a:t>
            </a:r>
            <a:endParaRPr lang="zh-CN" altLang="en-US" sz="2400" b="1"/>
          </a:p>
          <a:p>
            <a:r>
              <a:rPr lang="zh-CN" altLang="en-US" sz="2400" b="1"/>
              <a:t>A.众人合心，其利断金        B.水涨船高，柴多火旺</a:t>
            </a:r>
            <a:endParaRPr lang="zh-CN" altLang="en-US" sz="2400" b="1"/>
          </a:p>
          <a:p>
            <a:r>
              <a:rPr lang="zh-CN" altLang="en-US" sz="2400" b="1"/>
              <a:t>C.鹬蚌相争，渔翁得利        D.三个臭皮匠顶个诸葛亮</a:t>
            </a:r>
            <a:endParaRPr lang="zh-CN" altLang="en-US" sz="2400" b="1"/>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olidFill>
                  <a:srgbClr val="00B050"/>
                </a:solidFill>
                <a:sym typeface="+mn-ea"/>
              </a:rPr>
              <a:t>真题</a:t>
            </a:r>
            <a:r>
              <a:rPr lang="en-US" altLang="zh-CN">
                <a:solidFill>
                  <a:srgbClr val="00B050"/>
                </a:solidFill>
                <a:sym typeface="+mn-ea"/>
              </a:rPr>
              <a:t>63</a:t>
            </a:r>
            <a:r>
              <a:rPr>
                <a:solidFill>
                  <a:srgbClr val="00B050"/>
                </a:solidFill>
                <a:sym typeface="+mn-ea"/>
              </a:rPr>
              <a:t>分析</a:t>
            </a:r>
            <a:endParaRPr>
              <a:solidFill>
                <a:srgbClr val="00B050"/>
              </a:solidFill>
              <a:sym typeface="+mn-ea"/>
            </a:endParaRPr>
          </a:p>
        </p:txBody>
      </p:sp>
      <p:sp>
        <p:nvSpPr>
          <p:cNvPr id="3" name="内容占位符 2"/>
          <p:cNvSpPr>
            <a:spLocks noGrp="1"/>
          </p:cNvSpPr>
          <p:nvPr>
            <p:ph idx="1"/>
          </p:nvPr>
        </p:nvSpPr>
        <p:spPr/>
        <p:txBody>
          <a:bodyPr/>
          <a:p>
            <a:r>
              <a:rPr sz="2400" b="1">
                <a:sym typeface="+mn-ea"/>
              </a:rPr>
              <a:t>耦合效应也称互动效应，是指群体中两个或两个以上的个体通过相互作用而彼此影响，从而</a:t>
            </a:r>
            <a:r>
              <a:rPr sz="2400" b="1">
                <a:solidFill>
                  <a:srgbClr val="FF0000"/>
                </a:solidFill>
                <a:sym typeface="+mn-ea"/>
              </a:rPr>
              <a:t>联合起来产生増力</a:t>
            </a:r>
            <a:r>
              <a:rPr sz="2400" b="1">
                <a:sym typeface="+mn-ea"/>
              </a:rPr>
              <a:t>的现象。</a:t>
            </a:r>
            <a:endParaRPr lang="zh-CN" altLang="en-US" sz="2400" b="1"/>
          </a:p>
          <a:p>
            <a:r>
              <a:rPr sz="2400" b="1">
                <a:sym typeface="+mn-ea"/>
              </a:rPr>
              <a:t>根据上述定义，下列</a:t>
            </a:r>
            <a:r>
              <a:rPr sz="2400" b="1">
                <a:solidFill>
                  <a:srgbClr val="FF0000"/>
                </a:solidFill>
                <a:sym typeface="+mn-ea"/>
              </a:rPr>
              <a:t>不属于</a:t>
            </a:r>
            <a:r>
              <a:rPr sz="2400" b="1">
                <a:sym typeface="+mn-ea"/>
              </a:rPr>
              <a:t>耦合现象的是：</a:t>
            </a:r>
            <a:endParaRPr lang="zh-CN" altLang="en-US" sz="2400" b="1"/>
          </a:p>
          <a:p>
            <a:r>
              <a:rPr sz="2400" b="1">
                <a:sym typeface="+mn-ea"/>
              </a:rPr>
              <a:t>A.众人合心，其利断金        B.水涨船高，柴多火旺</a:t>
            </a:r>
            <a:endParaRPr lang="zh-CN" altLang="en-US" sz="2400" b="1"/>
          </a:p>
          <a:p>
            <a:r>
              <a:rPr sz="2400" b="1">
                <a:sym typeface="+mn-ea"/>
              </a:rPr>
              <a:t>C.鹬蚌相争，渔翁得利        D.三个臭皮匠顶个诸葛亮</a:t>
            </a:r>
            <a:endParaRPr sz="2400" b="1">
              <a:sym typeface="+mn-ea"/>
            </a:endParaRPr>
          </a:p>
          <a:p>
            <a:r>
              <a:rPr sz="2400" b="1">
                <a:sym typeface="+mn-ea"/>
              </a:rPr>
              <a:t>分析：对比四个选项，</a:t>
            </a:r>
            <a:r>
              <a:rPr lang="en-US" altLang="zh-CN" sz="2400" b="1">
                <a:sym typeface="+mn-ea"/>
              </a:rPr>
              <a:t>ABD</a:t>
            </a:r>
            <a:r>
              <a:rPr sz="2400" b="1">
                <a:sym typeface="+mn-ea"/>
              </a:rPr>
              <a:t>三项含义相近，符合定义关键信息：</a:t>
            </a:r>
            <a:r>
              <a:rPr lang="en-US" altLang="zh-CN" sz="2400" b="1">
                <a:sym typeface="+mn-ea"/>
              </a:rPr>
              <a:t>“</a:t>
            </a:r>
            <a:r>
              <a:rPr sz="2400" b="1">
                <a:solidFill>
                  <a:srgbClr val="FF0000"/>
                </a:solidFill>
                <a:sym typeface="+mn-ea"/>
              </a:rPr>
              <a:t>联合起来产生増力</a:t>
            </a:r>
            <a:r>
              <a:rPr lang="en-US" altLang="zh-CN" sz="2400" b="1">
                <a:sym typeface="+mn-ea"/>
              </a:rPr>
              <a:t>”</a:t>
            </a:r>
            <a:r>
              <a:rPr sz="2400" b="1">
                <a:sym typeface="+mn-ea"/>
              </a:rPr>
              <a:t>，</a:t>
            </a:r>
            <a:r>
              <a:rPr lang="en-US" altLang="zh-CN" sz="2400" b="1">
                <a:sym typeface="+mn-ea"/>
              </a:rPr>
              <a:t>C</a:t>
            </a:r>
            <a:r>
              <a:rPr sz="2400" b="1">
                <a:sym typeface="+mn-ea"/>
              </a:rPr>
              <a:t>则指两败俱伤，第三方获利，与其他三项含义不同，故选</a:t>
            </a:r>
            <a:r>
              <a:rPr lang="en-US" altLang="zh-CN" sz="2400" b="1">
                <a:sym typeface="+mn-ea"/>
              </a:rPr>
              <a:t>C</a:t>
            </a:r>
            <a:r>
              <a:rPr sz="2400" b="1">
                <a:sym typeface="+mn-ea"/>
              </a:rPr>
              <a:t>。</a:t>
            </a:r>
            <a:endParaRPr lang="zh-CN" altLang="en-US" sz="2400" b="1"/>
          </a:p>
          <a:p>
            <a:endParaRPr lang="zh-CN" altLang="en-US" sz="2400"/>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139900"/>
            <a:ext cx="10852237" cy="648000"/>
          </a:xfrm>
        </p:spPr>
        <p:txBody>
          <a:bodyPr/>
          <a:p>
            <a:r>
              <a:rPr lang="zh-CN" altLang="en-US"/>
              <a:t>作业</a:t>
            </a:r>
            <a:r>
              <a:rPr lang="en-US" altLang="zh-CN"/>
              <a:t>1</a:t>
            </a:r>
            <a:endParaRPr lang="en-US" altLang="zh-CN"/>
          </a:p>
        </p:txBody>
      </p:sp>
      <p:sp>
        <p:nvSpPr>
          <p:cNvPr id="3" name="内容占位符 2"/>
          <p:cNvSpPr>
            <a:spLocks noGrp="1"/>
          </p:cNvSpPr>
          <p:nvPr>
            <p:ph idx="1"/>
          </p:nvPr>
        </p:nvSpPr>
        <p:spPr>
          <a:xfrm>
            <a:off x="257175" y="969645"/>
            <a:ext cx="11624945" cy="5221605"/>
          </a:xfrm>
        </p:spPr>
        <p:txBody>
          <a:bodyPr/>
          <a:p>
            <a:r>
              <a:rPr lang="zh-CN" altLang="en-US" sz="2400" b="1">
                <a:solidFill>
                  <a:srgbClr val="00B050"/>
                </a:solidFill>
              </a:rPr>
              <a:t>真题</a:t>
            </a:r>
            <a:r>
              <a:rPr lang="en-US" altLang="zh-CN" sz="2400" b="1">
                <a:solidFill>
                  <a:srgbClr val="00B050"/>
                </a:solidFill>
              </a:rPr>
              <a:t>64</a:t>
            </a:r>
            <a:r>
              <a:rPr sz="2400" b="1"/>
              <a:t>：</a:t>
            </a:r>
            <a:r>
              <a:rPr lang="zh-CN" altLang="en-US" sz="2400" b="1"/>
              <a:t>斡旋受贿罪也称间接受贿罪，是指国家工作人员利用本人职权地位形成的便利条件，通过其他国家工作人员职务上的行为，为请托人谋取不正当利益，索取请托人财物或者收受请托人财物。</a:t>
            </a:r>
            <a:endParaRPr lang="zh-CN" altLang="en-US" sz="2400" b="1"/>
          </a:p>
          <a:p>
            <a:r>
              <a:rPr lang="zh-CN" altLang="en-US" sz="2400" b="1"/>
              <a:t>根据上述定义，下列属于斡旋受贿罪的是：</a:t>
            </a:r>
            <a:endParaRPr lang="zh-CN" altLang="en-US" sz="2400" b="1"/>
          </a:p>
          <a:p>
            <a:r>
              <a:rPr lang="zh-CN" altLang="en-US" sz="2400" b="1"/>
              <a:t>A.民办学校校长张某收受了某先生家长的红包，委托本校老师伪造该学生的成</a:t>
            </a:r>
            <a:endParaRPr lang="zh-CN" altLang="en-US" sz="2400" b="1"/>
          </a:p>
          <a:p>
            <a:r>
              <a:rPr lang="zh-CN" altLang="en-US" sz="2400" b="1"/>
              <a:t>   绩单</a:t>
            </a:r>
            <a:endParaRPr lang="zh-CN" altLang="en-US" sz="2400" b="1"/>
          </a:p>
          <a:p>
            <a:r>
              <a:rPr lang="zh-CN" altLang="en-US" sz="2400" b="1"/>
              <a:t>B.李董事长送了审计厅厅长太太一部轿车，使得自己的企业成功逃过审计审查</a:t>
            </a:r>
            <a:endParaRPr lang="zh-CN" altLang="en-US" sz="2400" b="1"/>
          </a:p>
          <a:p>
            <a:r>
              <a:rPr lang="zh-CN" altLang="en-US" sz="2400" b="1"/>
              <a:t>C.海关负责海外货品清关的小赵，时常收到海外代购商的礼物，并帮他们逃税</a:t>
            </a:r>
            <a:endParaRPr lang="zh-CN" altLang="en-US" sz="2400" b="1"/>
          </a:p>
          <a:p>
            <a:r>
              <a:rPr lang="zh-CN" altLang="en-US" sz="2400" b="1"/>
              <a:t>D.警察孙某请交管局的老同事帮小李删除违章记录，并向小李索要一笔好处费</a:t>
            </a:r>
            <a:endParaRPr lang="zh-CN" altLang="en-US" sz="2400" b="1"/>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作业</a:t>
            </a:r>
            <a:r>
              <a:rPr lang="en-US" altLang="zh-CN"/>
              <a:t>2</a:t>
            </a:r>
            <a:endParaRPr lang="en-US" altLang="zh-CN"/>
          </a:p>
        </p:txBody>
      </p:sp>
      <p:sp>
        <p:nvSpPr>
          <p:cNvPr id="3" name="内容占位符 2"/>
          <p:cNvSpPr>
            <a:spLocks noGrp="1"/>
          </p:cNvSpPr>
          <p:nvPr>
            <p:ph idx="1"/>
          </p:nvPr>
        </p:nvSpPr>
        <p:spPr/>
        <p:txBody>
          <a:bodyPr/>
          <a:p>
            <a:r>
              <a:rPr lang="zh-CN" altLang="en-US" sz="2400" b="1">
                <a:solidFill>
                  <a:srgbClr val="00B050"/>
                </a:solidFill>
              </a:rPr>
              <a:t>真题</a:t>
            </a:r>
            <a:r>
              <a:rPr lang="en-US" altLang="zh-CN" sz="2400" b="1">
                <a:solidFill>
                  <a:srgbClr val="00B050"/>
                </a:solidFill>
              </a:rPr>
              <a:t>65</a:t>
            </a:r>
            <a:r>
              <a:rPr sz="2400" b="1"/>
              <a:t>：</a:t>
            </a:r>
            <a:r>
              <a:rPr lang="zh-CN" altLang="en-US" sz="2400" b="1"/>
              <a:t>内耗效应是指在社会或部门内部因不协调或矛盾等造成的人力、物力等方面无谓的消耗而产生的负效应现象，其本质是它对外没有做功而只是内部消耗能量。</a:t>
            </a:r>
            <a:endParaRPr lang="zh-CN" altLang="en-US" sz="2400" b="1"/>
          </a:p>
          <a:p>
            <a:r>
              <a:rPr lang="zh-CN" altLang="en-US" sz="2400" b="1"/>
              <a:t>根据上述定义，下列属于内耗效应的是：</a:t>
            </a:r>
            <a:endParaRPr lang="zh-CN" altLang="en-US" sz="2400" b="1"/>
          </a:p>
          <a:p>
            <a:r>
              <a:rPr lang="zh-CN" altLang="en-US" sz="2400" b="1"/>
              <a:t>A.经过很长时间的广告战、价格战之后，两大饮料公司两败俱伤</a:t>
            </a:r>
            <a:endParaRPr lang="zh-CN" altLang="en-US" sz="2400" b="1"/>
          </a:p>
          <a:p>
            <a:r>
              <a:rPr lang="zh-CN" altLang="en-US" sz="2400" b="1"/>
              <a:t>B.游戏机商贩李某在学校内兜售游戏机，很多同学因此无心学习</a:t>
            </a:r>
            <a:endParaRPr lang="zh-CN" altLang="en-US" sz="2400" b="1"/>
          </a:p>
          <a:p>
            <a:r>
              <a:rPr lang="zh-CN" altLang="en-US" sz="2400" b="1"/>
              <a:t>C.甲国球队大比分战胜乙国球队，引发场下两国球迷的肢体冲突</a:t>
            </a:r>
            <a:endParaRPr lang="zh-CN" altLang="en-US" sz="2400" b="1"/>
          </a:p>
          <a:p>
            <a:r>
              <a:rPr lang="zh-CN" altLang="en-US" sz="2400" b="1"/>
              <a:t>D.集团董事会成员之间因利益纷争上演闹剧，导致该集团股票大跌</a:t>
            </a:r>
            <a:endParaRPr lang="zh-CN" altLang="en-US" sz="2400" b="1"/>
          </a:p>
        </p:txBody>
      </p:sp>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作业</a:t>
            </a:r>
            <a:r>
              <a:rPr lang="en-US" altLang="zh-CN"/>
              <a:t>3</a:t>
            </a:r>
            <a:r>
              <a:t>：</a:t>
            </a:r>
          </a:p>
        </p:txBody>
      </p:sp>
      <p:sp>
        <p:nvSpPr>
          <p:cNvPr id="3" name="内容占位符 2"/>
          <p:cNvSpPr>
            <a:spLocks noGrp="1"/>
          </p:cNvSpPr>
          <p:nvPr>
            <p:ph idx="1"/>
          </p:nvPr>
        </p:nvSpPr>
        <p:spPr/>
        <p:txBody>
          <a:bodyPr/>
          <a:p>
            <a:r>
              <a:rPr lang="zh-CN" altLang="en-US" sz="2400" b="1">
                <a:solidFill>
                  <a:srgbClr val="00B050"/>
                </a:solidFill>
              </a:rPr>
              <a:t>真题</a:t>
            </a:r>
            <a:r>
              <a:rPr lang="en-US" altLang="zh-CN" sz="2400" b="1">
                <a:solidFill>
                  <a:srgbClr val="00B050"/>
                </a:solidFill>
              </a:rPr>
              <a:t>66</a:t>
            </a:r>
            <a:r>
              <a:rPr sz="2400" b="1"/>
              <a:t>：</a:t>
            </a:r>
            <a:r>
              <a:rPr lang="zh-CN" altLang="en-US" sz="2400" b="1"/>
              <a:t>情感广告是诉诸消费者的情绪或情感反应，传达商品带给他们的附加值或情绪满足的一种广告策略。这种情绪在消费者心目中的价值可能远远超出商品本身，从而使消费者形成积极的品牌态度。</a:t>
            </a:r>
            <a:endParaRPr lang="zh-CN" altLang="en-US" sz="2400" b="1"/>
          </a:p>
          <a:p>
            <a:r>
              <a:rPr lang="zh-CN" altLang="en-US" sz="2400" b="1"/>
              <a:t>根据上述定义。下列广告语不属于情感广告的是：</a:t>
            </a:r>
            <a:endParaRPr lang="zh-CN" altLang="en-US" sz="2400" b="1"/>
          </a:p>
          <a:p>
            <a:r>
              <a:rPr lang="zh-CN" altLang="en-US" sz="2400" b="1"/>
              <a:t>A.某品牌饮料广告语：“可乐，中国人自己的可乐！”</a:t>
            </a:r>
            <a:endParaRPr lang="zh-CN" altLang="en-US" sz="2400" b="1"/>
          </a:p>
          <a:p>
            <a:r>
              <a:rPr lang="zh-CN" altLang="en-US" sz="2400" b="1"/>
              <a:t>B.某品牌啤酒进入东南亚市场的广告语：“好不好，家乡水。”</a:t>
            </a:r>
            <a:endParaRPr lang="zh-CN" altLang="en-US" sz="2400" b="1"/>
          </a:p>
          <a:p>
            <a:r>
              <a:rPr lang="zh-CN" altLang="en-US" sz="2400" b="1"/>
              <a:t>C.某品牌纸尿裤广告语：“宝宝天天好心情，妈妈一定更美丽。”</a:t>
            </a:r>
            <a:endParaRPr lang="zh-CN" altLang="en-US" sz="2400" b="1"/>
          </a:p>
          <a:p>
            <a:r>
              <a:rPr lang="zh-CN" altLang="en-US" sz="2400" b="1"/>
              <a:t>D.某品牌润肤露广告语：“为了肌肤柔美润舒，请使用润肤露。”</a:t>
            </a:r>
            <a:endParaRPr lang="zh-CN" altLang="en-US" sz="2400" b="1"/>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596900" y="426720"/>
            <a:ext cx="11036935" cy="6252210"/>
          </a:xfrm>
        </p:spPr>
        <p:txBody>
          <a:bodyPr/>
          <a:p>
            <a:pPr>
              <a:spcAft>
                <a:spcPts val="0"/>
              </a:spcAft>
            </a:pPr>
            <a:r>
              <a:rPr lang="zh-CN" altLang="en-US" sz="2400" b="1">
                <a:solidFill>
                  <a:schemeClr val="tx1"/>
                </a:solidFill>
              </a:rPr>
              <a:t>作业</a:t>
            </a:r>
            <a:r>
              <a:rPr lang="en-US" altLang="zh-CN" sz="2400" b="1">
                <a:solidFill>
                  <a:schemeClr val="tx1"/>
                </a:solidFill>
              </a:rPr>
              <a:t>4</a:t>
            </a:r>
            <a:r>
              <a:rPr sz="2400" b="1">
                <a:solidFill>
                  <a:schemeClr val="tx1"/>
                </a:solidFill>
              </a:rPr>
              <a:t>：</a:t>
            </a:r>
            <a:r>
              <a:rPr lang="zh-CN" altLang="en-US" sz="2400" b="1">
                <a:solidFill>
                  <a:srgbClr val="00B050"/>
                </a:solidFill>
              </a:rPr>
              <a:t>真题</a:t>
            </a:r>
            <a:r>
              <a:rPr lang="en-US" altLang="zh-CN" sz="2400" b="1">
                <a:solidFill>
                  <a:srgbClr val="00B050"/>
                </a:solidFill>
              </a:rPr>
              <a:t>67</a:t>
            </a:r>
            <a:r>
              <a:rPr sz="2400" b="1"/>
              <a:t>：</a:t>
            </a:r>
            <a:r>
              <a:rPr lang="zh-CN" altLang="en-US" sz="2400" b="1"/>
              <a:t>踢猫效应是一种典型的负面情绪的传递机制：人的愤怒情绪和不满情绪，往往会沿着社会关系链条由强到弱依次传递，从金字塔尖一直传递至金字塔底层，而处在最底层的个体，往往由于无处发泄，成了最终的受害者，进而影响其行为。</a:t>
            </a:r>
            <a:endParaRPr lang="zh-CN" altLang="en-US" sz="2400" b="1"/>
          </a:p>
          <a:p>
            <a:pPr>
              <a:spcAft>
                <a:spcPts val="0"/>
              </a:spcAft>
            </a:pPr>
            <a:r>
              <a:rPr lang="zh-CN" altLang="en-US" sz="2400" b="1"/>
              <a:t>根据上述定义，下列最符合踢猫效应的是：</a:t>
            </a:r>
            <a:endParaRPr lang="zh-CN" altLang="en-US" sz="2400" b="1"/>
          </a:p>
          <a:p>
            <a:pPr>
              <a:spcAft>
                <a:spcPts val="0"/>
              </a:spcAft>
            </a:pPr>
            <a:r>
              <a:rPr lang="zh-CN" altLang="en-US" sz="2400" b="1"/>
              <a:t>A.淘气的小男孩在学校把另一位同学推倒了，老师批评他几句，他回家后跟家长哭了起来</a:t>
            </a:r>
            <a:endParaRPr lang="zh-CN" altLang="en-US" sz="2400" b="1"/>
          </a:p>
          <a:p>
            <a:pPr>
              <a:spcAft>
                <a:spcPts val="0"/>
              </a:spcAft>
            </a:pPr>
            <a:r>
              <a:rPr lang="zh-CN" altLang="en-US" sz="2400" b="1"/>
              <a:t>B.李某出差委托邻居照看宠物狗，因狗生病二人闹翻了脸，自此两家孩子也不一起玩了</a:t>
            </a:r>
            <a:endParaRPr lang="zh-CN" altLang="en-US" sz="2400" b="1"/>
          </a:p>
          <a:p>
            <a:pPr>
              <a:spcAft>
                <a:spcPts val="0"/>
              </a:spcAft>
            </a:pPr>
            <a:r>
              <a:rPr lang="zh-CN" altLang="en-US" sz="2400" b="1"/>
              <a:t>C.一位母亲在单位受到领导的批评，回家后把淘气的女儿骂了一通，女儿把遥控器摔坏了</a:t>
            </a:r>
            <a:endParaRPr lang="zh-CN" altLang="en-US" sz="2400" b="1"/>
          </a:p>
          <a:p>
            <a:pPr>
              <a:spcAft>
                <a:spcPts val="0"/>
              </a:spcAft>
            </a:pPr>
            <a:r>
              <a:rPr lang="zh-CN" altLang="en-US" sz="2400" b="1"/>
              <a:t>D.小明妈妈在公园门口卖饮料，有一位卖冰糕的女士经常对她发泄不满情绪，二人吵了起来</a:t>
            </a:r>
            <a:endParaRPr lang="zh-CN" altLang="en-US" sz="2400" b="1"/>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a:sym typeface="+mn-ea"/>
              </a:rPr>
              <a:t>作业</a:t>
            </a:r>
            <a:r>
              <a:rPr lang="en-US" altLang="zh-CN">
                <a:sym typeface="+mn-ea"/>
              </a:rPr>
              <a:t>5</a:t>
            </a:r>
            <a:r>
              <a:rPr>
                <a:sym typeface="+mn-ea"/>
              </a:rPr>
              <a:t>：</a:t>
            </a:r>
            <a:endParaRPr lang="zh-CN" altLang="en-US"/>
          </a:p>
        </p:txBody>
      </p:sp>
      <p:sp>
        <p:nvSpPr>
          <p:cNvPr id="3" name="内容占位符 2"/>
          <p:cNvSpPr>
            <a:spLocks noGrp="1"/>
          </p:cNvSpPr>
          <p:nvPr>
            <p:ph idx="1"/>
          </p:nvPr>
        </p:nvSpPr>
        <p:spPr/>
        <p:txBody>
          <a:bodyPr/>
          <a:p>
            <a:r>
              <a:rPr sz="2400" b="1">
                <a:solidFill>
                  <a:srgbClr val="00B050"/>
                </a:solidFill>
                <a:sym typeface="+mn-ea"/>
              </a:rPr>
              <a:t>真题</a:t>
            </a:r>
            <a:r>
              <a:rPr lang="en-US" altLang="zh-CN" sz="2400" b="1">
                <a:solidFill>
                  <a:srgbClr val="00B050"/>
                </a:solidFill>
                <a:sym typeface="+mn-ea"/>
              </a:rPr>
              <a:t>68</a:t>
            </a:r>
            <a:r>
              <a:rPr sz="2400" b="1">
                <a:solidFill>
                  <a:srgbClr val="00B050"/>
                </a:solidFill>
                <a:sym typeface="+mn-ea"/>
              </a:rPr>
              <a:t>：</a:t>
            </a:r>
            <a:r>
              <a:rPr lang="zh-CN" altLang="en-US" sz="2400" b="1"/>
              <a:t>概念是反映对象本质属性的思维模式。概念的外延是指具有概念所反映的本质属性的全部对象。根据概念外延之间是否具有重合的部分，可将概念间的关系区分为相容关系和不相容关系。概念间的相容关系是指两个概念外延至少有部分重合的关系。</a:t>
            </a:r>
            <a:endParaRPr lang="zh-CN" altLang="en-US" sz="2400" b="1"/>
          </a:p>
          <a:p>
            <a:r>
              <a:rPr lang="zh-CN" altLang="en-US" sz="2400" b="1"/>
              <a:t>根据上述定义，下列概念间不具有相容关系的是：</a:t>
            </a:r>
            <a:endParaRPr lang="zh-CN" altLang="en-US" sz="2400" b="1"/>
          </a:p>
          <a:p>
            <a:r>
              <a:rPr lang="zh-CN" altLang="en-US" sz="2400" b="1"/>
              <a:t>A.导体</a:t>
            </a:r>
            <a:r>
              <a:rPr lang="en-US" altLang="zh-CN" sz="2400" b="1"/>
              <a:t>—</a:t>
            </a:r>
            <a:r>
              <a:rPr lang="zh-CN" altLang="en-US" sz="2400" b="1"/>
              <a:t>半导体</a:t>
            </a:r>
            <a:endParaRPr lang="zh-CN" altLang="en-US" sz="2400" b="1"/>
          </a:p>
          <a:p>
            <a:r>
              <a:rPr lang="zh-CN" altLang="en-US" sz="2400" b="1"/>
              <a:t>B.美国的首都</a:t>
            </a:r>
            <a:r>
              <a:rPr lang="en-US" altLang="zh-CN" sz="2400" b="1"/>
              <a:t>—</a:t>
            </a:r>
            <a:r>
              <a:rPr lang="zh-CN" altLang="en-US" sz="2400" b="1"/>
              <a:t>华盛顿</a:t>
            </a:r>
            <a:endParaRPr lang="zh-CN" altLang="en-US" sz="2400" b="1"/>
          </a:p>
          <a:p>
            <a:r>
              <a:rPr lang="zh-CN" altLang="en-US" sz="2400" b="1"/>
              <a:t>C.作家</a:t>
            </a:r>
            <a:r>
              <a:rPr lang="en-US" altLang="zh-CN" sz="2400" b="1"/>
              <a:t>—</a:t>
            </a:r>
            <a:r>
              <a:rPr lang="zh-CN" altLang="en-US" sz="2400" b="1"/>
              <a:t>中国作家</a:t>
            </a:r>
            <a:endParaRPr lang="zh-CN" altLang="en-US" sz="2400" b="1"/>
          </a:p>
          <a:p>
            <a:r>
              <a:rPr lang="zh-CN" altLang="en-US" sz="2400" b="1"/>
              <a:t>D.大学生</a:t>
            </a:r>
            <a:r>
              <a:rPr lang="en-US" altLang="zh-CN" sz="2400" b="1"/>
              <a:t>—</a:t>
            </a:r>
            <a:r>
              <a:rPr lang="zh-CN" altLang="en-US" sz="2400" b="1"/>
              <a:t>中共党员</a:t>
            </a:r>
            <a:endParaRPr lang="zh-CN" altLang="en-US" sz="2400" b="1"/>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80210"/>
            <a:ext cx="10852237" cy="648000"/>
          </a:xfrm>
        </p:spPr>
        <p:txBody>
          <a:bodyPr/>
          <a:p>
            <a:r>
              <a:rPr>
                <a:sym typeface="+mn-ea"/>
              </a:rPr>
              <a:t>作业</a:t>
            </a:r>
            <a:r>
              <a:rPr lang="en-US" altLang="zh-CN">
                <a:sym typeface="+mn-ea"/>
              </a:rPr>
              <a:t>6</a:t>
            </a:r>
            <a:endParaRPr lang="en-US" altLang="zh-CN">
              <a:sym typeface="+mn-ea"/>
            </a:endParaRPr>
          </a:p>
        </p:txBody>
      </p:sp>
      <p:sp>
        <p:nvSpPr>
          <p:cNvPr id="3" name="内容占位符 2"/>
          <p:cNvSpPr>
            <a:spLocks noGrp="1"/>
          </p:cNvSpPr>
          <p:nvPr>
            <p:ph idx="1"/>
          </p:nvPr>
        </p:nvSpPr>
        <p:spPr>
          <a:xfrm>
            <a:off x="575310" y="831850"/>
            <a:ext cx="10852150" cy="5866130"/>
          </a:xfrm>
        </p:spPr>
        <p:txBody>
          <a:bodyPr/>
          <a:p>
            <a:pPr>
              <a:spcAft>
                <a:spcPts val="500"/>
              </a:spcAft>
            </a:pPr>
            <a:r>
              <a:rPr sz="2400" b="1">
                <a:solidFill>
                  <a:srgbClr val="00B050"/>
                </a:solidFill>
                <a:sym typeface="+mn-ea"/>
              </a:rPr>
              <a:t>真题</a:t>
            </a:r>
            <a:r>
              <a:rPr lang="en-US" altLang="zh-CN" sz="2400" b="1">
                <a:solidFill>
                  <a:srgbClr val="00B050"/>
                </a:solidFill>
                <a:sym typeface="+mn-ea"/>
              </a:rPr>
              <a:t>69</a:t>
            </a:r>
            <a:r>
              <a:rPr sz="2400" b="1">
                <a:solidFill>
                  <a:srgbClr val="00B050"/>
                </a:solidFill>
                <a:sym typeface="+mn-ea"/>
              </a:rPr>
              <a:t>：</a:t>
            </a:r>
            <a:r>
              <a:rPr lang="zh-CN" altLang="en-US" sz="2400" b="1"/>
              <a:t>短命政策是指地方政府制定的事关群众权益却无法得到社会公众认可或受到普遍反对，一出台很快就被迫终止的政策措施。</a:t>
            </a:r>
            <a:endParaRPr lang="zh-CN" altLang="en-US" sz="2400" b="1"/>
          </a:p>
          <a:p>
            <a:pPr>
              <a:spcAft>
                <a:spcPts val="500"/>
              </a:spcAft>
            </a:pPr>
            <a:r>
              <a:rPr lang="zh-CN" altLang="en-US" sz="2400" b="1"/>
              <a:t>根据上述定义，下列不属于短命政策的是：</a:t>
            </a:r>
            <a:endParaRPr lang="zh-CN" altLang="en-US" sz="2400" b="1"/>
          </a:p>
          <a:p>
            <a:pPr>
              <a:spcAft>
                <a:spcPts val="500"/>
              </a:spcAft>
            </a:pPr>
            <a:r>
              <a:rPr lang="zh-CN" altLang="en-US" sz="2400" b="1"/>
              <a:t>A.某市交管部门出台“闯黄灯视为违反交通规则，记6分政策”，在社会上引起了强烈反响，5天后该部门举行发布会宣布“不予执行”</a:t>
            </a:r>
            <a:endParaRPr lang="zh-CN" altLang="en-US" sz="2400" b="1"/>
          </a:p>
          <a:p>
            <a:pPr>
              <a:spcAft>
                <a:spcPts val="500"/>
              </a:spcAft>
            </a:pPr>
            <a:r>
              <a:rPr lang="zh-CN" altLang="en-US" sz="2400" b="1"/>
              <a:t>B.某市推出购房新政策：毕业未满5年的高中毕业生在市区购房实行“零首付”，因为不符合有关政策，几天后就被上级叫停</a:t>
            </a:r>
            <a:endParaRPr lang="zh-CN" altLang="en-US" sz="2400" b="1"/>
          </a:p>
          <a:p>
            <a:pPr>
              <a:spcAft>
                <a:spcPts val="500"/>
              </a:spcAft>
            </a:pPr>
            <a:r>
              <a:rPr lang="zh-CN" altLang="en-US" sz="2400" b="1"/>
              <a:t>C.南方某市推出在市区范围内的“禁摩令”后，大批人员集体离职，摩的司机纷纷上访，很快，这一政策被宣布“暂停执行”</a:t>
            </a:r>
            <a:endParaRPr lang="zh-CN" altLang="en-US" sz="2400" b="1"/>
          </a:p>
          <a:p>
            <a:pPr>
              <a:spcAft>
                <a:spcPts val="500"/>
              </a:spcAft>
            </a:pPr>
            <a:r>
              <a:rPr lang="zh-CN" altLang="en-US" sz="2400" b="1"/>
              <a:t>D.北方某市交通局宣布风景优美的县级设卡收费，消息传出后，舆论一片哗然，没到月底，这一收费政策就寿终正寝</a:t>
            </a:r>
            <a:endParaRPr lang="zh-CN" altLang="en-US" sz="2400" b="1"/>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ags/tag80.xml><?xml version="1.0" encoding="utf-8"?>
<p:tagLst xmlns:p="http://schemas.openxmlformats.org/presentationml/2006/main">
  <p:tag name="KSO_WM_BEAUTIFY_FLAG" val="#wm#"/>
  <p:tag name="KSO_WM_TEMPLATE_CATEGORY" val="custom"/>
  <p:tag name="KSO_WM_TEMPLATE_INDEX" val="20187308"/>
</p:tagLst>
</file>

<file path=ppt/tags/tag81.xml><?xml version="1.0" encoding="utf-8"?>
<p:tagLst xmlns:p="http://schemas.openxmlformats.org/presentationml/2006/main">
  <p:tag name="KSO_WM_BEAUTIFY_FLAG" val="#wm#"/>
  <p:tag name="KSO_WM_TEMPLATE_CATEGORY" val="custom"/>
  <p:tag name="KSO_WM_TEMPLATE_INDEX" val="20187308"/>
</p:tagLst>
</file>

<file path=ppt/tags/tag82.xml><?xml version="1.0" encoding="utf-8"?>
<p:tagLst xmlns:p="http://schemas.openxmlformats.org/presentationml/2006/main">
  <p:tag name="KSO_WM_BEAUTIFY_FLAG" val="#wm#"/>
  <p:tag name="KSO_WM_TEMPLATE_CATEGORY" val="custom"/>
  <p:tag name="KSO_WM_TEMPLATE_INDEX" val="20187308"/>
</p:tagLst>
</file>

<file path=ppt/tags/tag83.xml><?xml version="1.0" encoding="utf-8"?>
<p:tagLst xmlns:p="http://schemas.openxmlformats.org/presentationml/2006/main">
  <p:tag name="KSO_WM_BEAUTIFY_FLAG" val="#wm#"/>
  <p:tag name="KSO_WM_TEMPLATE_CATEGORY" val="custom"/>
  <p:tag name="KSO_WM_TEMPLATE_INDEX" val="20187308"/>
</p:tagLst>
</file>

<file path=ppt/tags/tag84.xml><?xml version="1.0" encoding="utf-8"?>
<p:tagLst xmlns:p="http://schemas.openxmlformats.org/presentationml/2006/main">
  <p:tag name="KSO_WM_BEAUTIFY_FLAG" val="#wm#"/>
  <p:tag name="KSO_WM_TEMPLATE_CATEGORY" val="custom"/>
  <p:tag name="KSO_WM_TEMPLATE_INDEX" val="20187308"/>
</p:tagLst>
</file>

<file path=ppt/tags/tag85.xml><?xml version="1.0" encoding="utf-8"?>
<p:tagLst xmlns:p="http://schemas.openxmlformats.org/presentationml/2006/main">
  <p:tag name="KSO_WM_BEAUTIFY_FLAG" val="#wm#"/>
  <p:tag name="KSO_WM_TEMPLATE_CATEGORY" val="custom"/>
  <p:tag name="KSO_WM_TEMPLATE_INDEX" val="20187308"/>
</p:tagLst>
</file>

<file path=ppt/tags/tag86.xml><?xml version="1.0" encoding="utf-8"?>
<p:tagLst xmlns:p="http://schemas.openxmlformats.org/presentationml/2006/main">
  <p:tag name="KSO_WM_BEAUTIFY_FLAG" val="#wm#"/>
  <p:tag name="KSO_WM_TEMPLATE_CATEGORY" val="custom"/>
  <p:tag name="KSO_WM_TEMPLATE_INDEX" val="20187308"/>
</p:tagLst>
</file>

<file path=ppt/tags/tag87.xml><?xml version="1.0" encoding="utf-8"?>
<p:tagLst xmlns:p="http://schemas.openxmlformats.org/presentationml/2006/main">
  <p:tag name="KSO_WM_BEAUTIFY_FLAG" val="#wm#"/>
  <p:tag name="KSO_WM_TEMPLATE_CATEGORY" val="custom"/>
  <p:tag name="KSO_WM_TEMPLATE_INDEX" val="20187308"/>
</p:tagLst>
</file>

<file path=ppt/tags/tag88.xml><?xml version="1.0" encoding="utf-8"?>
<p:tagLst xmlns:p="http://schemas.openxmlformats.org/presentationml/2006/main">
  <p:tag name="KSO_WM_BEAUTIFY_FLAG" val="#wm#"/>
  <p:tag name="KSO_WM_TEMPLATE_CATEGORY" val="custom"/>
  <p:tag name="KSO_WM_TEMPLATE_INDEX" val="20187308"/>
</p:tagLst>
</file>

<file path=ppt/tags/tag89.xml><?xml version="1.0" encoding="utf-8"?>
<p:tagLst xmlns:p="http://schemas.openxmlformats.org/presentationml/2006/main">
  <p:tag name="KSO_WM_BEAUTIFY_FLAG" val="#wm#"/>
  <p:tag name="KSO_WM_TEMPLATE_CATEGORY" val="custom"/>
  <p:tag name="KSO_WM_TEMPLATE_INDEX" val="20187308"/>
</p:tagLst>
</file>

<file path=ppt/tags/tag90.xml><?xml version="1.0" encoding="utf-8"?>
<p:tagLst xmlns:p="http://schemas.openxmlformats.org/presentationml/2006/main">
  <p:tag name="KSO_WM_BEAUTIFY_FLAG" val="#wm#"/>
  <p:tag name="KSO_WM_TEMPLATE_CATEGORY" val="custom"/>
  <p:tag name="KSO_WM_TEMPLATE_INDEX" val="20187308"/>
</p:tagLst>
</file>

<file path=ppt/tags/tag91.xml><?xml version="1.0" encoding="utf-8"?>
<p:tagLst xmlns:p="http://schemas.openxmlformats.org/presentationml/2006/main">
  <p:tag name="KSO_WM_BEAUTIFY_FLAG" val="#wm#"/>
  <p:tag name="KSO_WM_TEMPLATE_CATEGORY" val="custom"/>
  <p:tag name="KSO_WM_TEMPLATE_INDEX" val="20187308"/>
</p:tagLst>
</file>

<file path=ppt/tags/tag92.xml><?xml version="1.0" encoding="utf-8"?>
<p:tagLst xmlns:p="http://schemas.openxmlformats.org/presentationml/2006/main">
  <p:tag name="KSO_WM_BEAUTIFY_FLAG" val="#wm#"/>
  <p:tag name="KSO_WM_TEMPLATE_CATEGORY" val="custom"/>
  <p:tag name="KSO_WM_TEMPLATE_INDEX" val="20187308"/>
</p:tagLst>
</file>

<file path=ppt/tags/tag93.xml><?xml version="1.0" encoding="utf-8"?>
<p:tagLst xmlns:p="http://schemas.openxmlformats.org/presentationml/2006/main">
  <p:tag name="KSO_WM_BEAUTIFY_FLAG" val="#wm#"/>
  <p:tag name="KSO_WM_TEMPLATE_CATEGORY" val="custom"/>
  <p:tag name="KSO_WM_TEMPLATE_INDEX" val="20187308"/>
</p:tagLst>
</file>

<file path=ppt/tags/tag94.xml><?xml version="1.0" encoding="utf-8"?>
<p:tagLst xmlns:p="http://schemas.openxmlformats.org/presentationml/2006/main">
  <p:tag name="KSO_WM_BEAUTIFY_FLAG" val="#wm#"/>
  <p:tag name="KSO_WM_TEMPLATE_CATEGORY" val="custom"/>
  <p:tag name="KSO_WM_TEMPLATE_INDEX" val="20187308"/>
</p:tagLst>
</file>

<file path=ppt/tags/tag95.xml><?xml version="1.0" encoding="utf-8"?>
<p:tagLst xmlns:p="http://schemas.openxmlformats.org/presentationml/2006/main">
  <p:tag name="KSO_WM_BEAUTIFY_FLAG" val="#wm#"/>
  <p:tag name="KSO_WM_TEMPLATE_CATEGORY" val="custom"/>
  <p:tag name="KSO_WM_TEMPLATE_INDEX" val="20187308"/>
</p:tagLst>
</file>

<file path=ppt/tags/tag96.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8472</Words>
  <Application>WPS 演示</Application>
  <PresentationFormat>宽屏</PresentationFormat>
  <Paragraphs>269</Paragraphs>
  <Slides>33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33</vt:i4>
      </vt:variant>
    </vt:vector>
  </HeadingPairs>
  <TitlesOfParts>
    <vt:vector size="40" baseType="lpstr">
      <vt:lpstr>Arial</vt:lpstr>
      <vt:lpstr>宋体</vt:lpstr>
      <vt:lpstr>Wingdings</vt:lpstr>
      <vt:lpstr>微软雅黑</vt:lpstr>
      <vt:lpstr>Times New Roman</vt:lpstr>
      <vt:lpstr>Arial Unicode MS</vt:lpstr>
      <vt:lpstr>Office 主题​​</vt:lpstr>
      <vt:lpstr>公务员考试中的逻辑学</vt:lpstr>
      <vt:lpstr>作业讲解1</vt:lpstr>
      <vt:lpstr>作业讲解2</vt:lpstr>
      <vt:lpstr>作业讲解3</vt:lpstr>
      <vt:lpstr>作业讲解4</vt:lpstr>
      <vt:lpstr>作业讲解5</vt:lpstr>
      <vt:lpstr>作业讲解6</vt:lpstr>
      <vt:lpstr>定义判断实战技巧</vt:lpstr>
      <vt:lpstr>一、分析定义特征 </vt:lpstr>
      <vt:lpstr>PowerPoint 演示文稿</vt:lpstr>
      <vt:lpstr>PowerPoint 演示文稿</vt:lpstr>
      <vt:lpstr>真题57</vt:lpstr>
      <vt:lpstr>PowerPoint 演示文稿</vt:lpstr>
      <vt:lpstr>真题58</vt:lpstr>
      <vt:lpstr>真题58分析</vt:lpstr>
      <vt:lpstr>二、归纳定义特征</vt:lpstr>
      <vt:lpstr>真题59</vt:lpstr>
      <vt:lpstr>真题59分析</vt:lpstr>
      <vt:lpstr>PowerPoint 演示文稿</vt:lpstr>
      <vt:lpstr>PowerPoint 演示文稿</vt:lpstr>
      <vt:lpstr>三、判断定义间的关系</vt:lpstr>
      <vt:lpstr>PowerPoint 演示文稿</vt:lpstr>
      <vt:lpstr>PowerPoint 演示文稿</vt:lpstr>
      <vt:lpstr>真题62</vt:lpstr>
      <vt:lpstr>PowerPoint 演示文稿</vt:lpstr>
      <vt:lpstr>四、对比选项内容</vt:lpstr>
      <vt:lpstr>PowerPoint 演示文稿</vt:lpstr>
      <vt:lpstr>作业</vt:lpstr>
      <vt:lpstr>作业（续1）</vt:lpstr>
      <vt:lpstr>作业（续2）：</vt:lpstr>
      <vt:lpstr>PowerPoint 演示文稿</vt:lpstr>
      <vt:lpstr>作业（续4）：</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48</cp:revision>
  <dcterms:created xsi:type="dcterms:W3CDTF">2019-06-19T02:08:00Z</dcterms:created>
  <dcterms:modified xsi:type="dcterms:W3CDTF">2020-03-09T10:54:46Z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2052-11.1.0.9513</vt:lpwstr>
  </property>
</Properties>
</file>