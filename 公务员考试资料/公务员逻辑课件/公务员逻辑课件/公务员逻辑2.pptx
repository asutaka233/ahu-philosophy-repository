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5"/>
  </p:handoutMasterIdLst>
  <p:sldIdLst>
    <p:sldId id="256" r:id="rId3"/>
    <p:sldId id="257" r:id="rId5"/>
    <p:sldId id="271" r:id="rId6"/>
    <p:sldId id="258" r:id="rId7"/>
    <p:sldId id="272" r:id="rId8"/>
    <p:sldId id="259" r:id="rId9"/>
    <p:sldId id="273" r:id="rId10"/>
    <p:sldId id="260" r:id="rId11"/>
    <p:sldId id="288" r:id="rId12"/>
    <p:sldId id="261" r:id="rId13"/>
    <p:sldId id="262" r:id="rId14"/>
    <p:sldId id="289" r:id="rId15"/>
    <p:sldId id="263" r:id="rId16"/>
    <p:sldId id="264" r:id="rId17"/>
    <p:sldId id="300" r:id="rId18"/>
    <p:sldId id="266" r:id="rId19"/>
    <p:sldId id="267" r:id="rId20"/>
    <p:sldId id="268" r:id="rId21"/>
    <p:sldId id="269" r:id="rId22"/>
    <p:sldId id="270" r:id="rId23"/>
    <p:sldId id="370" r:id="rId24"/>
    <p:sldId id="371" r:id="rId25"/>
    <p:sldId id="306" r:id="rId26"/>
    <p:sldId id="307" r:id="rId27"/>
    <p:sldId id="378" r:id="rId28"/>
    <p:sldId id="379" r:id="rId29"/>
    <p:sldId id="372" r:id="rId30"/>
    <p:sldId id="373" r:id="rId31"/>
    <p:sldId id="380" r:id="rId32"/>
    <p:sldId id="381" r:id="rId33"/>
    <p:sldId id="336" r:id="rId34"/>
    <p:sldId id="337" r:id="rId35"/>
    <p:sldId id="376" r:id="rId36"/>
    <p:sldId id="377" r:id="rId37"/>
    <p:sldId id="308" r:id="rId38"/>
    <p:sldId id="368" r:id="rId39"/>
    <p:sldId id="367" r:id="rId40"/>
    <p:sldId id="369" r:id="rId41"/>
    <p:sldId id="310" r:id="rId42"/>
    <p:sldId id="311" r:id="rId43"/>
    <p:sldId id="312" r:id="rId44"/>
    <p:sldId id="313" r:id="rId45"/>
    <p:sldId id="314" r:id="rId46"/>
    <p:sldId id="421" r:id="rId47"/>
    <p:sldId id="422" r:id="rId48"/>
    <p:sldId id="315" r:id="rId49"/>
    <p:sldId id="316" r:id="rId50"/>
    <p:sldId id="419" r:id="rId51"/>
    <p:sldId id="420" r:id="rId52"/>
    <p:sldId id="317" r:id="rId53"/>
    <p:sldId id="318" r:id="rId54"/>
    <p:sldId id="319" r:id="rId55"/>
    <p:sldId id="320" r:id="rId56"/>
    <p:sldId id="423" r:id="rId57"/>
    <p:sldId id="424" r:id="rId58"/>
    <p:sldId id="453" r:id="rId59"/>
    <p:sldId id="321" r:id="rId60"/>
    <p:sldId id="449" r:id="rId61"/>
    <p:sldId id="448" r:id="rId62"/>
    <p:sldId id="322" r:id="rId63"/>
    <p:sldId id="323"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r>
              <a:rPr lang="zh-CN" altLang="en-US" sz="4000" b="1">
                <a:solidFill>
                  <a:schemeClr val="tx1"/>
                </a:solidFill>
                <a:sym typeface="+mn-ea"/>
              </a:rPr>
              <a:t>言语理解与表达中的逻辑填空</a:t>
            </a:r>
            <a:r>
              <a:rPr lang="en-US" altLang="zh-CN" sz="4000" b="1">
                <a:solidFill>
                  <a:schemeClr val="tx1"/>
                </a:solidFill>
                <a:sym typeface="+mn-ea"/>
              </a:rPr>
              <a:t>2</a:t>
            </a:r>
            <a:endParaRPr lang="zh-CN" altLang="en-US" sz="4000" b="1">
              <a:solidFill>
                <a:schemeClr val="tx1"/>
              </a:solidFill>
            </a:endParaRPr>
          </a:p>
          <a:p>
            <a:endParaRPr lang="zh-CN" altLang="en-US" sz="4000" b="1">
              <a:solidFill>
                <a:schemeClr val="tx1"/>
              </a:solidFill>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作业讲解</a:t>
            </a:r>
            <a:r>
              <a:rPr lang="en-US" altLang="zh-CN"/>
              <a:t>1</a:t>
            </a:r>
            <a:endParaRPr lang="en-US" altLang="zh-CN"/>
          </a:p>
        </p:txBody>
      </p:sp>
      <p:sp>
        <p:nvSpPr>
          <p:cNvPr id="3" name="内容占位符 2"/>
          <p:cNvSpPr>
            <a:spLocks noGrp="1"/>
          </p:cNvSpPr>
          <p:nvPr>
            <p:ph idx="1"/>
          </p:nvPr>
        </p:nvSpPr>
        <p:spPr/>
        <p:txBody>
          <a:bodyPr/>
          <a:p>
            <a:pPr>
              <a:lnSpc>
                <a:spcPct val="150000"/>
              </a:lnSpc>
              <a:spcAft>
                <a:spcPts val="800"/>
              </a:spcAft>
            </a:pPr>
            <a:r>
              <a:rPr sz="2400" b="1">
                <a:solidFill>
                  <a:srgbClr val="00B050"/>
                </a:solidFill>
                <a:sym typeface="+mn-ea"/>
              </a:rPr>
              <a:t>真题</a:t>
            </a:r>
            <a:r>
              <a:rPr lang="en-US" altLang="zh-CN" sz="2400" b="1">
                <a:solidFill>
                  <a:srgbClr val="00B050"/>
                </a:solidFill>
                <a:sym typeface="+mn-ea"/>
              </a:rPr>
              <a:t>10</a:t>
            </a:r>
            <a:r>
              <a:rPr sz="2400" b="1">
                <a:sym typeface="+mn-ea"/>
              </a:rPr>
              <a:t>（川</a:t>
            </a:r>
            <a:r>
              <a:rPr lang="en-US" altLang="zh-CN" sz="2400" b="1">
                <a:sym typeface="+mn-ea"/>
              </a:rPr>
              <a:t>2019</a:t>
            </a:r>
            <a:r>
              <a:rPr sz="2400" b="1">
                <a:sym typeface="+mn-ea"/>
              </a:rPr>
              <a:t>上</a:t>
            </a:r>
            <a:r>
              <a:rPr lang="en-US" altLang="zh-CN" sz="2400" b="1">
                <a:sym typeface="+mn-ea"/>
              </a:rPr>
              <a:t>-16</a:t>
            </a:r>
            <a:r>
              <a:rPr sz="2400" b="1">
                <a:sym typeface="+mn-ea"/>
              </a:rPr>
              <a:t>）：资源稀缺会产生相应的认知机制，改变人们观察事物和做出决策的方式。长期的资源稀缺会形成</a:t>
            </a:r>
            <a:r>
              <a:rPr sz="2400" b="1">
                <a:solidFill>
                  <a:srgbClr val="FF0000"/>
                </a:solidFill>
                <a:sym typeface="+mn-ea"/>
              </a:rPr>
              <a:t>稀缺心态</a:t>
            </a:r>
            <a:r>
              <a:rPr sz="2400" b="1">
                <a:sym typeface="+mn-ea"/>
              </a:rPr>
              <a:t>，导致与稀缺资源有关的问题</a:t>
            </a:r>
            <a:r>
              <a:rPr sz="2400" b="1">
                <a:solidFill>
                  <a:srgbClr val="00B050"/>
                </a:solidFill>
                <a:sym typeface="+mn-ea"/>
              </a:rPr>
              <a:t>自动</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更多注意力，形成注意力</a:t>
            </a:r>
            <a:r>
              <a:rPr lang="en-US" altLang="zh-CN" sz="2400" b="1">
                <a:sym typeface="+mn-ea"/>
              </a:rPr>
              <a:t>“</a:t>
            </a:r>
            <a:r>
              <a:rPr sz="2400" b="1">
                <a:sym typeface="+mn-ea"/>
              </a:rPr>
              <a:t>聚焦</a:t>
            </a:r>
            <a:r>
              <a:rPr lang="en-US" altLang="zh-CN" sz="2400" b="1">
                <a:sym typeface="+mn-ea"/>
              </a:rPr>
              <a:t>”</a:t>
            </a:r>
            <a:r>
              <a:rPr sz="2400" b="1">
                <a:sym typeface="+mn-ea"/>
              </a:rPr>
              <a:t>。</a:t>
            </a:r>
            <a:endParaRPr sz="2400" b="1">
              <a:sym typeface="+mn-ea"/>
            </a:endParaRPr>
          </a:p>
          <a:p>
            <a:pPr>
              <a:lnSpc>
                <a:spcPct val="150000"/>
              </a:lnSpc>
              <a:spcAft>
                <a:spcPts val="800"/>
              </a:spcAft>
            </a:pPr>
            <a:r>
              <a:rPr sz="2400" b="1">
                <a:sym typeface="+mn-ea"/>
              </a:rPr>
              <a:t>填入画横线部分最恰当的一项是（    ）</a:t>
            </a:r>
            <a:r>
              <a:rPr sz="2400" b="1">
                <a:sym typeface="+mn-ea"/>
              </a:rPr>
              <a:t>：</a:t>
            </a:r>
            <a:endParaRPr sz="2400" b="1">
              <a:sym typeface="+mn-ea"/>
            </a:endParaRPr>
          </a:p>
          <a:p>
            <a:pPr>
              <a:lnSpc>
                <a:spcPct val="150000"/>
              </a:lnSpc>
              <a:spcAft>
                <a:spcPts val="800"/>
              </a:spcAft>
            </a:pPr>
            <a:r>
              <a:rPr lang="en-US" altLang="zh-CN" sz="2400" b="1">
                <a:sym typeface="+mn-ea"/>
              </a:rPr>
              <a:t>A. </a:t>
            </a:r>
            <a:r>
              <a:rPr sz="2400" b="1">
                <a:sym typeface="+mn-ea"/>
              </a:rPr>
              <a:t>分散        </a:t>
            </a:r>
            <a:r>
              <a:rPr lang="en-US" altLang="zh-CN" sz="2400" b="1">
                <a:sym typeface="+mn-ea"/>
              </a:rPr>
              <a:t>B. </a:t>
            </a:r>
            <a:r>
              <a:rPr sz="2400" b="1">
                <a:sym typeface="+mn-ea"/>
              </a:rPr>
              <a:t>吸引        </a:t>
            </a:r>
            <a:endParaRPr sz="2400" b="1">
              <a:sym typeface="+mn-ea"/>
            </a:endParaRPr>
          </a:p>
          <a:p>
            <a:pPr>
              <a:lnSpc>
                <a:spcPct val="150000"/>
              </a:lnSpc>
              <a:spcAft>
                <a:spcPts val="800"/>
              </a:spcAft>
            </a:pPr>
            <a:r>
              <a:rPr lang="en-US" altLang="zh-CN" sz="2400" b="1">
                <a:sym typeface="+mn-ea"/>
              </a:rPr>
              <a:t>C. </a:t>
            </a:r>
            <a:r>
              <a:rPr sz="2400" b="1">
                <a:sym typeface="+mn-ea"/>
              </a:rPr>
              <a:t>集中        </a:t>
            </a:r>
            <a:r>
              <a:rPr lang="en-US" altLang="zh-CN" sz="2400" b="1">
                <a:sym typeface="+mn-ea"/>
              </a:rPr>
              <a:t>D. </a:t>
            </a:r>
            <a:r>
              <a:rPr sz="2400" b="1">
                <a:sym typeface="+mn-ea"/>
              </a:rPr>
              <a:t>分配</a:t>
            </a:r>
            <a:endParaRPr sz="2400" b="1">
              <a:sym typeface="+mn-ea"/>
            </a:endParaRPr>
          </a:p>
          <a:p>
            <a:pPr>
              <a:lnSpc>
                <a:spcPct val="150000"/>
              </a:lnSpc>
              <a:spcAft>
                <a:spcPts val="800"/>
              </a:spcAft>
            </a:pPr>
            <a:r>
              <a:rPr sz="2400" b="1">
                <a:sym typeface="+mn-ea"/>
              </a:rPr>
              <a:t>分析：根据</a:t>
            </a:r>
            <a:r>
              <a:rPr lang="en-US" altLang="zh-CN" sz="2400" b="1">
                <a:sym typeface="+mn-ea"/>
              </a:rPr>
              <a:t>“</a:t>
            </a:r>
            <a:r>
              <a:rPr sz="2400" b="1">
                <a:solidFill>
                  <a:srgbClr val="FF0000"/>
                </a:solidFill>
                <a:sym typeface="+mn-ea"/>
              </a:rPr>
              <a:t>稀缺心态</a:t>
            </a:r>
            <a:r>
              <a:rPr lang="en-US" altLang="zh-CN" sz="2400" b="1">
                <a:solidFill>
                  <a:srgbClr val="FF0000"/>
                </a:solidFill>
                <a:sym typeface="+mn-ea"/>
              </a:rPr>
              <a:t>”</a:t>
            </a:r>
            <a:r>
              <a:rPr sz="2400" b="1">
                <a:solidFill>
                  <a:schemeClr val="tx1"/>
                </a:solidFill>
                <a:sym typeface="+mn-ea"/>
              </a:rPr>
              <a:t>排除</a:t>
            </a:r>
            <a:r>
              <a:rPr lang="en-US" altLang="zh-CN" sz="2400" b="1">
                <a:solidFill>
                  <a:schemeClr val="tx1"/>
                </a:solidFill>
                <a:sym typeface="+mn-ea"/>
              </a:rPr>
              <a:t>A</a:t>
            </a:r>
            <a:r>
              <a:rPr sz="2400" b="1">
                <a:solidFill>
                  <a:schemeClr val="tx1"/>
                </a:solidFill>
                <a:sym typeface="+mn-ea"/>
              </a:rPr>
              <a:t>与</a:t>
            </a:r>
            <a:r>
              <a:rPr lang="en-US" altLang="zh-CN" sz="2400" b="1">
                <a:solidFill>
                  <a:schemeClr val="tx1"/>
                </a:solidFill>
                <a:sym typeface="+mn-ea"/>
              </a:rPr>
              <a:t>D</a:t>
            </a:r>
            <a:r>
              <a:rPr sz="2400" b="1">
                <a:solidFill>
                  <a:schemeClr val="tx1"/>
                </a:solidFill>
                <a:sym typeface="+mn-ea"/>
              </a:rPr>
              <a:t>，根据</a:t>
            </a:r>
            <a:r>
              <a:rPr lang="en-US" altLang="zh-CN" sz="2400" b="1">
                <a:solidFill>
                  <a:schemeClr val="tx1"/>
                </a:solidFill>
                <a:sym typeface="+mn-ea"/>
              </a:rPr>
              <a:t>“</a:t>
            </a:r>
            <a:r>
              <a:rPr sz="2400" b="1">
                <a:solidFill>
                  <a:srgbClr val="00B050"/>
                </a:solidFill>
                <a:sym typeface="+mn-ea"/>
              </a:rPr>
              <a:t>自动</a:t>
            </a:r>
            <a:r>
              <a:rPr lang="en-US" altLang="zh-CN" sz="2400" b="1">
                <a:solidFill>
                  <a:schemeClr val="tx1"/>
                </a:solidFill>
                <a:sym typeface="+mn-ea"/>
              </a:rPr>
              <a:t>”</a:t>
            </a:r>
            <a:r>
              <a:rPr sz="2400" b="1">
                <a:solidFill>
                  <a:schemeClr val="tx1"/>
                </a:solidFill>
                <a:sym typeface="+mn-ea"/>
              </a:rPr>
              <a:t>排除</a:t>
            </a:r>
            <a:r>
              <a:rPr lang="en-US" altLang="zh-CN" sz="2400" b="1">
                <a:solidFill>
                  <a:schemeClr val="tx1"/>
                </a:solidFill>
                <a:sym typeface="+mn-ea"/>
              </a:rPr>
              <a:t>D</a:t>
            </a:r>
            <a:r>
              <a:rPr sz="2400" b="1">
                <a:solidFill>
                  <a:schemeClr val="tx1"/>
                </a:solidFill>
                <a:sym typeface="+mn-ea"/>
              </a:rPr>
              <a:t>，填入</a:t>
            </a:r>
            <a:r>
              <a:rPr lang="en-US" altLang="zh-CN" sz="2400" b="1">
                <a:solidFill>
                  <a:schemeClr val="tx1"/>
                </a:solidFill>
                <a:sym typeface="+mn-ea"/>
              </a:rPr>
              <a:t>B</a:t>
            </a:r>
            <a:r>
              <a:rPr sz="2400" b="1">
                <a:solidFill>
                  <a:schemeClr val="tx1"/>
                </a:solidFill>
                <a:sym typeface="+mn-ea"/>
              </a:rPr>
              <a:t>后语义无误，</a:t>
            </a:r>
            <a:r>
              <a:rPr sz="2400" b="1">
                <a:solidFill>
                  <a:schemeClr val="tx1"/>
                </a:solidFill>
                <a:sym typeface="+mn-ea"/>
              </a:rPr>
              <a:t>故选</a:t>
            </a:r>
            <a:r>
              <a:rPr lang="en-US" altLang="zh-CN" sz="2400" b="1">
                <a:solidFill>
                  <a:schemeClr val="tx1"/>
                </a:solidFill>
                <a:sym typeface="+mn-ea"/>
              </a:rPr>
              <a:t>B</a:t>
            </a:r>
            <a:r>
              <a:rPr sz="2400" b="1">
                <a:solidFill>
                  <a:schemeClr val="tx1"/>
                </a:solidFill>
                <a:sym typeface="+mn-ea"/>
              </a:rPr>
              <a:t>。</a:t>
            </a:r>
            <a:endParaRPr sz="2400" b="1">
              <a:sym typeface="+mn-ea"/>
            </a:endParaRPr>
          </a:p>
          <a:p>
            <a:endParaRPr lang="zh-CN" altLang="en-US" sz="24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20327" y="277060"/>
            <a:ext cx="10852237" cy="648000"/>
          </a:xfrm>
        </p:spPr>
        <p:txBody>
          <a:bodyPr/>
          <a:p>
            <a:r>
              <a:rPr lang="zh-CN" altLang="en-US"/>
              <a:t>作业讲解</a:t>
            </a:r>
            <a:r>
              <a:rPr lang="en-US" altLang="zh-CN"/>
              <a:t>2</a:t>
            </a:r>
            <a:endParaRPr lang="en-US" altLang="zh-CN"/>
          </a:p>
        </p:txBody>
      </p:sp>
      <p:sp>
        <p:nvSpPr>
          <p:cNvPr id="3" name="内容占位符 2"/>
          <p:cNvSpPr>
            <a:spLocks noGrp="1"/>
          </p:cNvSpPr>
          <p:nvPr>
            <p:ph idx="1"/>
          </p:nvPr>
        </p:nvSpPr>
        <p:spPr>
          <a:xfrm>
            <a:off x="420370" y="995680"/>
            <a:ext cx="10852150" cy="5590540"/>
          </a:xfrm>
        </p:spPr>
        <p:txBody>
          <a:bodyPr/>
          <a:p>
            <a:pPr>
              <a:lnSpc>
                <a:spcPct val="130000"/>
              </a:lnSpc>
              <a:spcAft>
                <a:spcPts val="800"/>
              </a:spcAft>
            </a:pPr>
            <a:r>
              <a:rPr sz="2400" b="1">
                <a:solidFill>
                  <a:srgbClr val="00B050"/>
                </a:solidFill>
                <a:sym typeface="+mn-ea"/>
              </a:rPr>
              <a:t>真题</a:t>
            </a:r>
            <a:r>
              <a:rPr lang="en-US" altLang="zh-CN" sz="2400" b="1">
                <a:solidFill>
                  <a:srgbClr val="00B050"/>
                </a:solidFill>
                <a:sym typeface="+mn-ea"/>
              </a:rPr>
              <a:t>11</a:t>
            </a:r>
            <a:r>
              <a:rPr sz="2400" b="1">
                <a:sym typeface="+mn-ea"/>
              </a:rPr>
              <a:t>（川</a:t>
            </a:r>
            <a:r>
              <a:rPr lang="en-US" altLang="zh-CN" sz="2400" b="1">
                <a:sym typeface="+mn-ea"/>
              </a:rPr>
              <a:t>2019</a:t>
            </a:r>
            <a:r>
              <a:rPr sz="2400" b="1">
                <a:sym typeface="+mn-ea"/>
              </a:rPr>
              <a:t>上</a:t>
            </a:r>
            <a:r>
              <a:rPr lang="en-US" altLang="zh-CN" sz="2400" b="1">
                <a:sym typeface="+mn-ea"/>
              </a:rPr>
              <a:t>-17</a:t>
            </a:r>
            <a:r>
              <a:rPr sz="2400" b="1">
                <a:sym typeface="+mn-ea"/>
              </a:rPr>
              <a:t>）：文旅地产从字面上看是</a:t>
            </a:r>
            <a:r>
              <a:rPr lang="en-US" altLang="zh-CN" sz="2400" b="1">
                <a:sym typeface="+mn-ea"/>
              </a:rPr>
              <a:t>“</a:t>
            </a:r>
            <a:r>
              <a:rPr sz="2400" b="1">
                <a:sym typeface="+mn-ea"/>
              </a:rPr>
              <a:t>文化</a:t>
            </a:r>
            <a:r>
              <a:rPr lang="en-US" altLang="zh-CN" sz="2400" b="1">
                <a:sym typeface="+mn-ea"/>
              </a:rPr>
              <a:t>+</a:t>
            </a:r>
            <a:r>
              <a:rPr sz="2400" b="1">
                <a:sym typeface="+mn-ea"/>
              </a:rPr>
              <a:t>旅游</a:t>
            </a:r>
            <a:r>
              <a:rPr lang="en-US" altLang="zh-CN" sz="2400" b="1">
                <a:sym typeface="+mn-ea"/>
              </a:rPr>
              <a:t>+</a:t>
            </a:r>
            <a:r>
              <a:rPr sz="2400" b="1">
                <a:sym typeface="+mn-ea"/>
              </a:rPr>
              <a:t>地产</a:t>
            </a:r>
            <a:r>
              <a:rPr lang="en-US" altLang="zh-CN" sz="2400" b="1">
                <a:sym typeface="+mn-ea"/>
              </a:rPr>
              <a:t>”</a:t>
            </a:r>
            <a:r>
              <a:rPr sz="2400" b="1">
                <a:sym typeface="+mn-ea"/>
              </a:rPr>
              <a:t>，但其本质和核心是</a:t>
            </a:r>
            <a:r>
              <a:rPr lang="en-US" altLang="zh-CN" sz="2400" b="1">
                <a:sym typeface="+mn-ea"/>
              </a:rPr>
              <a:t>“</a:t>
            </a:r>
            <a:r>
              <a:rPr sz="2400" b="1">
                <a:sym typeface="+mn-ea"/>
              </a:rPr>
              <a:t>文旅</a:t>
            </a:r>
            <a:r>
              <a:rPr lang="en-US" altLang="zh-CN" sz="2400" b="1">
                <a:sym typeface="+mn-ea"/>
              </a:rPr>
              <a:t>”</a:t>
            </a:r>
            <a:r>
              <a:rPr sz="2400" b="1">
                <a:sym typeface="+mn-ea"/>
              </a:rPr>
              <a:t>而非</a:t>
            </a:r>
            <a:r>
              <a:rPr lang="en-US" altLang="zh-CN" sz="2400" b="1">
                <a:sym typeface="+mn-ea"/>
              </a:rPr>
              <a:t>“</a:t>
            </a:r>
            <a:r>
              <a:rPr sz="2400" b="1">
                <a:sym typeface="+mn-ea"/>
              </a:rPr>
              <a:t>地产</a:t>
            </a:r>
            <a:r>
              <a:rPr lang="en-US" altLang="zh-CN" sz="2400" b="1">
                <a:sym typeface="+mn-ea"/>
              </a:rPr>
              <a:t>”</a:t>
            </a:r>
            <a:r>
              <a:rPr sz="2400" b="1">
                <a:sym typeface="+mn-ea"/>
              </a:rPr>
              <a:t>。文旅领域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FF0000"/>
                </a:solidFill>
                <a:sym typeface="+mn-ea"/>
              </a:rPr>
              <a:t>如何通过差异化战略来获得竞争优势</a:t>
            </a:r>
            <a:r>
              <a:rPr sz="2400" b="1">
                <a:sym typeface="+mn-ea"/>
              </a:rPr>
              <a:t>，如何达到旅游和地产的平衡，是开发商们须持续思考的问题。</a:t>
            </a:r>
            <a:endParaRPr sz="2400" b="1">
              <a:sym typeface="+mn-ea"/>
            </a:endParaRPr>
          </a:p>
          <a:p>
            <a:pPr>
              <a:lnSpc>
                <a:spcPct val="130000"/>
              </a:lnSpc>
              <a:spcAft>
                <a:spcPts val="800"/>
              </a:spcAft>
            </a:pPr>
            <a:r>
              <a:rPr sz="2400" b="1">
                <a:sym typeface="+mn-ea"/>
              </a:rPr>
              <a:t>填入画横线部分最恰当的一项是</a:t>
            </a:r>
            <a:r>
              <a:rPr sz="2400" b="1">
                <a:sym typeface="+mn-ea"/>
              </a:rPr>
              <a:t>（    ）</a:t>
            </a:r>
            <a:r>
              <a:rPr sz="2400" b="1">
                <a:sym typeface="+mn-ea"/>
              </a:rPr>
              <a:t>：</a:t>
            </a:r>
            <a:endParaRPr sz="2400" b="1">
              <a:sym typeface="+mn-ea"/>
            </a:endParaRPr>
          </a:p>
          <a:p>
            <a:pPr>
              <a:lnSpc>
                <a:spcPct val="130000"/>
              </a:lnSpc>
              <a:spcAft>
                <a:spcPts val="800"/>
              </a:spcAft>
            </a:pPr>
            <a:r>
              <a:rPr lang="en-US" altLang="zh-CN" sz="2400" b="1">
                <a:sym typeface="+mn-ea"/>
              </a:rPr>
              <a:t>A.</a:t>
            </a:r>
            <a:r>
              <a:rPr sz="2400" b="1">
                <a:sym typeface="+mn-ea"/>
              </a:rPr>
              <a:t>百花齐放           </a:t>
            </a:r>
            <a:r>
              <a:rPr lang="en-US" altLang="zh-CN" sz="2400" b="1">
                <a:sym typeface="+mn-ea"/>
              </a:rPr>
              <a:t>B.</a:t>
            </a:r>
            <a:r>
              <a:rPr sz="2400" b="1">
                <a:sym typeface="+mn-ea"/>
              </a:rPr>
              <a:t>如火如荼         </a:t>
            </a:r>
            <a:endParaRPr sz="2400" b="1">
              <a:sym typeface="+mn-ea"/>
            </a:endParaRPr>
          </a:p>
          <a:p>
            <a:pPr>
              <a:lnSpc>
                <a:spcPct val="130000"/>
              </a:lnSpc>
              <a:spcAft>
                <a:spcPts val="800"/>
              </a:spcAft>
            </a:pPr>
            <a:r>
              <a:rPr lang="en-US" altLang="zh-CN" sz="2400" b="1">
                <a:sym typeface="+mn-ea"/>
              </a:rPr>
              <a:t>C. </a:t>
            </a:r>
            <a:r>
              <a:rPr sz="2400" b="1">
                <a:sym typeface="+mn-ea"/>
              </a:rPr>
              <a:t>群雄逐鹿          </a:t>
            </a:r>
            <a:r>
              <a:rPr lang="en-US" altLang="zh-CN" sz="2400" b="1">
                <a:sym typeface="+mn-ea"/>
              </a:rPr>
              <a:t>D.</a:t>
            </a:r>
            <a:r>
              <a:rPr sz="2400" b="1">
                <a:sym typeface="+mn-ea"/>
              </a:rPr>
              <a:t>齐头并进</a:t>
            </a:r>
            <a:endParaRPr sz="2400" b="1">
              <a:sym typeface="+mn-ea"/>
            </a:endParaRPr>
          </a:p>
          <a:p>
            <a:pPr>
              <a:lnSpc>
                <a:spcPct val="130000"/>
              </a:lnSpc>
              <a:spcAft>
                <a:spcPts val="800"/>
              </a:spcAft>
            </a:pPr>
            <a:r>
              <a:rPr sz="2400" b="1">
                <a:sym typeface="+mn-ea"/>
              </a:rPr>
              <a:t>分析：根据红色字部分可知选</a:t>
            </a:r>
            <a:r>
              <a:rPr lang="en-US" altLang="zh-CN" sz="2400" b="1">
                <a:sym typeface="+mn-ea"/>
              </a:rPr>
              <a:t>C</a:t>
            </a:r>
            <a:r>
              <a:rPr sz="2400" b="1">
                <a:sym typeface="+mn-ea"/>
              </a:rPr>
              <a:t>，因为</a:t>
            </a:r>
            <a:r>
              <a:rPr lang="en-US" altLang="zh-CN" sz="2400" b="1">
                <a:sym typeface="+mn-ea"/>
              </a:rPr>
              <a:t>ABC</a:t>
            </a:r>
            <a:r>
              <a:rPr sz="2400" b="1">
                <a:sym typeface="+mn-ea"/>
              </a:rPr>
              <a:t>均无竞争之意。</a:t>
            </a:r>
            <a:endParaRPr sz="2400" b="1">
              <a:sym typeface="+mn-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作业讲解</a:t>
            </a:r>
            <a:r>
              <a:rPr lang="en-US" altLang="zh-CN">
                <a:sym typeface="+mn-ea"/>
              </a:rPr>
              <a:t>3</a:t>
            </a:r>
            <a:endParaRPr lang="en-US" altLang="zh-CN">
              <a:sym typeface="+mn-ea"/>
            </a:endParaRPr>
          </a:p>
        </p:txBody>
      </p:sp>
      <p:sp>
        <p:nvSpPr>
          <p:cNvPr id="3" name="内容占位符 2"/>
          <p:cNvSpPr>
            <a:spLocks noGrp="1"/>
          </p:cNvSpPr>
          <p:nvPr>
            <p:ph idx="1"/>
          </p:nvPr>
        </p:nvSpPr>
        <p:spPr/>
        <p:txBody>
          <a:bodyPr/>
          <a:p>
            <a:pPr>
              <a:lnSpc>
                <a:spcPct val="150000"/>
              </a:lnSpc>
              <a:spcAft>
                <a:spcPts val="800"/>
              </a:spcAft>
            </a:pPr>
            <a:r>
              <a:rPr sz="2400" b="1">
                <a:solidFill>
                  <a:srgbClr val="00B050"/>
                </a:solidFill>
                <a:sym typeface="+mn-ea"/>
              </a:rPr>
              <a:t>真题</a:t>
            </a:r>
            <a:r>
              <a:rPr lang="en-US" altLang="zh-CN" sz="2400" b="1">
                <a:solidFill>
                  <a:srgbClr val="00B050"/>
                </a:solidFill>
                <a:sym typeface="+mn-ea"/>
              </a:rPr>
              <a:t>12</a:t>
            </a:r>
            <a:r>
              <a:rPr sz="2400" b="1">
                <a:sym typeface="+mn-ea"/>
              </a:rPr>
              <a:t>（川</a:t>
            </a:r>
            <a:r>
              <a:rPr lang="en-US" altLang="zh-CN" sz="2400" b="1">
                <a:sym typeface="+mn-ea"/>
              </a:rPr>
              <a:t>2019</a:t>
            </a:r>
            <a:r>
              <a:rPr sz="2400" b="1">
                <a:sym typeface="+mn-ea"/>
              </a:rPr>
              <a:t>上</a:t>
            </a:r>
            <a:r>
              <a:rPr lang="en-US" altLang="zh-CN" sz="2400" b="1">
                <a:sym typeface="+mn-ea"/>
              </a:rPr>
              <a:t>-18</a:t>
            </a:r>
            <a:r>
              <a:rPr sz="2400" b="1">
                <a:sym typeface="+mn-ea"/>
              </a:rPr>
              <a:t>）：互联网新技术新应用对文化产业进行全方位、全角度、全产业链的改造，释放数字化对文化产业的放大、</a:t>
            </a:r>
            <a:r>
              <a:rPr sz="2400" b="1">
                <a:solidFill>
                  <a:srgbClr val="FF0000"/>
                </a:solidFill>
                <a:sym typeface="+mn-ea"/>
              </a:rPr>
              <a:t>叠加</a:t>
            </a:r>
            <a:r>
              <a:rPr sz="2400" b="1">
                <a:sym typeface="+mn-ea"/>
              </a:rPr>
              <a:t>和倍增作用，推动互联网、移动网和文化之间形成</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的新形态。</a:t>
            </a:r>
            <a:endParaRPr sz="2400" b="1">
              <a:sym typeface="+mn-ea"/>
            </a:endParaRPr>
          </a:p>
          <a:p>
            <a:pPr>
              <a:lnSpc>
                <a:spcPct val="150000"/>
              </a:lnSpc>
              <a:spcAft>
                <a:spcPts val="800"/>
              </a:spcAft>
            </a:pPr>
            <a:r>
              <a:rPr sz="2400" b="1">
                <a:sym typeface="+mn-ea"/>
              </a:rPr>
              <a:t>填入画横线部分最恰当的一项是（    ）</a:t>
            </a:r>
            <a:r>
              <a:rPr sz="2400" b="1">
                <a:sym typeface="+mn-ea"/>
              </a:rPr>
              <a:t>：</a:t>
            </a:r>
            <a:endParaRPr sz="2400" b="1">
              <a:sym typeface="+mn-ea"/>
            </a:endParaRPr>
          </a:p>
          <a:p>
            <a:pPr>
              <a:lnSpc>
                <a:spcPct val="150000"/>
              </a:lnSpc>
              <a:spcAft>
                <a:spcPts val="800"/>
              </a:spcAft>
            </a:pPr>
            <a:r>
              <a:rPr lang="en-US" altLang="zh-CN" sz="2400" b="1">
                <a:sym typeface="+mn-ea"/>
              </a:rPr>
              <a:t>A.</a:t>
            </a:r>
            <a:r>
              <a:rPr sz="2400" b="1">
                <a:sym typeface="+mn-ea"/>
              </a:rPr>
              <a:t>唇齿相依        </a:t>
            </a:r>
            <a:r>
              <a:rPr lang="en-US" altLang="zh-CN" sz="2400" b="1">
                <a:sym typeface="+mn-ea"/>
              </a:rPr>
              <a:t>B.</a:t>
            </a:r>
            <a:r>
              <a:rPr sz="2400" b="1">
                <a:sym typeface="+mn-ea"/>
              </a:rPr>
              <a:t>休戚与共      </a:t>
            </a:r>
            <a:endParaRPr sz="2400" b="1">
              <a:sym typeface="+mn-ea"/>
            </a:endParaRPr>
          </a:p>
          <a:p>
            <a:pPr>
              <a:lnSpc>
                <a:spcPct val="150000"/>
              </a:lnSpc>
              <a:spcAft>
                <a:spcPts val="800"/>
              </a:spcAft>
            </a:pPr>
            <a:r>
              <a:rPr lang="en-US" altLang="zh-CN" sz="2400" b="1">
                <a:sym typeface="+mn-ea"/>
              </a:rPr>
              <a:t>C. </a:t>
            </a:r>
            <a:r>
              <a:rPr sz="2400" b="1">
                <a:sym typeface="+mn-ea"/>
              </a:rPr>
              <a:t>同舟共济     </a:t>
            </a:r>
            <a:r>
              <a:rPr lang="en-US" altLang="zh-CN" sz="2400" b="1">
                <a:sym typeface="+mn-ea"/>
              </a:rPr>
              <a:t>D.</a:t>
            </a:r>
            <a:r>
              <a:rPr sz="2400" b="1">
                <a:sym typeface="+mn-ea"/>
              </a:rPr>
              <a:t>水乳交融</a:t>
            </a:r>
            <a:endParaRPr sz="2400" b="1"/>
          </a:p>
          <a:p>
            <a:pPr>
              <a:lnSpc>
                <a:spcPct val="150000"/>
              </a:lnSpc>
            </a:pPr>
            <a:r>
              <a:rPr lang="zh-CN" altLang="en-US" sz="2400" b="1"/>
              <a:t>分析：根据</a:t>
            </a:r>
            <a:r>
              <a:rPr lang="en-US" altLang="zh-CN" sz="2400" b="1"/>
              <a:t>“</a:t>
            </a:r>
            <a:r>
              <a:rPr sz="2400" b="1">
                <a:solidFill>
                  <a:srgbClr val="FF0000"/>
                </a:solidFill>
                <a:sym typeface="+mn-ea"/>
              </a:rPr>
              <a:t>叠加</a:t>
            </a:r>
            <a:r>
              <a:rPr lang="en-US" altLang="zh-CN" sz="2400" b="1"/>
              <a:t>”</a:t>
            </a:r>
            <a:r>
              <a:rPr sz="2400" b="1"/>
              <a:t>排除</a:t>
            </a:r>
            <a:r>
              <a:rPr lang="en-US" altLang="zh-CN" sz="2400" b="1"/>
              <a:t>ABC,</a:t>
            </a:r>
            <a:r>
              <a:rPr sz="2400" b="1"/>
              <a:t>，填入</a:t>
            </a:r>
            <a:r>
              <a:rPr lang="en-US" altLang="zh-CN" sz="2400" b="1"/>
              <a:t>D</a:t>
            </a:r>
            <a:r>
              <a:rPr sz="2400" b="1"/>
              <a:t>与语境相符，故选</a:t>
            </a:r>
            <a:r>
              <a:rPr lang="en-US" altLang="zh-CN" sz="2400" b="1"/>
              <a:t>D</a:t>
            </a:r>
            <a:r>
              <a:rPr sz="2400" b="1"/>
              <a:t>。</a:t>
            </a:r>
            <a:endParaRPr sz="2400" b="1"/>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18447" y="157045"/>
            <a:ext cx="10852237" cy="648000"/>
          </a:xfrm>
        </p:spPr>
        <p:txBody>
          <a:bodyPr/>
          <a:p>
            <a:r>
              <a:rPr lang="zh-CN" altLang="en-US"/>
              <a:t>作业</a:t>
            </a:r>
            <a:r>
              <a:rPr>
                <a:sym typeface="+mn-ea"/>
              </a:rPr>
              <a:t>讲解</a:t>
            </a:r>
            <a:r>
              <a:rPr lang="en-US" altLang="zh-CN">
                <a:sym typeface="+mn-ea"/>
              </a:rPr>
              <a:t>4</a:t>
            </a:r>
            <a:endParaRPr lang="zh-CN" altLang="en-US"/>
          </a:p>
        </p:txBody>
      </p:sp>
      <p:sp>
        <p:nvSpPr>
          <p:cNvPr id="3" name="内容占位符 2"/>
          <p:cNvSpPr>
            <a:spLocks noGrp="1"/>
          </p:cNvSpPr>
          <p:nvPr>
            <p:ph idx="1"/>
          </p:nvPr>
        </p:nvSpPr>
        <p:spPr>
          <a:xfrm>
            <a:off x="558165" y="908050"/>
            <a:ext cx="10852150" cy="5856605"/>
          </a:xfrm>
        </p:spPr>
        <p:txBody>
          <a:bodyPr/>
          <a:p>
            <a:pPr>
              <a:lnSpc>
                <a:spcPct val="130000"/>
              </a:lnSpc>
              <a:spcAft>
                <a:spcPts val="800"/>
              </a:spcAft>
            </a:pPr>
            <a:r>
              <a:rPr sz="2400" b="1">
                <a:solidFill>
                  <a:srgbClr val="00B050"/>
                </a:solidFill>
              </a:rPr>
              <a:t>真题</a:t>
            </a:r>
            <a:r>
              <a:rPr lang="en-US" altLang="zh-CN" sz="2400" b="1">
                <a:solidFill>
                  <a:srgbClr val="00B050"/>
                </a:solidFill>
              </a:rPr>
              <a:t>13</a:t>
            </a:r>
            <a:r>
              <a:rPr sz="2400" b="1">
                <a:sym typeface="+mn-ea"/>
              </a:rPr>
              <a:t>（川</a:t>
            </a:r>
            <a:r>
              <a:rPr lang="en-US" altLang="zh-CN" sz="2400" b="1">
                <a:sym typeface="+mn-ea"/>
              </a:rPr>
              <a:t>2019</a:t>
            </a:r>
            <a:r>
              <a:rPr sz="2400" b="1">
                <a:sym typeface="+mn-ea"/>
              </a:rPr>
              <a:t>下</a:t>
            </a:r>
            <a:r>
              <a:rPr lang="en-US" altLang="zh-CN" sz="2400" b="1">
                <a:sym typeface="+mn-ea"/>
              </a:rPr>
              <a:t>-20</a:t>
            </a:r>
            <a:r>
              <a:rPr sz="2400" b="1">
                <a:sym typeface="+mn-ea"/>
              </a:rPr>
              <a:t>）：接纳人工智能是今天社会发展、经济增长、人类演化的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，更是人们社会的需求。其实，很多人每天离不开的智能手机就是低端人工智能的应用。更应当看到的现实是，人工智能的发展极具</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，未来谁在人工智能的研发和应用中落后，</a:t>
            </a:r>
            <a:r>
              <a:rPr sz="2400" b="1">
                <a:solidFill>
                  <a:srgbClr val="FF0000"/>
                </a:solidFill>
                <a:sym typeface="+mn-ea"/>
              </a:rPr>
              <a:t>谁就会被淘汰</a:t>
            </a:r>
            <a:r>
              <a:rPr sz="2400" b="1">
                <a:sym typeface="+mn-ea"/>
              </a:rPr>
              <a:t>。</a:t>
            </a:r>
            <a:endParaRPr sz="2400" b="1">
              <a:sym typeface="+mn-ea"/>
            </a:endParaRPr>
          </a:p>
          <a:p>
            <a:pPr>
              <a:lnSpc>
                <a:spcPct val="130000"/>
              </a:lnSpc>
              <a:spcAft>
                <a:spcPts val="800"/>
              </a:spcAft>
            </a:pPr>
            <a:r>
              <a:rPr sz="2400" b="1">
                <a:sym typeface="+mn-ea"/>
              </a:rPr>
              <a:t>填入画横线部分最恰当的一项是</a:t>
            </a:r>
            <a:r>
              <a:rPr sz="2400" b="1">
                <a:sym typeface="+mn-ea"/>
              </a:rPr>
              <a:t>（    ）</a:t>
            </a:r>
            <a:r>
              <a:rPr sz="2400" b="1">
                <a:sym typeface="+mn-ea"/>
              </a:rPr>
              <a:t>：</a:t>
            </a:r>
            <a:endParaRPr sz="2400" b="1">
              <a:sym typeface="+mn-ea"/>
            </a:endParaRPr>
          </a:p>
          <a:p>
            <a:pPr>
              <a:lnSpc>
                <a:spcPct val="130000"/>
              </a:lnSpc>
              <a:spcAft>
                <a:spcPts val="800"/>
              </a:spcAft>
            </a:pPr>
            <a:r>
              <a:rPr lang="en-US" altLang="zh-CN" sz="2400" b="1">
                <a:sym typeface="+mn-ea"/>
              </a:rPr>
              <a:t>A.</a:t>
            </a:r>
            <a:r>
              <a:rPr sz="2400" b="1">
                <a:sym typeface="+mn-ea"/>
              </a:rPr>
              <a:t>趋势    替代性          </a:t>
            </a:r>
            <a:r>
              <a:rPr lang="en-US" altLang="zh-CN" sz="2400" b="1">
                <a:sym typeface="+mn-ea"/>
              </a:rPr>
              <a:t>B.</a:t>
            </a:r>
            <a:r>
              <a:rPr sz="2400" b="1">
                <a:sym typeface="+mn-ea"/>
              </a:rPr>
              <a:t>必然    竞争性   </a:t>
            </a:r>
            <a:endParaRPr sz="2400" b="1">
              <a:sym typeface="+mn-ea"/>
            </a:endParaRPr>
          </a:p>
          <a:p>
            <a:pPr>
              <a:lnSpc>
                <a:spcPct val="130000"/>
              </a:lnSpc>
              <a:spcAft>
                <a:spcPts val="800"/>
              </a:spcAft>
            </a:pPr>
            <a:r>
              <a:rPr lang="en-US" altLang="zh-CN" sz="2400" b="1">
                <a:sym typeface="+mn-ea"/>
              </a:rPr>
              <a:t>C.</a:t>
            </a:r>
            <a:r>
              <a:rPr sz="2400" b="1">
                <a:sym typeface="+mn-ea"/>
              </a:rPr>
              <a:t>方向    优越性          </a:t>
            </a:r>
            <a:r>
              <a:rPr lang="en-US" altLang="zh-CN" sz="2400" b="1">
                <a:sym typeface="+mn-ea"/>
              </a:rPr>
              <a:t>D.</a:t>
            </a:r>
            <a:r>
              <a:rPr sz="2400" b="1">
                <a:sym typeface="+mn-ea"/>
              </a:rPr>
              <a:t>途径  倾向性</a:t>
            </a:r>
            <a:endParaRPr sz="2400" b="1">
              <a:sym typeface="+mn-ea"/>
            </a:endParaRPr>
          </a:p>
          <a:p>
            <a:pPr>
              <a:lnSpc>
                <a:spcPct val="130000"/>
              </a:lnSpc>
              <a:spcAft>
                <a:spcPts val="800"/>
              </a:spcAft>
            </a:pPr>
            <a:r>
              <a:rPr sz="2400" b="1"/>
              <a:t>分析：根据红色字可知：有竞争性才不会被淘汰。选</a:t>
            </a:r>
            <a:r>
              <a:rPr lang="en-US" altLang="zh-CN" sz="2400" b="1"/>
              <a:t>B</a:t>
            </a:r>
            <a:endParaRPr lang="en-US" altLang="zh-CN" sz="2400" b="1"/>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a:t>
            </a:r>
            <a:r>
              <a:rPr>
                <a:sym typeface="+mn-ea"/>
              </a:rPr>
              <a:t>讲解</a:t>
            </a:r>
            <a:r>
              <a:rPr lang="en-US" altLang="zh-CN">
                <a:sym typeface="+mn-ea"/>
              </a:rPr>
              <a:t>5</a:t>
            </a:r>
            <a:endParaRPr lang="en-US" altLang="zh-CN">
              <a:sym typeface="+mn-ea"/>
            </a:endParaRPr>
          </a:p>
        </p:txBody>
      </p:sp>
      <p:sp>
        <p:nvSpPr>
          <p:cNvPr id="3" name="内容占位符 2"/>
          <p:cNvSpPr>
            <a:spLocks noGrp="1"/>
          </p:cNvSpPr>
          <p:nvPr>
            <p:ph idx="1"/>
          </p:nvPr>
        </p:nvSpPr>
        <p:spPr/>
        <p:txBody>
          <a:bodyPr/>
          <a:p>
            <a:pPr>
              <a:lnSpc>
                <a:spcPct val="110000"/>
              </a:lnSpc>
              <a:spcAft>
                <a:spcPts val="700"/>
              </a:spcAft>
            </a:pPr>
            <a:r>
              <a:rPr sz="2400" b="1">
                <a:solidFill>
                  <a:srgbClr val="00B050"/>
                </a:solidFill>
                <a:sym typeface="+mn-ea"/>
              </a:rPr>
              <a:t>真题</a:t>
            </a:r>
            <a:r>
              <a:rPr lang="en-US" altLang="zh-CN" sz="2400" b="1">
                <a:solidFill>
                  <a:srgbClr val="00B050"/>
                </a:solidFill>
                <a:sym typeface="+mn-ea"/>
              </a:rPr>
              <a:t>14</a:t>
            </a:r>
            <a:r>
              <a:rPr sz="2400" b="1">
                <a:sym typeface="+mn-ea"/>
              </a:rPr>
              <a:t>（川</a:t>
            </a:r>
            <a:r>
              <a:rPr lang="en-US" altLang="zh-CN" sz="2400" b="1">
                <a:sym typeface="+mn-ea"/>
              </a:rPr>
              <a:t>2012</a:t>
            </a:r>
            <a:r>
              <a:rPr sz="2400" b="1">
                <a:sym typeface="+mn-ea"/>
              </a:rPr>
              <a:t>上</a:t>
            </a:r>
            <a:r>
              <a:rPr lang="en-US" altLang="zh-CN" sz="2400" b="1">
                <a:sym typeface="+mn-ea"/>
              </a:rPr>
              <a:t>-25</a:t>
            </a:r>
            <a:r>
              <a:rPr sz="2400" b="1">
                <a:sym typeface="+mn-ea"/>
              </a:rPr>
              <a:t>）</a:t>
            </a:r>
            <a:r>
              <a:rPr sz="2400" b="1">
                <a:solidFill>
                  <a:srgbClr val="FF0000"/>
                </a:solidFill>
                <a:sym typeface="+mn-ea"/>
              </a:rPr>
              <a:t>艺术必须拒绝融入现实</a:t>
            </a:r>
            <a:r>
              <a:rPr sz="2400" b="1">
                <a:sym typeface="+mn-ea"/>
              </a:rPr>
              <a:t>，从而保持一种</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ym typeface="+mn-ea"/>
              </a:rPr>
              <a:t>的姿态。艺术之美所包含的自由、欢悦与人性是日常现实所</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ym typeface="+mn-ea"/>
              </a:rPr>
              <a:t>的，同时也不会为纷繁的日常现实所消蚀，所掩盖。</a:t>
            </a:r>
            <a:endParaRPr lang="zh-CN" altLang="en-US" sz="2400" b="1"/>
          </a:p>
          <a:p>
            <a:pPr>
              <a:lnSpc>
                <a:spcPct val="110000"/>
              </a:lnSpc>
              <a:spcAft>
                <a:spcPts val="700"/>
              </a:spcAft>
            </a:pPr>
            <a:r>
              <a:rPr sz="2400" b="1">
                <a:sym typeface="+mn-ea"/>
              </a:rPr>
              <a:t>依次填入划横线部分最恰当的一项是（    ）。</a:t>
            </a:r>
            <a:endParaRPr lang="zh-CN" altLang="en-US" sz="2400" b="1"/>
          </a:p>
          <a:p>
            <a:pPr>
              <a:lnSpc>
                <a:spcPct val="110000"/>
              </a:lnSpc>
              <a:spcAft>
                <a:spcPts val="700"/>
              </a:spcAft>
            </a:pPr>
            <a:r>
              <a:rPr sz="2400" b="1">
                <a:sym typeface="+mn-ea"/>
              </a:rPr>
              <a:t>A. 与众不同      缺乏                       B. 出类拔萃      缺少</a:t>
            </a:r>
            <a:endParaRPr lang="zh-CN" altLang="en-US" sz="2400" b="1"/>
          </a:p>
          <a:p>
            <a:pPr>
              <a:lnSpc>
                <a:spcPct val="110000"/>
              </a:lnSpc>
              <a:spcAft>
                <a:spcPts val="700"/>
              </a:spcAft>
            </a:pPr>
            <a:r>
              <a:rPr sz="2400" b="1">
                <a:sym typeface="+mn-ea"/>
              </a:rPr>
              <a:t>C. 鹤立鸡群      匮缺                       D. 卓尔不群      匮乏</a:t>
            </a:r>
            <a:endParaRPr lang="zh-CN" altLang="en-US" sz="2400" b="1"/>
          </a:p>
          <a:p>
            <a:r>
              <a:rPr lang="zh-CN" altLang="en-US" sz="2400" b="1"/>
              <a:t>分析：关键在第一空，根据“艺术拒绝融入现实”，“与众不同”或“出类拔萃”都与现实有关，排除AB。鹤立鸡群：形容一个人的仪表或才能在周围一群人（现实）里显得很突出，也排除。</a:t>
            </a:r>
            <a:r>
              <a:rPr sz="2400" b="1">
                <a:sym typeface="+mn-ea"/>
              </a:rPr>
              <a:t>卓尔不群，指超出寻常。</a:t>
            </a:r>
            <a:r>
              <a:rPr lang="zh-CN" altLang="en-US" sz="2400" b="1"/>
              <a:t>故本题选D。</a:t>
            </a:r>
            <a:endParaRPr lang="zh-CN" altLang="en-US" sz="2400" b="1"/>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75267" y="131645"/>
            <a:ext cx="10852237" cy="648000"/>
          </a:xfrm>
        </p:spPr>
        <p:txBody>
          <a:bodyPr/>
          <a:p>
            <a:r>
              <a:rPr>
                <a:sym typeface="+mn-ea"/>
              </a:rPr>
              <a:t>作业讲解</a:t>
            </a:r>
            <a:r>
              <a:rPr lang="en-US" altLang="zh-CN">
                <a:sym typeface="+mn-ea"/>
              </a:rPr>
              <a:t>6</a:t>
            </a:r>
            <a:endParaRPr lang="en-US" altLang="zh-CN">
              <a:sym typeface="+mn-ea"/>
            </a:endParaRPr>
          </a:p>
        </p:txBody>
      </p:sp>
      <p:sp>
        <p:nvSpPr>
          <p:cNvPr id="3" name="内容占位符 2"/>
          <p:cNvSpPr>
            <a:spLocks noGrp="1"/>
          </p:cNvSpPr>
          <p:nvPr>
            <p:ph idx="1"/>
          </p:nvPr>
        </p:nvSpPr>
        <p:spPr>
          <a:xfrm>
            <a:off x="446405" y="779145"/>
            <a:ext cx="10852150" cy="5753735"/>
          </a:xfrm>
        </p:spPr>
        <p:txBody>
          <a:bodyPr/>
          <a:p>
            <a:pPr>
              <a:lnSpc>
                <a:spcPct val="110000"/>
              </a:lnSpc>
              <a:spcAft>
                <a:spcPts val="700"/>
              </a:spcAft>
            </a:pPr>
            <a:r>
              <a:rPr sz="2400" b="1">
                <a:solidFill>
                  <a:srgbClr val="00B050"/>
                </a:solidFill>
                <a:sym typeface="+mn-ea"/>
              </a:rPr>
              <a:t>真题</a:t>
            </a:r>
            <a:r>
              <a:rPr lang="en-US" altLang="zh-CN" sz="2400" b="1">
                <a:solidFill>
                  <a:srgbClr val="00B050"/>
                </a:solidFill>
                <a:sym typeface="+mn-ea"/>
              </a:rPr>
              <a:t>15</a:t>
            </a:r>
            <a:r>
              <a:rPr sz="2400" b="1">
                <a:sym typeface="+mn-ea"/>
              </a:rPr>
              <a:t>（川</a:t>
            </a:r>
            <a:r>
              <a:rPr lang="en-US" altLang="zh-CN" sz="2400" b="1">
                <a:sym typeface="+mn-ea"/>
              </a:rPr>
              <a:t>2012</a:t>
            </a:r>
            <a:r>
              <a:rPr sz="2400" b="1">
                <a:sym typeface="+mn-ea"/>
              </a:rPr>
              <a:t>上</a:t>
            </a:r>
            <a:r>
              <a:rPr lang="en-US" altLang="zh-CN" sz="2400" b="1">
                <a:sym typeface="+mn-ea"/>
              </a:rPr>
              <a:t>-26</a:t>
            </a:r>
            <a:r>
              <a:rPr sz="2400" b="1">
                <a:sym typeface="+mn-ea"/>
              </a:rPr>
              <a:t>）</a:t>
            </a:r>
            <a:r>
              <a:rPr lang="zh-CN" altLang="en-US" sz="2400" b="1"/>
              <a:t>26.城市的人居环境和城市发展要坚持发展和保护双赢、坚持当前发展和长远规划相结合；</a:t>
            </a:r>
            <a:r>
              <a:rPr lang="zh-CN" altLang="en-US" sz="2400" b="1">
                <a:solidFill>
                  <a:srgbClr val="FF0000"/>
                </a:solidFill>
              </a:rPr>
              <a:t>离开</a:t>
            </a:r>
            <a:r>
              <a:rPr lang="zh-CN" altLang="en-US" sz="2400" b="1"/>
              <a:t>经济搞环境是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而</a:t>
            </a:r>
            <a:r>
              <a:rPr lang="zh-CN" altLang="en-US" sz="2400" b="1">
                <a:solidFill>
                  <a:srgbClr val="FF0000"/>
                </a:solidFill>
              </a:rPr>
              <a:t>脱离</a:t>
            </a:r>
            <a:r>
              <a:rPr lang="zh-CN" altLang="en-US" sz="2400" b="1"/>
              <a:t>环境搞发展则是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a:t>
            </a:r>
            <a:endParaRPr lang="zh-CN" altLang="en-US" sz="2400" b="1"/>
          </a:p>
          <a:p>
            <a:pPr>
              <a:lnSpc>
                <a:spcPct val="110000"/>
              </a:lnSpc>
              <a:spcAft>
                <a:spcPts val="700"/>
              </a:spcAft>
            </a:pPr>
            <a:r>
              <a:rPr lang="zh-CN" altLang="en-US" sz="2400" b="1"/>
              <a:t>依次填入划横线部分最恰当的一项是（    ）。</a:t>
            </a:r>
            <a:endParaRPr lang="zh-CN" altLang="en-US" sz="2400" b="1"/>
          </a:p>
          <a:p>
            <a:pPr>
              <a:lnSpc>
                <a:spcPct val="110000"/>
              </a:lnSpc>
              <a:spcAft>
                <a:spcPts val="700"/>
              </a:spcAft>
            </a:pPr>
            <a:r>
              <a:rPr lang="zh-CN" altLang="en-US" sz="2400" b="1"/>
              <a:t>A. 刻舟求剑      杀鸡取卵               B. 缘木求鱼      竭泽而渔</a:t>
            </a:r>
            <a:endParaRPr lang="zh-CN" altLang="en-US" sz="2400" b="1"/>
          </a:p>
          <a:p>
            <a:pPr>
              <a:lnSpc>
                <a:spcPct val="110000"/>
              </a:lnSpc>
              <a:spcAft>
                <a:spcPts val="700"/>
              </a:spcAft>
            </a:pPr>
            <a:r>
              <a:rPr lang="zh-CN" altLang="en-US" sz="2400" b="1"/>
              <a:t>C. 升山采珠      </a:t>
            </a:r>
            <a:r>
              <a:rPr sz="2400" b="1">
                <a:sym typeface="+mn-ea"/>
              </a:rPr>
              <a:t>饮鸩止渴</a:t>
            </a:r>
            <a:r>
              <a:rPr lang="zh-CN" altLang="en-US" sz="2400" b="1"/>
              <a:t>               D. 南辕北辙      从长计议</a:t>
            </a:r>
            <a:endParaRPr lang="zh-CN" altLang="en-US" sz="2400" b="1"/>
          </a:p>
          <a:p>
            <a:pPr>
              <a:lnSpc>
                <a:spcPct val="110000"/>
              </a:lnSpc>
              <a:spcAft>
                <a:spcPts val="700"/>
              </a:spcAft>
            </a:pPr>
            <a:r>
              <a:rPr lang="zh-CN" altLang="en-US" sz="2400" b="1"/>
              <a:t>分析：</a:t>
            </a:r>
            <a:r>
              <a:rPr lang="en-US" altLang="zh-CN" sz="2400" b="1"/>
              <a:t>“</a:t>
            </a:r>
            <a:r>
              <a:rPr sz="2400" b="1">
                <a:solidFill>
                  <a:srgbClr val="FF0000"/>
                </a:solidFill>
                <a:sym typeface="+mn-ea"/>
              </a:rPr>
              <a:t>升山采珠</a:t>
            </a:r>
            <a:r>
              <a:rPr lang="en-US" altLang="zh-CN" sz="2400" b="1"/>
              <a:t>”</a:t>
            </a:r>
            <a:r>
              <a:rPr sz="2400" b="1"/>
              <a:t>指</a:t>
            </a:r>
            <a:r>
              <a:rPr lang="zh-CN" altLang="en-US" sz="2400" b="1"/>
              <a:t>到山上去采珍珠。比喻办事的方向、方法错误，一定达不到目的。</a:t>
            </a:r>
            <a:r>
              <a:rPr lang="en-US" altLang="zh-CN" sz="2400" b="1"/>
              <a:t>“</a:t>
            </a:r>
            <a:r>
              <a:rPr sz="2400" b="1">
                <a:solidFill>
                  <a:srgbClr val="FF0000"/>
                </a:solidFill>
                <a:sym typeface="+mn-ea"/>
              </a:rPr>
              <a:t>缘木求鱼</a:t>
            </a:r>
            <a:r>
              <a:rPr lang="en-US" altLang="zh-CN" sz="2400" b="1"/>
              <a:t>”</a:t>
            </a:r>
            <a:r>
              <a:rPr sz="2400" b="1"/>
              <a:t>指</a:t>
            </a:r>
            <a:r>
              <a:rPr lang="zh-CN" altLang="en-US" sz="2400" b="1"/>
              <a:t>爬到没有鱼的树上去找鱼，比喻方向或办法不对，不可能达到目的。</a:t>
            </a:r>
            <a:r>
              <a:rPr lang="en-US" altLang="zh-CN" sz="2400" b="1">
                <a:sym typeface="+mn-ea"/>
              </a:rPr>
              <a:t>“</a:t>
            </a:r>
            <a:r>
              <a:rPr sz="2400" b="1">
                <a:sym typeface="+mn-ea"/>
              </a:rPr>
              <a:t>升山采珠</a:t>
            </a:r>
            <a:r>
              <a:rPr lang="en-US" altLang="zh-CN" sz="2400" b="1">
                <a:sym typeface="+mn-ea"/>
              </a:rPr>
              <a:t>”</a:t>
            </a:r>
            <a:r>
              <a:rPr sz="2400" b="1">
                <a:sym typeface="+mn-ea"/>
              </a:rPr>
              <a:t>与</a:t>
            </a:r>
            <a:r>
              <a:rPr lang="en-US" altLang="zh-CN" sz="2400" b="1">
                <a:sym typeface="+mn-ea"/>
              </a:rPr>
              <a:t>“</a:t>
            </a:r>
            <a:r>
              <a:rPr sz="2400" b="1">
                <a:sym typeface="+mn-ea"/>
              </a:rPr>
              <a:t>缘木求鱼</a:t>
            </a:r>
            <a:r>
              <a:rPr lang="en-US" altLang="zh-CN" sz="2400" b="1">
                <a:sym typeface="+mn-ea"/>
              </a:rPr>
              <a:t>”</a:t>
            </a:r>
            <a:r>
              <a:rPr sz="2400" b="1">
                <a:sym typeface="+mn-ea"/>
              </a:rPr>
              <a:t>是近义词。</a:t>
            </a:r>
            <a:r>
              <a:rPr lang="en-US" altLang="zh-CN" sz="2400" b="1">
                <a:sym typeface="+mn-ea"/>
              </a:rPr>
              <a:t>“</a:t>
            </a:r>
            <a:r>
              <a:rPr sz="2400" b="1">
                <a:solidFill>
                  <a:srgbClr val="FF0000"/>
                </a:solidFill>
                <a:sym typeface="+mn-ea"/>
              </a:rPr>
              <a:t>竭泽而渔</a:t>
            </a:r>
            <a:r>
              <a:rPr lang="en-US" altLang="zh-CN" sz="2400" b="1">
                <a:sym typeface="+mn-ea"/>
              </a:rPr>
              <a:t>”掏干了水塘捉鱼</a:t>
            </a:r>
            <a:r>
              <a:rPr sz="2400" b="1">
                <a:sym typeface="+mn-ea"/>
              </a:rPr>
              <a:t>，</a:t>
            </a:r>
            <a:r>
              <a:rPr lang="en-US" altLang="zh-CN" sz="2400" b="1">
                <a:sym typeface="+mn-ea"/>
              </a:rPr>
              <a:t>比喻取之不留余地，只图眼前利益，不作长远打算。鸩：传说中的毒鸟，用它的羽毛浸的酒喝了能毒死人,喝毒酒解渴。</a:t>
            </a:r>
            <a:r>
              <a:rPr lang="en-US" altLang="zh-CN" sz="2400" b="1">
                <a:solidFill>
                  <a:srgbClr val="FF0000"/>
                </a:solidFill>
                <a:sym typeface="+mn-ea"/>
              </a:rPr>
              <a:t>“</a:t>
            </a:r>
            <a:r>
              <a:rPr sz="2400" b="1">
                <a:solidFill>
                  <a:srgbClr val="FF0000"/>
                </a:solidFill>
                <a:sym typeface="+mn-ea"/>
              </a:rPr>
              <a:t>饮鸩止渴</a:t>
            </a:r>
            <a:r>
              <a:rPr lang="en-US" altLang="zh-CN" sz="2400" b="1">
                <a:solidFill>
                  <a:srgbClr val="FF0000"/>
                </a:solidFill>
                <a:sym typeface="+mn-ea"/>
              </a:rPr>
              <a:t>”</a:t>
            </a:r>
            <a:r>
              <a:rPr lang="en-US" altLang="zh-CN" sz="2400" b="1">
                <a:sym typeface="+mn-ea"/>
              </a:rPr>
              <a:t>比喻用错误的办法来解决眼前的困难而不顾严重后果</a:t>
            </a:r>
            <a:r>
              <a:rPr sz="2400" b="1">
                <a:sym typeface="+mn-ea"/>
              </a:rPr>
              <a:t>，语义太重。填入</a:t>
            </a:r>
            <a:r>
              <a:rPr lang="en-US" altLang="zh-CN" sz="2400" b="1">
                <a:sym typeface="+mn-ea"/>
              </a:rPr>
              <a:t>B</a:t>
            </a:r>
            <a:r>
              <a:rPr sz="2400" b="1">
                <a:sym typeface="+mn-ea"/>
              </a:rPr>
              <a:t>与语境更搭配，故选</a:t>
            </a:r>
            <a:r>
              <a:rPr lang="en-US" altLang="zh-CN" sz="2400" b="1">
                <a:sym typeface="+mn-ea"/>
              </a:rPr>
              <a:t>B</a:t>
            </a:r>
            <a:r>
              <a:rPr sz="2400" b="1">
                <a:sym typeface="+mn-ea"/>
              </a:rPr>
              <a:t>。</a:t>
            </a:r>
            <a:endParaRPr sz="2400" b="1">
              <a:sym typeface="+mn-ea"/>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a:t>
            </a:r>
            <a:r>
              <a:t>并列关系</a:t>
            </a:r>
          </a:p>
        </p:txBody>
      </p:sp>
      <p:sp>
        <p:nvSpPr>
          <p:cNvPr id="3" name="内容占位符 2"/>
          <p:cNvSpPr>
            <a:spLocks noGrp="1"/>
          </p:cNvSpPr>
          <p:nvPr>
            <p:ph idx="1"/>
          </p:nvPr>
        </p:nvSpPr>
        <p:spPr/>
        <p:txBody>
          <a:bodyPr/>
          <a:p>
            <a:pPr>
              <a:lnSpc>
                <a:spcPct val="150000"/>
              </a:lnSpc>
            </a:pPr>
            <a:r>
              <a:rPr sz="2400" b="1">
                <a:solidFill>
                  <a:srgbClr val="FF0000"/>
                </a:solidFill>
                <a:sym typeface="+mn-ea"/>
              </a:rPr>
              <a:t>并列关系指的是文段中的某些词句与空缺处所填词语语义相近、结构相当</a:t>
            </a:r>
            <a:r>
              <a:rPr sz="2400" b="1">
                <a:sym typeface="+mn-ea"/>
              </a:rPr>
              <a:t>。</a:t>
            </a:r>
            <a:endParaRPr sz="2400" b="1">
              <a:sym typeface="+mn-ea"/>
            </a:endParaRPr>
          </a:p>
          <a:p>
            <a:pPr>
              <a:lnSpc>
                <a:spcPct val="150000"/>
              </a:lnSpc>
            </a:pPr>
            <a:r>
              <a:rPr sz="2400" b="1">
                <a:sym typeface="+mn-ea"/>
              </a:rPr>
              <a:t>并列关系可以通过以下三类提示信息以及前后文语境进行识别：</a:t>
            </a:r>
            <a:endParaRPr sz="2400" b="1">
              <a:sym typeface="+mn-ea"/>
            </a:endParaRPr>
          </a:p>
          <a:p>
            <a:pPr>
              <a:lnSpc>
                <a:spcPct val="150000"/>
              </a:lnSpc>
            </a:pPr>
            <a:endParaRPr lang="zh-CN" altLang="en-US" sz="2400" b="1"/>
          </a:p>
        </p:txBody>
      </p:sp>
      <p:graphicFrame>
        <p:nvGraphicFramePr>
          <p:cNvPr id="4" name="表格 3"/>
          <p:cNvGraphicFramePr/>
          <p:nvPr>
            <p:custDataLst>
              <p:tags r:id="rId1"/>
            </p:custDataLst>
          </p:nvPr>
        </p:nvGraphicFramePr>
        <p:xfrm>
          <a:off x="1121410" y="3118485"/>
          <a:ext cx="8342630" cy="1978660"/>
        </p:xfrm>
        <a:graphic>
          <a:graphicData uri="http://schemas.openxmlformats.org/drawingml/2006/table">
            <a:tbl>
              <a:tblPr firstRow="1" bandRow="1">
                <a:tableStyleId>{5940675A-B579-460E-94D1-54222C63F5DA}</a:tableStyleId>
              </a:tblPr>
              <a:tblGrid>
                <a:gridCol w="1207135"/>
                <a:gridCol w="7135495"/>
              </a:tblGrid>
              <a:tr h="494665">
                <a:tc>
                  <a:txBody>
                    <a:bodyPr/>
                    <a:p>
                      <a:pPr indent="0" algn="ctr" fontAlgn="auto">
                        <a:lnSpc>
                          <a:spcPct val="150000"/>
                        </a:lnSpc>
                        <a:buNone/>
                      </a:pPr>
                      <a:r>
                        <a:rPr lang="en-US" sz="2400" b="1">
                          <a:latin typeface="+mn-ea"/>
                          <a:cs typeface="宋体" panose="02010600030101010101" pitchFamily="2" charset="-122"/>
                        </a:rPr>
                        <a:t>类型</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fontAlgn="auto">
                        <a:lnSpc>
                          <a:spcPct val="150000"/>
                        </a:lnSpc>
                        <a:buNone/>
                      </a:pPr>
                      <a:r>
                        <a:rPr lang="en-US" sz="2400" b="1">
                          <a:latin typeface="+mn-ea"/>
                          <a:cs typeface="宋体" panose="02010600030101010101" pitchFamily="2" charset="-122"/>
                        </a:rPr>
                        <a:t>具体内容</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4665">
                <a:tc>
                  <a:txBody>
                    <a:bodyPr/>
                    <a:p>
                      <a:pPr indent="0" algn="ctr" fontAlgn="auto">
                        <a:lnSpc>
                          <a:spcPct val="150000"/>
                        </a:lnSpc>
                        <a:buNone/>
                      </a:pPr>
                      <a:r>
                        <a:rPr lang="en-US" sz="2400" b="1">
                          <a:latin typeface="+mn-ea"/>
                          <a:cs typeface="宋体" panose="02010600030101010101" pitchFamily="2" charset="-122"/>
                        </a:rPr>
                        <a:t>信息一</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50000"/>
                        </a:lnSpc>
                        <a:buNone/>
                      </a:pPr>
                      <a:r>
                        <a:rPr lang="en-US" sz="2400" b="1">
                          <a:latin typeface="+mn-ea"/>
                          <a:cs typeface="+mn-ea"/>
                        </a:rPr>
                        <a:t>表示并列关系的词语：和、与、既······又·····</a:t>
                      </a:r>
                      <a:endParaRPr lang="en-US" altLang="en-US" sz="2400" b="1">
                        <a:latin typeface="+mn-ea"/>
                        <a:cs typeface="+mn-ea"/>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4665">
                <a:tc>
                  <a:txBody>
                    <a:bodyPr/>
                    <a:p>
                      <a:pPr indent="0" algn="ctr" fontAlgn="auto">
                        <a:lnSpc>
                          <a:spcPct val="150000"/>
                        </a:lnSpc>
                        <a:buNone/>
                      </a:pPr>
                      <a:r>
                        <a:rPr lang="en-US" sz="2400" b="1">
                          <a:latin typeface="+mn-ea"/>
                          <a:cs typeface="宋体" panose="02010600030101010101" pitchFamily="2" charset="-122"/>
                        </a:rPr>
                        <a:t>信息二</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50000"/>
                        </a:lnSpc>
                        <a:buNone/>
                      </a:pPr>
                      <a:r>
                        <a:rPr lang="en-US" sz="2400" b="1">
                          <a:latin typeface="+mn-ea"/>
                          <a:cs typeface="宋体" panose="02010600030101010101" pitchFamily="2" charset="-122"/>
                        </a:rPr>
                        <a:t>表示并列关系的符号：顿号、分号</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4665">
                <a:tc>
                  <a:txBody>
                    <a:bodyPr/>
                    <a:p>
                      <a:pPr indent="0" algn="ctr" fontAlgn="auto">
                        <a:lnSpc>
                          <a:spcPct val="150000"/>
                        </a:lnSpc>
                        <a:buNone/>
                      </a:pPr>
                      <a:r>
                        <a:rPr lang="en-US" sz="2400" b="1">
                          <a:latin typeface="+mn-ea"/>
                          <a:cs typeface="宋体" panose="02010600030101010101" pitchFamily="2" charset="-122"/>
                        </a:rPr>
                        <a:t>信息三</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50000"/>
                        </a:lnSpc>
                        <a:buNone/>
                      </a:pPr>
                      <a:r>
                        <a:rPr lang="en-US" sz="2400" b="1">
                          <a:latin typeface="+mn-ea"/>
                          <a:cs typeface="宋体" panose="02010600030101010101" pitchFamily="2" charset="-122"/>
                        </a:rPr>
                        <a:t>相同或相似的句式</a:t>
                      </a:r>
                      <a:endParaRPr lang="en-US" altLang="en-US" sz="2400" b="1">
                        <a:latin typeface="+mn-ea"/>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16</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solidFill>
                  <a:schemeClr val="tx1"/>
                </a:solidFill>
              </a:rPr>
              <a:t>崇尚和平、和睦、和谐的理念，深深根植于中华民族 绵延五千余载的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文明。中国人民从苦难中走过来，深知和平的珍贵、发展的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，怕的就是动荡，求的就是稳定，盼的就是天下太平。</a:t>
            </a:r>
            <a:endParaRPr sz="2400" b="1">
              <a:solidFill>
                <a:schemeClr val="tx1"/>
              </a:solidFill>
              <a:sym typeface="+mn-ea"/>
            </a:endParaRPr>
          </a:p>
          <a:p>
            <a:r>
              <a:rPr sz="2400" b="1">
                <a:solidFill>
                  <a:schemeClr val="tx1"/>
                </a:solidFill>
                <a:sym typeface="+mn-ea"/>
              </a:rPr>
              <a:t>填入画横线部分最恰当的一项是（    ）</a:t>
            </a:r>
            <a:endParaRPr sz="2400" b="1">
              <a:solidFill>
                <a:schemeClr val="tx1"/>
              </a:solidFill>
              <a:sym typeface="+mn-ea"/>
            </a:endParaRPr>
          </a:p>
          <a:p>
            <a:r>
              <a:rPr lang="en-US" altLang="zh-CN" sz="2400" b="1">
                <a:solidFill>
                  <a:schemeClr val="tx1"/>
                </a:solidFill>
                <a:sym typeface="+mn-ea"/>
              </a:rPr>
              <a:t>A. </a:t>
            </a:r>
            <a:r>
              <a:rPr sz="2400" b="1">
                <a:solidFill>
                  <a:schemeClr val="tx1"/>
                </a:solidFill>
                <a:sym typeface="+mn-ea"/>
              </a:rPr>
              <a:t>古老    意义    </a:t>
            </a:r>
            <a:r>
              <a:rPr lang="en-US" altLang="zh-CN" sz="2400" b="1">
                <a:solidFill>
                  <a:schemeClr val="tx1"/>
                </a:solidFill>
                <a:sym typeface="+mn-ea"/>
              </a:rPr>
              <a:t>           B. </a:t>
            </a:r>
            <a:r>
              <a:rPr sz="2400" b="1">
                <a:solidFill>
                  <a:schemeClr val="tx1"/>
                </a:solidFill>
                <a:sym typeface="+mn-ea"/>
              </a:rPr>
              <a:t>悠久    价值</a:t>
            </a:r>
            <a:endParaRPr sz="2400" b="1">
              <a:solidFill>
                <a:schemeClr val="tx1"/>
              </a:solidFill>
              <a:sym typeface="+mn-ea"/>
            </a:endParaRPr>
          </a:p>
          <a:p>
            <a:r>
              <a:rPr lang="en-US" altLang="zh-CN" sz="2400" b="1">
                <a:solidFill>
                  <a:schemeClr val="tx1"/>
                </a:solidFill>
                <a:sym typeface="+mn-ea"/>
              </a:rPr>
              <a:t>C. </a:t>
            </a:r>
            <a:r>
              <a:rPr sz="2400" b="1">
                <a:solidFill>
                  <a:schemeClr val="tx1"/>
                </a:solidFill>
                <a:sym typeface="+mn-ea"/>
              </a:rPr>
              <a:t>辉煌    重要               </a:t>
            </a:r>
            <a:r>
              <a:rPr lang="en-US" altLang="zh-CN" sz="2400" b="1">
                <a:solidFill>
                  <a:schemeClr val="tx1"/>
                </a:solidFill>
                <a:sym typeface="+mn-ea"/>
              </a:rPr>
              <a:t>D. </a:t>
            </a:r>
            <a:r>
              <a:rPr sz="2400" b="1">
                <a:solidFill>
                  <a:schemeClr val="tx1"/>
                </a:solidFill>
                <a:sym typeface="+mn-ea"/>
              </a:rPr>
              <a:t>灿烂    方向</a:t>
            </a:r>
            <a:endParaRPr sz="2400" b="1">
              <a:solidFill>
                <a:schemeClr val="tx1"/>
              </a:solidFill>
              <a:sym typeface="+mn-ea"/>
            </a:endParaRPr>
          </a:p>
          <a:p>
            <a:endParaRPr lang="zh-CN" altLang="en-US" sz="2400" b="1">
              <a:solidFill>
                <a:schemeClr val="tx1"/>
              </a:solidFill>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16</a:t>
            </a:r>
            <a:r>
              <a:t>分析</a:t>
            </a:r>
          </a:p>
        </p:txBody>
      </p:sp>
      <p:sp>
        <p:nvSpPr>
          <p:cNvPr id="3" name="内容占位符 2"/>
          <p:cNvSpPr>
            <a:spLocks noGrp="1"/>
          </p:cNvSpPr>
          <p:nvPr>
            <p:ph idx="1"/>
          </p:nvPr>
        </p:nvSpPr>
        <p:spPr/>
        <p:txBody>
          <a:bodyPr/>
          <a:p>
            <a:r>
              <a:rPr lang="zh-CN" altLang="en-US" sz="2400" b="1"/>
              <a:t>崇尚和平、和睦、和谐的理念，深深根植于中华民族绵延</a:t>
            </a:r>
            <a:r>
              <a:rPr lang="zh-CN" altLang="en-US" sz="2400" b="1">
                <a:solidFill>
                  <a:srgbClr val="FF0000"/>
                </a:solidFill>
              </a:rPr>
              <a:t>五千余载</a:t>
            </a:r>
            <a:r>
              <a:rPr lang="zh-CN" altLang="en-US" sz="2400" b="1"/>
              <a:t>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文明。中国人民从苦难中走过来，深知</a:t>
            </a:r>
            <a:r>
              <a:rPr sz="2400" b="1">
                <a:solidFill>
                  <a:srgbClr val="00B050"/>
                </a:solidFill>
                <a:sym typeface="+mn-ea"/>
              </a:rPr>
              <a:t>和平的</a:t>
            </a:r>
            <a:r>
              <a:rPr sz="2400" b="1">
                <a:solidFill>
                  <a:srgbClr val="00B050"/>
                </a:solidFill>
                <a:sym typeface="+mn-ea"/>
              </a:rPr>
              <a:t>珍贵</a:t>
            </a:r>
            <a:r>
              <a:rPr sz="2400" b="1">
                <a:sym typeface="+mn-ea"/>
              </a:rPr>
              <a:t>、发展的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，怕的就是动荡，求的就是稳定，盼的就是天下太平。</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 </a:t>
            </a:r>
            <a:r>
              <a:rPr sz="2400" b="1">
                <a:sym typeface="+mn-ea"/>
              </a:rPr>
              <a:t>古老    意义    </a:t>
            </a:r>
            <a:r>
              <a:rPr lang="en-US" altLang="zh-CN" sz="2400" b="1">
                <a:sym typeface="+mn-ea"/>
              </a:rPr>
              <a:t>           B. </a:t>
            </a:r>
            <a:r>
              <a:rPr sz="2400" b="1">
                <a:sym typeface="+mn-ea"/>
              </a:rPr>
              <a:t>悠久    价值</a:t>
            </a:r>
            <a:endParaRPr sz="2400" b="1">
              <a:sym typeface="+mn-ea"/>
            </a:endParaRPr>
          </a:p>
          <a:p>
            <a:r>
              <a:rPr lang="en-US" altLang="zh-CN" sz="2400" b="1">
                <a:sym typeface="+mn-ea"/>
              </a:rPr>
              <a:t>C. </a:t>
            </a:r>
            <a:r>
              <a:rPr sz="2400" b="1">
                <a:sym typeface="+mn-ea"/>
              </a:rPr>
              <a:t>辉煌    重要               </a:t>
            </a:r>
            <a:r>
              <a:rPr lang="en-US" altLang="zh-CN" sz="2400" b="1">
                <a:sym typeface="+mn-ea"/>
              </a:rPr>
              <a:t>D. </a:t>
            </a:r>
            <a:r>
              <a:rPr sz="2400" b="1">
                <a:sym typeface="+mn-ea"/>
              </a:rPr>
              <a:t>灿烂    方向</a:t>
            </a:r>
            <a:endParaRPr sz="2400" b="1">
              <a:sym typeface="+mn-ea"/>
            </a:endParaRPr>
          </a:p>
          <a:p>
            <a:r>
              <a:rPr lang="zh-CN" altLang="en-US" sz="2400" b="1"/>
              <a:t>分析：根据</a:t>
            </a:r>
            <a:r>
              <a:rPr lang="en-US" altLang="zh-CN" sz="2400" b="1"/>
              <a:t>“</a:t>
            </a:r>
            <a:r>
              <a:rPr sz="2400" b="1">
                <a:solidFill>
                  <a:srgbClr val="FF0000"/>
                </a:solidFill>
                <a:sym typeface="+mn-ea"/>
              </a:rPr>
              <a:t>五千余载</a:t>
            </a:r>
            <a:r>
              <a:rPr lang="en-US" altLang="zh-CN" sz="2400" b="1"/>
              <a:t>”</a:t>
            </a:r>
            <a:r>
              <a:rPr sz="2400" b="1"/>
              <a:t>淘汰</a:t>
            </a:r>
            <a:r>
              <a:rPr lang="en-US" altLang="zh-CN" sz="2400" b="1"/>
              <a:t>CD</a:t>
            </a:r>
            <a:r>
              <a:rPr sz="2400" b="1"/>
              <a:t>，第二空与</a:t>
            </a:r>
            <a:r>
              <a:rPr lang="en-US" altLang="zh-CN" sz="2400" b="1"/>
              <a:t>“</a:t>
            </a:r>
            <a:r>
              <a:rPr sz="2400" b="1">
                <a:solidFill>
                  <a:srgbClr val="00B050"/>
                </a:solidFill>
                <a:sym typeface="+mn-ea"/>
              </a:rPr>
              <a:t>珍贵</a:t>
            </a:r>
            <a:r>
              <a:rPr lang="en-US" altLang="zh-CN" sz="2400" b="1"/>
              <a:t>”</a:t>
            </a:r>
            <a:r>
              <a:rPr sz="2400" b="1"/>
              <a:t>并列，故选</a:t>
            </a:r>
            <a:r>
              <a:rPr lang="en-US" altLang="zh-CN" sz="2400" b="1"/>
              <a:t>B.</a:t>
            </a:r>
            <a:endParaRPr lang="en-US" altLang="zh-CN" sz="2400"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rPr>
              <a:t>真题</a:t>
            </a:r>
            <a:r>
              <a:rPr lang="en-US" altLang="zh-CN">
                <a:solidFill>
                  <a:srgbClr val="00B050"/>
                </a:solidFill>
              </a:rPr>
              <a:t>17</a:t>
            </a:r>
            <a:r>
              <a:rPr>
                <a:solidFill>
                  <a:schemeClr val="tx1"/>
                </a:solidFill>
              </a:rPr>
              <a:t>（川</a:t>
            </a:r>
            <a:r>
              <a:rPr lang="en-US" altLang="zh-CN">
                <a:solidFill>
                  <a:schemeClr val="tx1"/>
                </a:solidFill>
              </a:rPr>
              <a:t>2012</a:t>
            </a:r>
            <a:r>
              <a:rPr>
                <a:solidFill>
                  <a:schemeClr val="tx1"/>
                </a:solidFill>
              </a:rPr>
              <a:t>上</a:t>
            </a:r>
            <a:r>
              <a:rPr lang="en-US" altLang="zh-CN">
                <a:solidFill>
                  <a:schemeClr val="tx1"/>
                </a:solidFill>
              </a:rPr>
              <a:t>-27</a:t>
            </a:r>
            <a:r>
              <a:rPr>
                <a:solidFill>
                  <a:schemeClr val="tx1"/>
                </a:solidFill>
              </a:rPr>
              <a:t>）</a:t>
            </a:r>
            <a:endParaRPr>
              <a:solidFill>
                <a:schemeClr val="tx1"/>
              </a:solidFill>
            </a:endParaRPr>
          </a:p>
        </p:txBody>
      </p:sp>
      <p:sp>
        <p:nvSpPr>
          <p:cNvPr id="3" name="内容占位符 2"/>
          <p:cNvSpPr>
            <a:spLocks noGrp="1"/>
          </p:cNvSpPr>
          <p:nvPr>
            <p:ph idx="1"/>
          </p:nvPr>
        </p:nvSpPr>
        <p:spPr/>
        <p:txBody>
          <a:bodyPr/>
          <a:p>
            <a:r>
              <a:rPr lang="zh-CN" altLang="en-US" sz="2400" b="1">
                <a:solidFill>
                  <a:schemeClr val="tx1"/>
                </a:solidFill>
              </a:rPr>
              <a:t>畲</a:t>
            </a:r>
            <a:r>
              <a:rPr sz="2400" b="1">
                <a:solidFill>
                  <a:schemeClr val="tx1"/>
                </a:solidFill>
                <a:sym typeface="+mn-ea"/>
              </a:rPr>
              <a:t>（</a:t>
            </a:r>
            <a:r>
              <a:rPr lang="en-US" altLang="zh-CN" sz="2400" b="1">
                <a:solidFill>
                  <a:schemeClr val="tx1"/>
                </a:solidFill>
                <a:sym typeface="+mn-ea"/>
              </a:rPr>
              <a:t>she</a:t>
            </a:r>
            <a:r>
              <a:rPr sz="2400" b="1">
                <a:solidFill>
                  <a:schemeClr val="tx1"/>
                </a:solidFill>
                <a:sym typeface="+mn-ea"/>
              </a:rPr>
              <a:t>）</a:t>
            </a:r>
            <a:r>
              <a:rPr lang="zh-CN" altLang="en-US" sz="2400" b="1">
                <a:solidFill>
                  <a:schemeClr val="tx1"/>
                </a:solidFill>
              </a:rPr>
              <a:t>族民歌舞蹈</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，畲族传统手工艺别具一格，畲族饮食节俗古朴有趣，畲族的语言医药</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，这些独特的地域文化和无可替代的民族文化差异，奠定了畲族文化的特殊地位。</a:t>
            </a:r>
            <a:endParaRPr lang="zh-CN" altLang="en-US" sz="2400" b="1">
              <a:solidFill>
                <a:schemeClr val="tx1"/>
              </a:solidFill>
            </a:endParaRPr>
          </a:p>
          <a:p>
            <a:r>
              <a:rPr lang="zh-CN" altLang="en-US" sz="2400" b="1">
                <a:solidFill>
                  <a:schemeClr val="tx1"/>
                </a:solidFill>
              </a:rPr>
              <a:t>依次填入画横线部分最恰当的一项是（    ）。</a:t>
            </a:r>
            <a:endParaRPr lang="zh-CN" altLang="en-US" sz="2400" b="1">
              <a:solidFill>
                <a:schemeClr val="tx1"/>
              </a:solidFill>
            </a:endParaRPr>
          </a:p>
          <a:p>
            <a:r>
              <a:rPr lang="zh-CN" altLang="en-US" sz="2400" b="1">
                <a:solidFill>
                  <a:schemeClr val="tx1"/>
                </a:solidFill>
              </a:rPr>
              <a:t>A. 别具匠心    异军突起        B. 生机盎然    自成一家</a:t>
            </a:r>
            <a:endParaRPr lang="zh-CN" altLang="en-US" sz="2400" b="1">
              <a:solidFill>
                <a:schemeClr val="tx1"/>
              </a:solidFill>
            </a:endParaRPr>
          </a:p>
          <a:p>
            <a:r>
              <a:rPr lang="zh-CN" altLang="en-US" sz="2400" b="1">
                <a:solidFill>
                  <a:schemeClr val="tx1"/>
                </a:solidFill>
              </a:rPr>
              <a:t>C. 匠心独运    另成一派        D. 独树一帜    自成一体</a:t>
            </a:r>
            <a:endParaRPr lang="zh-CN" altLang="en-US" sz="2400" b="1">
              <a:solidFill>
                <a:schemeClr val="tx1"/>
              </a:solidFill>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rPr>
              <a:t>真题</a:t>
            </a:r>
            <a:r>
              <a:rPr lang="en-US" altLang="zh-CN">
                <a:solidFill>
                  <a:srgbClr val="00B050"/>
                </a:solidFill>
              </a:rPr>
              <a:t>17</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lang="zh-CN" altLang="en-US" sz="2400" b="1"/>
              <a:t>畲族（</a:t>
            </a:r>
            <a:r>
              <a:rPr lang="en-US" altLang="zh-CN" sz="2400" b="1"/>
              <a:t>shezu</a:t>
            </a:r>
            <a:r>
              <a:rPr lang="zh-CN" altLang="en-US" sz="2400" b="1"/>
              <a:t>）民歌舞蹈</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，畲族传统手工艺</a:t>
            </a:r>
            <a:r>
              <a:rPr lang="zh-CN" altLang="en-US" sz="2400" b="1">
                <a:solidFill>
                  <a:srgbClr val="FF0000"/>
                </a:solidFill>
              </a:rPr>
              <a:t>别具一格</a:t>
            </a:r>
            <a:r>
              <a:rPr lang="zh-CN" altLang="en-US" sz="2400" b="1"/>
              <a:t>，畲族饮食节俗古朴有趣，畲族的语言医药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，这些独特的地域文化和</a:t>
            </a:r>
            <a:r>
              <a:rPr lang="zh-CN" altLang="en-US" sz="2400" b="1">
                <a:solidFill>
                  <a:srgbClr val="FF0000"/>
                </a:solidFill>
              </a:rPr>
              <a:t>无可替代</a:t>
            </a:r>
            <a:r>
              <a:rPr lang="zh-CN" altLang="en-US" sz="2400" b="1"/>
              <a:t>的民族文化差异，奠定了畲族文化的</a:t>
            </a:r>
            <a:r>
              <a:rPr lang="zh-CN" altLang="en-US" sz="2400" b="1">
                <a:solidFill>
                  <a:srgbClr val="FF0000"/>
                </a:solidFill>
              </a:rPr>
              <a:t>特殊</a:t>
            </a:r>
            <a:r>
              <a:rPr lang="zh-CN" altLang="en-US" sz="2400" b="1"/>
              <a:t>地位。</a:t>
            </a:r>
            <a:endParaRPr lang="zh-CN" altLang="en-US" sz="2400" b="1"/>
          </a:p>
          <a:p>
            <a:r>
              <a:rPr lang="zh-CN" altLang="en-US" sz="2400" b="1"/>
              <a:t>依次填入划横线部分最恰当的一项是（    ）。</a:t>
            </a:r>
            <a:endParaRPr lang="zh-CN" altLang="en-US" sz="2400" b="1"/>
          </a:p>
          <a:p>
            <a:r>
              <a:rPr lang="zh-CN" altLang="en-US" sz="2400" b="1"/>
              <a:t>A. 别具匠心    异军突起        B. 生机盎然    自成一家</a:t>
            </a:r>
            <a:endParaRPr lang="zh-CN" altLang="en-US" sz="2400" b="1"/>
          </a:p>
          <a:p>
            <a:r>
              <a:rPr lang="zh-CN" altLang="en-US" sz="2400" b="1"/>
              <a:t>C. 匠心独运    另成一派        D. 独树一帜    自成一体</a:t>
            </a:r>
            <a:endParaRPr lang="zh-CN" altLang="en-US" sz="2400" b="1"/>
          </a:p>
          <a:p>
            <a:r>
              <a:rPr lang="zh-CN" altLang="en-US" sz="2400" b="1"/>
              <a:t>分析：第一空与第二空与</a:t>
            </a:r>
            <a:r>
              <a:rPr lang="en-US" altLang="zh-CN" sz="2400" b="1"/>
              <a:t>“</a:t>
            </a:r>
            <a:r>
              <a:rPr sz="2400" b="1">
                <a:solidFill>
                  <a:srgbClr val="FF0000"/>
                </a:solidFill>
                <a:sym typeface="+mn-ea"/>
              </a:rPr>
              <a:t>别具一格</a:t>
            </a:r>
            <a:r>
              <a:rPr lang="en-US" altLang="zh-CN" sz="2400" b="1"/>
              <a:t>”</a:t>
            </a:r>
            <a:r>
              <a:rPr sz="2400" b="1"/>
              <a:t>并列，只能够选</a:t>
            </a:r>
            <a:r>
              <a:rPr lang="en-US" altLang="zh-CN" sz="2400" b="1"/>
              <a:t>D</a:t>
            </a:r>
            <a:r>
              <a:rPr sz="2400" b="1"/>
              <a:t>，而且</a:t>
            </a:r>
            <a:r>
              <a:rPr lang="en-US" altLang="zh-CN" sz="2400" b="1"/>
              <a:t>D</a:t>
            </a:r>
            <a:r>
              <a:rPr sz="2400" b="1"/>
              <a:t>与</a:t>
            </a:r>
            <a:r>
              <a:rPr lang="en-US" altLang="zh-CN" sz="2400" b="1"/>
              <a:t>“</a:t>
            </a:r>
            <a:r>
              <a:rPr sz="2400" b="1">
                <a:solidFill>
                  <a:srgbClr val="FF0000"/>
                </a:solidFill>
                <a:sym typeface="+mn-ea"/>
              </a:rPr>
              <a:t>无可替代</a:t>
            </a:r>
            <a:r>
              <a:rPr lang="en-US" altLang="zh-CN" sz="2400" b="1"/>
              <a:t>”</a:t>
            </a:r>
            <a:r>
              <a:rPr sz="2400" b="1"/>
              <a:t>和</a:t>
            </a:r>
            <a:r>
              <a:rPr lang="en-US" altLang="zh-CN" sz="2400" b="1"/>
              <a:t>“</a:t>
            </a:r>
            <a:r>
              <a:rPr sz="2400" b="1">
                <a:solidFill>
                  <a:srgbClr val="FF0000"/>
                </a:solidFill>
                <a:sym typeface="+mn-ea"/>
              </a:rPr>
              <a:t>特殊</a:t>
            </a:r>
            <a:r>
              <a:rPr lang="en-US" altLang="zh-CN" sz="2400" b="1"/>
              <a:t>”</a:t>
            </a:r>
            <a:r>
              <a:rPr sz="2400" b="1"/>
              <a:t>呼应。</a:t>
            </a:r>
            <a:endParaRPr sz="2400" b="1"/>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a:t>
            </a:r>
            <a:r>
              <a:t>递进关系</a:t>
            </a:r>
          </a:p>
        </p:txBody>
      </p:sp>
      <p:sp>
        <p:nvSpPr>
          <p:cNvPr id="3" name="内容占位符 2"/>
          <p:cNvSpPr>
            <a:spLocks noGrp="1"/>
          </p:cNvSpPr>
          <p:nvPr>
            <p:ph idx="1"/>
          </p:nvPr>
        </p:nvSpPr>
        <p:spPr/>
        <p:txBody>
          <a:bodyPr/>
          <a:p>
            <a:r>
              <a:rPr lang="zh-CN" altLang="en-US" sz="2400" b="1">
                <a:solidFill>
                  <a:srgbClr val="FF0000"/>
                </a:solidFill>
              </a:rPr>
              <a:t>递进关系指的是文段中的某些词语与空缺处</a:t>
            </a:r>
            <a:r>
              <a:rPr sz="2400" b="1">
                <a:solidFill>
                  <a:srgbClr val="FF0000"/>
                </a:solidFill>
                <a:sym typeface="+mn-ea"/>
              </a:rPr>
              <a:t>所填词语</a:t>
            </a:r>
            <a:r>
              <a:rPr sz="2400" b="1">
                <a:solidFill>
                  <a:srgbClr val="FF0000"/>
                </a:solidFill>
                <a:sym typeface="+mn-ea"/>
              </a:rPr>
              <a:t>存在范围或程度上的阶梯差异</a:t>
            </a:r>
            <a:r>
              <a:rPr sz="2400" b="1">
                <a:sym typeface="+mn-ea"/>
              </a:rPr>
              <a:t>。</a:t>
            </a:r>
            <a:endParaRPr sz="2400" b="1">
              <a:sym typeface="+mn-ea"/>
            </a:endParaRPr>
          </a:p>
          <a:p>
            <a:r>
              <a:rPr lang="zh-CN" altLang="en-US" sz="2400" b="1"/>
              <a:t>常见表示递进关系的词语有：</a:t>
            </a:r>
            <a:endParaRPr lang="zh-CN" altLang="en-US" sz="2400" b="1"/>
          </a:p>
          <a:p>
            <a:r>
              <a:rPr lang="zh-CN" altLang="en-US" sz="2400" b="1"/>
              <a:t>甚至、更、还、以至、并且、</a:t>
            </a:r>
            <a:endParaRPr lang="zh-CN" altLang="en-US" sz="2400" b="1"/>
          </a:p>
          <a:p>
            <a:r>
              <a:rPr lang="zh-CN" altLang="en-US" sz="2400" b="1"/>
              <a:t>不仅</a:t>
            </a:r>
            <a:r>
              <a:rPr lang="en-US" altLang="zh-CN" sz="2400" b="1"/>
              <a:t>/</a:t>
            </a:r>
            <a:r>
              <a:rPr lang="zh-CN" altLang="en-US" sz="2400" b="1"/>
              <a:t>不但</a:t>
            </a:r>
            <a:r>
              <a:rPr lang="en-US" altLang="zh-CN" sz="2400" b="1"/>
              <a:t>/</a:t>
            </a:r>
            <a:r>
              <a:rPr lang="zh-CN" altLang="en-US" sz="2400" b="1"/>
              <a:t>不光</a:t>
            </a:r>
            <a:r>
              <a:rPr lang="en-US" sz="2400" b="1">
                <a:latin typeface="+mn-ea"/>
                <a:cs typeface="+mn-ea"/>
                <a:sym typeface="+mn-ea"/>
              </a:rPr>
              <a:t>······</a:t>
            </a:r>
            <a:r>
              <a:rPr sz="2400" b="1">
                <a:latin typeface="+mn-ea"/>
                <a:cs typeface="+mn-ea"/>
                <a:sym typeface="+mn-ea"/>
              </a:rPr>
              <a:t>而且</a:t>
            </a:r>
            <a:r>
              <a:rPr lang="en-US" sz="2400" b="1">
                <a:latin typeface="+mn-ea"/>
                <a:cs typeface="+mn-ea"/>
                <a:sym typeface="+mn-ea"/>
              </a:rPr>
              <a:t>······</a:t>
            </a:r>
            <a:endParaRPr lang="en-US" sz="2400" b="1">
              <a:latin typeface="+mn-ea"/>
              <a:cs typeface="+mn-ea"/>
              <a:sym typeface="+mn-ea"/>
            </a:endParaRPr>
          </a:p>
          <a:p>
            <a:r>
              <a:rPr sz="2400" b="1">
                <a:latin typeface="+mn-ea"/>
                <a:cs typeface="+mn-ea"/>
                <a:sym typeface="+mn-ea"/>
              </a:rPr>
              <a:t>尚且</a:t>
            </a:r>
            <a:r>
              <a:rPr lang="en-US" sz="2400" b="1">
                <a:latin typeface="+mn-ea"/>
                <a:cs typeface="+mn-ea"/>
                <a:sym typeface="+mn-ea"/>
              </a:rPr>
              <a:t>······</a:t>
            </a:r>
            <a:r>
              <a:rPr sz="2400" b="1">
                <a:latin typeface="+mn-ea"/>
                <a:cs typeface="+mn-ea"/>
                <a:sym typeface="+mn-ea"/>
              </a:rPr>
              <a:t>何况</a:t>
            </a:r>
            <a:r>
              <a:rPr lang="en-US" sz="2400" b="1">
                <a:latin typeface="+mn-ea"/>
                <a:cs typeface="+mn-ea"/>
                <a:sym typeface="+mn-ea"/>
              </a:rPr>
              <a:t>······</a:t>
            </a:r>
            <a:endParaRPr sz="2400" b="1">
              <a:latin typeface="+mn-ea"/>
              <a:cs typeface="+mn-ea"/>
              <a:sym typeface="+mn-ea"/>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18</a:t>
            </a:r>
            <a:endParaRPr lang="zh-CN" altLang="en-US"/>
          </a:p>
        </p:txBody>
      </p:sp>
      <p:sp>
        <p:nvSpPr>
          <p:cNvPr id="3" name="内容占位符 2"/>
          <p:cNvSpPr>
            <a:spLocks noGrp="1"/>
          </p:cNvSpPr>
          <p:nvPr>
            <p:ph idx="1"/>
          </p:nvPr>
        </p:nvSpPr>
        <p:spPr/>
        <p:txBody>
          <a:bodyPr/>
          <a:p>
            <a:r>
              <a:rPr sz="2400" b="1">
                <a:solidFill>
                  <a:schemeClr val="tx1"/>
                </a:solidFill>
                <a:sym typeface="+mn-ea"/>
              </a:rPr>
              <a:t>中国改革已进入攻坚期和深水区，需要解决的问题格外艰巨，都是难啃的硬骨头。这个时候就要一鼓作气，</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、畏缩不前不仅不能前进，而且可能</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endParaRPr lang="zh-CN" altLang="en-US" sz="2400" b="1">
              <a:solidFill>
                <a:schemeClr val="tx1"/>
              </a:solidFill>
            </a:endParaRPr>
          </a:p>
          <a:p>
            <a:r>
              <a:rPr sz="2400" b="1">
                <a:solidFill>
                  <a:schemeClr val="tx1"/>
                </a:solidFill>
                <a:sym typeface="+mn-ea"/>
              </a:rPr>
              <a:t>依次填入画横线部分最恰当的一项是（    ）</a:t>
            </a:r>
            <a:endParaRPr sz="2400" b="1">
              <a:solidFill>
                <a:schemeClr val="tx1"/>
              </a:solidFill>
              <a:sym typeface="+mn-ea"/>
            </a:endParaRPr>
          </a:p>
          <a:p>
            <a:r>
              <a:rPr lang="en-US" altLang="zh-CN" sz="2400" b="1">
                <a:solidFill>
                  <a:schemeClr val="tx1"/>
                </a:solidFill>
              </a:rPr>
              <a:t>A.</a:t>
            </a:r>
            <a:r>
              <a:rPr sz="2400" b="1">
                <a:solidFill>
                  <a:schemeClr val="tx1"/>
                </a:solidFill>
              </a:rPr>
              <a:t>优柔寡断     半途而废         </a:t>
            </a:r>
            <a:r>
              <a:rPr lang="en-US" altLang="zh-CN" sz="2400" b="1">
                <a:solidFill>
                  <a:schemeClr val="tx1"/>
                </a:solidFill>
              </a:rPr>
              <a:t>B.</a:t>
            </a:r>
            <a:r>
              <a:rPr sz="2400" b="1">
                <a:solidFill>
                  <a:schemeClr val="tx1"/>
                </a:solidFill>
              </a:rPr>
              <a:t>三心二意     功败垂成</a:t>
            </a:r>
            <a:endParaRPr sz="2400" b="1">
              <a:solidFill>
                <a:schemeClr val="tx1"/>
              </a:solidFill>
            </a:endParaRPr>
          </a:p>
          <a:p>
            <a:r>
              <a:rPr lang="en-US" altLang="zh-CN" sz="2400" b="1">
                <a:solidFill>
                  <a:schemeClr val="tx1"/>
                </a:solidFill>
              </a:rPr>
              <a:t>C.</a:t>
            </a:r>
            <a:r>
              <a:rPr sz="2400" b="1">
                <a:solidFill>
                  <a:schemeClr val="tx1"/>
                </a:solidFill>
              </a:rPr>
              <a:t>迟疑不决     功亏一篑         </a:t>
            </a:r>
            <a:r>
              <a:rPr lang="en-US" altLang="zh-CN" sz="2400" b="1">
                <a:solidFill>
                  <a:schemeClr val="tx1"/>
                </a:solidFill>
              </a:rPr>
              <a:t>D.</a:t>
            </a:r>
            <a:r>
              <a:rPr sz="2400" b="1">
                <a:solidFill>
                  <a:schemeClr val="tx1"/>
                </a:solidFill>
              </a:rPr>
              <a:t>瞻前顾后     前功尽弃</a:t>
            </a:r>
            <a:endParaRPr sz="2400" b="1">
              <a:solidFill>
                <a:schemeClr val="tx1"/>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tx1"/>
                </a:solidFill>
              </a:rPr>
              <a:t>真题</a:t>
            </a:r>
            <a:r>
              <a:rPr lang="en-US" altLang="zh-CN">
                <a:solidFill>
                  <a:schemeClr val="tx1"/>
                </a:solidFill>
              </a:rPr>
              <a:t>18</a:t>
            </a:r>
            <a:r>
              <a:rPr>
                <a:solidFill>
                  <a:schemeClr val="tx1"/>
                </a:solidFill>
              </a:rPr>
              <a:t>分析</a:t>
            </a:r>
            <a:endParaRPr lang="zh-CN" altLang="en-US">
              <a:solidFill>
                <a:schemeClr val="tx1"/>
              </a:solidFill>
            </a:endParaRPr>
          </a:p>
        </p:txBody>
      </p:sp>
      <p:sp>
        <p:nvSpPr>
          <p:cNvPr id="3" name="内容占位符 2"/>
          <p:cNvSpPr>
            <a:spLocks noGrp="1"/>
          </p:cNvSpPr>
          <p:nvPr>
            <p:ph idx="1"/>
          </p:nvPr>
        </p:nvSpPr>
        <p:spPr/>
        <p:txBody>
          <a:bodyPr/>
          <a:p>
            <a:r>
              <a:rPr sz="2400" b="1">
                <a:sym typeface="+mn-ea"/>
              </a:rPr>
              <a:t>中国改革已进入攻坚期和深水区，需要解决的问题格外艰巨，都是难啃的硬骨头。这个时候就要一鼓作气，</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、畏缩不前</a:t>
            </a:r>
            <a:r>
              <a:rPr sz="2400" b="1">
                <a:solidFill>
                  <a:srgbClr val="FF0000"/>
                </a:solidFill>
                <a:sym typeface="+mn-ea"/>
              </a:rPr>
              <a:t>不仅</a:t>
            </a:r>
            <a:r>
              <a:rPr sz="2400" b="1">
                <a:solidFill>
                  <a:srgbClr val="00B050"/>
                </a:solidFill>
                <a:sym typeface="+mn-ea"/>
              </a:rPr>
              <a:t>不能</a:t>
            </a:r>
            <a:r>
              <a:rPr sz="2400" b="1">
                <a:solidFill>
                  <a:srgbClr val="00B050"/>
                </a:solidFill>
                <a:sym typeface="+mn-ea"/>
              </a:rPr>
              <a:t>前进</a:t>
            </a:r>
            <a:r>
              <a:rPr sz="2400" b="1">
                <a:sym typeface="+mn-ea"/>
              </a:rPr>
              <a:t>，</a:t>
            </a:r>
            <a:r>
              <a:rPr sz="2400" b="1">
                <a:solidFill>
                  <a:srgbClr val="FF0000"/>
                </a:solidFill>
                <a:sym typeface="+mn-ea"/>
              </a:rPr>
              <a:t>而且</a:t>
            </a:r>
            <a:r>
              <a:rPr sz="2400" b="1">
                <a:sym typeface="+mn-ea"/>
              </a:rPr>
              <a:t>可能</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lang="zh-CN" altLang="en-US" sz="2400" b="1"/>
          </a:p>
          <a:p>
            <a:r>
              <a:rPr sz="2400" b="1">
                <a:sym typeface="+mn-ea"/>
              </a:rPr>
              <a:t>依次填入画横线部分最恰当的一项是（    ）</a:t>
            </a:r>
            <a:endParaRPr sz="2400" b="1">
              <a:sym typeface="+mn-ea"/>
            </a:endParaRPr>
          </a:p>
          <a:p>
            <a:r>
              <a:rPr lang="en-US" altLang="zh-CN" sz="2400" b="1"/>
              <a:t>A.</a:t>
            </a:r>
            <a:r>
              <a:rPr sz="2400" b="1"/>
              <a:t>优柔寡断     半途而废         </a:t>
            </a:r>
            <a:r>
              <a:rPr lang="en-US" altLang="zh-CN" sz="2400" b="1"/>
              <a:t>B.</a:t>
            </a:r>
            <a:r>
              <a:rPr sz="2400" b="1"/>
              <a:t>三心二意     功败垂成</a:t>
            </a:r>
            <a:endParaRPr sz="2400" b="1"/>
          </a:p>
          <a:p>
            <a:r>
              <a:rPr lang="en-US" altLang="zh-CN" sz="2400" b="1"/>
              <a:t>C.</a:t>
            </a:r>
            <a:r>
              <a:rPr sz="2400" b="1"/>
              <a:t>迟疑不决     功亏一篑         </a:t>
            </a:r>
            <a:r>
              <a:rPr lang="en-US" altLang="zh-CN" sz="2400" b="1"/>
              <a:t>D.</a:t>
            </a:r>
            <a:r>
              <a:rPr sz="2400" b="1"/>
              <a:t>瞻前顾后     前功尽弃</a:t>
            </a:r>
            <a:endParaRPr sz="2400" b="1"/>
          </a:p>
          <a:p>
            <a:r>
              <a:rPr sz="2400" b="1"/>
              <a:t>分析：第一空与</a:t>
            </a:r>
            <a:r>
              <a:rPr lang="en-US" altLang="zh-CN" sz="2400" b="1"/>
              <a:t>“</a:t>
            </a:r>
            <a:r>
              <a:rPr sz="2400" b="1"/>
              <a:t>畏缩不前</a:t>
            </a:r>
            <a:r>
              <a:rPr lang="en-US" altLang="zh-CN" sz="2400" b="1"/>
              <a:t>”</a:t>
            </a:r>
            <a:r>
              <a:rPr sz="2400" b="1"/>
              <a:t>是并列关系，排除</a:t>
            </a:r>
            <a:r>
              <a:rPr lang="en-US" altLang="zh-CN" sz="2400" b="1"/>
              <a:t>B</a:t>
            </a:r>
            <a:r>
              <a:rPr sz="2400" b="1"/>
              <a:t>。第二空与</a:t>
            </a:r>
            <a:r>
              <a:rPr lang="en-US" altLang="zh-CN" sz="2400" b="1"/>
              <a:t>“</a:t>
            </a:r>
            <a:r>
              <a:rPr sz="2400" b="1"/>
              <a:t>不能前进</a:t>
            </a:r>
            <a:r>
              <a:rPr lang="en-US" altLang="zh-CN" sz="2400" b="1"/>
              <a:t>”</a:t>
            </a:r>
            <a:r>
              <a:rPr sz="2400" b="1"/>
              <a:t>是递进关系，表达已经取得的成果也可能失去，故选</a:t>
            </a:r>
            <a:r>
              <a:rPr lang="en-US" altLang="zh-CN" sz="2400" b="1"/>
              <a:t>D.</a:t>
            </a:r>
            <a:endParaRPr lang="en-US" altLang="zh-CN" sz="2400" b="1"/>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5.</a:t>
            </a:r>
            <a:r>
              <a:t>顺承关系</a:t>
            </a:r>
          </a:p>
        </p:txBody>
      </p:sp>
      <p:sp>
        <p:nvSpPr>
          <p:cNvPr id="3" name="内容占位符 2"/>
          <p:cNvSpPr>
            <a:spLocks noGrp="1"/>
          </p:cNvSpPr>
          <p:nvPr>
            <p:ph idx="1"/>
          </p:nvPr>
        </p:nvSpPr>
        <p:spPr/>
        <p:txBody>
          <a:bodyPr/>
          <a:p>
            <a:r>
              <a:rPr sz="2400" b="1">
                <a:solidFill>
                  <a:srgbClr val="FF0000"/>
                </a:solidFill>
                <a:sym typeface="+mn-ea"/>
              </a:rPr>
              <a:t>顺承关系指的是作者在描述一个连续动作或事情时，常遵循一定的时间、空间或事理逻辑顺序</a:t>
            </a:r>
            <a:r>
              <a:rPr sz="2400" b="1">
                <a:sym typeface="+mn-ea"/>
              </a:rPr>
              <a:t>，表现在句子中则是分句之间有前后相承的关系，或描述连续动作的词语之间具有不可颠倒的前后次序。</a:t>
            </a:r>
            <a:endParaRPr sz="2400" b="1">
              <a:sym typeface="+mn-ea"/>
            </a:endParaRPr>
          </a:p>
          <a:p>
            <a:r>
              <a:rPr lang="zh-CN" altLang="en-US" sz="2400" b="1">
                <a:solidFill>
                  <a:srgbClr val="00B050"/>
                </a:solidFill>
              </a:rPr>
              <a:t>真题</a:t>
            </a:r>
            <a:r>
              <a:rPr lang="en-US" altLang="zh-CN" sz="2400" b="1">
                <a:solidFill>
                  <a:srgbClr val="00B050"/>
                </a:solidFill>
              </a:rPr>
              <a:t>19</a:t>
            </a:r>
            <a:r>
              <a:rPr sz="2400" b="1"/>
              <a:t>：汛期恶劣的环境，让查找堤坝渗漏部位和渗漏入</a:t>
            </a:r>
            <a:r>
              <a:rPr lang="en-US" altLang="zh-CN" sz="2400" b="1"/>
              <a:t>/</a:t>
            </a:r>
            <a:r>
              <a:rPr sz="2400" b="1"/>
              <a:t>出水口变得极为困难。而如能及时对管涌渗漏进行快速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，确定其具体位置、形状，采取相应有效措施，就能够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洪灾中可能发生的溃坝风险。</a:t>
            </a:r>
            <a:endParaRPr sz="2400" b="1">
              <a:sym typeface="+mn-ea"/>
            </a:endParaRPr>
          </a:p>
          <a:p>
            <a:r>
              <a:rPr sz="2400" b="1">
                <a:sym typeface="+mn-ea"/>
              </a:rPr>
              <a:t>依次填入画横线部分最恰当的一项是（    ）</a:t>
            </a:r>
            <a:endParaRPr sz="2400" b="1">
              <a:sym typeface="+mn-ea"/>
            </a:endParaRPr>
          </a:p>
          <a:p>
            <a:r>
              <a:rPr lang="en-US" altLang="zh-CN" sz="2400" b="1"/>
              <a:t>A.</a:t>
            </a:r>
            <a:r>
              <a:rPr sz="2400" b="1"/>
              <a:t>监测    避让          </a:t>
            </a:r>
            <a:r>
              <a:rPr lang="en-US" altLang="zh-CN" sz="2400" b="1"/>
              <a:t>B.</a:t>
            </a:r>
            <a:r>
              <a:rPr sz="2400" b="1"/>
              <a:t>检测    规避</a:t>
            </a:r>
            <a:endParaRPr sz="2400" b="1"/>
          </a:p>
          <a:p>
            <a:r>
              <a:rPr lang="en-US" altLang="zh-CN" sz="2400" b="1"/>
              <a:t>C.</a:t>
            </a:r>
            <a:r>
              <a:rPr sz="2400" b="1"/>
              <a:t>防堵    回避          </a:t>
            </a:r>
            <a:r>
              <a:rPr lang="en-US" altLang="zh-CN" sz="2400" b="1"/>
              <a:t>D.</a:t>
            </a:r>
            <a:r>
              <a:rPr sz="2400" b="1"/>
              <a:t>封堵   避免</a:t>
            </a:r>
            <a:endParaRPr sz="2400" b="1"/>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19</a:t>
            </a:r>
            <a:r>
              <a:t>分析</a:t>
            </a:r>
          </a:p>
        </p:txBody>
      </p:sp>
      <p:sp>
        <p:nvSpPr>
          <p:cNvPr id="3" name="内容占位符 2"/>
          <p:cNvSpPr>
            <a:spLocks noGrp="1"/>
          </p:cNvSpPr>
          <p:nvPr>
            <p:ph idx="1"/>
          </p:nvPr>
        </p:nvSpPr>
        <p:spPr/>
        <p:txBody>
          <a:bodyPr/>
          <a:p>
            <a:r>
              <a:rPr sz="2400" b="1">
                <a:sym typeface="+mn-ea"/>
              </a:rPr>
              <a:t>真题</a:t>
            </a:r>
            <a:r>
              <a:rPr lang="en-US" altLang="zh-CN" sz="2400" b="1">
                <a:sym typeface="+mn-ea"/>
              </a:rPr>
              <a:t>19</a:t>
            </a:r>
            <a:r>
              <a:rPr sz="2400" b="1">
                <a:sym typeface="+mn-ea"/>
              </a:rPr>
              <a:t>：汛期恶劣的环境，让查找堤坝渗漏部位和渗漏入</a:t>
            </a:r>
            <a:r>
              <a:rPr lang="en-US" altLang="zh-CN" sz="2400" b="1">
                <a:sym typeface="+mn-ea"/>
              </a:rPr>
              <a:t>/</a:t>
            </a:r>
            <a:r>
              <a:rPr sz="2400" b="1">
                <a:sym typeface="+mn-ea"/>
              </a:rPr>
              <a:t>出水口变得极为困难。而如能及时对管涌渗漏进行快速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FF0000"/>
                </a:solidFill>
                <a:sym typeface="+mn-ea"/>
              </a:rPr>
              <a:t>确定其具体位置、形状</a:t>
            </a:r>
            <a:r>
              <a:rPr sz="2400" b="1">
                <a:sym typeface="+mn-ea"/>
              </a:rPr>
              <a:t>，</a:t>
            </a:r>
            <a:r>
              <a:rPr sz="2400" b="1">
                <a:solidFill>
                  <a:srgbClr val="00B050"/>
                </a:solidFill>
                <a:sym typeface="+mn-ea"/>
              </a:rPr>
              <a:t>采取相应有效措施</a:t>
            </a:r>
            <a:r>
              <a:rPr sz="2400" b="1">
                <a:sym typeface="+mn-ea"/>
              </a:rPr>
              <a:t>，就能够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洪灾中可能发生的溃坝</a:t>
            </a:r>
            <a:r>
              <a:rPr sz="2400" b="1">
                <a:solidFill>
                  <a:srgbClr val="FF0000"/>
                </a:solidFill>
                <a:sym typeface="+mn-ea"/>
              </a:rPr>
              <a:t>风险</a:t>
            </a:r>
            <a:r>
              <a:rPr sz="2400" b="1">
                <a:sym typeface="+mn-ea"/>
              </a:rPr>
              <a:t>。</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监测    避让          </a:t>
            </a:r>
            <a:r>
              <a:rPr lang="en-US" altLang="zh-CN" sz="2400" b="1">
                <a:sym typeface="+mn-ea"/>
              </a:rPr>
              <a:t>B.</a:t>
            </a:r>
            <a:r>
              <a:rPr sz="2400" b="1">
                <a:sym typeface="+mn-ea"/>
              </a:rPr>
              <a:t>检测    规避</a:t>
            </a:r>
            <a:endParaRPr sz="2400" b="1"/>
          </a:p>
          <a:p>
            <a:r>
              <a:rPr lang="en-US" altLang="zh-CN" sz="2400" b="1">
                <a:sym typeface="+mn-ea"/>
              </a:rPr>
              <a:t>C.</a:t>
            </a:r>
            <a:r>
              <a:rPr sz="2400" b="1">
                <a:sym typeface="+mn-ea"/>
              </a:rPr>
              <a:t>防堵    回避          </a:t>
            </a:r>
            <a:r>
              <a:rPr lang="en-US" altLang="zh-CN" sz="2400" b="1">
                <a:sym typeface="+mn-ea"/>
              </a:rPr>
              <a:t>D.</a:t>
            </a:r>
            <a:r>
              <a:rPr sz="2400" b="1">
                <a:sym typeface="+mn-ea"/>
              </a:rPr>
              <a:t>封堵    避免</a:t>
            </a:r>
            <a:endParaRPr sz="2400" b="1">
              <a:sym typeface="+mn-ea"/>
            </a:endParaRPr>
          </a:p>
          <a:p>
            <a:r>
              <a:rPr sz="2400" b="1">
                <a:sym typeface="+mn-ea"/>
              </a:rPr>
              <a:t>分析：防堵和封堵属于</a:t>
            </a:r>
            <a:r>
              <a:rPr lang="en-US" altLang="zh-CN" sz="2400" b="1">
                <a:sym typeface="+mn-ea"/>
              </a:rPr>
              <a:t>“</a:t>
            </a:r>
            <a:r>
              <a:rPr sz="2400" b="1">
                <a:solidFill>
                  <a:srgbClr val="00B050"/>
                </a:solidFill>
                <a:sym typeface="+mn-ea"/>
              </a:rPr>
              <a:t>采取相应有效措施</a:t>
            </a:r>
            <a:r>
              <a:rPr lang="en-US" altLang="zh-CN" sz="2400" b="1">
                <a:sym typeface="+mn-ea"/>
              </a:rPr>
              <a:t>”</a:t>
            </a:r>
            <a:r>
              <a:rPr sz="2400" b="1">
                <a:sym typeface="+mn-ea"/>
              </a:rPr>
              <a:t>，不能够放在</a:t>
            </a:r>
            <a:r>
              <a:rPr lang="en-US" altLang="zh-CN" sz="2400" b="1">
                <a:sym typeface="+mn-ea"/>
              </a:rPr>
              <a:t>“</a:t>
            </a:r>
            <a:r>
              <a:rPr sz="2400" b="1">
                <a:solidFill>
                  <a:srgbClr val="FF0000"/>
                </a:solidFill>
                <a:sym typeface="+mn-ea"/>
              </a:rPr>
              <a:t>确定其具体位置、形状</a:t>
            </a:r>
            <a:r>
              <a:rPr lang="en-US" altLang="zh-CN" sz="2400" b="1">
                <a:sym typeface="+mn-ea"/>
              </a:rPr>
              <a:t>”</a:t>
            </a:r>
            <a:r>
              <a:rPr sz="2400" b="1">
                <a:sym typeface="+mn-ea"/>
              </a:rPr>
              <a:t>之前，</a:t>
            </a:r>
            <a:r>
              <a:rPr sz="2400" b="1">
                <a:sym typeface="+mn-ea"/>
              </a:rPr>
              <a:t>排除</a:t>
            </a:r>
            <a:r>
              <a:rPr lang="en-US" altLang="zh-CN" sz="2400" b="1">
                <a:sym typeface="+mn-ea"/>
              </a:rPr>
              <a:t>CD</a:t>
            </a:r>
            <a:r>
              <a:rPr sz="2400" b="1">
                <a:sym typeface="+mn-ea"/>
              </a:rPr>
              <a:t>。与</a:t>
            </a:r>
            <a:r>
              <a:rPr lang="en-US" altLang="zh-CN" sz="2400" b="1">
                <a:sym typeface="+mn-ea"/>
              </a:rPr>
              <a:t>“</a:t>
            </a:r>
            <a:r>
              <a:rPr sz="2400" b="1">
                <a:sym typeface="+mn-ea"/>
              </a:rPr>
              <a:t>风险</a:t>
            </a:r>
            <a:r>
              <a:rPr lang="en-US" altLang="zh-CN" sz="2400" b="1">
                <a:sym typeface="+mn-ea"/>
              </a:rPr>
              <a:t>”</a:t>
            </a:r>
            <a:r>
              <a:rPr sz="2400" b="1">
                <a:sym typeface="+mn-ea"/>
              </a:rPr>
              <a:t>搭配的常用</a:t>
            </a:r>
            <a:r>
              <a:rPr lang="en-US" altLang="zh-CN" sz="2400" b="1">
                <a:sym typeface="+mn-ea"/>
              </a:rPr>
              <a:t>“</a:t>
            </a:r>
            <a:r>
              <a:rPr sz="2400" b="1">
                <a:sym typeface="+mn-ea"/>
              </a:rPr>
              <a:t>规避</a:t>
            </a:r>
            <a:r>
              <a:rPr lang="en-US" altLang="zh-CN" sz="2400" b="1">
                <a:sym typeface="+mn-ea"/>
              </a:rPr>
              <a:t>”</a:t>
            </a:r>
            <a:r>
              <a:rPr sz="2400" b="1">
                <a:sym typeface="+mn-ea"/>
              </a:rPr>
              <a:t>，故选</a:t>
            </a:r>
            <a:r>
              <a:rPr lang="en-US" altLang="zh-CN" sz="2400" b="1">
                <a:sym typeface="+mn-ea"/>
              </a:rPr>
              <a:t>B.</a:t>
            </a:r>
            <a:endParaRPr lang="en-US" altLang="zh-CN" sz="2400" b="1">
              <a:sym typeface="+mn-ea"/>
            </a:endParaRPr>
          </a:p>
          <a:p>
            <a:endParaRPr sz="2400" b="1"/>
          </a:p>
          <a:p>
            <a:endParaRPr lang="zh-CN" altLang="en-US" sz="240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二、言语理解与表达模块中的辨析词语差异</a:t>
            </a:r>
            <a:endParaRPr lang="zh-CN" altLang="en-US"/>
          </a:p>
        </p:txBody>
      </p:sp>
      <p:sp>
        <p:nvSpPr>
          <p:cNvPr id="3" name="内容占位符 2"/>
          <p:cNvSpPr>
            <a:spLocks noGrp="1"/>
          </p:cNvSpPr>
          <p:nvPr>
            <p:ph idx="1"/>
          </p:nvPr>
        </p:nvSpPr>
        <p:spPr/>
        <p:txBody>
          <a:bodyPr/>
          <a:p>
            <a:r>
              <a:rPr lang="zh-CN" altLang="en-US" sz="2400" b="1">
                <a:solidFill>
                  <a:srgbClr val="FF0000"/>
                </a:solidFill>
              </a:rPr>
              <a:t>近义词语辨析是逻辑填空的重要考点</a:t>
            </a:r>
            <a:r>
              <a:rPr lang="zh-CN" altLang="en-US" sz="2400" b="1"/>
              <a:t>，测查考生在词语储备方面的基本功。进行</a:t>
            </a:r>
            <a:r>
              <a:rPr sz="2400" b="1">
                <a:sym typeface="+mn-ea"/>
              </a:rPr>
              <a:t>近义词语辨析时可以从以下五个角度进行考虑。</a:t>
            </a:r>
            <a:endParaRPr sz="2400" b="1">
              <a:sym typeface="+mn-ea"/>
            </a:endParaRPr>
          </a:p>
          <a:p>
            <a:r>
              <a:rPr lang="en-US" altLang="zh-CN" sz="2400" b="1"/>
              <a:t>1.</a:t>
            </a:r>
            <a:r>
              <a:rPr sz="2400" b="1"/>
              <a:t>词语的适用对象</a:t>
            </a:r>
            <a:endParaRPr sz="2400" b="1"/>
          </a:p>
          <a:p>
            <a:r>
              <a:rPr lang="en-US" altLang="zh-CN" sz="2400" b="1">
                <a:solidFill>
                  <a:srgbClr val="FF0000"/>
                </a:solidFill>
              </a:rPr>
              <a:t>2.</a:t>
            </a:r>
            <a:r>
              <a:rPr sz="2400" b="1">
                <a:solidFill>
                  <a:srgbClr val="FF0000"/>
                </a:solidFill>
              </a:rPr>
              <a:t>意义的侧重点</a:t>
            </a:r>
            <a:endParaRPr sz="2400" b="1">
              <a:solidFill>
                <a:srgbClr val="FF0000"/>
              </a:solidFill>
            </a:endParaRPr>
          </a:p>
          <a:p>
            <a:r>
              <a:rPr lang="en-US" altLang="zh-CN" sz="2400" b="1"/>
              <a:t>3.</a:t>
            </a:r>
            <a:r>
              <a:rPr sz="2400" b="1"/>
              <a:t>意义的轻重</a:t>
            </a:r>
            <a:endParaRPr sz="2400" b="1"/>
          </a:p>
          <a:p>
            <a:r>
              <a:rPr lang="en-US" altLang="zh-CN" sz="2400" b="1">
                <a:solidFill>
                  <a:srgbClr val="FF0000"/>
                </a:solidFill>
              </a:rPr>
              <a:t>4.</a:t>
            </a:r>
            <a:r>
              <a:rPr sz="2400" b="1">
                <a:solidFill>
                  <a:srgbClr val="FF0000"/>
                </a:solidFill>
              </a:rPr>
              <a:t>词语的感情色彩</a:t>
            </a:r>
            <a:endParaRPr sz="2400" b="1">
              <a:solidFill>
                <a:srgbClr val="FF0000"/>
              </a:solidFill>
            </a:endParaRPr>
          </a:p>
          <a:p>
            <a:r>
              <a:rPr lang="en-US" altLang="zh-CN" sz="2400" b="1"/>
              <a:t>5.</a:t>
            </a:r>
            <a:r>
              <a:rPr sz="2400" b="1"/>
              <a:t>词语的搭配</a:t>
            </a:r>
            <a:endParaRPr sz="2400" b="1"/>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a:t>
            </a:r>
            <a:r>
              <a:rPr>
                <a:sym typeface="+mn-ea"/>
              </a:rPr>
              <a:t>词语的适用对象</a:t>
            </a:r>
            <a:endParaRPr lang="zh-CN" altLang="en-US"/>
          </a:p>
        </p:txBody>
      </p:sp>
      <p:sp>
        <p:nvSpPr>
          <p:cNvPr id="3" name="内容占位符 2"/>
          <p:cNvSpPr>
            <a:spLocks noGrp="1"/>
          </p:cNvSpPr>
          <p:nvPr>
            <p:ph idx="1"/>
          </p:nvPr>
        </p:nvSpPr>
        <p:spPr>
          <a:xfrm>
            <a:off x="417830" y="1296035"/>
            <a:ext cx="11269345" cy="5041265"/>
          </a:xfrm>
        </p:spPr>
        <p:txBody>
          <a:bodyPr/>
          <a:p>
            <a:r>
              <a:rPr sz="2400" b="1">
                <a:solidFill>
                  <a:srgbClr val="FF0000"/>
                </a:solidFill>
                <a:sym typeface="+mn-ea"/>
              </a:rPr>
              <a:t>有些词语意义相近，但却有不同的适用对象。</a:t>
            </a:r>
            <a:endParaRPr sz="2400" b="1">
              <a:solidFill>
                <a:srgbClr val="FF0000"/>
              </a:solidFill>
              <a:sym typeface="+mn-ea"/>
            </a:endParaRPr>
          </a:p>
          <a:p>
            <a:r>
              <a:rPr sz="2400" b="1">
                <a:sym typeface="+mn-ea"/>
              </a:rPr>
              <a:t>抚养：用于长辈对晚辈              赡养</a:t>
            </a:r>
            <a:r>
              <a:rPr sz="2400" b="1">
                <a:sym typeface="+mn-ea"/>
              </a:rPr>
              <a:t>：用于晚辈对长辈</a:t>
            </a:r>
            <a:endParaRPr sz="2400" b="1">
              <a:sym typeface="+mn-ea"/>
            </a:endParaRPr>
          </a:p>
          <a:p>
            <a:r>
              <a:rPr sz="2400" b="1">
                <a:solidFill>
                  <a:srgbClr val="00B050"/>
                </a:solidFill>
                <a:sym typeface="+mn-ea"/>
              </a:rPr>
              <a:t>真题</a:t>
            </a:r>
            <a:r>
              <a:rPr lang="en-US" altLang="zh-CN" sz="2400" b="1">
                <a:solidFill>
                  <a:srgbClr val="00B050"/>
                </a:solidFill>
                <a:sym typeface="+mn-ea"/>
              </a:rPr>
              <a:t>20</a:t>
            </a:r>
            <a:r>
              <a:rPr sz="2400" b="1">
                <a:sym typeface="+mn-ea"/>
              </a:rPr>
              <a:t>：多名全国人大代表提出议案，建议修订我国土地管理法，兼顾土地的资源与资产双重</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，坚持物权平等保护</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，提高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补偿标准。</a:t>
            </a:r>
            <a:endParaRPr sz="2400" b="1">
              <a:sym typeface="+mn-ea"/>
            </a:endParaRPr>
          </a:p>
          <a:p>
            <a:r>
              <a:rPr sz="2400" b="1">
                <a:sym typeface="+mn-ea"/>
              </a:rPr>
              <a:t>依次填入画横线部分最恰当的一项是（    ）</a:t>
            </a:r>
            <a:endParaRPr sz="2400" b="1"/>
          </a:p>
          <a:p>
            <a:r>
              <a:rPr lang="en-US" altLang="zh-CN" sz="2400" b="1"/>
              <a:t>A.</a:t>
            </a:r>
            <a:r>
              <a:rPr sz="2400" b="1"/>
              <a:t>特征    规定    征用           </a:t>
            </a:r>
            <a:r>
              <a:rPr lang="en-US" altLang="zh-CN" sz="2400" b="1"/>
              <a:t>B.</a:t>
            </a:r>
            <a:r>
              <a:rPr sz="2400" b="1"/>
              <a:t>要素    法案    征调</a:t>
            </a:r>
            <a:endParaRPr sz="2400" b="1"/>
          </a:p>
          <a:p>
            <a:r>
              <a:rPr lang="en-US" altLang="zh-CN" sz="2400" b="1"/>
              <a:t>C.</a:t>
            </a:r>
            <a:r>
              <a:rPr sz="2400" b="1"/>
              <a:t>标准    措施    征集           </a:t>
            </a:r>
            <a:r>
              <a:rPr lang="en-US" altLang="zh-CN" sz="2400" b="1"/>
              <a:t>D.</a:t>
            </a:r>
            <a:r>
              <a:rPr sz="2400" b="1"/>
              <a:t>属性    原则    征收</a:t>
            </a:r>
            <a:endParaRPr sz="2400" b="1"/>
          </a:p>
          <a:p>
            <a:endParaRPr lang="zh-CN" altLang="en-US" sz="240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20</a:t>
            </a:r>
            <a:r>
              <a:t>分析</a:t>
            </a:r>
          </a:p>
        </p:txBody>
      </p:sp>
      <p:sp>
        <p:nvSpPr>
          <p:cNvPr id="3" name="内容占位符 2"/>
          <p:cNvSpPr>
            <a:spLocks noGrp="1"/>
          </p:cNvSpPr>
          <p:nvPr>
            <p:ph idx="1"/>
          </p:nvPr>
        </p:nvSpPr>
        <p:spPr/>
        <p:txBody>
          <a:bodyPr/>
          <a:p>
            <a:r>
              <a:rPr sz="2400" b="1">
                <a:sym typeface="+mn-ea"/>
              </a:rPr>
              <a:t>真题</a:t>
            </a:r>
            <a:r>
              <a:rPr lang="en-US" altLang="zh-CN" sz="2400" b="1">
                <a:sym typeface="+mn-ea"/>
              </a:rPr>
              <a:t>20</a:t>
            </a:r>
            <a:r>
              <a:rPr sz="2400" b="1">
                <a:sym typeface="+mn-ea"/>
              </a:rPr>
              <a:t>：多名全国人大代表提出议案，建议修订我国土地管理法，兼顾土地的</a:t>
            </a:r>
            <a:r>
              <a:rPr sz="2400" b="1">
                <a:solidFill>
                  <a:srgbClr val="FF0000"/>
                </a:solidFill>
                <a:sym typeface="+mn-ea"/>
              </a:rPr>
              <a:t>资源与资产双重</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，坚持物权平等保护</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，提高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补偿标准。</a:t>
            </a:r>
            <a:endParaRPr sz="2400" b="1">
              <a:sym typeface="+mn-ea"/>
            </a:endParaRPr>
          </a:p>
          <a:p>
            <a:r>
              <a:rPr sz="2400" b="1">
                <a:sym typeface="+mn-ea"/>
              </a:rPr>
              <a:t>依次填入画横线部分最恰当的一项是（    ）</a:t>
            </a:r>
            <a:endParaRPr sz="2400" b="1"/>
          </a:p>
          <a:p>
            <a:r>
              <a:rPr lang="en-US" altLang="zh-CN" sz="2400" b="1">
                <a:sym typeface="+mn-ea"/>
              </a:rPr>
              <a:t>A.</a:t>
            </a:r>
            <a:r>
              <a:rPr sz="2400" b="1">
                <a:sym typeface="+mn-ea"/>
              </a:rPr>
              <a:t>特征    规定    征用           </a:t>
            </a:r>
            <a:r>
              <a:rPr lang="en-US" altLang="zh-CN" sz="2400" b="1">
                <a:sym typeface="+mn-ea"/>
              </a:rPr>
              <a:t>B.</a:t>
            </a:r>
            <a:r>
              <a:rPr sz="2400" b="1">
                <a:sym typeface="+mn-ea"/>
              </a:rPr>
              <a:t>要素    法案    征调</a:t>
            </a:r>
            <a:endParaRPr sz="2400" b="1"/>
          </a:p>
          <a:p>
            <a:r>
              <a:rPr lang="en-US" altLang="zh-CN" sz="2400" b="1">
                <a:sym typeface="+mn-ea"/>
              </a:rPr>
              <a:t>C.</a:t>
            </a:r>
            <a:r>
              <a:rPr sz="2400" b="1">
                <a:sym typeface="+mn-ea"/>
              </a:rPr>
              <a:t>标准    措施    征集           </a:t>
            </a:r>
            <a:r>
              <a:rPr lang="en-US" altLang="zh-CN" sz="2400" b="1">
                <a:sym typeface="+mn-ea"/>
              </a:rPr>
              <a:t>D.</a:t>
            </a:r>
            <a:r>
              <a:rPr sz="2400" b="1">
                <a:sym typeface="+mn-ea"/>
              </a:rPr>
              <a:t>属性    原则    征收</a:t>
            </a:r>
            <a:endParaRPr sz="2400" b="1"/>
          </a:p>
          <a:p>
            <a:r>
              <a:rPr lang="zh-CN" altLang="en-US" sz="2400" b="1"/>
              <a:t>分析一：惯用</a:t>
            </a:r>
            <a:r>
              <a:rPr lang="en-US" altLang="zh-CN" sz="2400" b="1"/>
              <a:t>“</a:t>
            </a:r>
            <a:r>
              <a:rPr sz="2400" b="1"/>
              <a:t>坚持原则</a:t>
            </a:r>
            <a:r>
              <a:rPr lang="en-US" altLang="zh-CN" sz="2400" b="1"/>
              <a:t>”</a:t>
            </a:r>
            <a:r>
              <a:rPr sz="2400" b="1"/>
              <a:t>直接选</a:t>
            </a:r>
            <a:r>
              <a:rPr lang="en-US" altLang="zh-CN" sz="2400" b="1"/>
              <a:t>D</a:t>
            </a:r>
            <a:r>
              <a:rPr sz="2400" b="1"/>
              <a:t>。</a:t>
            </a:r>
            <a:endParaRPr sz="2400" b="1"/>
          </a:p>
          <a:p>
            <a:r>
              <a:rPr sz="2400" b="1"/>
              <a:t>分析二：征调人员、物资；征集建议、作品；征收</a:t>
            </a:r>
            <a:r>
              <a:rPr lang="en-US" altLang="zh-CN" sz="2400" b="1"/>
              <a:t>/</a:t>
            </a:r>
            <a:r>
              <a:rPr sz="2400" b="1"/>
              <a:t>征用土地；</a:t>
            </a:r>
            <a:r>
              <a:rPr sz="2400" b="1">
                <a:sym typeface="+mn-ea"/>
              </a:rPr>
              <a:t>惯用</a:t>
            </a:r>
            <a:r>
              <a:rPr lang="en-US" altLang="zh-CN" sz="2400" b="1">
                <a:sym typeface="+mn-ea"/>
              </a:rPr>
              <a:t>“</a:t>
            </a:r>
            <a:r>
              <a:rPr sz="2400" b="1"/>
              <a:t>坚持原则</a:t>
            </a:r>
            <a:r>
              <a:rPr lang="en-US" altLang="zh-CN" sz="2400" b="1"/>
              <a:t>”</a:t>
            </a:r>
            <a:r>
              <a:rPr sz="2400" b="1"/>
              <a:t>，</a:t>
            </a:r>
            <a:r>
              <a:rPr lang="en-US" altLang="zh-CN" sz="2400" b="1"/>
              <a:t>“</a:t>
            </a:r>
            <a:r>
              <a:rPr sz="2400" b="1">
                <a:solidFill>
                  <a:srgbClr val="FF0000"/>
                </a:solidFill>
                <a:sym typeface="+mn-ea"/>
              </a:rPr>
              <a:t>资源与资产双重</a:t>
            </a:r>
            <a:r>
              <a:rPr lang="en-US" altLang="zh-CN" sz="2400" b="1"/>
              <a:t>”</a:t>
            </a:r>
            <a:r>
              <a:rPr sz="2400" b="1"/>
              <a:t>性质，选</a:t>
            </a:r>
            <a:r>
              <a:rPr lang="en-US" altLang="zh-CN" sz="2400" b="1"/>
              <a:t>“</a:t>
            </a:r>
            <a:r>
              <a:rPr sz="2400" b="1"/>
              <a:t>属性</a:t>
            </a:r>
            <a:r>
              <a:rPr lang="en-US" altLang="zh-CN" sz="2400" b="1"/>
              <a:t>”</a:t>
            </a:r>
            <a:r>
              <a:rPr sz="2400" b="1"/>
              <a:t>。故选</a:t>
            </a:r>
            <a:r>
              <a:rPr lang="en-US" altLang="zh-CN" sz="2400" b="1"/>
              <a:t>D.</a:t>
            </a:r>
            <a:endParaRPr lang="en-US" altLang="zh-CN" sz="2400" b="1"/>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21</a:t>
            </a:r>
            <a:r>
              <a:rPr>
                <a:solidFill>
                  <a:schemeClr val="tx1"/>
                </a:solidFill>
              </a:rPr>
              <a:t>（川</a:t>
            </a:r>
            <a:r>
              <a:rPr lang="en-US" altLang="zh-CN">
                <a:solidFill>
                  <a:schemeClr val="tx1"/>
                </a:solidFill>
              </a:rPr>
              <a:t>2019</a:t>
            </a:r>
            <a:r>
              <a:rPr>
                <a:solidFill>
                  <a:schemeClr val="tx1"/>
                </a:solidFill>
              </a:rPr>
              <a:t>下</a:t>
            </a:r>
            <a:r>
              <a:rPr lang="en-US" altLang="zh-CN">
                <a:solidFill>
                  <a:schemeClr val="tx1"/>
                </a:solidFill>
              </a:rPr>
              <a:t>-21</a:t>
            </a:r>
            <a:r>
              <a:rPr>
                <a:solidFill>
                  <a:schemeClr val="tx1"/>
                </a:solidFill>
              </a:rPr>
              <a:t>）</a:t>
            </a:r>
            <a:endParaRPr>
              <a:solidFill>
                <a:schemeClr val="tx1"/>
              </a:solidFill>
            </a:endParaRPr>
          </a:p>
        </p:txBody>
      </p:sp>
      <p:sp>
        <p:nvSpPr>
          <p:cNvPr id="3" name="内容占位符 2"/>
          <p:cNvSpPr>
            <a:spLocks noGrp="1"/>
          </p:cNvSpPr>
          <p:nvPr>
            <p:ph idx="1"/>
          </p:nvPr>
        </p:nvSpPr>
        <p:spPr/>
        <p:txBody>
          <a:bodyPr/>
          <a:p>
            <a:r>
              <a:rPr lang="zh-CN" altLang="en-US" sz="2400" b="1">
                <a:solidFill>
                  <a:schemeClr val="tx1"/>
                </a:solidFill>
              </a:rPr>
              <a:t>信息爆炸式增长并不代表科学素养会提高，相反，人们在信息海洋中披沙拣金、澄清谬误的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在增加。此外，科学传播的通俗程度不够。这些情况的存在，</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着未来应做好科学普及与传播工作，进而提升公众科学素养，需要建立一套以人民为中心，政府推动、全社会参与的工作机制。</a:t>
            </a:r>
            <a:endParaRPr lang="zh-CN" altLang="en-US" sz="2400" b="1">
              <a:solidFill>
                <a:schemeClr val="tx1"/>
              </a:solidFill>
            </a:endParaRPr>
          </a:p>
          <a:p>
            <a:r>
              <a:rPr lang="zh-CN" altLang="en-US" sz="2400" b="1">
                <a:solidFill>
                  <a:schemeClr val="tx1"/>
                </a:solidFill>
              </a:rPr>
              <a:t>填入画横线部分最恰当的一项是：</a:t>
            </a:r>
            <a:endParaRPr lang="zh-CN" altLang="en-US" sz="2400" b="1">
              <a:solidFill>
                <a:schemeClr val="tx1"/>
              </a:solidFill>
            </a:endParaRPr>
          </a:p>
          <a:p>
            <a:r>
              <a:rPr lang="zh-CN" altLang="en-US" sz="2400" b="1">
                <a:solidFill>
                  <a:schemeClr val="tx1"/>
                </a:solidFill>
              </a:rPr>
              <a:t>A.成本    提醒          B.风险    警示</a:t>
            </a:r>
            <a:endParaRPr lang="zh-CN" altLang="en-US" sz="2400" b="1">
              <a:solidFill>
                <a:schemeClr val="tx1"/>
              </a:solidFill>
            </a:endParaRPr>
          </a:p>
          <a:p>
            <a:r>
              <a:rPr lang="zh-CN" altLang="en-US" sz="2400" b="1">
                <a:solidFill>
                  <a:schemeClr val="tx1"/>
                </a:solidFill>
              </a:rPr>
              <a:t>C.困难    表明          D.障碍    标志</a:t>
            </a:r>
            <a:endParaRPr lang="zh-CN" altLang="en-US" sz="2400" b="1">
              <a:solidFill>
                <a:schemeClr val="tx1"/>
              </a:solidFill>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21</a:t>
            </a:r>
            <a:r>
              <a:t>分析</a:t>
            </a:r>
            <a:r>
              <a:t>（川</a:t>
            </a:r>
            <a:r>
              <a:rPr lang="en-US" altLang="zh-CN"/>
              <a:t>2019</a:t>
            </a:r>
            <a:r>
              <a:t>下</a:t>
            </a:r>
            <a:r>
              <a:rPr lang="en-US" altLang="zh-CN"/>
              <a:t>-21</a:t>
            </a:r>
            <a:r>
              <a:t>）</a:t>
            </a:r>
          </a:p>
        </p:txBody>
      </p:sp>
      <p:sp>
        <p:nvSpPr>
          <p:cNvPr id="3" name="内容占位符 2"/>
          <p:cNvSpPr>
            <a:spLocks noGrp="1"/>
          </p:cNvSpPr>
          <p:nvPr>
            <p:ph idx="1"/>
          </p:nvPr>
        </p:nvSpPr>
        <p:spPr>
          <a:xfrm>
            <a:off x="669925" y="1296035"/>
            <a:ext cx="10852150" cy="5307330"/>
          </a:xfrm>
        </p:spPr>
        <p:txBody>
          <a:bodyPr/>
          <a:p>
            <a:r>
              <a:rPr lang="zh-CN" altLang="en-US" sz="2400" b="1">
                <a:solidFill>
                  <a:srgbClr val="FF0000"/>
                </a:solidFill>
              </a:rPr>
              <a:t>信息爆炸式增长</a:t>
            </a:r>
            <a:r>
              <a:rPr lang="zh-CN" altLang="en-US" sz="2400" b="1"/>
              <a:t>并不代表科学素养会提高，相反，人们在</a:t>
            </a:r>
            <a:r>
              <a:rPr lang="zh-CN" altLang="en-US" sz="2400" b="1">
                <a:solidFill>
                  <a:srgbClr val="FF0000"/>
                </a:solidFill>
              </a:rPr>
              <a:t>信息海洋</a:t>
            </a:r>
            <a:r>
              <a:rPr lang="zh-CN" altLang="en-US" sz="2400" b="1"/>
              <a:t>中披沙拣金、澄清谬误的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在增加。此外，科学传播的通俗程度不够。这些情况的存在，</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solidFill>
                  <a:srgbClr val="00B050"/>
                </a:solidFill>
              </a:rPr>
              <a:t>着</a:t>
            </a:r>
            <a:r>
              <a:rPr lang="zh-CN" altLang="en-US" sz="2400" b="1"/>
              <a:t>未来应做好科学普及与传播工作，进而提升公众科学素养，需要建立一套以人民为中心，政府推动、全社会参与的工作机制。</a:t>
            </a:r>
            <a:endParaRPr lang="zh-CN" altLang="en-US" sz="2400" b="1"/>
          </a:p>
          <a:p>
            <a:r>
              <a:rPr lang="zh-CN" altLang="en-US" sz="2400" b="1"/>
              <a:t>填入画横线部分最恰当的一项是：</a:t>
            </a:r>
            <a:endParaRPr lang="zh-CN" altLang="en-US" sz="2400" b="1"/>
          </a:p>
          <a:p>
            <a:r>
              <a:rPr lang="zh-CN" altLang="en-US" sz="2400" b="1"/>
              <a:t>A.成本    提醒          B.风险    警示</a:t>
            </a:r>
            <a:endParaRPr lang="zh-CN" altLang="en-US" sz="2400" b="1"/>
          </a:p>
          <a:p>
            <a:r>
              <a:rPr lang="zh-CN" altLang="en-US" sz="2400" b="1"/>
              <a:t>C.困难    表明          D.障碍    标志</a:t>
            </a:r>
            <a:endParaRPr lang="zh-CN" altLang="en-US" sz="2400" b="1"/>
          </a:p>
          <a:p>
            <a:r>
              <a:rPr lang="zh-CN" altLang="en-US" sz="2400" b="1"/>
              <a:t>分析：根据红色字可知增大了工作量和工作难度，</a:t>
            </a:r>
            <a:r>
              <a:rPr lang="en-US" altLang="zh-CN" sz="2400" b="1">
                <a:sym typeface="+mn-ea"/>
              </a:rPr>
              <a:t>“</a:t>
            </a:r>
            <a:r>
              <a:rPr sz="2400" b="1">
                <a:sym typeface="+mn-ea"/>
              </a:rPr>
              <a:t>成本</a:t>
            </a:r>
            <a:r>
              <a:rPr lang="en-US" altLang="zh-CN" sz="2400" b="1">
                <a:sym typeface="+mn-ea"/>
              </a:rPr>
              <a:t>”</a:t>
            </a:r>
            <a:r>
              <a:rPr sz="2400" b="1">
                <a:sym typeface="+mn-ea"/>
              </a:rPr>
              <a:t>与句意符合</a:t>
            </a:r>
            <a:r>
              <a:rPr lang="zh-CN" altLang="en-US" sz="2400" b="1"/>
              <a:t>。</a:t>
            </a:r>
            <a:r>
              <a:rPr lang="en-US" altLang="zh-CN" sz="2400" b="1"/>
              <a:t>“</a:t>
            </a:r>
            <a:r>
              <a:rPr sz="2400" b="1"/>
              <a:t>风险</a:t>
            </a:r>
            <a:r>
              <a:rPr lang="en-US" altLang="zh-CN" sz="2400" b="1"/>
              <a:t>”</a:t>
            </a:r>
            <a:r>
              <a:rPr sz="2400" b="1"/>
              <a:t>指危险危机。</a:t>
            </a:r>
            <a:r>
              <a:rPr lang="en-US" altLang="zh-CN" sz="2400" b="1"/>
              <a:t>“</a:t>
            </a:r>
            <a:r>
              <a:rPr sz="2400" b="1"/>
              <a:t>表明</a:t>
            </a:r>
            <a:r>
              <a:rPr lang="en-US" altLang="zh-CN" sz="2400" b="1"/>
              <a:t>”</a:t>
            </a:r>
            <a:r>
              <a:rPr sz="2400" b="1"/>
              <a:t>后不接</a:t>
            </a:r>
            <a:r>
              <a:rPr lang="en-US" altLang="zh-CN" sz="2400" b="1"/>
              <a:t>“</a:t>
            </a:r>
            <a:r>
              <a:rPr sz="2400" b="1">
                <a:solidFill>
                  <a:srgbClr val="00B050"/>
                </a:solidFill>
                <a:sym typeface="+mn-ea"/>
              </a:rPr>
              <a:t>着</a:t>
            </a:r>
            <a:r>
              <a:rPr lang="en-US" altLang="zh-CN" sz="2400" b="1"/>
              <a:t>”</a:t>
            </a:r>
            <a:r>
              <a:rPr sz="2400" b="1"/>
              <a:t>。</a:t>
            </a:r>
            <a:r>
              <a:rPr lang="en-US" altLang="zh-CN" sz="2400" b="1"/>
              <a:t>“</a:t>
            </a:r>
            <a:r>
              <a:rPr sz="2400" b="1">
                <a:sym typeface="+mn-ea"/>
              </a:rPr>
              <a:t>标志</a:t>
            </a:r>
            <a:r>
              <a:rPr lang="en-US" altLang="zh-CN" sz="2400" b="1"/>
              <a:t>”</a:t>
            </a:r>
            <a:r>
              <a:rPr sz="2400" b="1"/>
              <a:t>某种特征。</a:t>
            </a:r>
            <a:r>
              <a:rPr lang="en-US" altLang="zh-CN" sz="2400" b="1"/>
              <a:t>“</a:t>
            </a:r>
            <a:r>
              <a:rPr sz="2400" b="1"/>
              <a:t>提醒</a:t>
            </a:r>
            <a:r>
              <a:rPr lang="en-US" altLang="zh-CN" sz="2400" b="1"/>
              <a:t>”</a:t>
            </a:r>
            <a:r>
              <a:rPr sz="2400" b="1"/>
              <a:t>指从旁指点，促使注意，故选</a:t>
            </a:r>
            <a:r>
              <a:rPr lang="en-US" altLang="zh-CN" sz="2400" b="1"/>
              <a:t>A.</a:t>
            </a:r>
            <a:endParaRPr lang="en-US" altLang="zh-CN" sz="2400" b="1"/>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t>意义的侧重点</a:t>
            </a:r>
          </a:p>
        </p:txBody>
      </p:sp>
      <p:sp>
        <p:nvSpPr>
          <p:cNvPr id="3" name="内容占位符 2"/>
          <p:cNvSpPr>
            <a:spLocks noGrp="1"/>
          </p:cNvSpPr>
          <p:nvPr>
            <p:ph idx="1"/>
          </p:nvPr>
        </p:nvSpPr>
        <p:spPr>
          <a:xfrm>
            <a:off x="427990" y="1296035"/>
            <a:ext cx="11248390" cy="5041265"/>
          </a:xfrm>
        </p:spPr>
        <p:txBody>
          <a:bodyPr/>
          <a:p>
            <a:r>
              <a:rPr lang="zh-CN" altLang="en-US" sz="2400" b="1">
                <a:solidFill>
                  <a:srgbClr val="FF0000"/>
                </a:solidFill>
              </a:rPr>
              <a:t>有些词语意义大致相同，但其意义侧重点却不同。需要根据语境进行甄别。</a:t>
            </a:r>
            <a:endParaRPr lang="zh-CN" altLang="en-US" sz="2400" b="1"/>
          </a:p>
          <a:p>
            <a:r>
              <a:rPr lang="zh-CN" altLang="en-US" sz="2400" b="1">
                <a:solidFill>
                  <a:schemeClr val="tx1"/>
                </a:solidFill>
              </a:rPr>
              <a:t>结余：侧重结算后剩余；              节余：侧重因节约而剩余</a:t>
            </a:r>
            <a:endParaRPr lang="zh-CN" altLang="en-US" sz="2400" b="1">
              <a:solidFill>
                <a:schemeClr val="tx1"/>
              </a:solidFill>
            </a:endParaRPr>
          </a:p>
          <a:p>
            <a:r>
              <a:rPr lang="zh-CN" altLang="en-US" sz="2400" b="1">
                <a:solidFill>
                  <a:srgbClr val="00B050"/>
                </a:solidFill>
              </a:rPr>
              <a:t>真题</a:t>
            </a:r>
            <a:r>
              <a:rPr lang="en-US" altLang="zh-CN" sz="2400" b="1">
                <a:solidFill>
                  <a:srgbClr val="00B050"/>
                </a:solidFill>
              </a:rPr>
              <a:t>22</a:t>
            </a:r>
            <a:r>
              <a:rPr sz="2400" b="1"/>
              <a:t>：</a:t>
            </a:r>
            <a:r>
              <a:rPr sz="2400" b="1">
                <a:solidFill>
                  <a:schemeClr val="tx1"/>
                </a:solidFill>
              </a:rPr>
              <a:t>走进书房，荷笔当锄，精神家园种满稚嫩的庄家，也许远离丰收的季节，但心里总装着一个秋天。也有受挫后乏味地走进书房的时候，</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间与书群对话，慢慢地愁肠</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，残雪消融，浮躁渐趋平静，紊乱变得有序，顷刻间阴霾一扫，心空一片晴朗亮丽。</a:t>
            </a:r>
            <a:endParaRPr sz="2400" b="1">
              <a:solidFill>
                <a:schemeClr val="tx1"/>
              </a:solidFill>
              <a:sym typeface="+mn-ea"/>
            </a:endParaRPr>
          </a:p>
          <a:p>
            <a:r>
              <a:rPr sz="2400" b="1">
                <a:solidFill>
                  <a:schemeClr val="tx1"/>
                </a:solidFill>
                <a:sym typeface="+mn-ea"/>
              </a:rPr>
              <a:t>依次填入画横线部分最恰当的一项是（    ）</a:t>
            </a:r>
            <a:endParaRPr sz="2400" b="1">
              <a:solidFill>
                <a:schemeClr val="tx1"/>
              </a:solidFill>
            </a:endParaRPr>
          </a:p>
          <a:p>
            <a:r>
              <a:rPr lang="en-US" altLang="zh-CN" sz="2400" b="1">
                <a:solidFill>
                  <a:schemeClr val="tx1"/>
                </a:solidFill>
                <a:sym typeface="+mn-ea"/>
              </a:rPr>
              <a:t>A.</a:t>
            </a:r>
            <a:r>
              <a:rPr sz="2400" b="1">
                <a:solidFill>
                  <a:schemeClr val="tx1"/>
                </a:solidFill>
                <a:sym typeface="+mn-ea"/>
              </a:rPr>
              <a:t>百无聊赖    舒缓         </a:t>
            </a:r>
            <a:r>
              <a:rPr lang="en-US" altLang="zh-CN" sz="2400" b="1">
                <a:solidFill>
                  <a:schemeClr val="tx1"/>
                </a:solidFill>
                <a:sym typeface="+mn-ea"/>
              </a:rPr>
              <a:t>B.</a:t>
            </a:r>
            <a:r>
              <a:rPr sz="2400" b="1">
                <a:solidFill>
                  <a:schemeClr val="tx1"/>
                </a:solidFill>
                <a:sym typeface="+mn-ea"/>
              </a:rPr>
              <a:t>万念俱灭    疏散</a:t>
            </a:r>
            <a:endParaRPr sz="2400" b="1">
              <a:solidFill>
                <a:schemeClr val="tx1"/>
              </a:solidFill>
              <a:sym typeface="+mn-ea"/>
            </a:endParaRPr>
          </a:p>
          <a:p>
            <a:r>
              <a:rPr lang="en-US" altLang="zh-CN" sz="2400" b="1">
                <a:sym typeface="+mn-ea"/>
              </a:rPr>
              <a:t>C.</a:t>
            </a:r>
            <a:r>
              <a:rPr sz="2400" b="1">
                <a:sym typeface="+mn-ea"/>
              </a:rPr>
              <a:t>无地自容    舒展         </a:t>
            </a:r>
            <a:r>
              <a:rPr lang="en-US" altLang="zh-CN" sz="2400" b="1">
                <a:sym typeface="+mn-ea"/>
              </a:rPr>
              <a:t>D.</a:t>
            </a:r>
            <a:r>
              <a:rPr sz="2400" b="1">
                <a:sym typeface="+mn-ea"/>
              </a:rPr>
              <a:t>心灰意冷    纾（</a:t>
            </a:r>
            <a:r>
              <a:rPr lang="en-US" altLang="zh-CN" sz="2400" b="1">
                <a:sym typeface="+mn-ea"/>
              </a:rPr>
              <a:t>shu</a:t>
            </a:r>
            <a:r>
              <a:rPr sz="2400" b="1">
                <a:sym typeface="+mn-ea"/>
              </a:rPr>
              <a:t>）解</a:t>
            </a:r>
            <a:endParaRPr sz="2400" b="1">
              <a:sym typeface="+mn-ea"/>
            </a:endParaRPr>
          </a:p>
          <a:p>
            <a:endParaRPr sz="240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真题</a:t>
            </a:r>
            <a:r>
              <a:rPr lang="en-US" altLang="zh-CN">
                <a:sym typeface="+mn-ea"/>
              </a:rPr>
              <a:t>22</a:t>
            </a:r>
            <a:r>
              <a:rPr>
                <a:sym typeface="+mn-ea"/>
              </a:rPr>
              <a:t>分析</a:t>
            </a:r>
            <a:endParaRPr lang="zh-CN" altLang="en-US"/>
          </a:p>
        </p:txBody>
      </p:sp>
      <p:sp>
        <p:nvSpPr>
          <p:cNvPr id="3" name="内容占位符 2"/>
          <p:cNvSpPr>
            <a:spLocks noGrp="1"/>
          </p:cNvSpPr>
          <p:nvPr>
            <p:ph idx="1"/>
          </p:nvPr>
        </p:nvSpPr>
        <p:spPr>
          <a:xfrm>
            <a:off x="669925" y="1296035"/>
            <a:ext cx="11028045" cy="5392420"/>
          </a:xfrm>
        </p:spPr>
        <p:txBody>
          <a:bodyPr/>
          <a:p>
            <a:r>
              <a:rPr sz="2400" b="1">
                <a:sym typeface="+mn-ea"/>
              </a:rPr>
              <a:t>走进书房，荷笔当锄，精神家园种满稚嫩的庄家，也许远离丰收的季节，但心里总装着一个秋天。也有</a:t>
            </a:r>
            <a:r>
              <a:rPr sz="2400" b="1">
                <a:solidFill>
                  <a:srgbClr val="FF0000"/>
                </a:solidFill>
                <a:sym typeface="+mn-ea"/>
              </a:rPr>
              <a:t>受挫后乏味</a:t>
            </a:r>
            <a:r>
              <a:rPr sz="2400" b="1">
                <a:sym typeface="+mn-ea"/>
              </a:rPr>
              <a:t>地走进书房的时候，</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间与书群对话，慢慢地</a:t>
            </a:r>
            <a:r>
              <a:rPr sz="2400" b="1">
                <a:solidFill>
                  <a:srgbClr val="00B050"/>
                </a:solidFill>
                <a:sym typeface="+mn-ea"/>
              </a:rPr>
              <a:t>愁肠</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00B050"/>
                </a:solidFill>
                <a:sym typeface="+mn-ea"/>
              </a:rPr>
              <a:t>残雪消融</a:t>
            </a:r>
            <a:r>
              <a:rPr sz="2400" b="1">
                <a:sym typeface="+mn-ea"/>
              </a:rPr>
              <a:t>，浮躁渐趋平静，紊乱变得有序，顷刻间阴霾一扫，心空一片晴朗亮丽。</a:t>
            </a:r>
            <a:endParaRPr sz="2400" b="1">
              <a:sym typeface="+mn-ea"/>
            </a:endParaRPr>
          </a:p>
          <a:p>
            <a:r>
              <a:rPr sz="2400" b="1">
                <a:sym typeface="+mn-ea"/>
              </a:rPr>
              <a:t>依次填入画横线部分最恰当的一项是（    ）</a:t>
            </a:r>
            <a:endParaRPr sz="2400" b="1"/>
          </a:p>
          <a:p>
            <a:r>
              <a:rPr lang="en-US" altLang="zh-CN" sz="2400" b="1">
                <a:sym typeface="+mn-ea"/>
              </a:rPr>
              <a:t>A.</a:t>
            </a:r>
            <a:r>
              <a:rPr sz="2400" b="1">
                <a:sym typeface="+mn-ea"/>
              </a:rPr>
              <a:t>百无聊赖    舒缓         </a:t>
            </a:r>
            <a:r>
              <a:rPr lang="en-US" altLang="zh-CN" sz="2400" b="1">
                <a:sym typeface="+mn-ea"/>
              </a:rPr>
              <a:t>B.</a:t>
            </a:r>
            <a:r>
              <a:rPr sz="2400" b="1">
                <a:sym typeface="+mn-ea"/>
              </a:rPr>
              <a:t>万念俱灭    疏散</a:t>
            </a:r>
            <a:endParaRPr sz="2400" b="1">
              <a:sym typeface="+mn-ea"/>
            </a:endParaRPr>
          </a:p>
          <a:p>
            <a:r>
              <a:rPr lang="en-US" altLang="zh-CN" sz="2400" b="1">
                <a:sym typeface="+mn-ea"/>
              </a:rPr>
              <a:t>C.</a:t>
            </a:r>
            <a:r>
              <a:rPr sz="2400" b="1">
                <a:sym typeface="+mn-ea"/>
              </a:rPr>
              <a:t>无地自容    舒展         </a:t>
            </a:r>
            <a:r>
              <a:rPr lang="en-US" altLang="zh-CN" sz="2400" b="1">
                <a:sym typeface="+mn-ea"/>
              </a:rPr>
              <a:t>D.</a:t>
            </a:r>
            <a:r>
              <a:rPr sz="2400" b="1">
                <a:sym typeface="+mn-ea"/>
              </a:rPr>
              <a:t>心灰意冷    纾解（</a:t>
            </a:r>
            <a:r>
              <a:rPr lang="en-US" altLang="zh-CN" sz="2400" b="1">
                <a:sym typeface="+mn-ea"/>
              </a:rPr>
              <a:t>shu</a:t>
            </a:r>
            <a:r>
              <a:rPr sz="2400" b="1">
                <a:sym typeface="+mn-ea"/>
              </a:rPr>
              <a:t>）</a:t>
            </a:r>
            <a:endParaRPr sz="2400" b="1">
              <a:sym typeface="+mn-ea"/>
            </a:endParaRPr>
          </a:p>
          <a:p>
            <a:r>
              <a:rPr lang="zh-CN" altLang="en-US" sz="2400" b="1"/>
              <a:t>分析：与</a:t>
            </a:r>
            <a:r>
              <a:rPr lang="en-US" altLang="zh-CN" sz="2400" b="1"/>
              <a:t>“</a:t>
            </a:r>
            <a:r>
              <a:rPr sz="2400" b="1">
                <a:solidFill>
                  <a:srgbClr val="FF0000"/>
                </a:solidFill>
                <a:sym typeface="+mn-ea"/>
              </a:rPr>
              <a:t>受挫后乏味</a:t>
            </a:r>
            <a:r>
              <a:rPr lang="en-US" altLang="zh-CN" sz="2400" b="1"/>
              <a:t>”</a:t>
            </a:r>
            <a:r>
              <a:rPr sz="2400" b="1"/>
              <a:t>相近的是</a:t>
            </a:r>
            <a:r>
              <a:rPr lang="en-US" altLang="zh-CN" sz="2400" b="1"/>
              <a:t>“</a:t>
            </a:r>
            <a:r>
              <a:rPr sz="2400" b="1">
                <a:sym typeface="+mn-ea"/>
              </a:rPr>
              <a:t>心灰意冷</a:t>
            </a:r>
            <a:r>
              <a:rPr lang="en-US" altLang="zh-CN" sz="2400" b="1"/>
              <a:t>”</a:t>
            </a:r>
            <a:r>
              <a:rPr sz="2400" b="1"/>
              <a:t>，直接选</a:t>
            </a:r>
            <a:r>
              <a:rPr lang="en-US" altLang="zh-CN" sz="2400" b="1"/>
              <a:t>D</a:t>
            </a:r>
            <a:r>
              <a:rPr sz="2400" b="1"/>
              <a:t>。</a:t>
            </a:r>
            <a:r>
              <a:rPr lang="en-US" altLang="zh-CN" sz="2400" b="1"/>
              <a:t>“</a:t>
            </a:r>
            <a:r>
              <a:rPr sz="2400" b="1">
                <a:sym typeface="+mn-ea"/>
              </a:rPr>
              <a:t>百无聊赖</a:t>
            </a:r>
            <a:r>
              <a:rPr lang="en-US" altLang="zh-CN" sz="2400" b="1"/>
              <a:t>”</a:t>
            </a:r>
            <a:r>
              <a:rPr sz="2400" b="1"/>
              <a:t>侧重无聊，排除</a:t>
            </a:r>
            <a:r>
              <a:rPr lang="en-US" altLang="zh-CN" sz="2400" b="1"/>
              <a:t>A</a:t>
            </a:r>
            <a:r>
              <a:rPr sz="2400" b="1"/>
              <a:t>。</a:t>
            </a:r>
            <a:r>
              <a:rPr lang="en-US" altLang="zh-CN" sz="2400" b="1"/>
              <a:t>“</a:t>
            </a:r>
            <a:r>
              <a:rPr sz="2400" b="1">
                <a:sym typeface="+mn-ea"/>
              </a:rPr>
              <a:t>无地自容</a:t>
            </a:r>
            <a:r>
              <a:rPr lang="en-US" altLang="zh-CN" sz="2400" b="1"/>
              <a:t>”</a:t>
            </a:r>
            <a:r>
              <a:rPr sz="2400" b="1"/>
              <a:t>侧重羞愧，排除</a:t>
            </a:r>
            <a:r>
              <a:rPr lang="en-US" altLang="zh-CN" sz="2400" b="1"/>
              <a:t>C</a:t>
            </a:r>
            <a:r>
              <a:rPr sz="2400" b="1"/>
              <a:t>。</a:t>
            </a:r>
            <a:r>
              <a:rPr lang="en-US" altLang="zh-CN" sz="2400" b="1"/>
              <a:t>“</a:t>
            </a:r>
            <a:r>
              <a:rPr sz="2400" b="1">
                <a:sym typeface="+mn-ea"/>
              </a:rPr>
              <a:t>万念俱灭</a:t>
            </a:r>
            <a:r>
              <a:rPr lang="en-US" altLang="zh-CN" sz="2400" b="1"/>
              <a:t>”</a:t>
            </a:r>
            <a:r>
              <a:rPr sz="2400" b="1"/>
              <a:t>语义太重；</a:t>
            </a:r>
            <a:r>
              <a:rPr sz="2400" b="1">
                <a:sym typeface="+mn-ea"/>
              </a:rPr>
              <a:t>疏散人口</a:t>
            </a:r>
            <a:r>
              <a:rPr sz="2400" b="1"/>
              <a:t>。</a:t>
            </a:r>
            <a:r>
              <a:rPr lang="en-US" altLang="zh-CN" sz="2400" b="1"/>
              <a:t>“</a:t>
            </a:r>
            <a:r>
              <a:rPr sz="2400" b="1">
                <a:sym typeface="+mn-ea"/>
              </a:rPr>
              <a:t>纾解</a:t>
            </a:r>
            <a:r>
              <a:rPr lang="en-US" altLang="zh-CN" sz="2400" b="1"/>
              <a:t>”</a:t>
            </a:r>
            <a:r>
              <a:rPr sz="2400" b="1"/>
              <a:t>可与</a:t>
            </a:r>
            <a:r>
              <a:rPr lang="en-US" altLang="zh-CN" sz="2400" b="1"/>
              <a:t>“</a:t>
            </a:r>
            <a:r>
              <a:rPr sz="2400" b="1"/>
              <a:t>愁肠</a:t>
            </a:r>
            <a:r>
              <a:rPr lang="en-US" altLang="zh-CN" sz="2400" b="1"/>
              <a:t>”</a:t>
            </a:r>
            <a:r>
              <a:rPr sz="2400" b="1"/>
              <a:t>搭配，并与</a:t>
            </a:r>
            <a:r>
              <a:rPr lang="en-US" altLang="zh-CN" sz="2400" b="1"/>
              <a:t>“</a:t>
            </a:r>
            <a:r>
              <a:rPr sz="2400" b="1">
                <a:solidFill>
                  <a:srgbClr val="00B050"/>
                </a:solidFill>
                <a:sym typeface="+mn-ea"/>
              </a:rPr>
              <a:t>残雪消融</a:t>
            </a:r>
            <a:r>
              <a:rPr lang="en-US" altLang="zh-CN" sz="2400" b="1">
                <a:solidFill>
                  <a:schemeClr val="tx1"/>
                </a:solidFill>
                <a:sym typeface="+mn-ea"/>
              </a:rPr>
              <a:t>”</a:t>
            </a:r>
            <a:r>
              <a:rPr sz="2400" b="1">
                <a:solidFill>
                  <a:schemeClr val="tx1"/>
                </a:solidFill>
                <a:sym typeface="+mn-ea"/>
              </a:rPr>
              <a:t>对应。</a:t>
            </a:r>
            <a:endParaRPr sz="2400" b="1">
              <a:solidFill>
                <a:schemeClr val="tx1"/>
              </a:solidFill>
              <a:sym typeface="+mn-ea"/>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23</a:t>
            </a:r>
            <a:r>
              <a:rPr>
                <a:solidFill>
                  <a:schemeClr val="tx1"/>
                </a:solidFill>
              </a:rPr>
              <a:t>（川</a:t>
            </a:r>
            <a:r>
              <a:rPr lang="en-US" altLang="zh-CN">
                <a:solidFill>
                  <a:schemeClr val="tx1"/>
                </a:solidFill>
              </a:rPr>
              <a:t>2019</a:t>
            </a:r>
            <a:r>
              <a:rPr>
                <a:solidFill>
                  <a:schemeClr val="tx1"/>
                </a:solidFill>
              </a:rPr>
              <a:t>下</a:t>
            </a:r>
            <a:r>
              <a:rPr lang="en-US" altLang="zh-CN">
                <a:solidFill>
                  <a:schemeClr val="tx1"/>
                </a:solidFill>
              </a:rPr>
              <a:t>-25</a:t>
            </a:r>
            <a:r>
              <a:rPr>
                <a:solidFill>
                  <a:schemeClr val="tx1"/>
                </a:solidFill>
              </a:rPr>
              <a:t>）</a:t>
            </a:r>
            <a:endParaRPr>
              <a:solidFill>
                <a:schemeClr val="tx1"/>
              </a:solidFill>
            </a:endParaRPr>
          </a:p>
        </p:txBody>
      </p:sp>
      <p:sp>
        <p:nvSpPr>
          <p:cNvPr id="3" name="内容占位符 2"/>
          <p:cNvSpPr>
            <a:spLocks noGrp="1"/>
          </p:cNvSpPr>
          <p:nvPr>
            <p:ph idx="1"/>
          </p:nvPr>
        </p:nvSpPr>
        <p:spPr/>
        <p:txBody>
          <a:bodyPr/>
          <a:p>
            <a:r>
              <a:rPr lang="zh-CN" altLang="en-US" sz="2400" b="1">
                <a:solidFill>
                  <a:schemeClr val="tx1"/>
                </a:solidFill>
              </a:rPr>
              <a:t>最早对莫高窟进行保护的前辈们，大都是从事绘画、雕塑方面的艺术家，而非文物保护专家。面对破败凋敝的石窟、岌岌可危的壁画，他们意识到文物保护是</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的任务。当时国内还没有形成</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的保护理念，而常书鸿等艺术家们从一开始就确立了原状保护的原则，这与西方的文物保护理念</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，之后的修缮工作都是在这一原则的指导下进行的。</a:t>
            </a:r>
            <a:endParaRPr lang="zh-CN" altLang="en-US" sz="2400" b="1">
              <a:solidFill>
                <a:schemeClr val="tx1"/>
              </a:solidFill>
            </a:endParaRPr>
          </a:p>
          <a:p>
            <a:r>
              <a:rPr lang="zh-CN" altLang="en-US" sz="2400" b="1">
                <a:solidFill>
                  <a:schemeClr val="tx1"/>
                </a:solidFill>
              </a:rPr>
              <a:t>填入画横线部分最恰当的一项是：</a:t>
            </a:r>
            <a:endParaRPr lang="zh-CN" altLang="en-US" sz="2400" b="1">
              <a:solidFill>
                <a:schemeClr val="tx1"/>
              </a:solidFill>
            </a:endParaRPr>
          </a:p>
          <a:p>
            <a:r>
              <a:rPr lang="zh-CN" altLang="en-US" sz="2400" b="1">
                <a:solidFill>
                  <a:schemeClr val="tx1"/>
                </a:solidFill>
              </a:rPr>
              <a:t>A.迫在眉睫    明晰    别无二致    B.刻不容缓    先进    殊途同归</a:t>
            </a:r>
            <a:endParaRPr lang="zh-CN" altLang="en-US" sz="2400" b="1">
              <a:solidFill>
                <a:schemeClr val="tx1"/>
              </a:solidFill>
            </a:endParaRPr>
          </a:p>
          <a:p>
            <a:r>
              <a:rPr lang="zh-CN" altLang="en-US" sz="2400" b="1">
                <a:solidFill>
                  <a:schemeClr val="tx1"/>
                </a:solidFill>
              </a:rPr>
              <a:t>B.举足轻重    系统    如出一辙    D.首当其冲    成熟    不谋而合</a:t>
            </a:r>
            <a:endParaRPr lang="zh-CN" altLang="en-US" sz="2400" b="1">
              <a:solidFill>
                <a:schemeClr val="tx1"/>
              </a:solidFill>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43492" y="148155"/>
            <a:ext cx="10852237" cy="648000"/>
          </a:xfrm>
        </p:spPr>
        <p:txBody>
          <a:bodyPr/>
          <a:p>
            <a:r>
              <a:rPr lang="zh-CN" altLang="en-US"/>
              <a:t>真题</a:t>
            </a:r>
            <a:r>
              <a:rPr lang="en-US" altLang="zh-CN"/>
              <a:t>23</a:t>
            </a:r>
            <a:r>
              <a:t>（川</a:t>
            </a:r>
            <a:r>
              <a:rPr lang="en-US" altLang="zh-CN"/>
              <a:t>2019</a:t>
            </a:r>
            <a:r>
              <a:t>下</a:t>
            </a:r>
            <a:r>
              <a:rPr lang="en-US" altLang="zh-CN"/>
              <a:t>-25</a:t>
            </a:r>
            <a:r>
              <a:t>）分析</a:t>
            </a:r>
          </a:p>
        </p:txBody>
      </p:sp>
      <p:sp>
        <p:nvSpPr>
          <p:cNvPr id="3" name="内容占位符 2"/>
          <p:cNvSpPr>
            <a:spLocks noGrp="1"/>
          </p:cNvSpPr>
          <p:nvPr>
            <p:ph idx="1"/>
          </p:nvPr>
        </p:nvSpPr>
        <p:spPr>
          <a:xfrm>
            <a:off x="669925" y="795020"/>
            <a:ext cx="10852150" cy="5671185"/>
          </a:xfrm>
        </p:spPr>
        <p:txBody>
          <a:bodyPr/>
          <a:p>
            <a:r>
              <a:rPr lang="zh-CN" altLang="en-US" sz="2400" b="1"/>
              <a:t>最早对莫高窟进行保护的前辈们，大都是从事绘画、雕塑方面的艺术家，而非文物保护专家。面对</a:t>
            </a:r>
            <a:r>
              <a:rPr lang="zh-CN" altLang="en-US" sz="2400" b="1">
                <a:solidFill>
                  <a:srgbClr val="FF0000"/>
                </a:solidFill>
              </a:rPr>
              <a:t>破败凋敝的石窟、岌岌可危的壁画</a:t>
            </a:r>
            <a:r>
              <a:rPr lang="zh-CN" altLang="en-US" sz="2400" b="1"/>
              <a:t>，他们意识到文物保护是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的任务。当时国内</a:t>
            </a:r>
            <a:r>
              <a:rPr lang="zh-CN" altLang="en-US" sz="2400" b="1">
                <a:solidFill>
                  <a:srgbClr val="00B050"/>
                </a:solidFill>
              </a:rPr>
              <a:t>还没有形成</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的保护理念，而常书鸿等艺术家们</a:t>
            </a:r>
            <a:r>
              <a:rPr lang="zh-CN" altLang="en-US" sz="2400" b="1">
                <a:solidFill>
                  <a:srgbClr val="00B050"/>
                </a:solidFill>
              </a:rPr>
              <a:t>从一开始就确立了原状保护的原则</a:t>
            </a:r>
            <a:r>
              <a:rPr lang="zh-CN" altLang="en-US" sz="2400" b="1"/>
              <a:t>，这与西方的文物保护理念</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，之后的修缮工作都是在这一原则的指导下进行的。</a:t>
            </a:r>
            <a:endParaRPr lang="zh-CN" altLang="en-US" sz="2400" b="1"/>
          </a:p>
          <a:p>
            <a:r>
              <a:rPr lang="zh-CN" altLang="en-US" sz="2400" b="1"/>
              <a:t>填入画横线部分最恰当的一项是：</a:t>
            </a:r>
            <a:endParaRPr lang="zh-CN" altLang="en-US" sz="2400" b="1"/>
          </a:p>
          <a:p>
            <a:r>
              <a:rPr sz="2400" b="1">
                <a:sym typeface="+mn-ea"/>
              </a:rPr>
              <a:t>A.迫在眉睫    明晰    别无二致    B.刻不容缓    先进    殊途同归</a:t>
            </a:r>
            <a:endParaRPr lang="zh-CN" altLang="en-US" sz="2400" b="1"/>
          </a:p>
          <a:p>
            <a:r>
              <a:rPr sz="2400" b="1">
                <a:sym typeface="+mn-ea"/>
              </a:rPr>
              <a:t>B.举足轻重    系统    如出一辙    D.首当其冲    成熟    不谋而合</a:t>
            </a:r>
            <a:endParaRPr lang="zh-CN" altLang="en-US" sz="2400" b="1"/>
          </a:p>
          <a:p>
            <a:r>
              <a:rPr lang="zh-CN" altLang="en-US" sz="2400" b="1"/>
              <a:t>分析：红色字说明紧迫性。</a:t>
            </a:r>
            <a:r>
              <a:rPr lang="en-US" altLang="zh-CN" sz="2400" b="1"/>
              <a:t>“</a:t>
            </a:r>
            <a:r>
              <a:rPr sz="2400" b="1">
                <a:sym typeface="+mn-ea"/>
              </a:rPr>
              <a:t>举足轻重</a:t>
            </a:r>
            <a:r>
              <a:rPr lang="en-US" altLang="zh-CN" sz="2400" b="1"/>
              <a:t>”</a:t>
            </a:r>
            <a:r>
              <a:rPr sz="2400" b="1"/>
              <a:t>地位重要，关系全局，排除</a:t>
            </a:r>
            <a:r>
              <a:rPr lang="en-US" altLang="zh-CN" sz="2400" b="1"/>
              <a:t>B</a:t>
            </a:r>
            <a:r>
              <a:rPr sz="2400" b="1"/>
              <a:t>。</a:t>
            </a:r>
            <a:r>
              <a:rPr lang="en-US" altLang="zh-CN" sz="2400" b="1"/>
              <a:t>“</a:t>
            </a:r>
            <a:r>
              <a:rPr sz="2400" b="1">
                <a:sym typeface="+mn-ea"/>
              </a:rPr>
              <a:t>首当其冲</a:t>
            </a:r>
            <a:r>
              <a:rPr lang="en-US" altLang="zh-CN" sz="2400" b="1"/>
              <a:t>”</a:t>
            </a:r>
            <a:r>
              <a:rPr sz="2400" b="1"/>
              <a:t>指最先受到攻击或遭遇灾难，排除</a:t>
            </a:r>
            <a:r>
              <a:rPr lang="en-US" altLang="zh-CN" sz="2400" b="1"/>
              <a:t>D</a:t>
            </a:r>
            <a:r>
              <a:rPr sz="2400" b="1"/>
              <a:t>。</a:t>
            </a:r>
            <a:r>
              <a:rPr lang="en-US" altLang="zh-CN" sz="2400" b="1"/>
              <a:t>“</a:t>
            </a:r>
            <a:r>
              <a:rPr sz="2400" b="1">
                <a:sym typeface="+mn-ea"/>
              </a:rPr>
              <a:t>先进</a:t>
            </a:r>
            <a:r>
              <a:rPr lang="en-US" altLang="zh-CN" sz="2400" b="1"/>
              <a:t>”</a:t>
            </a:r>
            <a:r>
              <a:rPr sz="2400" b="1"/>
              <a:t>与绿色字不符。验证</a:t>
            </a:r>
            <a:r>
              <a:rPr lang="en-US" altLang="zh-CN" sz="2400" b="1"/>
              <a:t>“</a:t>
            </a:r>
            <a:r>
              <a:rPr sz="2400" b="1">
                <a:sym typeface="+mn-ea"/>
              </a:rPr>
              <a:t> 别无二致</a:t>
            </a:r>
            <a:r>
              <a:rPr lang="en-US" altLang="zh-CN" sz="2400" b="1"/>
              <a:t>”</a:t>
            </a:r>
            <a:r>
              <a:rPr sz="2400" b="1"/>
              <a:t>，故选</a:t>
            </a:r>
            <a:r>
              <a:rPr lang="en-US" altLang="zh-CN" sz="2400" b="1"/>
              <a:t>A</a:t>
            </a:r>
            <a:r>
              <a:rPr sz="2400" b="1"/>
              <a:t>。</a:t>
            </a:r>
            <a:endParaRPr sz="2400" b="1"/>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1407" y="183080"/>
            <a:ext cx="10852237" cy="648000"/>
          </a:xfrm>
        </p:spPr>
        <p:txBody>
          <a:bodyPr/>
          <a:p>
            <a:r>
              <a:rPr lang="en-US" altLang="zh-CN"/>
              <a:t>3.</a:t>
            </a:r>
            <a:r>
              <a:t>意义的轻重</a:t>
            </a:r>
          </a:p>
        </p:txBody>
      </p:sp>
      <p:sp>
        <p:nvSpPr>
          <p:cNvPr id="3" name="内容占位符 2"/>
          <p:cNvSpPr>
            <a:spLocks noGrp="1"/>
          </p:cNvSpPr>
          <p:nvPr>
            <p:ph idx="1"/>
          </p:nvPr>
        </p:nvSpPr>
        <p:spPr>
          <a:xfrm>
            <a:off x="815975" y="1003935"/>
            <a:ext cx="10852150" cy="5264150"/>
          </a:xfrm>
        </p:spPr>
        <p:txBody>
          <a:bodyPr/>
          <a:p>
            <a:r>
              <a:rPr lang="zh-CN" altLang="en-US" sz="2400" b="1">
                <a:solidFill>
                  <a:srgbClr val="FF0000"/>
                </a:solidFill>
              </a:rPr>
              <a:t>有些词语意义相近，但在程度轻重上存在差别，需要根据语境选择。</a:t>
            </a:r>
            <a:endParaRPr lang="zh-CN" altLang="en-US" sz="2400" b="1"/>
          </a:p>
          <a:p>
            <a:r>
              <a:rPr lang="zh-CN" altLang="en-US" sz="2400" b="1"/>
              <a:t>绝望、失望：都有失去希望之意，前者程度更重。</a:t>
            </a:r>
            <a:endParaRPr lang="zh-CN" altLang="en-US" sz="2400" b="1"/>
          </a:p>
          <a:p>
            <a:r>
              <a:rPr lang="zh-CN" altLang="en-US" sz="2400" b="1">
                <a:solidFill>
                  <a:srgbClr val="00B050"/>
                </a:solidFill>
              </a:rPr>
              <a:t>真题</a:t>
            </a:r>
            <a:r>
              <a:rPr lang="en-US" altLang="zh-CN" sz="2400" b="1">
                <a:solidFill>
                  <a:srgbClr val="00B050"/>
                </a:solidFill>
              </a:rPr>
              <a:t>24</a:t>
            </a:r>
            <a:r>
              <a:rPr sz="2400" b="1"/>
              <a:t>：</a:t>
            </a:r>
            <a:r>
              <a:rPr sz="2400" b="1">
                <a:solidFill>
                  <a:schemeClr val="tx1"/>
                </a:solidFill>
              </a:rPr>
              <a:t>白大褂在</a:t>
            </a:r>
            <a:r>
              <a:rPr lang="en-US" altLang="zh-CN" sz="2400" b="1">
                <a:solidFill>
                  <a:schemeClr val="tx1"/>
                </a:solidFill>
              </a:rPr>
              <a:t>19</a:t>
            </a:r>
            <a:r>
              <a:rPr sz="2400" b="1">
                <a:solidFill>
                  <a:schemeClr val="tx1"/>
                </a:solidFill>
              </a:rPr>
              <a:t>世纪末登上历史舞台是因为它能够有效隔绝细菌，而一百多年后它遭到</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却是因为在隔绝细菌上做的不够好。在前一阶段，白大褂顺应了现代医疗的发展潮流，而在后一阶段它被一部分人视作现代医疗发展的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。人们对白大褂态度的变化，从本质上说是人类认识进一步深化、更为接近事物原貌的结果，这么看，白大褂的发展也是现代医疗事业发展的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endParaRPr sz="2400" b="1">
              <a:solidFill>
                <a:schemeClr val="tx1"/>
              </a:solidFill>
              <a:sym typeface="+mn-ea"/>
            </a:endParaRPr>
          </a:p>
          <a:p>
            <a:r>
              <a:rPr lang="en-US" altLang="zh-CN" sz="2400" b="1">
                <a:solidFill>
                  <a:schemeClr val="tx1"/>
                </a:solidFill>
              </a:rPr>
              <a:t>A.</a:t>
            </a:r>
            <a:r>
              <a:rPr sz="2400" b="1">
                <a:solidFill>
                  <a:schemeClr val="tx1"/>
                </a:solidFill>
              </a:rPr>
              <a:t>挫折   壁垒   象征        </a:t>
            </a:r>
            <a:r>
              <a:rPr lang="en-US" altLang="zh-CN" sz="2400" b="1">
                <a:solidFill>
                  <a:schemeClr val="tx1"/>
                </a:solidFill>
              </a:rPr>
              <a:t>B.</a:t>
            </a:r>
            <a:r>
              <a:rPr sz="2400" b="1">
                <a:solidFill>
                  <a:schemeClr val="tx1"/>
                </a:solidFill>
              </a:rPr>
              <a:t>否定    桎梏   截图</a:t>
            </a:r>
            <a:endParaRPr sz="2400" b="1">
              <a:solidFill>
                <a:schemeClr val="tx1"/>
              </a:solidFill>
            </a:endParaRPr>
          </a:p>
          <a:p>
            <a:r>
              <a:rPr lang="en-US" altLang="zh-CN" sz="2400" b="1">
                <a:solidFill>
                  <a:schemeClr val="tx1"/>
                </a:solidFill>
              </a:rPr>
              <a:t>C.</a:t>
            </a:r>
            <a:r>
              <a:rPr sz="2400" b="1">
                <a:solidFill>
                  <a:schemeClr val="tx1"/>
                </a:solidFill>
              </a:rPr>
              <a:t>质疑   羁绊   缩影        </a:t>
            </a:r>
            <a:r>
              <a:rPr lang="en-US" altLang="zh-CN" sz="2400" b="1">
                <a:solidFill>
                  <a:schemeClr val="tx1"/>
                </a:solidFill>
              </a:rPr>
              <a:t>D.</a:t>
            </a:r>
            <a:r>
              <a:rPr sz="2400" b="1">
                <a:solidFill>
                  <a:schemeClr val="tx1"/>
                </a:solidFill>
              </a:rPr>
              <a:t>排斥    累赘    历史</a:t>
            </a:r>
            <a:endParaRPr sz="2400" b="1">
              <a:solidFill>
                <a:schemeClr val="tx1"/>
              </a:solidFill>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91422" y="200"/>
            <a:ext cx="10852237" cy="648000"/>
          </a:xfrm>
        </p:spPr>
        <p:txBody>
          <a:bodyPr/>
          <a:p>
            <a:r>
              <a:rPr lang="zh-CN" altLang="en-US"/>
              <a:t>真题</a:t>
            </a:r>
            <a:r>
              <a:rPr lang="en-US" altLang="zh-CN"/>
              <a:t>24</a:t>
            </a:r>
            <a:r>
              <a:t>分析</a:t>
            </a:r>
          </a:p>
        </p:txBody>
      </p:sp>
      <p:sp>
        <p:nvSpPr>
          <p:cNvPr id="3" name="内容占位符 2"/>
          <p:cNvSpPr>
            <a:spLocks noGrp="1"/>
          </p:cNvSpPr>
          <p:nvPr>
            <p:ph idx="1"/>
          </p:nvPr>
        </p:nvSpPr>
        <p:spPr>
          <a:xfrm>
            <a:off x="669925" y="702945"/>
            <a:ext cx="10852150" cy="5634355"/>
          </a:xfrm>
        </p:spPr>
        <p:txBody>
          <a:bodyPr/>
          <a:p>
            <a:pPr>
              <a:lnSpc>
                <a:spcPct val="120000"/>
              </a:lnSpc>
              <a:spcAft>
                <a:spcPts val="800"/>
              </a:spcAft>
            </a:pPr>
            <a:r>
              <a:rPr sz="2400" b="1">
                <a:sym typeface="+mn-ea"/>
              </a:rPr>
              <a:t>真题</a:t>
            </a:r>
            <a:r>
              <a:rPr lang="en-US" altLang="zh-CN" sz="2400" b="1">
                <a:sym typeface="+mn-ea"/>
              </a:rPr>
              <a:t>24</a:t>
            </a:r>
            <a:r>
              <a:rPr sz="2400" b="1">
                <a:sym typeface="+mn-ea"/>
              </a:rPr>
              <a:t>：白大褂在</a:t>
            </a:r>
            <a:r>
              <a:rPr lang="en-US" altLang="zh-CN" sz="2400" b="1">
                <a:sym typeface="+mn-ea"/>
              </a:rPr>
              <a:t>19</a:t>
            </a:r>
            <a:r>
              <a:rPr sz="2400" b="1">
                <a:sym typeface="+mn-ea"/>
              </a:rPr>
              <a:t>世纪末登上历史舞台是因为它能够有效隔绝细菌，而一百多年后它遭到</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却是因为</a:t>
            </a:r>
            <a:r>
              <a:rPr sz="2400" b="1">
                <a:solidFill>
                  <a:srgbClr val="FF0000"/>
                </a:solidFill>
                <a:sym typeface="+mn-ea"/>
              </a:rPr>
              <a:t>在隔绝细菌上做的不够好</a:t>
            </a:r>
            <a:r>
              <a:rPr sz="2400" b="1">
                <a:sym typeface="+mn-ea"/>
              </a:rPr>
              <a:t>。在前一阶段，白大褂顺应了现代医疗的发展潮流，而在后一阶段它被一部分人视作现代医疗发展的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。人们对白大褂态度的变化，从本质上说是人类认识进一步深化、更为接近事物原貌的结果，这么看，</a:t>
            </a:r>
            <a:r>
              <a:rPr sz="2400" b="1">
                <a:solidFill>
                  <a:srgbClr val="00B050"/>
                </a:solidFill>
                <a:sym typeface="+mn-ea"/>
              </a:rPr>
              <a:t>白大褂的发展也是现代医疗事业发展的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sz="2400" b="1">
              <a:sym typeface="+mn-ea"/>
            </a:endParaRPr>
          </a:p>
          <a:p>
            <a:pPr>
              <a:lnSpc>
                <a:spcPct val="120000"/>
              </a:lnSpc>
              <a:spcAft>
                <a:spcPts val="800"/>
              </a:spcAft>
            </a:pPr>
            <a:r>
              <a:rPr lang="en-US" altLang="zh-CN" sz="2400" b="1">
                <a:sym typeface="+mn-ea"/>
              </a:rPr>
              <a:t>A.</a:t>
            </a:r>
            <a:r>
              <a:rPr sz="2400" b="1">
                <a:sym typeface="+mn-ea"/>
              </a:rPr>
              <a:t>挫折   壁垒   象征        </a:t>
            </a:r>
            <a:r>
              <a:rPr lang="en-US" altLang="zh-CN" sz="2400" b="1">
                <a:sym typeface="+mn-ea"/>
              </a:rPr>
              <a:t>B.</a:t>
            </a:r>
            <a:r>
              <a:rPr sz="2400" b="1">
                <a:sym typeface="+mn-ea"/>
              </a:rPr>
              <a:t>否定    桎梏   截图</a:t>
            </a:r>
            <a:endParaRPr sz="2400" b="1"/>
          </a:p>
          <a:p>
            <a:pPr>
              <a:lnSpc>
                <a:spcPct val="120000"/>
              </a:lnSpc>
              <a:spcAft>
                <a:spcPts val="800"/>
              </a:spcAft>
            </a:pPr>
            <a:r>
              <a:rPr lang="en-US" altLang="zh-CN" sz="2400" b="1">
                <a:sym typeface="+mn-ea"/>
              </a:rPr>
              <a:t>C.</a:t>
            </a:r>
            <a:r>
              <a:rPr sz="2400" b="1">
                <a:sym typeface="+mn-ea"/>
              </a:rPr>
              <a:t>质疑   羁绊   缩影        </a:t>
            </a:r>
            <a:r>
              <a:rPr lang="en-US" altLang="zh-CN" sz="2400" b="1">
                <a:sym typeface="+mn-ea"/>
              </a:rPr>
              <a:t>D.</a:t>
            </a:r>
            <a:r>
              <a:rPr sz="2400" b="1">
                <a:sym typeface="+mn-ea"/>
              </a:rPr>
              <a:t>排斥    累赘    历史</a:t>
            </a:r>
            <a:endParaRPr sz="2400" b="1">
              <a:sym typeface="+mn-ea"/>
            </a:endParaRPr>
          </a:p>
          <a:p>
            <a:pPr>
              <a:lnSpc>
                <a:spcPct val="120000"/>
              </a:lnSpc>
              <a:spcAft>
                <a:spcPts val="800"/>
              </a:spcAft>
            </a:pPr>
            <a:r>
              <a:rPr sz="2400" b="1">
                <a:sym typeface="+mn-ea"/>
              </a:rPr>
              <a:t>分析一：红色字表示怀疑，</a:t>
            </a:r>
            <a:r>
              <a:rPr lang="en-US" altLang="zh-CN" sz="2400" b="1">
                <a:sym typeface="+mn-ea"/>
              </a:rPr>
              <a:t>“</a:t>
            </a:r>
            <a:r>
              <a:rPr sz="2400" b="1">
                <a:sym typeface="+mn-ea"/>
              </a:rPr>
              <a:t>否定</a:t>
            </a:r>
            <a:r>
              <a:rPr lang="en-US" altLang="zh-CN" sz="2400" b="1">
                <a:sym typeface="+mn-ea"/>
              </a:rPr>
              <a:t>”“</a:t>
            </a:r>
            <a:r>
              <a:rPr sz="2400" b="1">
                <a:sym typeface="+mn-ea"/>
              </a:rPr>
              <a:t>排斥</a:t>
            </a:r>
            <a:r>
              <a:rPr lang="en-US" altLang="zh-CN" sz="2400" b="1">
                <a:sym typeface="+mn-ea"/>
              </a:rPr>
              <a:t>”</a:t>
            </a:r>
            <a:r>
              <a:rPr sz="2400" b="1">
                <a:sym typeface="+mn-ea"/>
              </a:rPr>
              <a:t>是完全拒绝，语义过重，排出</a:t>
            </a:r>
            <a:r>
              <a:rPr lang="en-US" altLang="zh-CN" sz="2400" b="1">
                <a:sym typeface="+mn-ea"/>
              </a:rPr>
              <a:t>BD</a:t>
            </a:r>
            <a:r>
              <a:rPr sz="2400" b="1">
                <a:sym typeface="+mn-ea"/>
              </a:rPr>
              <a:t>。</a:t>
            </a:r>
            <a:r>
              <a:rPr lang="en-US" altLang="zh-CN" sz="2400" b="1">
                <a:sym typeface="+mn-ea"/>
              </a:rPr>
              <a:t>“</a:t>
            </a:r>
            <a:r>
              <a:rPr sz="2400" b="1">
                <a:sym typeface="+mn-ea"/>
              </a:rPr>
              <a:t>壁垒</a:t>
            </a:r>
            <a:r>
              <a:rPr lang="en-US" altLang="zh-CN" sz="2400" b="1">
                <a:sym typeface="+mn-ea"/>
              </a:rPr>
              <a:t>”</a:t>
            </a:r>
            <a:r>
              <a:rPr sz="2400" b="1">
                <a:sym typeface="+mn-ea"/>
              </a:rPr>
              <a:t>指互相对立，与句意不符，排除</a:t>
            </a:r>
            <a:r>
              <a:rPr lang="en-US" altLang="zh-CN" sz="2400" b="1">
                <a:sym typeface="+mn-ea"/>
              </a:rPr>
              <a:t>A</a:t>
            </a:r>
            <a:r>
              <a:rPr sz="2400" b="1">
                <a:sym typeface="+mn-ea"/>
              </a:rPr>
              <a:t>，故选</a:t>
            </a:r>
            <a:r>
              <a:rPr lang="en-US" altLang="zh-CN" sz="2400" b="1">
                <a:sym typeface="+mn-ea"/>
              </a:rPr>
              <a:t>C</a:t>
            </a:r>
            <a:r>
              <a:rPr sz="2400" b="1">
                <a:sym typeface="+mn-ea"/>
              </a:rPr>
              <a:t>。</a:t>
            </a:r>
            <a:endParaRPr sz="2400" b="1">
              <a:sym typeface="+mn-ea"/>
            </a:endParaRPr>
          </a:p>
          <a:p>
            <a:pPr>
              <a:lnSpc>
                <a:spcPct val="120000"/>
              </a:lnSpc>
              <a:spcAft>
                <a:spcPts val="800"/>
              </a:spcAft>
            </a:pPr>
            <a:r>
              <a:rPr lang="zh-CN" altLang="en-US" sz="2400" b="1"/>
              <a:t>分析二：从第三空入手，根据句意和绿色字选</a:t>
            </a:r>
            <a:r>
              <a:rPr lang="en-US" altLang="zh-CN" sz="2400" b="1"/>
              <a:t>“</a:t>
            </a:r>
            <a:r>
              <a:rPr sz="2400" b="1"/>
              <a:t>缩影</a:t>
            </a:r>
            <a:r>
              <a:rPr lang="en-US" altLang="zh-CN" sz="2400" b="1"/>
              <a:t>”</a:t>
            </a:r>
            <a:r>
              <a:rPr sz="2400" b="1"/>
              <a:t>。</a:t>
            </a:r>
            <a:r>
              <a:rPr lang="en-US" altLang="zh-CN" sz="2400" b="1"/>
              <a:t>“</a:t>
            </a:r>
            <a:r>
              <a:rPr sz="2400" b="1"/>
              <a:t>截图</a:t>
            </a:r>
            <a:r>
              <a:rPr lang="en-US" altLang="zh-CN" sz="2400" b="1"/>
              <a:t>”</a:t>
            </a:r>
            <a:r>
              <a:rPr sz="2400" b="1"/>
              <a:t>完全一样的一段，</a:t>
            </a:r>
            <a:r>
              <a:rPr lang="en-US" altLang="zh-CN" sz="2400" b="1"/>
              <a:t>“</a:t>
            </a:r>
            <a:r>
              <a:rPr sz="2400" b="1"/>
              <a:t>历史</a:t>
            </a:r>
            <a:r>
              <a:rPr lang="en-US" altLang="zh-CN" sz="2400" b="1"/>
              <a:t>”</a:t>
            </a:r>
            <a:r>
              <a:rPr sz="2400" b="1"/>
              <a:t>完全一样，白大褂本身是现代医疗的一部分，</a:t>
            </a:r>
            <a:r>
              <a:rPr lang="en-US" altLang="zh-CN" sz="2400" b="1"/>
              <a:t>“</a:t>
            </a:r>
            <a:r>
              <a:rPr sz="2400" b="1"/>
              <a:t>象征</a:t>
            </a:r>
            <a:r>
              <a:rPr lang="en-US" altLang="zh-CN" sz="2400" b="1"/>
              <a:t>”</a:t>
            </a:r>
            <a:r>
              <a:rPr sz="2400" b="1"/>
              <a:t>不妥。</a:t>
            </a:r>
            <a:endParaRPr lang="en-US" altLang="zh-CN" sz="2400" b="1"/>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rPr>
              <a:t>真题</a:t>
            </a:r>
            <a:r>
              <a:rPr lang="en-US" altLang="zh-CN">
                <a:solidFill>
                  <a:srgbClr val="00B050"/>
                </a:solidFill>
              </a:rPr>
              <a:t>25</a:t>
            </a:r>
            <a:r>
              <a:rPr>
                <a:solidFill>
                  <a:schemeClr val="tx1"/>
                </a:solidFill>
              </a:rPr>
              <a:t>（川</a:t>
            </a:r>
            <a:r>
              <a:rPr lang="en-US" altLang="zh-CN">
                <a:solidFill>
                  <a:schemeClr val="tx1"/>
                </a:solidFill>
              </a:rPr>
              <a:t>2019</a:t>
            </a:r>
            <a:r>
              <a:rPr>
                <a:solidFill>
                  <a:schemeClr val="tx1"/>
                </a:solidFill>
              </a:rPr>
              <a:t>下</a:t>
            </a:r>
            <a:r>
              <a:rPr lang="en-US" altLang="zh-CN">
                <a:solidFill>
                  <a:schemeClr val="tx1"/>
                </a:solidFill>
              </a:rPr>
              <a:t>-25</a:t>
            </a:r>
            <a:r>
              <a:rPr>
                <a:solidFill>
                  <a:schemeClr val="tx1"/>
                </a:solidFill>
              </a:rPr>
              <a:t>）</a:t>
            </a:r>
            <a:endParaRPr>
              <a:solidFill>
                <a:schemeClr val="tx1"/>
              </a:solidFill>
            </a:endParaRPr>
          </a:p>
        </p:txBody>
      </p:sp>
      <p:sp>
        <p:nvSpPr>
          <p:cNvPr id="3" name="内容占位符 2"/>
          <p:cNvSpPr>
            <a:spLocks noGrp="1"/>
          </p:cNvSpPr>
          <p:nvPr>
            <p:ph idx="1"/>
          </p:nvPr>
        </p:nvSpPr>
        <p:spPr/>
        <p:txBody>
          <a:bodyPr/>
          <a:p>
            <a:r>
              <a:rPr lang="zh-CN" altLang="en-US" sz="2400" b="1">
                <a:solidFill>
                  <a:schemeClr val="tx1"/>
                </a:solidFill>
              </a:rPr>
              <a:t>儒家贤能政治从人性本善出发，试图以人格“修齐”的方式实现道德政治，但往往因人的善变而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；而民主政治以人性本恶为立论前提，特别强调权力来源的正当性和权力行使过程的外部制约性，将法度、制度嵌于个人道德与合理的政治之间，这就使得政治运行及其结果成为一件可以</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的事情。</a:t>
            </a:r>
            <a:endParaRPr lang="zh-CN" altLang="en-US" sz="2400" b="1">
              <a:solidFill>
                <a:schemeClr val="tx1"/>
              </a:solidFill>
            </a:endParaRPr>
          </a:p>
          <a:p>
            <a:r>
              <a:rPr lang="zh-CN" altLang="en-US" sz="2400" b="1">
                <a:solidFill>
                  <a:schemeClr val="tx1"/>
                </a:solidFill>
              </a:rPr>
              <a:t>填入画横线部分最恰当的一项是：</a:t>
            </a:r>
            <a:endParaRPr lang="zh-CN" altLang="en-US" sz="2400" b="1">
              <a:solidFill>
                <a:schemeClr val="tx1"/>
              </a:solidFill>
            </a:endParaRPr>
          </a:p>
          <a:p>
            <a:r>
              <a:rPr sz="2400" b="1">
                <a:solidFill>
                  <a:schemeClr val="tx1"/>
                </a:solidFill>
                <a:sym typeface="+mn-ea"/>
              </a:rPr>
              <a:t>A.功败垂成     监督           B.力所不及     把控</a:t>
            </a:r>
            <a:endParaRPr lang="zh-CN" altLang="en-US" sz="2400" b="1">
              <a:solidFill>
                <a:schemeClr val="tx1"/>
              </a:solidFill>
            </a:endParaRPr>
          </a:p>
          <a:p>
            <a:r>
              <a:rPr sz="2400" b="1">
                <a:solidFill>
                  <a:schemeClr val="tx1"/>
                </a:solidFill>
                <a:sym typeface="+mn-ea"/>
              </a:rPr>
              <a:t>C.不可端倪     预判           D.难以名状     干预</a:t>
            </a:r>
            <a:endParaRPr lang="zh-CN" altLang="en-US" sz="2400" b="1">
              <a:solidFill>
                <a:schemeClr val="tx1"/>
              </a:solidFill>
            </a:endParaRPr>
          </a:p>
          <a:p>
            <a:endParaRPr lang="zh-CN" altLang="en-US" sz="2400" b="1">
              <a:solidFill>
                <a:schemeClr val="tx1"/>
              </a:solidFill>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4262" y="114500"/>
            <a:ext cx="10852237" cy="648000"/>
          </a:xfrm>
        </p:spPr>
        <p:txBody>
          <a:bodyPr/>
          <a:p>
            <a:r>
              <a:rPr>
                <a:solidFill>
                  <a:srgbClr val="00B050"/>
                </a:solidFill>
              </a:rPr>
              <a:t>真题</a:t>
            </a:r>
            <a:r>
              <a:rPr lang="en-US" altLang="zh-CN">
                <a:solidFill>
                  <a:srgbClr val="00B050"/>
                </a:solidFill>
              </a:rPr>
              <a:t>25</a:t>
            </a:r>
            <a:r>
              <a:rPr>
                <a:solidFill>
                  <a:srgbClr val="00B050"/>
                </a:solidFill>
              </a:rPr>
              <a:t>分析</a:t>
            </a:r>
            <a:r>
              <a:rPr>
                <a:solidFill>
                  <a:schemeClr val="tx1"/>
                </a:solidFill>
              </a:rPr>
              <a:t>（川</a:t>
            </a:r>
            <a:r>
              <a:rPr lang="en-US" altLang="zh-CN">
                <a:solidFill>
                  <a:schemeClr val="tx1"/>
                </a:solidFill>
              </a:rPr>
              <a:t>2019</a:t>
            </a:r>
            <a:r>
              <a:rPr>
                <a:solidFill>
                  <a:schemeClr val="tx1"/>
                </a:solidFill>
              </a:rPr>
              <a:t>下</a:t>
            </a:r>
            <a:r>
              <a:rPr lang="en-US" altLang="zh-CN">
                <a:solidFill>
                  <a:schemeClr val="tx1"/>
                </a:solidFill>
              </a:rPr>
              <a:t>-23</a:t>
            </a:r>
            <a:r>
              <a:rPr>
                <a:solidFill>
                  <a:schemeClr val="tx1"/>
                </a:solidFill>
              </a:rPr>
              <a:t>）</a:t>
            </a:r>
            <a:r>
              <a:t>：</a:t>
            </a:r>
          </a:p>
        </p:txBody>
      </p:sp>
      <p:sp>
        <p:nvSpPr>
          <p:cNvPr id="3" name="内容占位符 2"/>
          <p:cNvSpPr>
            <a:spLocks noGrp="1"/>
          </p:cNvSpPr>
          <p:nvPr>
            <p:ph idx="1"/>
          </p:nvPr>
        </p:nvSpPr>
        <p:spPr>
          <a:xfrm>
            <a:off x="584200" y="814705"/>
            <a:ext cx="10852150" cy="5573395"/>
          </a:xfrm>
        </p:spPr>
        <p:txBody>
          <a:bodyPr/>
          <a:p>
            <a:r>
              <a:rPr lang="zh-CN" altLang="en-US" sz="2400" b="1"/>
              <a:t>儒家贤能政治从人性本善出发，试图以人格“修齐”的方式实现道德政治，</a:t>
            </a:r>
            <a:r>
              <a:rPr lang="zh-CN" altLang="en-US" sz="2400" b="1">
                <a:solidFill>
                  <a:srgbClr val="FF0000"/>
                </a:solidFill>
              </a:rPr>
              <a:t>但</a:t>
            </a:r>
            <a:r>
              <a:rPr lang="zh-CN" altLang="en-US" sz="2400" b="1"/>
              <a:t>往往因人的善变而</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；而民主政治以人性本恶为立论前提，特别强调权力来源的正当性和权力行使过程的外部制约性，将法度、制度嵌于个人道德与合理的政治之间，这就使得政治运行及其结果成为一件可以</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的事情。</a:t>
            </a:r>
            <a:endParaRPr lang="zh-CN" altLang="en-US" sz="2400" b="1"/>
          </a:p>
          <a:p>
            <a:r>
              <a:rPr lang="zh-CN" altLang="en-US" sz="2400" b="1"/>
              <a:t>A.功败垂成     监督           B.力所不及     把控</a:t>
            </a:r>
            <a:endParaRPr lang="zh-CN" altLang="en-US" sz="2400" b="1"/>
          </a:p>
          <a:p>
            <a:r>
              <a:rPr lang="zh-CN" altLang="en-US" sz="2400" b="1"/>
              <a:t>C.不可端倪     预判           D.难以名状     干预</a:t>
            </a:r>
            <a:endParaRPr lang="zh-CN" altLang="en-US" sz="2400" b="1"/>
          </a:p>
          <a:p>
            <a:r>
              <a:rPr lang="zh-CN" altLang="en-US" sz="2400" b="1"/>
              <a:t>分析：根据</a:t>
            </a:r>
            <a:r>
              <a:rPr lang="en-US" altLang="zh-CN" sz="2400" b="1"/>
              <a:t>“</a:t>
            </a:r>
            <a:r>
              <a:rPr sz="2400" b="1">
                <a:solidFill>
                  <a:srgbClr val="FF0000"/>
                </a:solidFill>
                <a:sym typeface="+mn-ea"/>
              </a:rPr>
              <a:t>但</a:t>
            </a:r>
            <a:r>
              <a:rPr lang="en-US" altLang="zh-CN" sz="2400" b="1"/>
              <a:t>”</a:t>
            </a:r>
            <a:r>
              <a:rPr sz="2400" b="1"/>
              <a:t>可知第一空与前文语义相反。</a:t>
            </a:r>
            <a:r>
              <a:rPr lang="en-US" altLang="zh-CN" sz="2400" b="1"/>
              <a:t>“</a:t>
            </a:r>
            <a:r>
              <a:rPr sz="2400" b="1">
                <a:sym typeface="+mn-ea"/>
              </a:rPr>
              <a:t>功败垂成</a:t>
            </a:r>
            <a:r>
              <a:rPr lang="en-US" altLang="zh-CN" sz="2400" b="1"/>
              <a:t>”</a:t>
            </a:r>
            <a:r>
              <a:rPr sz="2400" b="1"/>
              <a:t>句意没有</a:t>
            </a:r>
            <a:r>
              <a:rPr lang="en-US" altLang="zh-CN" sz="2400" b="1"/>
              <a:t>“</a:t>
            </a:r>
            <a:r>
              <a:rPr sz="2400" b="1"/>
              <a:t>快要成功</a:t>
            </a:r>
            <a:r>
              <a:rPr lang="en-US" altLang="zh-CN" sz="2400" b="1"/>
              <a:t>”</a:t>
            </a:r>
            <a:r>
              <a:rPr sz="2400" b="1"/>
              <a:t>之意，排除</a:t>
            </a:r>
            <a:r>
              <a:rPr lang="en-US" altLang="zh-CN" sz="2400" b="1"/>
              <a:t>A</a:t>
            </a:r>
            <a:r>
              <a:rPr sz="2400" b="1"/>
              <a:t>。</a:t>
            </a:r>
            <a:r>
              <a:rPr lang="en-US" altLang="zh-CN" sz="2400" b="1"/>
              <a:t>“</a:t>
            </a:r>
            <a:r>
              <a:rPr sz="2400" b="1">
                <a:sym typeface="+mn-ea"/>
              </a:rPr>
              <a:t>难以名状</a:t>
            </a:r>
            <a:r>
              <a:rPr lang="en-US" altLang="zh-CN" sz="2400" b="1"/>
              <a:t>”</a:t>
            </a:r>
            <a:r>
              <a:rPr sz="2400" b="1"/>
              <a:t>难以形容，与句意无关，排除</a:t>
            </a:r>
            <a:r>
              <a:rPr lang="en-US" altLang="zh-CN" sz="2400" b="1"/>
              <a:t>D</a:t>
            </a:r>
            <a:r>
              <a:rPr sz="2400" b="1"/>
              <a:t>。</a:t>
            </a:r>
            <a:r>
              <a:rPr lang="en-US" altLang="zh-CN" sz="2400" b="1"/>
              <a:t>“</a:t>
            </a:r>
            <a:r>
              <a:rPr sz="2400" b="1">
                <a:sym typeface="+mn-ea"/>
              </a:rPr>
              <a:t>把控</a:t>
            </a:r>
            <a:r>
              <a:rPr lang="en-US" altLang="zh-CN" sz="2400" b="1"/>
              <a:t>”</a:t>
            </a:r>
            <a:r>
              <a:rPr sz="2400" b="1"/>
              <a:t>指有组织、有计划、有标准地完成，语义过重。故选</a:t>
            </a:r>
            <a:r>
              <a:rPr lang="en-US" altLang="zh-CN" sz="2400" b="1"/>
              <a:t>C</a:t>
            </a:r>
            <a:r>
              <a:rPr sz="2400" b="1"/>
              <a:t>。</a:t>
            </a:r>
            <a:endParaRPr lang="en-US" altLang="zh-CN" sz="2400" b="1"/>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a:t>
            </a:r>
            <a:r>
              <a:t>词语的感情色彩</a:t>
            </a:r>
          </a:p>
        </p:txBody>
      </p:sp>
      <p:sp>
        <p:nvSpPr>
          <p:cNvPr id="3" name="内容占位符 2"/>
          <p:cNvSpPr>
            <a:spLocks noGrp="1"/>
          </p:cNvSpPr>
          <p:nvPr>
            <p:ph idx="1"/>
          </p:nvPr>
        </p:nvSpPr>
        <p:spPr/>
        <p:txBody>
          <a:bodyPr/>
          <a:p>
            <a:r>
              <a:rPr sz="2400" b="1">
                <a:solidFill>
                  <a:srgbClr val="FF0000"/>
                </a:solidFill>
                <a:sym typeface="+mn-ea"/>
              </a:rPr>
              <a:t>词语的感情色彩分为褒义、贬义和中性。准确把握作者的褒贬态度和立场</a:t>
            </a:r>
            <a:r>
              <a:rPr sz="2400" b="1">
                <a:sym typeface="+mn-ea"/>
              </a:rPr>
              <a:t>。</a:t>
            </a:r>
            <a:endParaRPr sz="2400" b="1">
              <a:sym typeface="+mn-ea"/>
            </a:endParaRPr>
          </a:p>
          <a:p>
            <a:r>
              <a:rPr sz="2400" b="1">
                <a:sym typeface="+mn-ea"/>
              </a:rPr>
              <a:t>成果、 后果和结果分别为</a:t>
            </a:r>
            <a:r>
              <a:rPr sz="2400" b="1">
                <a:sym typeface="+mn-ea"/>
              </a:rPr>
              <a:t>褒义、贬义和中性</a:t>
            </a:r>
            <a:endParaRPr sz="2400" b="1">
              <a:sym typeface="+mn-ea"/>
            </a:endParaRPr>
          </a:p>
          <a:p>
            <a:r>
              <a:rPr sz="2400" b="1">
                <a:solidFill>
                  <a:srgbClr val="00B050"/>
                </a:solidFill>
                <a:sym typeface="+mn-ea"/>
              </a:rPr>
              <a:t>真题</a:t>
            </a:r>
            <a:r>
              <a:rPr lang="en-US" altLang="zh-CN" sz="2400" b="1">
                <a:solidFill>
                  <a:srgbClr val="00B050"/>
                </a:solidFill>
                <a:sym typeface="+mn-ea"/>
              </a:rPr>
              <a:t>26</a:t>
            </a:r>
            <a:r>
              <a:rPr sz="2400" b="1">
                <a:sym typeface="+mn-ea"/>
              </a:rPr>
              <a:t>：在动画片的题材中，童话、神话、民间故事占了很大比例，就是因为这些题材带有浓厚幻想色彩的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故事，具有鲜明的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、假定与象征因素。神话虚幻的故事借助动画的假定性不仅可以得到淋漓尽致的表现，而且动画艺术的特性也能够得以充分发挥。</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虚构    寓意        </a:t>
            </a:r>
            <a:r>
              <a:rPr lang="en-US" altLang="zh-CN" sz="2400" b="1">
                <a:sym typeface="+mn-ea"/>
              </a:rPr>
              <a:t>B.</a:t>
            </a:r>
            <a:r>
              <a:rPr sz="2400" b="1">
                <a:sym typeface="+mn-ea"/>
              </a:rPr>
              <a:t>虚幻    含义</a:t>
            </a:r>
            <a:endParaRPr sz="2400" b="1">
              <a:sym typeface="+mn-ea"/>
            </a:endParaRPr>
          </a:p>
          <a:p>
            <a:r>
              <a:rPr lang="en-US" altLang="zh-CN" sz="2400" b="1">
                <a:sym typeface="+mn-ea"/>
              </a:rPr>
              <a:t>C.</a:t>
            </a:r>
            <a:r>
              <a:rPr sz="2400" b="1">
                <a:sym typeface="+mn-ea"/>
              </a:rPr>
              <a:t>虚假    含意        </a:t>
            </a:r>
            <a:r>
              <a:rPr lang="en-US" altLang="zh-CN" sz="2400" b="1">
                <a:sym typeface="+mn-ea"/>
              </a:rPr>
              <a:t>D.</a:t>
            </a:r>
            <a:r>
              <a:rPr sz="2400" b="1">
                <a:sym typeface="+mn-ea"/>
              </a:rPr>
              <a:t>虚拟    喻义</a:t>
            </a:r>
            <a:endParaRPr sz="2400" b="1">
              <a:sym typeface="+mn-ea"/>
            </a:endParaRPr>
          </a:p>
          <a:p>
            <a:endParaRPr sz="2400" b="1">
              <a:sym typeface="+mn-ea"/>
            </a:endParaRPr>
          </a:p>
          <a:p>
            <a:endParaRPr sz="2400" b="1">
              <a:sym typeface="+mn-ea"/>
            </a:endParaRPr>
          </a:p>
          <a:p>
            <a:endParaRPr sz="2400" b="1">
              <a:sym typeface="+mn-ea"/>
            </a:endParaRPr>
          </a:p>
          <a:p>
            <a:endParaRPr sz="2400" b="1">
              <a:sym typeface="+mn-ea"/>
            </a:endParaRPr>
          </a:p>
          <a:p>
            <a:endParaRPr lang="zh-CN" altLang="en-US" sz="2400" b="1"/>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26</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sz="2400" b="1">
                <a:sym typeface="+mn-ea"/>
              </a:rPr>
              <a:t>真题</a:t>
            </a:r>
            <a:r>
              <a:rPr lang="en-US" altLang="zh-CN" sz="2400" b="1">
                <a:sym typeface="+mn-ea"/>
              </a:rPr>
              <a:t>26</a:t>
            </a:r>
            <a:r>
              <a:rPr sz="2400" b="1">
                <a:sym typeface="+mn-ea"/>
              </a:rPr>
              <a:t>：在动画片的题材中，童话、神话、民间故事占了很大比例，就是因为这些题材带有浓厚幻想色彩的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故事，具有鲜明的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FF0000"/>
                </a:solidFill>
                <a:sym typeface="+mn-ea"/>
              </a:rPr>
              <a:t>假定与象征</a:t>
            </a:r>
            <a:r>
              <a:rPr sz="2400" b="1">
                <a:sym typeface="+mn-ea"/>
              </a:rPr>
              <a:t>因素。神话虚幻的故事借助动画的假定性不仅可以得到淋漓尽致的表现，而且动画艺术的特性也能够得以充分发挥。</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虚构    寓意        </a:t>
            </a:r>
            <a:r>
              <a:rPr lang="en-US" altLang="zh-CN" sz="2400" b="1">
                <a:sym typeface="+mn-ea"/>
              </a:rPr>
              <a:t>B.</a:t>
            </a:r>
            <a:r>
              <a:rPr sz="2400" b="1">
                <a:sym typeface="+mn-ea"/>
              </a:rPr>
              <a:t>虚幻    含义</a:t>
            </a:r>
            <a:endParaRPr sz="2400" b="1">
              <a:sym typeface="+mn-ea"/>
            </a:endParaRPr>
          </a:p>
          <a:p>
            <a:r>
              <a:rPr lang="en-US" altLang="zh-CN" sz="2400" b="1">
                <a:sym typeface="+mn-ea"/>
              </a:rPr>
              <a:t>C.</a:t>
            </a:r>
            <a:r>
              <a:rPr sz="2400" b="1">
                <a:sym typeface="+mn-ea"/>
              </a:rPr>
              <a:t>虚假    含意        </a:t>
            </a:r>
            <a:r>
              <a:rPr lang="en-US" altLang="zh-CN" sz="2400" b="1">
                <a:sym typeface="+mn-ea"/>
              </a:rPr>
              <a:t>D.</a:t>
            </a:r>
            <a:r>
              <a:rPr sz="2400" b="1">
                <a:sym typeface="+mn-ea"/>
              </a:rPr>
              <a:t>虚拟    喻义</a:t>
            </a:r>
            <a:endParaRPr sz="2400" b="1">
              <a:sym typeface="+mn-ea"/>
            </a:endParaRPr>
          </a:p>
          <a:p>
            <a:r>
              <a:rPr sz="2400" b="1">
                <a:sym typeface="+mn-ea"/>
              </a:rPr>
              <a:t>分析：</a:t>
            </a:r>
            <a:r>
              <a:rPr lang="en-US" altLang="zh-CN" sz="2400" b="1">
                <a:sym typeface="+mn-ea"/>
              </a:rPr>
              <a:t>“</a:t>
            </a:r>
            <a:r>
              <a:rPr sz="2400" b="1">
                <a:sym typeface="+mn-ea"/>
              </a:rPr>
              <a:t>虚假</a:t>
            </a:r>
            <a:r>
              <a:rPr lang="en-US" altLang="zh-CN" sz="2400" b="1">
                <a:sym typeface="+mn-ea"/>
              </a:rPr>
              <a:t>”</a:t>
            </a:r>
            <a:r>
              <a:rPr sz="2400" b="1">
                <a:sym typeface="+mn-ea"/>
              </a:rPr>
              <a:t>是贬义，排除</a:t>
            </a:r>
            <a:r>
              <a:rPr lang="en-US" altLang="zh-CN" sz="2400" b="1">
                <a:sym typeface="+mn-ea"/>
              </a:rPr>
              <a:t>C;</a:t>
            </a:r>
            <a:r>
              <a:rPr sz="2400" b="1">
                <a:sym typeface="+mn-ea"/>
              </a:rPr>
              <a:t>第二空与</a:t>
            </a:r>
            <a:r>
              <a:rPr lang="en-US" altLang="zh-CN" sz="2400" b="1">
                <a:sym typeface="+mn-ea"/>
              </a:rPr>
              <a:t>“</a:t>
            </a:r>
            <a:r>
              <a:rPr sz="2400" b="1">
                <a:sym typeface="+mn-ea"/>
              </a:rPr>
              <a:t>假定与象征</a:t>
            </a:r>
            <a:r>
              <a:rPr lang="en-US" altLang="zh-CN" sz="2400" b="1">
                <a:sym typeface="+mn-ea"/>
              </a:rPr>
              <a:t>”</a:t>
            </a:r>
            <a:r>
              <a:rPr sz="2400" b="1">
                <a:sym typeface="+mn-ea"/>
              </a:rPr>
              <a:t>并列，排除</a:t>
            </a:r>
            <a:r>
              <a:rPr lang="en-US" altLang="zh-CN" sz="2400" b="1">
                <a:sym typeface="+mn-ea"/>
              </a:rPr>
              <a:t>BC</a:t>
            </a:r>
            <a:r>
              <a:rPr sz="2400" b="1">
                <a:sym typeface="+mn-ea"/>
              </a:rPr>
              <a:t>。</a:t>
            </a:r>
            <a:r>
              <a:rPr lang="en-US" altLang="zh-CN" sz="2400" b="1">
                <a:sym typeface="+mn-ea"/>
              </a:rPr>
              <a:t>“</a:t>
            </a:r>
            <a:r>
              <a:rPr sz="2400" b="1">
                <a:sym typeface="+mn-ea"/>
              </a:rPr>
              <a:t>虚拟</a:t>
            </a:r>
            <a:r>
              <a:rPr lang="en-US" altLang="zh-CN" sz="2400" b="1">
                <a:sym typeface="+mn-ea"/>
              </a:rPr>
              <a:t>”</a:t>
            </a:r>
            <a:r>
              <a:rPr sz="2400" b="1">
                <a:sym typeface="+mn-ea"/>
              </a:rPr>
              <a:t>多修饰现实、人物，一般不与故事搭配。故选</a:t>
            </a:r>
            <a:r>
              <a:rPr lang="en-US" altLang="zh-CN" sz="2400" b="1">
                <a:sym typeface="+mn-ea"/>
              </a:rPr>
              <a:t>A</a:t>
            </a:r>
            <a:r>
              <a:rPr sz="2400" b="1">
                <a:sym typeface="+mn-ea"/>
              </a:rPr>
              <a:t>。</a:t>
            </a:r>
            <a:endParaRPr sz="2400" b="1">
              <a:sym typeface="+mn-ea"/>
            </a:endParaRPr>
          </a:p>
          <a:p>
            <a:endParaRPr lang="zh-CN" altLang="en-US" sz="240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27</a:t>
            </a:r>
            <a:r>
              <a:rPr>
                <a:solidFill>
                  <a:schemeClr val="tx1"/>
                </a:solidFill>
              </a:rPr>
              <a:t>（川</a:t>
            </a:r>
            <a:r>
              <a:rPr lang="en-US" altLang="zh-CN">
                <a:solidFill>
                  <a:schemeClr val="tx1"/>
                </a:solidFill>
              </a:rPr>
              <a:t>2019</a:t>
            </a:r>
            <a:r>
              <a:rPr>
                <a:solidFill>
                  <a:schemeClr val="tx1"/>
                </a:solidFill>
              </a:rPr>
              <a:t>下</a:t>
            </a:r>
            <a:r>
              <a:rPr lang="en-US" altLang="zh-CN">
                <a:solidFill>
                  <a:schemeClr val="tx1"/>
                </a:solidFill>
              </a:rPr>
              <a:t>-24</a:t>
            </a:r>
            <a:r>
              <a:rPr>
                <a:solidFill>
                  <a:schemeClr val="tx1"/>
                </a:solidFill>
              </a:rPr>
              <a:t>）</a:t>
            </a:r>
            <a:endParaRPr>
              <a:solidFill>
                <a:schemeClr val="tx1"/>
              </a:solidFill>
            </a:endParaRPr>
          </a:p>
        </p:txBody>
      </p:sp>
      <p:sp>
        <p:nvSpPr>
          <p:cNvPr id="3" name="内容占位符 2"/>
          <p:cNvSpPr>
            <a:spLocks noGrp="1"/>
          </p:cNvSpPr>
          <p:nvPr>
            <p:ph idx="1"/>
          </p:nvPr>
        </p:nvSpPr>
        <p:spPr/>
        <p:txBody>
          <a:bodyPr/>
          <a:p>
            <a:r>
              <a:rPr lang="zh-CN" altLang="en-US" sz="2400" b="1">
                <a:solidFill>
                  <a:schemeClr val="tx1"/>
                </a:solidFill>
              </a:rPr>
              <a:t>网络文学经过20年的快速发展，已收获丰富的作品、巨大的经济效益和来自各方的关注。但在爆发式增长的同时，有关其价值及合理性的质疑也</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。综观网络文学整体，虽然不乏</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的佳作，但与庞大基数相比，精品数量依旧偏少。</a:t>
            </a:r>
            <a:endParaRPr lang="zh-CN" altLang="en-US" sz="2400" b="1">
              <a:solidFill>
                <a:schemeClr val="tx1"/>
              </a:solidFill>
            </a:endParaRPr>
          </a:p>
          <a:p>
            <a:r>
              <a:rPr lang="zh-CN" altLang="en-US" sz="2400" b="1">
                <a:solidFill>
                  <a:schemeClr val="tx1"/>
                </a:solidFill>
              </a:rPr>
              <a:t>填入画横线部分最恰当的一项是：</a:t>
            </a:r>
            <a:endParaRPr lang="zh-CN" altLang="en-US" sz="2400" b="1">
              <a:solidFill>
                <a:schemeClr val="tx1"/>
              </a:solidFill>
            </a:endParaRPr>
          </a:p>
          <a:p>
            <a:r>
              <a:rPr lang="zh-CN" altLang="en-US" sz="2400" b="1">
                <a:solidFill>
                  <a:schemeClr val="tx1"/>
                </a:solidFill>
              </a:rPr>
              <a:t>A.接踵而至    琳琅满目         B.甚嚣尘上    雅俗共赏</a:t>
            </a:r>
            <a:endParaRPr lang="zh-CN" altLang="en-US" sz="2400" b="1">
              <a:solidFill>
                <a:schemeClr val="tx1"/>
              </a:solidFill>
            </a:endParaRPr>
          </a:p>
          <a:p>
            <a:r>
              <a:rPr lang="zh-CN" altLang="en-US" sz="2400" b="1">
                <a:solidFill>
                  <a:schemeClr val="tx1"/>
                </a:solidFill>
              </a:rPr>
              <a:t>C.如影随形    耳目一新         D.不绝于耳    风靡一时</a:t>
            </a:r>
            <a:endParaRPr lang="zh-CN" altLang="en-US" sz="2400" b="1">
              <a:solidFill>
                <a:schemeClr val="tx1"/>
              </a:solidFill>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2397" y="259915"/>
            <a:ext cx="10852237" cy="648000"/>
          </a:xfrm>
        </p:spPr>
        <p:txBody>
          <a:bodyPr/>
          <a:p>
            <a:r>
              <a:rPr lang="zh-CN" altLang="en-US">
                <a:solidFill>
                  <a:schemeClr val="tx1"/>
                </a:solidFill>
              </a:rPr>
              <a:t>真题</a:t>
            </a:r>
            <a:r>
              <a:rPr lang="en-US" altLang="zh-CN">
                <a:solidFill>
                  <a:schemeClr val="tx1"/>
                </a:solidFill>
              </a:rPr>
              <a:t>27</a:t>
            </a:r>
            <a:r>
              <a:rPr>
                <a:solidFill>
                  <a:schemeClr val="tx1"/>
                </a:solidFill>
              </a:rPr>
              <a:t>分析（川</a:t>
            </a:r>
            <a:r>
              <a:rPr lang="en-US" altLang="zh-CN">
                <a:solidFill>
                  <a:schemeClr val="tx1"/>
                </a:solidFill>
              </a:rPr>
              <a:t>2019</a:t>
            </a:r>
            <a:r>
              <a:rPr>
                <a:solidFill>
                  <a:schemeClr val="tx1"/>
                </a:solidFill>
              </a:rPr>
              <a:t>下</a:t>
            </a:r>
            <a:r>
              <a:rPr lang="en-US" altLang="zh-CN">
                <a:solidFill>
                  <a:schemeClr val="tx1"/>
                </a:solidFill>
              </a:rPr>
              <a:t>-24</a:t>
            </a:r>
            <a:r>
              <a:rPr>
                <a:solidFill>
                  <a:schemeClr val="tx1"/>
                </a:solidFill>
              </a:rPr>
              <a:t>）</a:t>
            </a:r>
            <a:endParaRPr>
              <a:solidFill>
                <a:schemeClr val="tx1"/>
              </a:solidFill>
            </a:endParaRPr>
          </a:p>
        </p:txBody>
      </p:sp>
      <p:sp>
        <p:nvSpPr>
          <p:cNvPr id="3" name="内容占位符 2"/>
          <p:cNvSpPr>
            <a:spLocks noGrp="1"/>
          </p:cNvSpPr>
          <p:nvPr>
            <p:ph idx="1"/>
          </p:nvPr>
        </p:nvSpPr>
        <p:spPr>
          <a:xfrm>
            <a:off x="669925" y="996315"/>
            <a:ext cx="10852150" cy="5340985"/>
          </a:xfrm>
        </p:spPr>
        <p:txBody>
          <a:bodyPr/>
          <a:p>
            <a:r>
              <a:rPr lang="zh-CN" altLang="en-US" sz="2400" b="1"/>
              <a:t>网络文学经过20年的快速发展，已收获丰富的作品、巨大的经济效益和来自各方的关注。但在爆发式增长的同时，</a:t>
            </a:r>
            <a:r>
              <a:rPr lang="zh-CN" altLang="en-US" sz="2400" b="1">
                <a:solidFill>
                  <a:srgbClr val="00B050"/>
                </a:solidFill>
              </a:rPr>
              <a:t>有关其价值及合理性的</a:t>
            </a:r>
            <a:r>
              <a:rPr lang="zh-CN" altLang="en-US" sz="2400" b="1">
                <a:solidFill>
                  <a:srgbClr val="FF0000"/>
                </a:solidFill>
              </a:rPr>
              <a:t>质疑</a:t>
            </a:r>
            <a:r>
              <a:rPr lang="zh-CN" altLang="en-US" sz="2400" b="1">
                <a:solidFill>
                  <a:srgbClr val="00B050"/>
                </a:solidFill>
              </a:rPr>
              <a:t>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。综观网络文学整体，虽然不乏</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的佳作，但与庞大基数相比，精品数量依旧偏少。</a:t>
            </a:r>
            <a:endParaRPr lang="zh-CN" altLang="en-US" sz="2400" b="1"/>
          </a:p>
          <a:p>
            <a:r>
              <a:rPr lang="zh-CN" altLang="en-US" sz="2400" b="1"/>
              <a:t>填入画横线部分最恰当的一项是：</a:t>
            </a:r>
            <a:endParaRPr lang="zh-CN" altLang="en-US" sz="2400" b="1"/>
          </a:p>
          <a:p>
            <a:r>
              <a:rPr lang="zh-CN" altLang="en-US" sz="2400" b="1"/>
              <a:t>A.接踵而至      琳琅满目       B.甚嚣尘上     雅俗共赏</a:t>
            </a:r>
            <a:endParaRPr lang="zh-CN" altLang="en-US" sz="2400" b="1"/>
          </a:p>
          <a:p>
            <a:r>
              <a:rPr lang="zh-CN" altLang="en-US" sz="2400" b="1"/>
              <a:t>C.如影随形      耳目一新        D.不绝于耳     风靡一时</a:t>
            </a:r>
            <a:endParaRPr lang="zh-CN" altLang="en-US" sz="2400" b="1"/>
          </a:p>
          <a:p>
            <a:r>
              <a:rPr lang="zh-CN" altLang="en-US" sz="2400" b="1"/>
              <a:t>分析：文段客观描述，</a:t>
            </a:r>
            <a:r>
              <a:rPr lang="en-US" altLang="zh-CN" sz="2400" b="1"/>
              <a:t>“</a:t>
            </a:r>
            <a:r>
              <a:rPr sz="2400" b="1">
                <a:sym typeface="+mn-ea"/>
              </a:rPr>
              <a:t>甚嚣尘上</a:t>
            </a:r>
            <a:r>
              <a:rPr lang="en-US" altLang="zh-CN" sz="2400" b="1"/>
              <a:t>”</a:t>
            </a:r>
            <a:r>
              <a:rPr sz="2400" b="1"/>
              <a:t>贬义。</a:t>
            </a:r>
            <a:r>
              <a:rPr lang="en-US" altLang="zh-CN" sz="2400" b="1"/>
              <a:t>“</a:t>
            </a:r>
            <a:r>
              <a:rPr sz="2400" b="1">
                <a:sym typeface="+mn-ea"/>
              </a:rPr>
              <a:t>如影随形</a:t>
            </a:r>
            <a:r>
              <a:rPr lang="en-US" altLang="zh-CN" sz="2400" b="1"/>
              <a:t>”</a:t>
            </a:r>
            <a:r>
              <a:rPr sz="2400" b="1"/>
              <a:t>关系密切，不符合句意，且不与</a:t>
            </a:r>
            <a:r>
              <a:rPr lang="en-US" altLang="zh-CN" sz="2400" b="1"/>
              <a:t>“</a:t>
            </a:r>
            <a:r>
              <a:rPr sz="2400" b="1"/>
              <a:t>质疑</a:t>
            </a:r>
            <a:r>
              <a:rPr lang="en-US" altLang="zh-CN" sz="2400" b="1"/>
              <a:t>”</a:t>
            </a:r>
            <a:r>
              <a:rPr sz="2400" b="1"/>
              <a:t>搭配</a:t>
            </a:r>
            <a:r>
              <a:rPr sz="2400" b="1"/>
              <a:t>。</a:t>
            </a:r>
            <a:r>
              <a:rPr lang="en-US" altLang="zh-CN" sz="2400" b="1"/>
              <a:t>“</a:t>
            </a:r>
            <a:r>
              <a:rPr sz="2400" b="1">
                <a:sym typeface="+mn-ea"/>
              </a:rPr>
              <a:t>琳琅满目</a:t>
            </a:r>
            <a:r>
              <a:rPr lang="en-US" altLang="zh-CN" sz="2400" b="1"/>
              <a:t>”</a:t>
            </a:r>
            <a:r>
              <a:rPr sz="2400" b="1"/>
              <a:t>形容美好事物，常与商品艺术品搭配。</a:t>
            </a:r>
            <a:r>
              <a:rPr lang="en-US" altLang="zh-CN" sz="2400" b="1"/>
              <a:t>“</a:t>
            </a:r>
            <a:r>
              <a:rPr sz="2400" b="1">
                <a:sym typeface="+mn-ea"/>
              </a:rPr>
              <a:t>风靡一时</a:t>
            </a:r>
            <a:r>
              <a:rPr lang="en-US" altLang="zh-CN" sz="2400" b="1"/>
              <a:t>”</a:t>
            </a:r>
            <a:r>
              <a:rPr sz="2400" b="1"/>
              <a:t>一时间极为流行，恰当，故选</a:t>
            </a:r>
            <a:r>
              <a:rPr lang="en-US" altLang="zh-CN" sz="2400" b="1"/>
              <a:t>D.</a:t>
            </a:r>
            <a:endParaRPr lang="en-US" altLang="zh-CN" sz="2400" b="1"/>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5.</a:t>
            </a:r>
            <a:r>
              <a:t>词语搭配</a:t>
            </a:r>
          </a:p>
        </p:txBody>
      </p:sp>
      <p:sp>
        <p:nvSpPr>
          <p:cNvPr id="3" name="内容占位符 2"/>
          <p:cNvSpPr>
            <a:spLocks noGrp="1"/>
          </p:cNvSpPr>
          <p:nvPr>
            <p:ph idx="1"/>
          </p:nvPr>
        </p:nvSpPr>
        <p:spPr/>
        <p:txBody>
          <a:bodyPr/>
          <a:p>
            <a:r>
              <a:rPr sz="2400" b="1">
                <a:solidFill>
                  <a:srgbClr val="FF0000"/>
                </a:solidFill>
                <a:sym typeface="+mn-ea"/>
              </a:rPr>
              <a:t>有些词语意思基本相同，但习惯性搭配不同。多阅读、多积累。</a:t>
            </a:r>
            <a:endParaRPr sz="2400" b="1">
              <a:solidFill>
                <a:srgbClr val="FF0000"/>
              </a:solidFill>
              <a:sym typeface="+mn-ea"/>
            </a:endParaRPr>
          </a:p>
          <a:p>
            <a:r>
              <a:rPr sz="2400" b="1">
                <a:sym typeface="+mn-ea"/>
              </a:rPr>
              <a:t>新鲜：食品、血液、空气；      新颖：款式、观点、构思</a:t>
            </a:r>
            <a:endParaRPr sz="2400" b="1">
              <a:sym typeface="+mn-ea"/>
            </a:endParaRPr>
          </a:p>
          <a:p>
            <a:r>
              <a:rPr sz="2400" b="1">
                <a:solidFill>
                  <a:srgbClr val="00B050"/>
                </a:solidFill>
                <a:sym typeface="+mn-ea"/>
              </a:rPr>
              <a:t>真题</a:t>
            </a:r>
            <a:r>
              <a:rPr lang="en-US" altLang="zh-CN" sz="2400" b="1">
                <a:solidFill>
                  <a:srgbClr val="00B050"/>
                </a:solidFill>
                <a:sym typeface="+mn-ea"/>
              </a:rPr>
              <a:t>28</a:t>
            </a:r>
            <a:r>
              <a:rPr sz="2400" b="1">
                <a:sym typeface="+mn-ea"/>
              </a:rPr>
              <a:t>：法治和礼治发生在两种不同的社会</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中，这里所谓的礼治也许就是通常所说的人治，但礼治一词不会像人治一词那样容易引起</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，以至有人觉得社会秩序是可以由个人好恶来维持的。</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形态    歧义        </a:t>
            </a:r>
            <a:r>
              <a:rPr lang="en-US" altLang="zh-CN" sz="2400" b="1">
                <a:sym typeface="+mn-ea"/>
              </a:rPr>
              <a:t>B.</a:t>
            </a:r>
            <a:r>
              <a:rPr sz="2400" b="1">
                <a:sym typeface="+mn-ea"/>
              </a:rPr>
              <a:t>模式    偏差</a:t>
            </a:r>
            <a:endParaRPr sz="2400" b="1">
              <a:sym typeface="+mn-ea"/>
            </a:endParaRPr>
          </a:p>
          <a:p>
            <a:r>
              <a:rPr lang="en-US" altLang="zh-CN" sz="2400" b="1">
                <a:sym typeface="+mn-ea"/>
              </a:rPr>
              <a:t>C.</a:t>
            </a:r>
            <a:r>
              <a:rPr sz="2400" b="1">
                <a:sym typeface="+mn-ea"/>
              </a:rPr>
              <a:t>情态    误解        </a:t>
            </a:r>
            <a:r>
              <a:rPr lang="en-US" altLang="zh-CN" sz="2400" b="1">
                <a:sym typeface="+mn-ea"/>
              </a:rPr>
              <a:t>D.</a:t>
            </a:r>
            <a:r>
              <a:rPr sz="2400" b="1">
                <a:sym typeface="+mn-ea"/>
              </a:rPr>
              <a:t>形式    干扰</a:t>
            </a:r>
            <a:endParaRPr sz="2400" b="1">
              <a:sym typeface="+mn-ea"/>
            </a:endParaRPr>
          </a:p>
          <a:p>
            <a:endParaRPr lang="zh-CN" altLang="en-US" sz="240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28</a:t>
            </a:r>
            <a:r>
              <a:t>分析</a:t>
            </a:r>
            <a:r>
              <a:t>：</a:t>
            </a:r>
          </a:p>
        </p:txBody>
      </p:sp>
      <p:sp>
        <p:nvSpPr>
          <p:cNvPr id="3" name="内容占位符 2"/>
          <p:cNvSpPr>
            <a:spLocks noGrp="1"/>
          </p:cNvSpPr>
          <p:nvPr>
            <p:ph idx="1"/>
          </p:nvPr>
        </p:nvSpPr>
        <p:spPr/>
        <p:txBody>
          <a:bodyPr/>
          <a:p>
            <a:r>
              <a:rPr sz="2400" b="1">
                <a:sym typeface="+mn-ea"/>
              </a:rPr>
              <a:t>真题</a:t>
            </a:r>
            <a:r>
              <a:rPr lang="en-US" altLang="zh-CN" sz="2400" b="1">
                <a:sym typeface="+mn-ea"/>
              </a:rPr>
              <a:t>28</a:t>
            </a:r>
            <a:r>
              <a:rPr sz="2400" b="1">
                <a:sym typeface="+mn-ea"/>
              </a:rPr>
              <a:t>：法治和礼治发生在两种不同的社会</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中，这里所谓的礼治也许就是通常所说的人治，但礼治一词不会像人治一词那样容易</a:t>
            </a:r>
            <a:r>
              <a:rPr sz="2400" b="1">
                <a:solidFill>
                  <a:srgbClr val="FF0000"/>
                </a:solidFill>
                <a:sym typeface="+mn-ea"/>
              </a:rPr>
              <a:t>引起</a:t>
            </a:r>
            <a:r>
              <a:rPr sz="2400" b="1">
                <a:solidFill>
                  <a:srgbClr val="FF0000"/>
                </a:solidFill>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00B050"/>
                </a:solidFill>
                <a:sym typeface="+mn-ea"/>
              </a:rPr>
              <a:t>以至有人觉得社会秩序是可以由个人好恶来维持的</a:t>
            </a:r>
            <a:r>
              <a:rPr sz="2400" b="1">
                <a:sym typeface="+mn-ea"/>
              </a:rPr>
              <a:t>。</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形态    歧义        </a:t>
            </a:r>
            <a:r>
              <a:rPr lang="en-US" altLang="zh-CN" sz="2400" b="1">
                <a:sym typeface="+mn-ea"/>
              </a:rPr>
              <a:t>B.</a:t>
            </a:r>
            <a:r>
              <a:rPr sz="2400" b="1">
                <a:sym typeface="+mn-ea"/>
              </a:rPr>
              <a:t>模式    偏差</a:t>
            </a:r>
            <a:endParaRPr sz="2400" b="1">
              <a:sym typeface="+mn-ea"/>
            </a:endParaRPr>
          </a:p>
          <a:p>
            <a:r>
              <a:rPr lang="en-US" altLang="zh-CN" sz="2400" b="1">
                <a:sym typeface="+mn-ea"/>
              </a:rPr>
              <a:t>C.</a:t>
            </a:r>
            <a:r>
              <a:rPr sz="2400" b="1">
                <a:sym typeface="+mn-ea"/>
              </a:rPr>
              <a:t>情态    误解        </a:t>
            </a:r>
            <a:r>
              <a:rPr lang="en-US" altLang="zh-CN" sz="2400" b="1">
                <a:sym typeface="+mn-ea"/>
              </a:rPr>
              <a:t>D.</a:t>
            </a:r>
            <a:r>
              <a:rPr sz="2400" b="1">
                <a:sym typeface="+mn-ea"/>
              </a:rPr>
              <a:t>形式    干扰</a:t>
            </a:r>
            <a:endParaRPr sz="2400" b="1">
              <a:sym typeface="+mn-ea"/>
            </a:endParaRPr>
          </a:p>
          <a:p>
            <a:r>
              <a:rPr lang="zh-CN" altLang="en-US" sz="2400" b="1"/>
              <a:t>分析：存在</a:t>
            </a:r>
            <a:r>
              <a:rPr lang="en-US" altLang="zh-CN" sz="2400" b="1"/>
              <a:t>/</a:t>
            </a:r>
            <a:r>
              <a:rPr sz="2400" b="1"/>
              <a:t>有</a:t>
            </a:r>
            <a:r>
              <a:rPr lang="zh-CN" altLang="en-US" sz="2400" b="1"/>
              <a:t>偏差。受到干扰。</a:t>
            </a:r>
            <a:r>
              <a:rPr sz="2400" b="1">
                <a:sym typeface="+mn-ea"/>
              </a:rPr>
              <a:t>存在</a:t>
            </a:r>
            <a:r>
              <a:rPr lang="en-US" altLang="zh-CN" sz="2400" b="1">
                <a:sym typeface="+mn-ea"/>
              </a:rPr>
              <a:t>/</a:t>
            </a:r>
            <a:r>
              <a:rPr sz="2400" b="1">
                <a:sym typeface="+mn-ea"/>
              </a:rPr>
              <a:t>有歧义。引起误解，而且根据绿色字可知是误解，选</a:t>
            </a:r>
            <a:r>
              <a:rPr lang="en-US" altLang="zh-CN" sz="2400" b="1">
                <a:sym typeface="+mn-ea"/>
              </a:rPr>
              <a:t>C</a:t>
            </a:r>
            <a:r>
              <a:rPr sz="2400" b="1">
                <a:sym typeface="+mn-ea"/>
              </a:rPr>
              <a:t>。</a:t>
            </a:r>
            <a:endParaRPr sz="2400" b="1">
              <a:sym typeface="+mn-ea"/>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29</a:t>
            </a:r>
            <a:r>
              <a:rPr>
                <a:solidFill>
                  <a:schemeClr val="tx1"/>
                </a:solidFill>
                <a:sym typeface="+mn-ea"/>
              </a:rPr>
              <a:t>（川</a:t>
            </a:r>
            <a:r>
              <a:rPr lang="en-US" altLang="zh-CN">
                <a:solidFill>
                  <a:schemeClr val="tx1"/>
                </a:solidFill>
                <a:sym typeface="+mn-ea"/>
              </a:rPr>
              <a:t>2019</a:t>
            </a:r>
            <a:r>
              <a:rPr>
                <a:solidFill>
                  <a:schemeClr val="tx1"/>
                </a:solidFill>
                <a:sym typeface="+mn-ea"/>
              </a:rPr>
              <a:t>下</a:t>
            </a:r>
            <a:r>
              <a:rPr lang="en-US" altLang="zh-CN">
                <a:solidFill>
                  <a:schemeClr val="tx1"/>
                </a:solidFill>
                <a:sym typeface="+mn-ea"/>
              </a:rPr>
              <a:t>-19</a:t>
            </a:r>
            <a:r>
              <a:rPr>
                <a:solidFill>
                  <a:schemeClr val="tx1"/>
                </a:solidFill>
                <a:sym typeface="+mn-ea"/>
              </a:rPr>
              <a:t>）</a:t>
            </a:r>
            <a:endParaRPr lang="en-US" altLang="zh-CN">
              <a:solidFill>
                <a:schemeClr val="tx1"/>
              </a:solidFill>
              <a:sym typeface="+mn-ea"/>
            </a:endParaRPr>
          </a:p>
        </p:txBody>
      </p:sp>
      <p:sp>
        <p:nvSpPr>
          <p:cNvPr id="3" name="内容占位符 2"/>
          <p:cNvSpPr>
            <a:spLocks noGrp="1"/>
          </p:cNvSpPr>
          <p:nvPr>
            <p:ph idx="1"/>
          </p:nvPr>
        </p:nvSpPr>
        <p:spPr/>
        <p:txBody>
          <a:bodyPr/>
          <a:p>
            <a:r>
              <a:rPr sz="2400" b="1">
                <a:sym typeface="+mn-ea"/>
              </a:rPr>
              <a:t>中国人在室内焚香，始自战国时代，此时期也开始出现铜质香炉。秦、汉之后，随着制香、用香日益普及，各种式样的炉具</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，其材质涵盖陶器、瓷器、铜器、鎏金银器、掐丝珐</a:t>
            </a:r>
            <a:r>
              <a:rPr sz="2400" b="1">
                <a:sym typeface="+mn-ea"/>
              </a:rPr>
              <a:t>（</a:t>
            </a:r>
            <a:r>
              <a:rPr lang="en-US" altLang="zh-CN" sz="2400" b="1">
                <a:sym typeface="+mn-ea"/>
              </a:rPr>
              <a:t>fa</a:t>
            </a:r>
            <a:r>
              <a:rPr sz="2400" b="1">
                <a:sym typeface="+mn-ea"/>
              </a:rPr>
              <a:t>）</a:t>
            </a:r>
            <a:r>
              <a:rPr sz="2400" b="1">
                <a:sym typeface="+mn-ea"/>
              </a:rPr>
              <a:t>琅、竹木器及玉石等。这些不同材质、工艺的香炉，除了用于宗教祭仪，也成为文人墨客案头</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ym typeface="+mn-ea"/>
              </a:rPr>
              <a:t>  的赏玩之物。</a:t>
            </a:r>
            <a:endParaRPr sz="2400" b="1">
              <a:sym typeface="+mn-ea"/>
            </a:endParaRPr>
          </a:p>
          <a:p>
            <a:r>
              <a:rPr sz="2400" b="1">
                <a:sym typeface="+mn-ea"/>
              </a:rPr>
              <a:t>填入画横线部分最恰当的一项是：</a:t>
            </a:r>
            <a:endParaRPr sz="2400" b="1">
              <a:sym typeface="+mn-ea"/>
            </a:endParaRPr>
          </a:p>
          <a:p>
            <a:r>
              <a:rPr sz="2400" b="1">
                <a:sym typeface="+mn-ea"/>
              </a:rPr>
              <a:t>A.眼花缭乱    稀松平常          B.独具匠心    信手拈来</a:t>
            </a:r>
            <a:endParaRPr sz="2400" b="1">
              <a:sym typeface="+mn-ea"/>
            </a:endParaRPr>
          </a:p>
          <a:p>
            <a:r>
              <a:rPr sz="2400" b="1">
                <a:sym typeface="+mn-ea"/>
              </a:rPr>
              <a:t>C.应运而生    不可或缺          D.与日俱增    不可多得</a:t>
            </a:r>
            <a:endParaRPr sz="2400" b="1">
              <a:sym typeface="+mn-ea"/>
            </a:endParaRPr>
          </a:p>
          <a:p>
            <a:endParaRPr lang="zh-CN" altLang="en-US" sz="2400" b="1"/>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9245" y="199390"/>
            <a:ext cx="10852150" cy="407035"/>
          </a:xfrm>
        </p:spPr>
        <p:txBody>
          <a:bodyPr/>
          <a:p>
            <a:r>
              <a:t>真题</a:t>
            </a:r>
            <a:r>
              <a:rPr lang="en-US" altLang="zh-CN"/>
              <a:t>29</a:t>
            </a:r>
            <a:r>
              <a:t>分析</a:t>
            </a:r>
          </a:p>
        </p:txBody>
      </p:sp>
      <p:sp>
        <p:nvSpPr>
          <p:cNvPr id="3" name="内容占位符 2"/>
          <p:cNvSpPr>
            <a:spLocks noGrp="1"/>
          </p:cNvSpPr>
          <p:nvPr>
            <p:ph idx="1"/>
          </p:nvPr>
        </p:nvSpPr>
        <p:spPr>
          <a:xfrm>
            <a:off x="669925" y="795020"/>
            <a:ext cx="10852150" cy="5937885"/>
          </a:xfrm>
        </p:spPr>
        <p:txBody>
          <a:bodyPr/>
          <a:p>
            <a:pPr>
              <a:lnSpc>
                <a:spcPct val="120000"/>
              </a:lnSpc>
              <a:spcAft>
                <a:spcPts val="800"/>
              </a:spcAft>
            </a:pPr>
            <a:r>
              <a:rPr sz="2400" b="1">
                <a:sym typeface="+mn-ea"/>
              </a:rPr>
              <a:t>真题</a:t>
            </a:r>
            <a:r>
              <a:rPr lang="en-US" altLang="zh-CN" sz="2400" b="1">
                <a:sym typeface="+mn-ea"/>
              </a:rPr>
              <a:t>29</a:t>
            </a:r>
            <a:r>
              <a:rPr sz="2400" b="1">
                <a:sym typeface="+mn-ea"/>
              </a:rPr>
              <a:t>（川</a:t>
            </a:r>
            <a:r>
              <a:rPr lang="en-US" altLang="zh-CN" sz="2400" b="1">
                <a:sym typeface="+mn-ea"/>
              </a:rPr>
              <a:t>2019</a:t>
            </a:r>
            <a:r>
              <a:rPr sz="2400" b="1">
                <a:sym typeface="+mn-ea"/>
              </a:rPr>
              <a:t>下</a:t>
            </a:r>
            <a:r>
              <a:rPr lang="en-US" altLang="zh-CN" sz="2400" b="1">
                <a:sym typeface="+mn-ea"/>
              </a:rPr>
              <a:t>-19</a:t>
            </a:r>
            <a:r>
              <a:rPr sz="2400" b="1">
                <a:sym typeface="+mn-ea"/>
              </a:rPr>
              <a:t>）：中国人在室内焚香，始自战国时代，此时期也开始出现铜质香炉。秦、汉之后，</a:t>
            </a:r>
            <a:r>
              <a:rPr sz="2400" b="1">
                <a:solidFill>
                  <a:srgbClr val="FF0000"/>
                </a:solidFill>
                <a:sym typeface="+mn-ea"/>
              </a:rPr>
              <a:t>随着</a:t>
            </a:r>
            <a:r>
              <a:rPr sz="2400" b="1">
                <a:sym typeface="+mn-ea"/>
              </a:rPr>
              <a:t>制香、用香日益</a:t>
            </a:r>
            <a:r>
              <a:rPr sz="2400" b="1">
                <a:solidFill>
                  <a:srgbClr val="FF0000"/>
                </a:solidFill>
                <a:sym typeface="+mn-ea"/>
              </a:rPr>
              <a:t>普及</a:t>
            </a:r>
            <a:r>
              <a:rPr sz="2400" b="1">
                <a:sym typeface="+mn-ea"/>
              </a:rPr>
              <a:t>，各种式样的炉具</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，其材质涵盖陶器、瓷器、铜器、鎏金银器、掐丝珐琅、竹木器及玉石等。这些不同材质、工艺的香炉，除了用于宗教祭仪，也成为文人墨客案头</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的赏玩之物。</a:t>
            </a:r>
            <a:endParaRPr sz="2400" b="1">
              <a:sym typeface="+mn-ea"/>
            </a:endParaRPr>
          </a:p>
          <a:p>
            <a:pPr>
              <a:lnSpc>
                <a:spcPct val="120000"/>
              </a:lnSpc>
              <a:spcAft>
                <a:spcPts val="800"/>
              </a:spcAft>
            </a:pPr>
            <a:r>
              <a:rPr sz="2400" b="1">
                <a:sym typeface="+mn-ea"/>
              </a:rPr>
              <a:t>填入画横线部分最恰当的一项是：</a:t>
            </a:r>
            <a:endParaRPr sz="2400" b="1">
              <a:sym typeface="+mn-ea"/>
            </a:endParaRPr>
          </a:p>
          <a:p>
            <a:pPr>
              <a:lnSpc>
                <a:spcPct val="120000"/>
              </a:lnSpc>
              <a:spcAft>
                <a:spcPts val="800"/>
              </a:spcAft>
            </a:pPr>
            <a:r>
              <a:rPr sz="2400" b="1">
                <a:sym typeface="+mn-ea"/>
              </a:rPr>
              <a:t>A.眼花缭乱    稀松平常          B.独具匠心    信手拈来</a:t>
            </a:r>
            <a:endParaRPr sz="2400" b="1">
              <a:sym typeface="+mn-ea"/>
            </a:endParaRPr>
          </a:p>
          <a:p>
            <a:pPr>
              <a:lnSpc>
                <a:spcPct val="120000"/>
              </a:lnSpc>
              <a:spcAft>
                <a:spcPts val="800"/>
              </a:spcAft>
            </a:pPr>
            <a:r>
              <a:rPr sz="2400" b="1">
                <a:sym typeface="+mn-ea"/>
              </a:rPr>
              <a:t>C.应运而生    不可或缺          D.与日俱增    不可多得</a:t>
            </a:r>
            <a:endParaRPr sz="2400" b="1">
              <a:sym typeface="+mn-ea"/>
            </a:endParaRPr>
          </a:p>
          <a:p>
            <a:pPr>
              <a:lnSpc>
                <a:spcPct val="120000"/>
              </a:lnSpc>
              <a:spcAft>
                <a:spcPts val="800"/>
              </a:spcAft>
            </a:pPr>
            <a:r>
              <a:rPr sz="2400" b="1">
                <a:sym typeface="+mn-ea"/>
              </a:rPr>
              <a:t>分析一：</a:t>
            </a:r>
            <a:r>
              <a:rPr lang="en-US" altLang="zh-CN" sz="2400" b="1">
                <a:sym typeface="+mn-ea"/>
              </a:rPr>
              <a:t>“</a:t>
            </a:r>
            <a:r>
              <a:rPr sz="2400" b="1">
                <a:solidFill>
                  <a:srgbClr val="FF0000"/>
                </a:solidFill>
                <a:sym typeface="+mn-ea"/>
              </a:rPr>
              <a:t>随着</a:t>
            </a:r>
            <a:r>
              <a:rPr sz="2400" b="1">
                <a:solidFill>
                  <a:srgbClr val="FF0000"/>
                </a:solidFill>
                <a:latin typeface="宋体" panose="02010600030101010101" pitchFamily="2" charset="-122"/>
                <a:ea typeface="宋体" panose="02010600030101010101" pitchFamily="2" charset="-122"/>
                <a:sym typeface="+mn-ea"/>
              </a:rPr>
              <a:t>······</a:t>
            </a:r>
            <a:r>
              <a:rPr sz="2400" b="1">
                <a:solidFill>
                  <a:srgbClr val="FF0000"/>
                </a:solidFill>
                <a:sym typeface="+mn-ea"/>
              </a:rPr>
              <a:t>普及</a:t>
            </a:r>
            <a:r>
              <a:rPr lang="en-US" altLang="zh-CN" sz="2400" b="1">
                <a:sym typeface="+mn-ea"/>
              </a:rPr>
              <a:t>”</a:t>
            </a:r>
            <a:r>
              <a:rPr sz="2400" b="1">
                <a:sym typeface="+mn-ea"/>
              </a:rPr>
              <a:t>一般与</a:t>
            </a:r>
            <a:r>
              <a:rPr lang="en-US" altLang="zh-CN" sz="2400" b="1">
                <a:sym typeface="+mn-ea"/>
              </a:rPr>
              <a:t>“</a:t>
            </a:r>
            <a:r>
              <a:rPr sz="2400" b="1">
                <a:sym typeface="+mn-ea"/>
              </a:rPr>
              <a:t>应运而生</a:t>
            </a:r>
            <a:r>
              <a:rPr lang="en-US" altLang="zh-CN" sz="2400" b="1">
                <a:sym typeface="+mn-ea"/>
              </a:rPr>
              <a:t>”</a:t>
            </a:r>
            <a:r>
              <a:rPr sz="2400" b="1">
                <a:sym typeface="+mn-ea"/>
              </a:rPr>
              <a:t>搭配，直接选</a:t>
            </a:r>
            <a:r>
              <a:rPr lang="en-US" altLang="zh-CN" sz="2400" b="1">
                <a:sym typeface="+mn-ea"/>
              </a:rPr>
              <a:t>C</a:t>
            </a:r>
            <a:r>
              <a:rPr sz="2400" b="1">
                <a:sym typeface="+mn-ea"/>
              </a:rPr>
              <a:t>。</a:t>
            </a:r>
            <a:endParaRPr sz="2400" b="1">
              <a:sym typeface="+mn-ea"/>
            </a:endParaRPr>
          </a:p>
          <a:p>
            <a:pPr>
              <a:lnSpc>
                <a:spcPct val="120000"/>
              </a:lnSpc>
              <a:spcAft>
                <a:spcPts val="800"/>
              </a:spcAft>
            </a:pPr>
            <a:r>
              <a:rPr sz="2400" b="1">
                <a:sym typeface="+mn-ea"/>
              </a:rPr>
              <a:t>分析二：</a:t>
            </a:r>
            <a:r>
              <a:rPr lang="en-US" altLang="zh-CN" sz="2400" b="1">
                <a:sym typeface="+mn-ea"/>
              </a:rPr>
              <a:t>“</a:t>
            </a:r>
            <a:r>
              <a:rPr sz="2400" b="1">
                <a:sym typeface="+mn-ea"/>
              </a:rPr>
              <a:t>眼花缭乱</a:t>
            </a:r>
            <a:r>
              <a:rPr lang="en-US" altLang="zh-CN" sz="2400" b="1">
                <a:sym typeface="+mn-ea"/>
              </a:rPr>
              <a:t>”</a:t>
            </a:r>
            <a:r>
              <a:rPr sz="2400" b="1">
                <a:sym typeface="+mn-ea"/>
              </a:rPr>
              <a:t>与</a:t>
            </a:r>
            <a:r>
              <a:rPr lang="en-US" altLang="zh-CN" sz="2400" b="1">
                <a:sym typeface="+mn-ea"/>
              </a:rPr>
              <a:t>“</a:t>
            </a:r>
            <a:r>
              <a:rPr sz="2400" b="1">
                <a:sym typeface="+mn-ea"/>
              </a:rPr>
              <a:t>令人</a:t>
            </a:r>
            <a:r>
              <a:rPr lang="en-US" altLang="zh-CN" sz="2400" b="1">
                <a:sym typeface="+mn-ea"/>
              </a:rPr>
              <a:t>”</a:t>
            </a:r>
            <a:r>
              <a:rPr sz="2400" b="1">
                <a:sym typeface="+mn-ea"/>
              </a:rPr>
              <a:t>搭配。</a:t>
            </a:r>
            <a:r>
              <a:rPr lang="en-US" altLang="zh-CN" sz="2400" b="1">
                <a:sym typeface="+mn-ea"/>
              </a:rPr>
              <a:t>“</a:t>
            </a:r>
            <a:r>
              <a:rPr sz="2400" b="1">
                <a:sym typeface="+mn-ea"/>
              </a:rPr>
              <a:t>独具匠心</a:t>
            </a:r>
            <a:r>
              <a:rPr lang="en-US" altLang="zh-CN" sz="2400" b="1">
                <a:sym typeface="+mn-ea"/>
              </a:rPr>
              <a:t>”</a:t>
            </a:r>
            <a:r>
              <a:rPr sz="2400" b="1">
                <a:sym typeface="+mn-ea"/>
              </a:rPr>
              <a:t>有独特想法有创造性，与句意不符。</a:t>
            </a:r>
            <a:r>
              <a:rPr lang="en-US" altLang="zh-CN" sz="2400" b="1">
                <a:sym typeface="+mn-ea"/>
              </a:rPr>
              <a:t>“</a:t>
            </a:r>
            <a:r>
              <a:rPr sz="2400" b="1">
                <a:sym typeface="+mn-ea"/>
              </a:rPr>
              <a:t>与日俱增</a:t>
            </a:r>
            <a:r>
              <a:rPr lang="en-US" altLang="zh-CN" sz="2400" b="1">
                <a:sym typeface="+mn-ea"/>
              </a:rPr>
              <a:t>”</a:t>
            </a:r>
            <a:r>
              <a:rPr sz="2400" b="1">
                <a:sym typeface="+mn-ea"/>
              </a:rPr>
              <a:t>增长快，多用于感情。</a:t>
            </a:r>
            <a:r>
              <a:rPr lang="en-US" altLang="zh-CN" sz="2400" b="1">
                <a:sym typeface="+mn-ea"/>
              </a:rPr>
              <a:t>“</a:t>
            </a:r>
            <a:r>
              <a:rPr sz="2400" b="1">
                <a:sym typeface="+mn-ea"/>
              </a:rPr>
              <a:t>应运而生</a:t>
            </a:r>
            <a:r>
              <a:rPr lang="en-US" altLang="zh-CN" sz="2400" b="1">
                <a:sym typeface="+mn-ea"/>
              </a:rPr>
              <a:t>”</a:t>
            </a:r>
            <a:r>
              <a:rPr sz="2400" b="1">
                <a:sym typeface="+mn-ea"/>
              </a:rPr>
              <a:t>填入符合句意，</a:t>
            </a:r>
            <a:r>
              <a:rPr lang="en-US" altLang="zh-CN" sz="2400" b="1">
                <a:sym typeface="+mn-ea"/>
              </a:rPr>
              <a:t>“</a:t>
            </a:r>
            <a:r>
              <a:rPr sz="2400" b="1">
                <a:sym typeface="+mn-ea"/>
              </a:rPr>
              <a:t>不可或缺</a:t>
            </a:r>
            <a:r>
              <a:rPr lang="en-US" altLang="zh-CN" sz="2400" b="1">
                <a:sym typeface="+mn-ea"/>
              </a:rPr>
              <a:t>”</a:t>
            </a:r>
            <a:r>
              <a:rPr sz="2400" b="1">
                <a:sym typeface="+mn-ea"/>
              </a:rPr>
              <a:t>形容重要程度，恰当。故选</a:t>
            </a:r>
            <a:r>
              <a:rPr lang="en-US" altLang="zh-CN" sz="2400" b="1">
                <a:sym typeface="+mn-ea"/>
              </a:rPr>
              <a:t>C</a:t>
            </a:r>
            <a:r>
              <a:rPr sz="2400" b="1">
                <a:sym typeface="+mn-ea"/>
              </a:rPr>
              <a:t>。</a:t>
            </a:r>
            <a:endParaRPr sz="2400" b="1">
              <a:sym typeface="+mn-ea"/>
            </a:endParaRPr>
          </a:p>
          <a:p>
            <a:endParaRPr lang="zh-CN" altLang="en-US" sz="2400"/>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三、警惕成语设置陷阱</a:t>
            </a:r>
            <a:endParaRPr lang="zh-CN" altLang="en-US"/>
          </a:p>
        </p:txBody>
      </p:sp>
      <p:sp>
        <p:nvSpPr>
          <p:cNvPr id="3" name="内容占位符 2"/>
          <p:cNvSpPr>
            <a:spLocks noGrp="1"/>
          </p:cNvSpPr>
          <p:nvPr>
            <p:ph idx="1"/>
          </p:nvPr>
        </p:nvSpPr>
        <p:spPr/>
        <p:txBody>
          <a:bodyPr/>
          <a:p>
            <a:r>
              <a:rPr lang="zh-CN" altLang="en-US" sz="2400" b="1"/>
              <a:t>成语是语言中经过长期使用、锤炼而形成的固定短语。逻辑填空中对成语的考查</a:t>
            </a:r>
            <a:r>
              <a:rPr lang="zh-CN" altLang="en-US" sz="2400" b="1">
                <a:solidFill>
                  <a:srgbClr val="FF0000"/>
                </a:solidFill>
              </a:rPr>
              <a:t>主</a:t>
            </a:r>
            <a:r>
              <a:rPr lang="zh-CN" altLang="en-US" sz="2400" b="1">
                <a:solidFill>
                  <a:srgbClr val="FF0000"/>
                </a:solidFill>
              </a:rPr>
              <a:t>要集中在成语意义和近义成语辨析</a:t>
            </a:r>
            <a:r>
              <a:rPr lang="zh-CN" altLang="en-US" sz="2400" b="1"/>
              <a:t>。需要重点关注以下五类陷阱：</a:t>
            </a:r>
            <a:endParaRPr lang="zh-CN" altLang="en-US" sz="2400" b="1"/>
          </a:p>
          <a:p>
            <a:r>
              <a:rPr lang="en-US" altLang="zh-CN" sz="2400" b="1"/>
              <a:t>1.</a:t>
            </a:r>
            <a:r>
              <a:rPr sz="2400" b="1"/>
              <a:t>望文生义</a:t>
            </a:r>
            <a:endParaRPr sz="2400" b="1"/>
          </a:p>
          <a:p>
            <a:r>
              <a:rPr lang="en-US" altLang="zh-CN" sz="2400" b="1">
                <a:solidFill>
                  <a:srgbClr val="FF0000"/>
                </a:solidFill>
              </a:rPr>
              <a:t>2.</a:t>
            </a:r>
            <a:r>
              <a:rPr sz="2400" b="1">
                <a:solidFill>
                  <a:srgbClr val="FF0000"/>
                </a:solidFill>
              </a:rPr>
              <a:t>对象误用</a:t>
            </a:r>
            <a:endParaRPr sz="2400" b="1">
              <a:solidFill>
                <a:srgbClr val="FF0000"/>
              </a:solidFill>
            </a:endParaRPr>
          </a:p>
          <a:p>
            <a:r>
              <a:rPr lang="en-US" altLang="zh-CN" sz="2400" b="1"/>
              <a:t>3.</a:t>
            </a:r>
            <a:r>
              <a:rPr sz="2400" b="1"/>
              <a:t>轻重失衡</a:t>
            </a:r>
            <a:endParaRPr sz="2400" b="1"/>
          </a:p>
          <a:p>
            <a:r>
              <a:rPr lang="en-US" altLang="zh-CN" sz="2400" b="1">
                <a:solidFill>
                  <a:srgbClr val="FF0000"/>
                </a:solidFill>
              </a:rPr>
              <a:t>4.</a:t>
            </a:r>
            <a:r>
              <a:rPr sz="2400" b="1">
                <a:solidFill>
                  <a:srgbClr val="FF0000"/>
                </a:solidFill>
              </a:rPr>
              <a:t>感情色彩不符</a:t>
            </a:r>
            <a:endParaRPr sz="2400" b="1">
              <a:solidFill>
                <a:srgbClr val="FF0000"/>
              </a:solidFill>
            </a:endParaRPr>
          </a:p>
          <a:p>
            <a:r>
              <a:rPr lang="en-US" altLang="zh-CN" sz="2400" b="1"/>
              <a:t>5.</a:t>
            </a:r>
            <a:r>
              <a:rPr sz="2400" b="1"/>
              <a:t>语义重复</a:t>
            </a:r>
            <a:endParaRPr sz="2400" b="1"/>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a:t>
            </a:r>
            <a:r>
              <a:t>望文生义</a:t>
            </a:r>
          </a:p>
        </p:txBody>
      </p:sp>
      <p:sp>
        <p:nvSpPr>
          <p:cNvPr id="3" name="内容占位符 2"/>
          <p:cNvSpPr>
            <a:spLocks noGrp="1"/>
          </p:cNvSpPr>
          <p:nvPr>
            <p:ph idx="1"/>
          </p:nvPr>
        </p:nvSpPr>
        <p:spPr/>
        <p:txBody>
          <a:bodyPr/>
          <a:p>
            <a:r>
              <a:rPr sz="2400" b="1">
                <a:sym typeface="+mn-ea"/>
              </a:rPr>
              <a:t>望文生义指不了解某一成语的确切意义，</a:t>
            </a:r>
            <a:r>
              <a:rPr sz="2400" b="1">
                <a:solidFill>
                  <a:srgbClr val="FF0000"/>
                </a:solidFill>
                <a:sym typeface="+mn-ea"/>
              </a:rPr>
              <a:t>只从字面上去理解，</a:t>
            </a:r>
            <a:r>
              <a:rPr sz="2400" b="1">
                <a:sym typeface="+mn-ea"/>
              </a:rPr>
              <a:t>做出错误的或片面的解释的现象。</a:t>
            </a:r>
            <a:endParaRPr sz="2400" b="1">
              <a:sym typeface="+mn-ea"/>
            </a:endParaRPr>
          </a:p>
          <a:p>
            <a:r>
              <a:rPr sz="2400" b="1">
                <a:solidFill>
                  <a:srgbClr val="00B050"/>
                </a:solidFill>
                <a:sym typeface="+mn-ea"/>
              </a:rPr>
              <a:t>真题</a:t>
            </a:r>
            <a:r>
              <a:rPr lang="en-US" altLang="zh-CN" sz="2400" b="1">
                <a:solidFill>
                  <a:srgbClr val="00B050"/>
                </a:solidFill>
                <a:sym typeface="+mn-ea"/>
              </a:rPr>
              <a:t>30</a:t>
            </a:r>
            <a:r>
              <a:rPr sz="2400" b="1">
                <a:solidFill>
                  <a:srgbClr val="00B050"/>
                </a:solidFill>
                <a:sym typeface="+mn-ea"/>
              </a:rPr>
              <a:t>：</a:t>
            </a:r>
            <a:r>
              <a:rPr lang="en-US" altLang="zh-CN" sz="2400" b="1">
                <a:sym typeface="+mn-ea"/>
              </a:rPr>
              <a:t>“</a:t>
            </a:r>
            <a:r>
              <a:rPr sz="2400" b="1">
                <a:sym typeface="+mn-ea"/>
              </a:rPr>
              <a:t>管人的，能够决定别人的命运</a:t>
            </a:r>
            <a:r>
              <a:rPr lang="en-US" altLang="zh-CN" sz="2400" b="1">
                <a:sym typeface="+mn-ea"/>
              </a:rPr>
              <a:t>”</a:t>
            </a:r>
            <a:r>
              <a:rPr sz="2400" b="1">
                <a:sym typeface="+mn-ea"/>
              </a:rPr>
              <a:t>，这句话反证了这样一个</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，即</a:t>
            </a:r>
            <a:r>
              <a:rPr lang="en-US" altLang="zh-CN" sz="2400" b="1">
                <a:sym typeface="+mn-ea"/>
              </a:rPr>
              <a:t>“</a:t>
            </a:r>
            <a:r>
              <a:rPr sz="2400" b="1">
                <a:sym typeface="+mn-ea"/>
              </a:rPr>
              <a:t>用人上的腐败是最大的腐败</a:t>
            </a:r>
            <a:r>
              <a:rPr lang="en-US" altLang="zh-CN" sz="2400" b="1">
                <a:sym typeface="+mn-ea"/>
              </a:rPr>
              <a:t>”</a:t>
            </a:r>
            <a:r>
              <a:rPr sz="2400" b="1">
                <a:sym typeface="+mn-ea"/>
              </a:rPr>
              <a:t>。</a:t>
            </a:r>
            <a:endParaRPr sz="2400" b="1">
              <a:sym typeface="+mn-ea"/>
            </a:endParaRPr>
          </a:p>
          <a:p>
            <a:r>
              <a:rPr sz="2400" b="1">
                <a:sym typeface="+mn-ea"/>
              </a:rPr>
              <a:t>填入画横线部分最恰当的一项是（    ）</a:t>
            </a:r>
            <a:endParaRPr sz="2400" b="1">
              <a:sym typeface="+mn-ea"/>
            </a:endParaRPr>
          </a:p>
          <a:p>
            <a:r>
              <a:rPr lang="en-US" altLang="zh-CN" sz="2400" b="1"/>
              <a:t>A.</a:t>
            </a:r>
            <a:r>
              <a:rPr sz="2400" b="1"/>
              <a:t>老生常谈        </a:t>
            </a:r>
            <a:r>
              <a:rPr lang="en-US" altLang="zh-CN" sz="2400" b="1"/>
              <a:t>B.</a:t>
            </a:r>
            <a:r>
              <a:rPr sz="2400" b="1"/>
              <a:t>不刊之论  </a:t>
            </a:r>
            <a:endParaRPr sz="2400" b="1"/>
          </a:p>
          <a:p>
            <a:r>
              <a:rPr lang="en-US" altLang="zh-CN" sz="2400" b="1"/>
              <a:t>C.</a:t>
            </a:r>
            <a:r>
              <a:rPr sz="2400" b="1"/>
              <a:t>远见卓识        </a:t>
            </a:r>
            <a:r>
              <a:rPr lang="en-US" altLang="zh-CN" sz="2400" b="1"/>
              <a:t>D.</a:t>
            </a:r>
            <a:r>
              <a:rPr sz="2400" b="1"/>
              <a:t>不经之谈</a:t>
            </a:r>
            <a:endParaRPr sz="2400" b="1"/>
          </a:p>
          <a:p>
            <a:endParaRPr sz="2400" b="1"/>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30</a:t>
            </a:r>
            <a:r>
              <a:t>分析</a:t>
            </a:r>
          </a:p>
        </p:txBody>
      </p:sp>
      <p:sp>
        <p:nvSpPr>
          <p:cNvPr id="3" name="内容占位符 2"/>
          <p:cNvSpPr>
            <a:spLocks noGrp="1"/>
          </p:cNvSpPr>
          <p:nvPr>
            <p:ph idx="1"/>
          </p:nvPr>
        </p:nvSpPr>
        <p:spPr/>
        <p:txBody>
          <a:bodyPr/>
          <a:p>
            <a:r>
              <a:rPr sz="2400" b="1">
                <a:sym typeface="+mn-ea"/>
              </a:rPr>
              <a:t>真题</a:t>
            </a:r>
            <a:r>
              <a:rPr lang="en-US" altLang="zh-CN" sz="2400" b="1">
                <a:sym typeface="+mn-ea"/>
              </a:rPr>
              <a:t>30</a:t>
            </a:r>
            <a:r>
              <a:rPr sz="2400" b="1">
                <a:sym typeface="+mn-ea"/>
              </a:rPr>
              <a:t>：</a:t>
            </a:r>
            <a:r>
              <a:rPr lang="en-US" altLang="zh-CN" sz="2400" b="1">
                <a:sym typeface="+mn-ea"/>
              </a:rPr>
              <a:t>“</a:t>
            </a:r>
            <a:r>
              <a:rPr sz="2400" b="1">
                <a:sym typeface="+mn-ea"/>
              </a:rPr>
              <a:t>管人的，能够决定别人的命运</a:t>
            </a:r>
            <a:r>
              <a:rPr lang="en-US" altLang="zh-CN" sz="2400" b="1">
                <a:sym typeface="+mn-ea"/>
              </a:rPr>
              <a:t>”</a:t>
            </a:r>
            <a:r>
              <a:rPr sz="2400" b="1">
                <a:sym typeface="+mn-ea"/>
              </a:rPr>
              <a:t>，这句话反证了这样一个</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，即</a:t>
            </a:r>
            <a:r>
              <a:rPr lang="en-US" altLang="zh-CN" sz="2400" b="1">
                <a:solidFill>
                  <a:srgbClr val="FF0000"/>
                </a:solidFill>
                <a:sym typeface="+mn-ea"/>
              </a:rPr>
              <a:t>“</a:t>
            </a:r>
            <a:r>
              <a:rPr sz="2400" b="1">
                <a:solidFill>
                  <a:srgbClr val="FF0000"/>
                </a:solidFill>
                <a:sym typeface="+mn-ea"/>
              </a:rPr>
              <a:t>用人上的腐败是最大的腐败</a:t>
            </a:r>
            <a:r>
              <a:rPr lang="en-US" altLang="zh-CN" sz="2400" b="1">
                <a:solidFill>
                  <a:srgbClr val="FF0000"/>
                </a:solidFill>
                <a:sym typeface="+mn-ea"/>
              </a:rPr>
              <a:t>”</a:t>
            </a:r>
            <a:r>
              <a:rPr sz="2400" b="1">
                <a:solidFill>
                  <a:srgbClr val="FF0000"/>
                </a:solidFill>
                <a:sym typeface="+mn-ea"/>
              </a:rPr>
              <a:t>。</a:t>
            </a:r>
            <a:endParaRPr sz="2400" b="1">
              <a:sym typeface="+mn-ea"/>
            </a:endParaRPr>
          </a:p>
          <a:p>
            <a:r>
              <a:rPr sz="2400" b="1">
                <a:sym typeface="+mn-ea"/>
              </a:rPr>
              <a:t>填入画横线部分最恰当的一项是（    ）</a:t>
            </a:r>
            <a:endParaRPr sz="2400" b="1">
              <a:sym typeface="+mn-ea"/>
            </a:endParaRPr>
          </a:p>
          <a:p>
            <a:r>
              <a:rPr lang="en-US" altLang="zh-CN" sz="2400" b="1">
                <a:sym typeface="+mn-ea"/>
              </a:rPr>
              <a:t>A.</a:t>
            </a:r>
            <a:r>
              <a:rPr sz="2400" b="1">
                <a:sym typeface="+mn-ea"/>
              </a:rPr>
              <a:t>老生常谈        </a:t>
            </a:r>
            <a:r>
              <a:rPr lang="en-US" altLang="zh-CN" sz="2400" b="1">
                <a:sym typeface="+mn-ea"/>
              </a:rPr>
              <a:t>B.</a:t>
            </a:r>
            <a:r>
              <a:rPr sz="2400" b="1">
                <a:sym typeface="+mn-ea"/>
              </a:rPr>
              <a:t>不刊之论  </a:t>
            </a:r>
            <a:endParaRPr sz="2400" b="1"/>
          </a:p>
          <a:p>
            <a:r>
              <a:rPr lang="en-US" altLang="zh-CN" sz="2400" b="1">
                <a:sym typeface="+mn-ea"/>
              </a:rPr>
              <a:t>C.</a:t>
            </a:r>
            <a:r>
              <a:rPr sz="2400" b="1">
                <a:sym typeface="+mn-ea"/>
              </a:rPr>
              <a:t>远见卓识        </a:t>
            </a:r>
            <a:r>
              <a:rPr lang="en-US" altLang="zh-CN" sz="2400" b="1">
                <a:sym typeface="+mn-ea"/>
              </a:rPr>
              <a:t>D.</a:t>
            </a:r>
            <a:r>
              <a:rPr sz="2400" b="1">
                <a:sym typeface="+mn-ea"/>
              </a:rPr>
              <a:t>不经之谈</a:t>
            </a:r>
            <a:endParaRPr sz="2400" b="1">
              <a:sym typeface="+mn-ea"/>
            </a:endParaRPr>
          </a:p>
          <a:p>
            <a:r>
              <a:rPr sz="2400" b="1">
                <a:sym typeface="+mn-ea"/>
              </a:rPr>
              <a:t>分析：</a:t>
            </a:r>
            <a:r>
              <a:rPr lang="en-US" altLang="zh-CN" sz="2400" b="1">
                <a:sym typeface="+mn-ea"/>
              </a:rPr>
              <a:t>“</a:t>
            </a:r>
            <a:r>
              <a:rPr sz="2400" b="1">
                <a:sym typeface="+mn-ea"/>
              </a:rPr>
              <a:t>老生常谈</a:t>
            </a:r>
            <a:r>
              <a:rPr lang="en-US" altLang="zh-CN" sz="2400" b="1">
                <a:sym typeface="+mn-ea"/>
              </a:rPr>
              <a:t>”</a:t>
            </a:r>
            <a:r>
              <a:rPr sz="2400" b="1">
                <a:sym typeface="+mn-ea"/>
              </a:rPr>
              <a:t>比喻听惯了没有新意的话；</a:t>
            </a:r>
            <a:r>
              <a:rPr lang="en-US" altLang="zh-CN" sz="2400" b="1">
                <a:sym typeface="+mn-ea"/>
              </a:rPr>
              <a:t>“</a:t>
            </a:r>
            <a:r>
              <a:rPr sz="2400" b="1">
                <a:sym typeface="+mn-ea"/>
              </a:rPr>
              <a:t>不刊之论</a:t>
            </a:r>
            <a:r>
              <a:rPr lang="en-US" altLang="zh-CN" sz="2400" b="1">
                <a:sym typeface="+mn-ea"/>
              </a:rPr>
              <a:t>”</a:t>
            </a:r>
            <a:r>
              <a:rPr sz="2400" b="1">
                <a:sym typeface="+mn-ea"/>
              </a:rPr>
              <a:t>指正确的、不可修改的言论；</a:t>
            </a:r>
            <a:r>
              <a:rPr lang="en-US" altLang="zh-CN" sz="2400" b="1">
                <a:sym typeface="+mn-ea"/>
              </a:rPr>
              <a:t>“</a:t>
            </a:r>
            <a:r>
              <a:rPr sz="2400" b="1">
                <a:sym typeface="+mn-ea"/>
              </a:rPr>
              <a:t>远见卓识</a:t>
            </a:r>
            <a:r>
              <a:rPr lang="en-US" altLang="zh-CN" sz="2400" b="1">
                <a:sym typeface="+mn-ea"/>
              </a:rPr>
              <a:t>”</a:t>
            </a:r>
            <a:r>
              <a:rPr sz="2400" b="1">
                <a:sym typeface="+mn-ea"/>
              </a:rPr>
              <a:t>有远大的眼光和卓越的见解，多形容人；</a:t>
            </a:r>
            <a:r>
              <a:rPr lang="en-US" altLang="zh-CN" sz="2400" b="1">
                <a:sym typeface="+mn-ea"/>
              </a:rPr>
              <a:t>“</a:t>
            </a:r>
            <a:r>
              <a:rPr sz="2400" b="1">
                <a:sym typeface="+mn-ea"/>
              </a:rPr>
              <a:t>不经之谈</a:t>
            </a:r>
            <a:r>
              <a:rPr lang="en-US" altLang="zh-CN" sz="2400" b="1">
                <a:sym typeface="+mn-ea"/>
              </a:rPr>
              <a:t>”</a:t>
            </a:r>
            <a:r>
              <a:rPr sz="2400" b="1">
                <a:sym typeface="+mn-ea"/>
              </a:rPr>
              <a:t>指荒诞，没有根据的话，与句意相反；根据</a:t>
            </a:r>
            <a:r>
              <a:rPr lang="en-US" altLang="zh-CN" sz="2400" b="1">
                <a:sym typeface="+mn-ea"/>
              </a:rPr>
              <a:t>“</a:t>
            </a:r>
            <a:r>
              <a:rPr sz="2400" b="1">
                <a:solidFill>
                  <a:srgbClr val="FF0000"/>
                </a:solidFill>
                <a:sym typeface="+mn-ea"/>
              </a:rPr>
              <a:t>用人上的腐败是最大的腐败</a:t>
            </a:r>
            <a:r>
              <a:rPr lang="en-US" altLang="zh-CN" sz="2400" b="1">
                <a:sym typeface="+mn-ea"/>
              </a:rPr>
              <a:t>”</a:t>
            </a:r>
            <a:r>
              <a:rPr sz="2400" b="1">
                <a:sym typeface="+mn-ea"/>
              </a:rPr>
              <a:t>可知选</a:t>
            </a:r>
            <a:r>
              <a:rPr lang="en-US" altLang="zh-CN" sz="2400" b="1">
                <a:sym typeface="+mn-ea"/>
              </a:rPr>
              <a:t>B</a:t>
            </a:r>
            <a:r>
              <a:rPr sz="2400" b="1">
                <a:sym typeface="+mn-ea"/>
              </a:rPr>
              <a:t>。</a:t>
            </a:r>
            <a:endParaRPr sz="2400" b="1"/>
          </a:p>
          <a:p>
            <a:endParaRPr lang="zh-CN" altLang="en-US" sz="240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t>对象误用</a:t>
            </a:r>
          </a:p>
        </p:txBody>
      </p:sp>
      <p:sp>
        <p:nvSpPr>
          <p:cNvPr id="3" name="内容占位符 2"/>
          <p:cNvSpPr>
            <a:spLocks noGrp="1"/>
          </p:cNvSpPr>
          <p:nvPr>
            <p:ph idx="1"/>
          </p:nvPr>
        </p:nvSpPr>
        <p:spPr/>
        <p:txBody>
          <a:bodyPr/>
          <a:p>
            <a:r>
              <a:rPr lang="zh-CN" altLang="en-US" sz="2400" b="1">
                <a:solidFill>
                  <a:srgbClr val="FF0000"/>
                </a:solidFill>
              </a:rPr>
              <a:t>有些成语有特定的使用对象。</a:t>
            </a:r>
            <a:r>
              <a:rPr lang="zh-CN" altLang="en-US" sz="2400" b="1"/>
              <a:t>不了解，就会张冠李戴。</a:t>
            </a:r>
            <a:endParaRPr lang="zh-CN" altLang="en-US" sz="2400" b="1"/>
          </a:p>
          <a:p>
            <a:r>
              <a:rPr lang="zh-CN" altLang="en-US" sz="2400" b="1">
                <a:solidFill>
                  <a:srgbClr val="00B050"/>
                </a:solidFill>
              </a:rPr>
              <a:t>真题</a:t>
            </a:r>
            <a:r>
              <a:rPr lang="en-US" altLang="zh-CN" sz="2400" b="1">
                <a:solidFill>
                  <a:srgbClr val="00B050"/>
                </a:solidFill>
              </a:rPr>
              <a:t>31</a:t>
            </a:r>
            <a:r>
              <a:rPr sz="2400" b="1"/>
              <a:t>：</a:t>
            </a:r>
            <a:r>
              <a:rPr sz="2400" b="1">
                <a:solidFill>
                  <a:schemeClr val="tx1"/>
                </a:solidFill>
              </a:rPr>
              <a:t>天池经历了漫长的无名时期，后来伴随着天池传说的兴起，天池也开始</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。谈到天池传说，还有一个缘由：人们面对神奇的山水之境时，总爱把神灵的光环罩在山水的头上，使山水之景与神灵之气</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，即所谓山不在高，有仙则名。</a:t>
            </a:r>
            <a:endParaRPr sz="2400" b="1">
              <a:solidFill>
                <a:schemeClr val="tx1"/>
              </a:solidFill>
              <a:sym typeface="+mn-ea"/>
            </a:endParaRPr>
          </a:p>
          <a:p>
            <a:r>
              <a:rPr sz="2400" b="1">
                <a:solidFill>
                  <a:schemeClr val="tx1"/>
                </a:solidFill>
                <a:sym typeface="+mn-ea"/>
              </a:rPr>
              <a:t>依次填入画横线部分最恰当的一项是（    ）</a:t>
            </a:r>
            <a:endParaRPr sz="2400" b="1">
              <a:solidFill>
                <a:schemeClr val="tx1"/>
              </a:solidFill>
              <a:sym typeface="+mn-ea"/>
            </a:endParaRPr>
          </a:p>
          <a:p>
            <a:r>
              <a:rPr lang="en-US" altLang="zh-CN" sz="2400" b="1">
                <a:solidFill>
                  <a:schemeClr val="tx1"/>
                </a:solidFill>
                <a:sym typeface="+mn-ea"/>
              </a:rPr>
              <a:t>A.</a:t>
            </a:r>
            <a:r>
              <a:rPr sz="2400" b="1">
                <a:solidFill>
                  <a:schemeClr val="tx1"/>
                </a:solidFill>
                <a:sym typeface="+mn-ea"/>
              </a:rPr>
              <a:t>声名鹊起    相得益彰        </a:t>
            </a:r>
            <a:r>
              <a:rPr lang="en-US" altLang="zh-CN" sz="2400" b="1">
                <a:solidFill>
                  <a:schemeClr val="tx1"/>
                </a:solidFill>
                <a:sym typeface="+mn-ea"/>
              </a:rPr>
              <a:t>B.</a:t>
            </a:r>
            <a:r>
              <a:rPr sz="2400" b="1">
                <a:solidFill>
                  <a:schemeClr val="tx1"/>
                </a:solidFill>
                <a:sym typeface="+mn-ea"/>
              </a:rPr>
              <a:t>门庭若市    相映成趣</a:t>
            </a:r>
            <a:endParaRPr sz="2400" b="1">
              <a:solidFill>
                <a:schemeClr val="tx1"/>
              </a:solidFill>
              <a:sym typeface="+mn-ea"/>
            </a:endParaRPr>
          </a:p>
          <a:p>
            <a:r>
              <a:rPr lang="en-US" altLang="zh-CN" sz="2400" b="1">
                <a:solidFill>
                  <a:schemeClr val="tx1"/>
                </a:solidFill>
                <a:sym typeface="+mn-ea"/>
              </a:rPr>
              <a:t>C.</a:t>
            </a:r>
            <a:r>
              <a:rPr sz="2400" b="1">
                <a:solidFill>
                  <a:schemeClr val="tx1"/>
                </a:solidFill>
                <a:sym typeface="+mn-ea"/>
              </a:rPr>
              <a:t>脱颖而出    相濡以沫        </a:t>
            </a:r>
            <a:r>
              <a:rPr lang="en-US" altLang="zh-CN" sz="2400" b="1">
                <a:solidFill>
                  <a:schemeClr val="tx1"/>
                </a:solidFill>
                <a:sym typeface="+mn-ea"/>
              </a:rPr>
              <a:t>D.</a:t>
            </a:r>
            <a:r>
              <a:rPr sz="2400" b="1">
                <a:solidFill>
                  <a:schemeClr val="tx1"/>
                </a:solidFill>
                <a:sym typeface="+mn-ea"/>
              </a:rPr>
              <a:t>广为人知    相视莫逆</a:t>
            </a:r>
            <a:endParaRPr sz="2400" b="1">
              <a:solidFill>
                <a:schemeClr val="tx1"/>
              </a:solidFill>
              <a:sym typeface="+mn-ea"/>
            </a:endParaRPr>
          </a:p>
          <a:p>
            <a:endParaRPr sz="2400" b="1">
              <a:solidFill>
                <a:schemeClr val="tx1"/>
              </a:solidFill>
              <a:sym typeface="+mn-ea"/>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329130"/>
            <a:ext cx="10852237" cy="648000"/>
          </a:xfrm>
        </p:spPr>
        <p:txBody>
          <a:bodyPr/>
          <a:p>
            <a:r>
              <a:rPr lang="zh-CN" altLang="en-US"/>
              <a:t>真题</a:t>
            </a:r>
            <a:r>
              <a:rPr lang="en-US" altLang="zh-CN"/>
              <a:t>31</a:t>
            </a:r>
            <a:r>
              <a:t>分析</a:t>
            </a:r>
          </a:p>
        </p:txBody>
      </p:sp>
      <p:sp>
        <p:nvSpPr>
          <p:cNvPr id="3" name="内容占位符 2"/>
          <p:cNvSpPr>
            <a:spLocks noGrp="1"/>
          </p:cNvSpPr>
          <p:nvPr>
            <p:ph idx="1"/>
          </p:nvPr>
        </p:nvSpPr>
        <p:spPr>
          <a:xfrm>
            <a:off x="631190" y="1097915"/>
            <a:ext cx="10928985" cy="5299075"/>
          </a:xfrm>
        </p:spPr>
        <p:txBody>
          <a:bodyPr/>
          <a:p>
            <a:r>
              <a:rPr sz="2400" b="1">
                <a:sym typeface="+mn-ea"/>
              </a:rPr>
              <a:t>真题</a:t>
            </a:r>
            <a:r>
              <a:rPr lang="en-US" altLang="zh-CN" sz="2400" b="1">
                <a:sym typeface="+mn-ea"/>
              </a:rPr>
              <a:t>31</a:t>
            </a:r>
            <a:r>
              <a:rPr sz="2400" b="1">
                <a:sym typeface="+mn-ea"/>
              </a:rPr>
              <a:t>：天池经历了漫长的无名时期，后来伴随着天池传说的</a:t>
            </a:r>
            <a:r>
              <a:rPr sz="2400" b="1">
                <a:solidFill>
                  <a:srgbClr val="00B050"/>
                </a:solidFill>
                <a:sym typeface="+mn-ea"/>
              </a:rPr>
              <a:t>兴起</a:t>
            </a:r>
            <a:r>
              <a:rPr sz="2400" b="1">
                <a:sym typeface="+mn-ea"/>
              </a:rPr>
              <a:t>，天池也</a:t>
            </a:r>
            <a:r>
              <a:rPr sz="2400" b="1">
                <a:solidFill>
                  <a:srgbClr val="00B050"/>
                </a:solidFill>
                <a:sym typeface="+mn-ea"/>
              </a:rPr>
              <a:t>开始</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。谈到天池传说，还有一个缘由：人们面对神奇的山水之境时，总爱把神灵的光环罩在山水的头上，使</a:t>
            </a:r>
            <a:r>
              <a:rPr sz="2400" b="1">
                <a:solidFill>
                  <a:srgbClr val="FF0000"/>
                </a:solidFill>
                <a:sym typeface="+mn-ea"/>
              </a:rPr>
              <a:t>山水之景与神灵之气</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，即所谓山不在高，有仙则名。</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声名鹊起    相得益彰        </a:t>
            </a:r>
            <a:r>
              <a:rPr lang="en-US" altLang="zh-CN" sz="2400" b="1">
                <a:sym typeface="+mn-ea"/>
              </a:rPr>
              <a:t>B.</a:t>
            </a:r>
            <a:r>
              <a:rPr sz="2400" b="1">
                <a:sym typeface="+mn-ea"/>
              </a:rPr>
              <a:t>门庭若市    相映成趣</a:t>
            </a:r>
            <a:endParaRPr sz="2400" b="1">
              <a:sym typeface="+mn-ea"/>
            </a:endParaRPr>
          </a:p>
          <a:p>
            <a:r>
              <a:rPr lang="en-US" altLang="zh-CN" sz="2400" b="1">
                <a:sym typeface="+mn-ea"/>
              </a:rPr>
              <a:t>C.</a:t>
            </a:r>
            <a:r>
              <a:rPr sz="2400" b="1">
                <a:sym typeface="+mn-ea"/>
              </a:rPr>
              <a:t>脱颖而出    相濡以沫        </a:t>
            </a:r>
            <a:r>
              <a:rPr lang="en-US" altLang="zh-CN" sz="2400" b="1">
                <a:sym typeface="+mn-ea"/>
              </a:rPr>
              <a:t>D.</a:t>
            </a:r>
            <a:r>
              <a:rPr sz="2400" b="1">
                <a:sym typeface="+mn-ea"/>
              </a:rPr>
              <a:t>广为人知    相视莫逆</a:t>
            </a:r>
            <a:endParaRPr sz="2400" b="1">
              <a:sym typeface="+mn-ea"/>
            </a:endParaRPr>
          </a:p>
          <a:p>
            <a:r>
              <a:rPr sz="2400" b="1">
                <a:sym typeface="+mn-ea"/>
              </a:rPr>
              <a:t>分析：根据</a:t>
            </a:r>
            <a:r>
              <a:rPr lang="en-US" altLang="zh-CN" sz="2400" b="1">
                <a:sym typeface="+mn-ea"/>
              </a:rPr>
              <a:t>“</a:t>
            </a:r>
            <a:r>
              <a:rPr sz="2400" b="1">
                <a:solidFill>
                  <a:srgbClr val="FF0000"/>
                </a:solidFill>
                <a:sym typeface="+mn-ea"/>
              </a:rPr>
              <a:t>山水之景与神灵之气</a:t>
            </a:r>
            <a:r>
              <a:rPr lang="en-US" altLang="zh-CN" sz="2400" b="1">
                <a:sym typeface="+mn-ea"/>
              </a:rPr>
              <a:t>”</a:t>
            </a:r>
            <a:r>
              <a:rPr sz="2400" b="1">
                <a:sym typeface="+mn-ea"/>
              </a:rPr>
              <a:t>排除</a:t>
            </a:r>
            <a:r>
              <a:rPr lang="en-US" altLang="zh-CN" sz="2400" b="1">
                <a:sym typeface="+mn-ea"/>
              </a:rPr>
              <a:t>CD</a:t>
            </a:r>
            <a:r>
              <a:rPr sz="2400" b="1">
                <a:sym typeface="+mn-ea"/>
              </a:rPr>
              <a:t>，</a:t>
            </a:r>
            <a:r>
              <a:rPr lang="en-US" altLang="zh-CN" sz="2400" b="1">
                <a:sym typeface="+mn-ea"/>
              </a:rPr>
              <a:t>“</a:t>
            </a:r>
            <a:r>
              <a:rPr sz="2400" b="1">
                <a:sym typeface="+mn-ea"/>
              </a:rPr>
              <a:t>门庭若市</a:t>
            </a:r>
            <a:r>
              <a:rPr lang="en-US" altLang="zh-CN" sz="2400" b="1">
                <a:sym typeface="+mn-ea"/>
              </a:rPr>
              <a:t>”</a:t>
            </a:r>
            <a:r>
              <a:rPr sz="2400" b="1">
                <a:sym typeface="+mn-ea"/>
              </a:rPr>
              <a:t>指人多热闹，与句意不符，根据</a:t>
            </a:r>
            <a:r>
              <a:rPr lang="en-US" altLang="zh-CN" sz="2400" b="1">
                <a:sym typeface="+mn-ea"/>
              </a:rPr>
              <a:t>“</a:t>
            </a:r>
            <a:r>
              <a:rPr sz="2400" b="1">
                <a:solidFill>
                  <a:srgbClr val="00B050"/>
                </a:solidFill>
                <a:sym typeface="+mn-ea"/>
              </a:rPr>
              <a:t>兴起</a:t>
            </a:r>
            <a:r>
              <a:rPr lang="en-US" altLang="zh-CN" sz="2400" b="1">
                <a:sym typeface="+mn-ea"/>
              </a:rPr>
              <a:t>”“</a:t>
            </a:r>
            <a:r>
              <a:rPr sz="2400" b="1">
                <a:solidFill>
                  <a:srgbClr val="00B050"/>
                </a:solidFill>
                <a:sym typeface="+mn-ea"/>
              </a:rPr>
              <a:t>开始</a:t>
            </a:r>
            <a:r>
              <a:rPr lang="en-US" altLang="zh-CN" sz="2400" b="1">
                <a:sym typeface="+mn-ea"/>
              </a:rPr>
              <a:t>”</a:t>
            </a:r>
            <a:r>
              <a:rPr sz="2400" b="1">
                <a:sym typeface="+mn-ea"/>
              </a:rPr>
              <a:t>意义搭配的是</a:t>
            </a:r>
            <a:r>
              <a:rPr lang="en-US" altLang="zh-CN" sz="2400" b="1">
                <a:sym typeface="+mn-ea"/>
              </a:rPr>
              <a:t>“</a:t>
            </a:r>
            <a:r>
              <a:rPr sz="2400" b="1">
                <a:sym typeface="+mn-ea"/>
              </a:rPr>
              <a:t>声名鹊起</a:t>
            </a:r>
            <a:r>
              <a:rPr lang="en-US" altLang="zh-CN" sz="2400" b="1">
                <a:sym typeface="+mn-ea"/>
              </a:rPr>
              <a:t>”</a:t>
            </a:r>
            <a:r>
              <a:rPr sz="2400" b="1">
                <a:sym typeface="+mn-ea"/>
              </a:rPr>
              <a:t>，故选</a:t>
            </a:r>
            <a:r>
              <a:rPr lang="en-US" altLang="zh-CN" sz="2400" b="1">
                <a:sym typeface="+mn-ea"/>
              </a:rPr>
              <a:t>A</a:t>
            </a:r>
            <a:r>
              <a:rPr sz="2400" b="1">
                <a:sym typeface="+mn-ea"/>
              </a:rPr>
              <a:t>。</a:t>
            </a:r>
            <a:r>
              <a:rPr sz="2400" b="1">
                <a:sym typeface="+mn-ea"/>
              </a:rPr>
              <a:t>相视莫逆：</a:t>
            </a:r>
            <a:r>
              <a:rPr sz="2400" b="1">
                <a:sym typeface="+mn-ea"/>
              </a:rPr>
              <a:t>彼此情投意合，非常相好。形容彼此间友谊深厚，无所违逆于心。</a:t>
            </a:r>
            <a:endParaRPr sz="2400" b="1">
              <a:sym typeface="+mn-ea"/>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32</a:t>
            </a:r>
            <a:r>
              <a:rPr>
                <a:sym typeface="+mn-ea"/>
              </a:rPr>
              <a:t>（川</a:t>
            </a:r>
            <a:r>
              <a:rPr lang="en-US" altLang="zh-CN">
                <a:sym typeface="+mn-ea"/>
              </a:rPr>
              <a:t>2019</a:t>
            </a:r>
            <a:r>
              <a:rPr>
                <a:sym typeface="+mn-ea"/>
              </a:rPr>
              <a:t>上</a:t>
            </a:r>
            <a:r>
              <a:rPr lang="en-US" altLang="zh-CN">
                <a:sym typeface="+mn-ea"/>
              </a:rPr>
              <a:t>-22</a:t>
            </a:r>
            <a:r>
              <a:rPr>
                <a:sym typeface="+mn-ea"/>
              </a:rPr>
              <a:t>）</a:t>
            </a:r>
            <a:endParaRPr lang="zh-CN" altLang="en-US"/>
          </a:p>
        </p:txBody>
      </p:sp>
      <p:sp>
        <p:nvSpPr>
          <p:cNvPr id="3" name="内容占位符 2"/>
          <p:cNvSpPr>
            <a:spLocks noGrp="1"/>
          </p:cNvSpPr>
          <p:nvPr>
            <p:ph idx="1"/>
          </p:nvPr>
        </p:nvSpPr>
        <p:spPr/>
        <p:txBody>
          <a:bodyPr/>
          <a:p>
            <a:r>
              <a:rPr lang="zh-CN" altLang="en-US" sz="2400" b="1"/>
              <a:t>近年来，很多旅游演出的剧院和舞台充满新意和活力：舞台可搭在水面或山腰；座位席可移动、可旋转；观演方式有站着看的，还有走着看的……中国旅游演出舞台技术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不断探索突破“老套路”，走出新模式，一个个新创意、新技术将舞台变得美不胜收，</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地丰富游客的体验，让文化变得可以亲近和触摸。</a:t>
            </a:r>
            <a:endParaRPr lang="zh-CN" altLang="en-US" sz="2400" b="1"/>
          </a:p>
          <a:p>
            <a:r>
              <a:rPr lang="zh-CN" altLang="en-US" sz="2400" b="1"/>
              <a:t>填入画横线部分最恰当的一项是：</a:t>
            </a:r>
            <a:endParaRPr lang="zh-CN" altLang="en-US" sz="2400" b="1"/>
          </a:p>
          <a:p>
            <a:r>
              <a:rPr lang="zh-CN" altLang="en-US" sz="2400" b="1"/>
              <a:t>A.日新月异     身临其境          B.纷至沓来     千方百计</a:t>
            </a:r>
            <a:endParaRPr lang="zh-CN" altLang="en-US" sz="2400" b="1"/>
          </a:p>
          <a:p>
            <a:r>
              <a:rPr lang="zh-CN" altLang="en-US" sz="2400" b="1"/>
              <a:t>B.独树一帜     设身处地          D.突飞猛进     想方设法</a:t>
            </a:r>
            <a:endParaRPr lang="zh-CN" altLang="en-US" sz="2400" b="1"/>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93682" y="172920"/>
            <a:ext cx="10852237" cy="648000"/>
          </a:xfrm>
        </p:spPr>
        <p:txBody>
          <a:bodyPr/>
          <a:p>
            <a:r>
              <a:rPr>
                <a:solidFill>
                  <a:schemeClr val="tx1"/>
                </a:solidFill>
                <a:sym typeface="+mn-ea"/>
              </a:rPr>
              <a:t>真题</a:t>
            </a:r>
            <a:r>
              <a:rPr lang="en-US" altLang="zh-CN">
                <a:solidFill>
                  <a:schemeClr val="tx1"/>
                </a:solidFill>
                <a:sym typeface="+mn-ea"/>
              </a:rPr>
              <a:t>32</a:t>
            </a:r>
            <a:r>
              <a:rPr>
                <a:solidFill>
                  <a:schemeClr val="tx1"/>
                </a:solidFill>
                <a:sym typeface="+mn-ea"/>
              </a:rPr>
              <a:t>分析</a:t>
            </a:r>
            <a:r>
              <a:rPr>
                <a:sym typeface="+mn-ea"/>
              </a:rPr>
              <a:t>（川</a:t>
            </a:r>
            <a:r>
              <a:rPr lang="en-US" altLang="zh-CN">
                <a:sym typeface="+mn-ea"/>
              </a:rPr>
              <a:t>2019</a:t>
            </a:r>
            <a:r>
              <a:rPr>
                <a:sym typeface="+mn-ea"/>
              </a:rPr>
              <a:t>上</a:t>
            </a:r>
            <a:r>
              <a:rPr lang="en-US" altLang="zh-CN">
                <a:sym typeface="+mn-ea"/>
              </a:rPr>
              <a:t>-22</a:t>
            </a:r>
            <a:r>
              <a:rPr>
                <a:sym typeface="+mn-ea"/>
              </a:rPr>
              <a:t>）：</a:t>
            </a:r>
            <a:endParaRPr lang="zh-CN" altLang="en-US"/>
          </a:p>
        </p:txBody>
      </p:sp>
      <p:sp>
        <p:nvSpPr>
          <p:cNvPr id="3" name="内容占位符 2"/>
          <p:cNvSpPr>
            <a:spLocks noGrp="1"/>
          </p:cNvSpPr>
          <p:nvPr>
            <p:ph idx="1"/>
          </p:nvPr>
        </p:nvSpPr>
        <p:spPr>
          <a:xfrm>
            <a:off x="669925" y="820420"/>
            <a:ext cx="10852150" cy="5516880"/>
          </a:xfrm>
        </p:spPr>
        <p:txBody>
          <a:bodyPr/>
          <a:p>
            <a:r>
              <a:rPr lang="zh-CN" altLang="en-US" sz="2400" b="1"/>
              <a:t>近年来，很多旅游演出的剧院和舞台充满新意和活力：舞台可搭在水面或山腰；座位席可移动、可旋转；观演方式有站着看的，还有走着看的……中国旅游演出舞台技术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a:t>
            </a:r>
            <a:r>
              <a:rPr lang="zh-CN" altLang="en-US" sz="2400" b="1">
                <a:solidFill>
                  <a:srgbClr val="00B050"/>
                </a:solidFill>
              </a:rPr>
              <a:t>不断探索突破“老套路”</a:t>
            </a:r>
            <a:r>
              <a:rPr lang="zh-CN" altLang="en-US" sz="2400" b="1"/>
              <a:t>，走出新模式，一个个新创意、新技术</a:t>
            </a:r>
            <a:r>
              <a:rPr lang="zh-CN" altLang="en-US" sz="2400" b="1">
                <a:solidFill>
                  <a:srgbClr val="00B050"/>
                </a:solidFill>
              </a:rPr>
              <a:t>将舞台变得美不胜收</a:t>
            </a:r>
            <a:r>
              <a:rPr lang="zh-CN" altLang="en-US" sz="2400" b="1"/>
              <a:t>，</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地</a:t>
            </a:r>
            <a:r>
              <a:rPr lang="zh-CN" altLang="en-US" sz="2400" b="1">
                <a:solidFill>
                  <a:srgbClr val="FF0000"/>
                </a:solidFill>
              </a:rPr>
              <a:t>丰富</a:t>
            </a:r>
            <a:r>
              <a:rPr lang="zh-CN" altLang="en-US" sz="2400" b="1"/>
              <a:t>游客的体验，让文化变得可以亲近和触摸。</a:t>
            </a:r>
            <a:endParaRPr lang="zh-CN" altLang="en-US" sz="2400" b="1"/>
          </a:p>
          <a:p>
            <a:r>
              <a:rPr sz="2400" b="1">
                <a:sym typeface="+mn-ea"/>
              </a:rPr>
              <a:t>依次填入画横线部分最恰当的一项是（    ）</a:t>
            </a:r>
            <a:endParaRPr sz="2400" b="1">
              <a:sym typeface="+mn-ea"/>
            </a:endParaRPr>
          </a:p>
          <a:p>
            <a:r>
              <a:rPr lang="zh-CN" altLang="en-US" sz="2400" b="1"/>
              <a:t>A.日新月异     身临其境          B.纷至沓来     千方百计</a:t>
            </a:r>
            <a:endParaRPr lang="zh-CN" altLang="en-US" sz="2400" b="1"/>
          </a:p>
          <a:p>
            <a:r>
              <a:rPr lang="zh-CN" altLang="en-US" sz="2400" b="1"/>
              <a:t>B.独树一帜     设身处地          D.突飞猛进     想方设法</a:t>
            </a:r>
            <a:endParaRPr lang="zh-CN" altLang="en-US" sz="2400" b="1"/>
          </a:p>
          <a:p>
            <a:r>
              <a:rPr lang="zh-CN" altLang="en-US" sz="2400" b="1"/>
              <a:t>分析：根据绿色字直接选</a:t>
            </a:r>
            <a:r>
              <a:rPr lang="en-US" altLang="zh-CN" sz="2400" b="1"/>
              <a:t>D</a:t>
            </a:r>
            <a:r>
              <a:rPr sz="2400" b="1"/>
              <a:t>。</a:t>
            </a:r>
            <a:r>
              <a:rPr lang="en-US" altLang="zh-CN" sz="2400" b="1"/>
              <a:t>“</a:t>
            </a:r>
            <a:r>
              <a:rPr sz="2400" b="1">
                <a:sym typeface="+mn-ea"/>
              </a:rPr>
              <a:t>纷至沓来</a:t>
            </a:r>
            <a:r>
              <a:rPr lang="en-US" altLang="zh-CN" sz="2400" b="1"/>
              <a:t>”</a:t>
            </a:r>
            <a:r>
              <a:rPr sz="2400" b="1"/>
              <a:t>形容人而不是技术。</a:t>
            </a:r>
            <a:r>
              <a:rPr lang="en-US" altLang="zh-CN" sz="2400" b="1"/>
              <a:t>“</a:t>
            </a:r>
            <a:r>
              <a:rPr sz="2400" b="1">
                <a:sym typeface="+mn-ea"/>
              </a:rPr>
              <a:t>独树一帜</a:t>
            </a:r>
            <a:r>
              <a:rPr lang="en-US" altLang="zh-CN" sz="2400" b="1"/>
              <a:t>”</a:t>
            </a:r>
            <a:r>
              <a:rPr sz="2400" b="1"/>
              <a:t>强调风格独特，与文意不符。</a:t>
            </a:r>
            <a:r>
              <a:rPr lang="en-US" altLang="zh-CN" sz="2400" b="1"/>
              <a:t>“</a:t>
            </a:r>
            <a:r>
              <a:rPr sz="2400" b="1">
                <a:sym typeface="+mn-ea"/>
              </a:rPr>
              <a:t>身临其境</a:t>
            </a:r>
            <a:r>
              <a:rPr lang="en-US" altLang="zh-CN" sz="2400" b="1"/>
              <a:t>”</a:t>
            </a:r>
            <a:r>
              <a:rPr sz="2400" b="1"/>
              <a:t>不能够修饰</a:t>
            </a:r>
            <a:r>
              <a:rPr lang="en-US" altLang="zh-CN" sz="2400" b="1"/>
              <a:t>“</a:t>
            </a:r>
            <a:r>
              <a:rPr sz="2400" b="1">
                <a:solidFill>
                  <a:srgbClr val="FF0000"/>
                </a:solidFill>
                <a:sym typeface="+mn-ea"/>
              </a:rPr>
              <a:t>丰富</a:t>
            </a:r>
            <a:r>
              <a:rPr lang="en-US" altLang="zh-CN" sz="2400" b="1"/>
              <a:t>”</a:t>
            </a:r>
            <a:r>
              <a:rPr sz="2400" b="1"/>
              <a:t>。</a:t>
            </a:r>
            <a:endParaRPr lang="en-US" altLang="zh-CN" sz="2400" b="1"/>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a:t>
            </a:r>
            <a:r>
              <a:t>轻重失衡</a:t>
            </a:r>
          </a:p>
        </p:txBody>
      </p:sp>
      <p:sp>
        <p:nvSpPr>
          <p:cNvPr id="3" name="内容占位符 2"/>
          <p:cNvSpPr>
            <a:spLocks noGrp="1"/>
          </p:cNvSpPr>
          <p:nvPr>
            <p:ph idx="1"/>
          </p:nvPr>
        </p:nvSpPr>
        <p:spPr/>
        <p:txBody>
          <a:bodyPr/>
          <a:p>
            <a:r>
              <a:rPr lang="zh-CN" altLang="en-US" sz="2400" b="1">
                <a:solidFill>
                  <a:srgbClr val="FF0000"/>
                </a:solidFill>
              </a:rPr>
              <a:t>有些成语意义相近，但存在程度轻重上的差别。根据语境选用。</a:t>
            </a:r>
            <a:endParaRPr lang="zh-CN" altLang="en-US" sz="2400" b="1">
              <a:solidFill>
                <a:srgbClr val="FF0000"/>
              </a:solidFill>
            </a:endParaRPr>
          </a:p>
          <a:p>
            <a:r>
              <a:rPr lang="zh-CN" altLang="en-US" sz="2400" b="1"/>
              <a:t>信口开河：随口乱说；    信口雌黄：歪曲事实进行诽谤污蔑，程度重</a:t>
            </a:r>
            <a:endParaRPr lang="zh-CN" altLang="en-US" sz="2400" b="1"/>
          </a:p>
          <a:p>
            <a:r>
              <a:rPr lang="zh-CN" altLang="en-US" sz="2400" b="1">
                <a:solidFill>
                  <a:srgbClr val="00B050"/>
                </a:solidFill>
              </a:rPr>
              <a:t>真题</a:t>
            </a:r>
            <a:r>
              <a:rPr lang="en-US" altLang="zh-CN" sz="2400" b="1">
                <a:solidFill>
                  <a:srgbClr val="00B050"/>
                </a:solidFill>
              </a:rPr>
              <a:t>33</a:t>
            </a:r>
            <a:r>
              <a:rPr sz="2400" b="1"/>
              <a:t>：中国在全球奢侈品市场的地位已</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，对其垂涎的各大奢侈品品牌纷纷增资加码是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的举措。</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首屈一指    顺理成章         </a:t>
            </a:r>
            <a:r>
              <a:rPr lang="en-US" altLang="zh-CN" sz="2400" b="1">
                <a:sym typeface="+mn-ea"/>
              </a:rPr>
              <a:t>B.</a:t>
            </a:r>
            <a:r>
              <a:rPr sz="2400" b="1">
                <a:sym typeface="+mn-ea"/>
              </a:rPr>
              <a:t>举足轻重    理所当然</a:t>
            </a:r>
            <a:endParaRPr sz="2400" b="1">
              <a:sym typeface="+mn-ea"/>
            </a:endParaRPr>
          </a:p>
          <a:p>
            <a:r>
              <a:rPr lang="en-US" altLang="zh-CN" sz="2400" b="1">
                <a:sym typeface="+mn-ea"/>
              </a:rPr>
              <a:t>C.</a:t>
            </a:r>
            <a:r>
              <a:rPr sz="2400" b="1">
                <a:sym typeface="+mn-ea"/>
              </a:rPr>
              <a:t>今非昔比    天经地义         </a:t>
            </a:r>
            <a:r>
              <a:rPr lang="en-US" altLang="zh-CN" sz="2400" b="1">
                <a:sym typeface="+mn-ea"/>
              </a:rPr>
              <a:t>D.</a:t>
            </a:r>
            <a:r>
              <a:rPr sz="2400" b="1">
                <a:sym typeface="+mn-ea"/>
              </a:rPr>
              <a:t>无与伦比    水到渠成</a:t>
            </a:r>
            <a:endParaRPr sz="2400" b="1">
              <a:sym typeface="+mn-ea"/>
            </a:endParaRPr>
          </a:p>
          <a:p>
            <a:endParaRPr sz="2400" b="1"/>
          </a:p>
          <a:p>
            <a:endParaRPr sz="2400" b="1"/>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33</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sz="2400" b="1">
                <a:sym typeface="+mn-ea"/>
              </a:rPr>
              <a:t>中国在全球奢侈品市场的地位已</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，对其垂涎的各大奢侈品品牌纷纷增资加码是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a:t>
            </a:r>
            <a:r>
              <a:rPr sz="2400" b="1">
                <a:solidFill>
                  <a:srgbClr val="FF0000"/>
                </a:solidFill>
                <a:sym typeface="+mn-ea"/>
              </a:rPr>
              <a:t>举措</a:t>
            </a:r>
            <a:r>
              <a:rPr sz="2400" b="1">
                <a:sym typeface="+mn-ea"/>
              </a:rPr>
              <a:t>。</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首屈一指    顺理成章         </a:t>
            </a:r>
            <a:r>
              <a:rPr lang="en-US" altLang="zh-CN" sz="2400" b="1">
                <a:sym typeface="+mn-ea"/>
              </a:rPr>
              <a:t>B.</a:t>
            </a:r>
            <a:r>
              <a:rPr sz="2400" b="1">
                <a:sym typeface="+mn-ea"/>
              </a:rPr>
              <a:t>举足轻重    理所当然</a:t>
            </a:r>
            <a:endParaRPr sz="2400" b="1">
              <a:sym typeface="+mn-ea"/>
            </a:endParaRPr>
          </a:p>
          <a:p>
            <a:r>
              <a:rPr lang="en-US" altLang="zh-CN" sz="2400" b="1">
                <a:sym typeface="+mn-ea"/>
              </a:rPr>
              <a:t>C.</a:t>
            </a:r>
            <a:r>
              <a:rPr sz="2400" b="1">
                <a:sym typeface="+mn-ea"/>
              </a:rPr>
              <a:t>今非昔比    天经地义         </a:t>
            </a:r>
            <a:r>
              <a:rPr lang="en-US" altLang="zh-CN" sz="2400" b="1">
                <a:sym typeface="+mn-ea"/>
              </a:rPr>
              <a:t>D.</a:t>
            </a:r>
            <a:r>
              <a:rPr sz="2400" b="1">
                <a:sym typeface="+mn-ea"/>
              </a:rPr>
              <a:t>无与伦比    水到渠成</a:t>
            </a:r>
            <a:endParaRPr sz="2400" b="1">
              <a:sym typeface="+mn-ea"/>
            </a:endParaRPr>
          </a:p>
          <a:p>
            <a:r>
              <a:rPr sz="2400" b="1">
                <a:sym typeface="+mn-ea"/>
              </a:rPr>
              <a:t>分析：</a:t>
            </a:r>
            <a:r>
              <a:rPr lang="en-US" altLang="zh-CN" sz="2400" b="1">
                <a:sym typeface="+mn-ea"/>
              </a:rPr>
              <a:t>“</a:t>
            </a:r>
            <a:r>
              <a:rPr sz="2400" b="1">
                <a:sym typeface="+mn-ea"/>
              </a:rPr>
              <a:t>首屈一指</a:t>
            </a:r>
            <a:r>
              <a:rPr lang="en-US" altLang="zh-CN" sz="2400" b="1">
                <a:sym typeface="+mn-ea"/>
              </a:rPr>
              <a:t>”“</a:t>
            </a:r>
            <a:r>
              <a:rPr sz="2400" b="1">
                <a:sym typeface="+mn-ea"/>
              </a:rPr>
              <a:t>无与伦比</a:t>
            </a:r>
            <a:r>
              <a:rPr lang="en-US" altLang="zh-CN" sz="2400" b="1">
                <a:sym typeface="+mn-ea"/>
              </a:rPr>
              <a:t>”</a:t>
            </a:r>
            <a:r>
              <a:rPr sz="2400" b="1">
                <a:sym typeface="+mn-ea"/>
              </a:rPr>
              <a:t>语义太重，</a:t>
            </a:r>
            <a:r>
              <a:rPr lang="en-US" altLang="zh-CN" sz="2400" b="1">
                <a:sym typeface="+mn-ea"/>
              </a:rPr>
              <a:t>“</a:t>
            </a:r>
            <a:r>
              <a:rPr sz="2400" b="1">
                <a:sym typeface="+mn-ea"/>
              </a:rPr>
              <a:t>天经地义</a:t>
            </a:r>
            <a:r>
              <a:rPr lang="en-US" altLang="zh-CN" sz="2400" b="1">
                <a:sym typeface="+mn-ea"/>
              </a:rPr>
              <a:t>”</a:t>
            </a:r>
            <a:r>
              <a:rPr sz="2400" b="1">
                <a:sym typeface="+mn-ea"/>
              </a:rPr>
              <a:t>修饰</a:t>
            </a:r>
            <a:r>
              <a:rPr lang="en-US" altLang="zh-CN" sz="2400" b="1">
                <a:sym typeface="+mn-ea"/>
              </a:rPr>
              <a:t>“</a:t>
            </a:r>
            <a:r>
              <a:rPr sz="2400" b="1">
                <a:sym typeface="+mn-ea"/>
              </a:rPr>
              <a:t>举措</a:t>
            </a:r>
            <a:r>
              <a:rPr lang="en-US" altLang="zh-CN" sz="2400" b="1">
                <a:sym typeface="+mn-ea"/>
              </a:rPr>
              <a:t>”</a:t>
            </a:r>
            <a:r>
              <a:rPr sz="2400" b="1">
                <a:sym typeface="+mn-ea"/>
              </a:rPr>
              <a:t>语义太重，故选</a:t>
            </a:r>
            <a:r>
              <a:rPr lang="en-US" altLang="zh-CN" sz="2400" b="1">
                <a:sym typeface="+mn-ea"/>
              </a:rPr>
              <a:t>B</a:t>
            </a:r>
            <a:r>
              <a:rPr sz="2400" b="1">
                <a:sym typeface="+mn-ea"/>
              </a:rPr>
              <a:t>。</a:t>
            </a:r>
            <a:endParaRPr sz="2400" b="1">
              <a:sym typeface="+mn-ea"/>
            </a:endParaRPr>
          </a:p>
          <a:p>
            <a:endParaRPr lang="zh-CN" altLang="en-US" sz="2400"/>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34</a:t>
            </a:r>
            <a:r>
              <a:t>（川</a:t>
            </a:r>
            <a:r>
              <a:rPr lang="en-US" altLang="zh-CN"/>
              <a:t>2019</a:t>
            </a:r>
            <a:r>
              <a:t>上</a:t>
            </a:r>
            <a:r>
              <a:rPr lang="en-US" altLang="zh-CN"/>
              <a:t>-21</a:t>
            </a:r>
            <a:r>
              <a:t>）</a:t>
            </a:r>
          </a:p>
        </p:txBody>
      </p:sp>
      <p:sp>
        <p:nvSpPr>
          <p:cNvPr id="3" name="内容占位符 2"/>
          <p:cNvSpPr>
            <a:spLocks noGrp="1"/>
          </p:cNvSpPr>
          <p:nvPr>
            <p:ph idx="1"/>
          </p:nvPr>
        </p:nvSpPr>
        <p:spPr/>
        <p:txBody>
          <a:bodyPr/>
          <a:p>
            <a:r>
              <a:rPr lang="zh-CN" altLang="en-US" sz="2400" b="1"/>
              <a:t>马达加斯加这个被世界遗忘了很多年的孤岛，由于动画电影《马达加斯加》而意外走红。其实绝大部分人都没有去过马达加斯加，只能从一些</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中构建自己心目中的那个世外桃源，和真实的马达加斯加往往</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    </a:t>
            </a:r>
            <a:endParaRPr lang="zh-CN" altLang="en-US" sz="2400" b="1"/>
          </a:p>
          <a:p>
            <a:r>
              <a:rPr lang="zh-CN" altLang="en-US" sz="2400" b="1"/>
              <a:t>填入画横线部分最恰当的一项是：</a:t>
            </a:r>
            <a:endParaRPr lang="zh-CN" altLang="en-US" sz="2400" b="1"/>
          </a:p>
          <a:p>
            <a:r>
              <a:rPr sz="2400" b="1">
                <a:sym typeface="+mn-ea"/>
              </a:rPr>
              <a:t>依次填入画横线部分最恰当的一项是（    ）</a:t>
            </a:r>
            <a:endParaRPr sz="2400" b="1">
              <a:sym typeface="+mn-ea"/>
            </a:endParaRPr>
          </a:p>
          <a:p>
            <a:r>
              <a:rPr lang="zh-CN" altLang="en-US" sz="2400" b="1"/>
              <a:t>A.道听途说    背道而驰        B.只言片语  相去甚远</a:t>
            </a:r>
            <a:endParaRPr lang="zh-CN" altLang="en-US" sz="2400" b="1"/>
          </a:p>
          <a:p>
            <a:r>
              <a:rPr lang="zh-CN" altLang="en-US" sz="2400" b="1"/>
              <a:t>B.细枝末节    大相径庭        D.逸闻轶事  截然不同</a:t>
            </a:r>
            <a:endParaRPr lang="zh-CN" altLang="en-US" sz="2400" b="1"/>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37192" y="183080"/>
            <a:ext cx="10852237" cy="648000"/>
          </a:xfrm>
        </p:spPr>
        <p:txBody>
          <a:bodyPr/>
          <a:p>
            <a:r>
              <a:rPr lang="zh-CN" altLang="en-US">
                <a:solidFill>
                  <a:schemeClr val="tx1"/>
                </a:solidFill>
              </a:rPr>
              <a:t>真题</a:t>
            </a:r>
            <a:r>
              <a:rPr lang="en-US" altLang="zh-CN">
                <a:solidFill>
                  <a:schemeClr val="tx1"/>
                </a:solidFill>
              </a:rPr>
              <a:t>34</a:t>
            </a:r>
            <a:r>
              <a:rPr>
                <a:solidFill>
                  <a:schemeClr val="tx1"/>
                </a:solidFill>
              </a:rPr>
              <a:t>分析</a:t>
            </a:r>
            <a:r>
              <a:t>（川</a:t>
            </a:r>
            <a:r>
              <a:rPr lang="en-US" altLang="zh-CN"/>
              <a:t>2019</a:t>
            </a:r>
            <a:r>
              <a:t>上</a:t>
            </a:r>
            <a:r>
              <a:rPr lang="en-US" altLang="zh-CN"/>
              <a:t>-21</a:t>
            </a:r>
            <a:r>
              <a:t>）</a:t>
            </a:r>
          </a:p>
        </p:txBody>
      </p:sp>
      <p:sp>
        <p:nvSpPr>
          <p:cNvPr id="3" name="内容占位符 2"/>
          <p:cNvSpPr>
            <a:spLocks noGrp="1"/>
          </p:cNvSpPr>
          <p:nvPr>
            <p:ph idx="1"/>
          </p:nvPr>
        </p:nvSpPr>
        <p:spPr>
          <a:xfrm>
            <a:off x="485775" y="908050"/>
            <a:ext cx="11247120" cy="5529580"/>
          </a:xfrm>
        </p:spPr>
        <p:txBody>
          <a:bodyPr/>
          <a:p>
            <a:r>
              <a:rPr sz="2400" b="1">
                <a:sym typeface="+mn-ea"/>
              </a:rPr>
              <a:t>马达加斯加这个被世界遗忘了很多年的孤岛，由于动画电影《马达加斯加》而意外走红。其实绝大部分人</a:t>
            </a:r>
            <a:r>
              <a:rPr sz="2400" b="1">
                <a:solidFill>
                  <a:srgbClr val="00B050"/>
                </a:solidFill>
                <a:sym typeface="+mn-ea"/>
              </a:rPr>
              <a:t>都没有去过</a:t>
            </a:r>
            <a:r>
              <a:rPr sz="2400" b="1">
                <a:sym typeface="+mn-ea"/>
              </a:rPr>
              <a:t>马达加斯加，</a:t>
            </a:r>
            <a:r>
              <a:rPr sz="2400" b="1">
                <a:solidFill>
                  <a:srgbClr val="00B050"/>
                </a:solidFill>
                <a:sym typeface="+mn-ea"/>
              </a:rPr>
              <a:t>只能从一些</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00B050"/>
                </a:solidFill>
                <a:sym typeface="+mn-ea"/>
              </a:rPr>
              <a:t>中构建自己心目中的那个世外桃源</a:t>
            </a:r>
            <a:r>
              <a:rPr sz="2400" b="1">
                <a:sym typeface="+mn-ea"/>
              </a:rPr>
              <a:t>，</a:t>
            </a:r>
            <a:r>
              <a:rPr sz="2400" b="1">
                <a:solidFill>
                  <a:srgbClr val="FF0000"/>
                </a:solidFill>
                <a:sym typeface="+mn-ea"/>
              </a:rPr>
              <a:t>和真实的马达加斯加往往</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ym typeface="+mn-ea"/>
              </a:rPr>
              <a:t>    </a:t>
            </a:r>
            <a:endParaRPr lang="zh-CN" altLang="en-US" sz="2400" b="1"/>
          </a:p>
          <a:p>
            <a:r>
              <a:rPr sz="2400" b="1">
                <a:sym typeface="+mn-ea"/>
              </a:rPr>
              <a:t>填入画横线部分最恰当的一项是：</a:t>
            </a:r>
            <a:endParaRPr lang="zh-CN" altLang="en-US" sz="2400" b="1"/>
          </a:p>
          <a:p>
            <a:r>
              <a:rPr sz="2400" b="1">
                <a:sym typeface="+mn-ea"/>
              </a:rPr>
              <a:t>依次填入画横线部分最恰当的一项是（    ）</a:t>
            </a:r>
            <a:endParaRPr sz="2400" b="1">
              <a:sym typeface="+mn-ea"/>
            </a:endParaRPr>
          </a:p>
          <a:p>
            <a:r>
              <a:rPr sz="2400" b="1">
                <a:sym typeface="+mn-ea"/>
              </a:rPr>
              <a:t>A.道听途说    背道而驰        B.只言片语  相去甚远</a:t>
            </a:r>
            <a:endParaRPr lang="zh-CN" altLang="en-US" sz="2400" b="1"/>
          </a:p>
          <a:p>
            <a:r>
              <a:rPr sz="2400" b="1">
                <a:sym typeface="+mn-ea"/>
              </a:rPr>
              <a:t>B.细枝末节    大相径庭        D.逸闻轶事  截然不同</a:t>
            </a:r>
            <a:endParaRPr lang="zh-CN" altLang="en-US" sz="2400" b="1"/>
          </a:p>
          <a:p>
            <a:r>
              <a:rPr lang="zh-CN" altLang="en-US" sz="2400" b="1"/>
              <a:t>分析：先看第二空，</a:t>
            </a:r>
            <a:r>
              <a:rPr lang="en-US" altLang="zh-CN" sz="2400" b="1"/>
              <a:t>“</a:t>
            </a:r>
            <a:r>
              <a:rPr sz="2400" b="1">
                <a:sym typeface="+mn-ea"/>
              </a:rPr>
              <a:t>背道而驰</a:t>
            </a:r>
            <a:r>
              <a:rPr lang="en-US" altLang="zh-CN" sz="2400" b="1"/>
              <a:t>”</a:t>
            </a:r>
            <a:r>
              <a:rPr sz="2400" b="1"/>
              <a:t>比喻行动方向与目标完全相反，文意是想象与真实对比，排除</a:t>
            </a:r>
            <a:r>
              <a:rPr lang="en-US" altLang="zh-CN" sz="2400" b="1"/>
              <a:t>A</a:t>
            </a:r>
            <a:r>
              <a:rPr sz="2400" b="1"/>
              <a:t>。</a:t>
            </a:r>
            <a:r>
              <a:rPr lang="en-US" altLang="zh-CN" sz="2400" b="1"/>
              <a:t>“</a:t>
            </a:r>
            <a:r>
              <a:rPr sz="2400" b="1">
                <a:sym typeface="+mn-ea"/>
              </a:rPr>
              <a:t>截然不同</a:t>
            </a:r>
            <a:r>
              <a:rPr lang="en-US" altLang="zh-CN" sz="2400" b="1"/>
              <a:t>”</a:t>
            </a:r>
            <a:r>
              <a:rPr sz="2400" b="1"/>
              <a:t>全然不一样，语义过重，排除</a:t>
            </a:r>
            <a:r>
              <a:rPr lang="en-US" altLang="zh-CN" sz="2400" b="1"/>
              <a:t>D</a:t>
            </a:r>
            <a:r>
              <a:rPr sz="2400" b="1"/>
              <a:t>。</a:t>
            </a:r>
            <a:r>
              <a:rPr lang="en-US" altLang="zh-CN" sz="2400" b="1"/>
              <a:t>“</a:t>
            </a:r>
            <a:r>
              <a:rPr sz="2400" b="1">
                <a:sym typeface="+mn-ea"/>
              </a:rPr>
              <a:t>只言片语</a:t>
            </a:r>
            <a:r>
              <a:rPr lang="en-US" altLang="zh-CN" sz="2400" b="1"/>
              <a:t>”</a:t>
            </a:r>
            <a:r>
              <a:rPr sz="2400" b="1"/>
              <a:t>侧重不完整。</a:t>
            </a:r>
            <a:r>
              <a:rPr lang="en-US" altLang="zh-CN" sz="2400" b="1"/>
              <a:t>“</a:t>
            </a:r>
            <a:r>
              <a:rPr sz="2400" b="1">
                <a:sym typeface="+mn-ea"/>
              </a:rPr>
              <a:t>细枝末节</a:t>
            </a:r>
            <a:r>
              <a:rPr lang="en-US" altLang="zh-CN" sz="2400" b="1"/>
              <a:t>”</a:t>
            </a:r>
            <a:r>
              <a:rPr sz="2400" b="1"/>
              <a:t>侧重不重要。绿色字说明信息不完整，故选</a:t>
            </a:r>
            <a:r>
              <a:rPr lang="en-US" altLang="zh-CN" sz="2400" b="1"/>
              <a:t>B</a:t>
            </a:r>
            <a:r>
              <a:rPr sz="2400" b="1"/>
              <a:t>。</a:t>
            </a:r>
            <a:endParaRPr sz="2400" b="1"/>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a:t>
            </a:r>
            <a:r>
              <a:t>感情色彩不符</a:t>
            </a:r>
          </a:p>
        </p:txBody>
      </p:sp>
      <p:sp>
        <p:nvSpPr>
          <p:cNvPr id="3" name="内容占位符 2"/>
          <p:cNvSpPr>
            <a:spLocks noGrp="1"/>
          </p:cNvSpPr>
          <p:nvPr>
            <p:ph idx="1"/>
          </p:nvPr>
        </p:nvSpPr>
        <p:spPr/>
        <p:txBody>
          <a:bodyPr/>
          <a:p>
            <a:r>
              <a:rPr lang="zh-CN" altLang="en-US" sz="2400" b="1">
                <a:solidFill>
                  <a:srgbClr val="FF0000"/>
                </a:solidFill>
              </a:rPr>
              <a:t>成语的感情色彩</a:t>
            </a:r>
            <a:r>
              <a:rPr sz="2400" b="1">
                <a:solidFill>
                  <a:srgbClr val="FF0000"/>
                </a:solidFill>
                <a:sym typeface="+mn-ea"/>
              </a:rPr>
              <a:t>分为褒义、贬义和中性。准确把握作者的褒贬态度和立场。</a:t>
            </a:r>
            <a:endParaRPr sz="2400" b="1">
              <a:solidFill>
                <a:srgbClr val="FF0000"/>
              </a:solidFill>
              <a:sym typeface="+mn-ea"/>
            </a:endParaRPr>
          </a:p>
          <a:p>
            <a:r>
              <a:rPr lang="zh-CN" altLang="en-US" sz="2400" b="1">
                <a:solidFill>
                  <a:srgbClr val="00B050"/>
                </a:solidFill>
              </a:rPr>
              <a:t>真题</a:t>
            </a:r>
            <a:r>
              <a:rPr lang="en-US" altLang="zh-CN" sz="2400" b="1">
                <a:solidFill>
                  <a:srgbClr val="00B050"/>
                </a:solidFill>
              </a:rPr>
              <a:t>35</a:t>
            </a:r>
            <a:r>
              <a:rPr sz="2400" b="1"/>
              <a:t>：</a:t>
            </a:r>
            <a:r>
              <a:rPr lang="en-US" altLang="zh-CN" sz="2400" b="1"/>
              <a:t>“</a:t>
            </a:r>
            <a:r>
              <a:rPr sz="2400" b="1"/>
              <a:t>大众娱乐</a:t>
            </a:r>
            <a:r>
              <a:rPr lang="en-US" altLang="zh-CN" sz="2400" b="1"/>
              <a:t>”</a:t>
            </a:r>
            <a:r>
              <a:rPr sz="2400" b="1"/>
              <a:t>这个标签并非贬义，恰恰相反，要想让消费者</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地为娱乐买单，其实很是考验创作者的能力。艺术家们或许会对商业叙事作品的生产者们开发出的一整套完备的叙事模式</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，但这也是一种能力的体现。</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乐此不疲     漠然置之        </a:t>
            </a:r>
            <a:r>
              <a:rPr lang="en-US" altLang="zh-CN" sz="2400" b="1">
                <a:sym typeface="+mn-ea"/>
              </a:rPr>
              <a:t>B.</a:t>
            </a:r>
            <a:r>
              <a:rPr sz="2400" b="1">
                <a:sym typeface="+mn-ea"/>
              </a:rPr>
              <a:t>毫不犹豫     理所当然</a:t>
            </a:r>
            <a:endParaRPr sz="2400" b="1">
              <a:sym typeface="+mn-ea"/>
            </a:endParaRPr>
          </a:p>
          <a:p>
            <a:r>
              <a:rPr lang="en-US" altLang="zh-CN" sz="2400" b="1">
                <a:sym typeface="+mn-ea"/>
              </a:rPr>
              <a:t>C.</a:t>
            </a:r>
            <a:r>
              <a:rPr sz="2400" b="1">
                <a:sym typeface="+mn-ea"/>
              </a:rPr>
              <a:t>心甘情愿     嗤之以鼻        </a:t>
            </a:r>
            <a:r>
              <a:rPr lang="en-US" altLang="zh-CN" sz="2400" b="1">
                <a:sym typeface="+mn-ea"/>
              </a:rPr>
              <a:t>D.</a:t>
            </a:r>
            <a:r>
              <a:rPr sz="2400" b="1">
                <a:sym typeface="+mn-ea"/>
              </a:rPr>
              <a:t>趋之若鹜     冷眼相对</a:t>
            </a:r>
            <a:endParaRPr sz="2400" b="1">
              <a:sym typeface="+mn-ea"/>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35</a:t>
            </a:r>
            <a:r>
              <a:t>分析</a:t>
            </a:r>
          </a:p>
        </p:txBody>
      </p:sp>
      <p:sp>
        <p:nvSpPr>
          <p:cNvPr id="3" name="内容占位符 2"/>
          <p:cNvSpPr>
            <a:spLocks noGrp="1"/>
          </p:cNvSpPr>
          <p:nvPr>
            <p:ph idx="1"/>
          </p:nvPr>
        </p:nvSpPr>
        <p:spPr>
          <a:xfrm>
            <a:off x="360680" y="1296035"/>
            <a:ext cx="11247755" cy="5307330"/>
          </a:xfrm>
        </p:spPr>
        <p:txBody>
          <a:bodyPr/>
          <a:p>
            <a:r>
              <a:rPr sz="2400" b="1">
                <a:sym typeface="+mn-ea"/>
              </a:rPr>
              <a:t>真题</a:t>
            </a:r>
            <a:r>
              <a:rPr lang="en-US" altLang="zh-CN" sz="2400" b="1">
                <a:sym typeface="+mn-ea"/>
              </a:rPr>
              <a:t>35</a:t>
            </a:r>
            <a:r>
              <a:rPr sz="2400" b="1">
                <a:sym typeface="+mn-ea"/>
              </a:rPr>
              <a:t>：</a:t>
            </a:r>
            <a:r>
              <a:rPr lang="en-US" altLang="zh-CN" sz="2400" b="1">
                <a:sym typeface="+mn-ea"/>
              </a:rPr>
              <a:t>“</a:t>
            </a:r>
            <a:r>
              <a:rPr sz="2400" b="1">
                <a:sym typeface="+mn-ea"/>
              </a:rPr>
              <a:t>大众娱乐</a:t>
            </a:r>
            <a:r>
              <a:rPr lang="en-US" altLang="zh-CN" sz="2400" b="1">
                <a:sym typeface="+mn-ea"/>
              </a:rPr>
              <a:t>”</a:t>
            </a:r>
            <a:r>
              <a:rPr sz="2400" b="1">
                <a:sym typeface="+mn-ea"/>
              </a:rPr>
              <a:t>这个标签并非贬义，恰恰相反，要想让消费者</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FF0000"/>
                </a:solidFill>
                <a:sym typeface="+mn-ea"/>
              </a:rPr>
              <a:t>地为娱乐买单</a:t>
            </a:r>
            <a:r>
              <a:rPr sz="2400" b="1">
                <a:sym typeface="+mn-ea"/>
              </a:rPr>
              <a:t>，其实很是考验创作者的能力。艺术家们或许会对商业叙事作品的生产者们开发出的一整套完备的叙事模式</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00B050"/>
                </a:solidFill>
                <a:sym typeface="+mn-ea"/>
              </a:rPr>
              <a:t>但</a:t>
            </a:r>
            <a:r>
              <a:rPr sz="2400" b="1">
                <a:sym typeface="+mn-ea"/>
              </a:rPr>
              <a:t>这也是一种能力的体现。</a:t>
            </a:r>
            <a:endParaRPr sz="2400" b="1">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乐此不疲     漠然置之        </a:t>
            </a:r>
            <a:r>
              <a:rPr lang="en-US" altLang="zh-CN" sz="2400" b="1">
                <a:sym typeface="+mn-ea"/>
              </a:rPr>
              <a:t>B.</a:t>
            </a:r>
            <a:r>
              <a:rPr sz="2400" b="1">
                <a:sym typeface="+mn-ea"/>
              </a:rPr>
              <a:t>毫不犹豫     不屑一顾</a:t>
            </a:r>
            <a:endParaRPr sz="2400" b="1">
              <a:sym typeface="+mn-ea"/>
            </a:endParaRPr>
          </a:p>
          <a:p>
            <a:r>
              <a:rPr lang="en-US" altLang="zh-CN" sz="2400" b="1">
                <a:sym typeface="+mn-ea"/>
              </a:rPr>
              <a:t>C.</a:t>
            </a:r>
            <a:r>
              <a:rPr sz="2400" b="1">
                <a:sym typeface="+mn-ea"/>
              </a:rPr>
              <a:t>心甘情愿     嗤之以鼻        </a:t>
            </a:r>
            <a:r>
              <a:rPr lang="en-US" altLang="zh-CN" sz="2400" b="1">
                <a:sym typeface="+mn-ea"/>
              </a:rPr>
              <a:t>D.</a:t>
            </a:r>
            <a:r>
              <a:rPr sz="2400" b="1">
                <a:sym typeface="+mn-ea"/>
              </a:rPr>
              <a:t>趋之若鹜     冷眼相对</a:t>
            </a:r>
            <a:endParaRPr sz="2400" b="1">
              <a:sym typeface="+mn-ea"/>
            </a:endParaRPr>
          </a:p>
          <a:p>
            <a:r>
              <a:rPr sz="2400" b="1">
                <a:sym typeface="+mn-ea"/>
              </a:rPr>
              <a:t>分析：</a:t>
            </a:r>
            <a:r>
              <a:rPr lang="en-US" altLang="zh-CN" sz="2400" b="1">
                <a:sym typeface="+mn-ea"/>
              </a:rPr>
              <a:t>“</a:t>
            </a:r>
            <a:r>
              <a:rPr sz="2400" b="1">
                <a:sym typeface="+mn-ea"/>
              </a:rPr>
              <a:t>趋之若鹜</a:t>
            </a:r>
            <a:r>
              <a:rPr lang="en-US" altLang="zh-CN" sz="2400" b="1">
                <a:sym typeface="+mn-ea"/>
              </a:rPr>
              <a:t>”</a:t>
            </a:r>
            <a:r>
              <a:rPr sz="2400" b="1">
                <a:sym typeface="+mn-ea"/>
              </a:rPr>
              <a:t>比喻争着追逐不好的事物，贬义，排除</a:t>
            </a:r>
            <a:r>
              <a:rPr lang="en-US" altLang="zh-CN" sz="2400" b="1">
                <a:sym typeface="+mn-ea"/>
              </a:rPr>
              <a:t>D</a:t>
            </a:r>
            <a:r>
              <a:rPr sz="2400" b="1">
                <a:sym typeface="+mn-ea"/>
              </a:rPr>
              <a:t>；</a:t>
            </a:r>
            <a:r>
              <a:rPr lang="en-US" altLang="zh-CN" sz="2400" b="1">
                <a:sym typeface="+mn-ea"/>
              </a:rPr>
              <a:t>“</a:t>
            </a:r>
            <a:r>
              <a:rPr sz="2400" b="1">
                <a:sym typeface="+mn-ea"/>
              </a:rPr>
              <a:t>漠然置之</a:t>
            </a:r>
            <a:r>
              <a:rPr lang="en-US" altLang="zh-CN" sz="2400" b="1">
                <a:sym typeface="+mn-ea"/>
              </a:rPr>
              <a:t>”</a:t>
            </a:r>
            <a:r>
              <a:rPr sz="2400" b="1">
                <a:sym typeface="+mn-ea"/>
              </a:rPr>
              <a:t>强调冷淡，与句意不符且</a:t>
            </a:r>
            <a:r>
              <a:rPr lang="en-US" altLang="zh-CN" sz="2400" b="1">
                <a:sym typeface="+mn-ea"/>
              </a:rPr>
              <a:t>“</a:t>
            </a:r>
            <a:r>
              <a:rPr sz="2400" b="1">
                <a:sym typeface="+mn-ea"/>
              </a:rPr>
              <a:t>乐此不疲</a:t>
            </a:r>
            <a:r>
              <a:rPr lang="en-US" altLang="zh-CN" sz="2400" b="1">
                <a:sym typeface="+mn-ea"/>
              </a:rPr>
              <a:t>”</a:t>
            </a:r>
            <a:r>
              <a:rPr sz="2400" b="1">
                <a:sym typeface="+mn-ea"/>
              </a:rPr>
              <a:t>填入不通顺，排除</a:t>
            </a:r>
            <a:r>
              <a:rPr lang="en-US" altLang="zh-CN" sz="2400" b="1">
                <a:sym typeface="+mn-ea"/>
              </a:rPr>
              <a:t>A</a:t>
            </a:r>
            <a:r>
              <a:rPr sz="2400" b="1">
                <a:sym typeface="+mn-ea"/>
              </a:rPr>
              <a:t>。</a:t>
            </a:r>
            <a:r>
              <a:rPr lang="en-US" altLang="zh-CN" sz="2400" b="1">
                <a:sym typeface="+mn-ea"/>
              </a:rPr>
              <a:t>“</a:t>
            </a:r>
            <a:r>
              <a:rPr sz="2400" b="1">
                <a:sym typeface="+mn-ea"/>
              </a:rPr>
              <a:t>不屑一顾</a:t>
            </a:r>
            <a:r>
              <a:rPr lang="en-US" altLang="zh-CN" sz="2400" b="1">
                <a:sym typeface="+mn-ea"/>
              </a:rPr>
              <a:t>”</a:t>
            </a:r>
            <a:r>
              <a:rPr sz="2400" b="1">
                <a:sym typeface="+mn-ea"/>
              </a:rPr>
              <a:t>形容极端轻视，语义过重，排除</a:t>
            </a:r>
            <a:r>
              <a:rPr lang="en-US" altLang="zh-CN" sz="2400" b="1">
                <a:sym typeface="+mn-ea"/>
              </a:rPr>
              <a:t>B</a:t>
            </a:r>
            <a:r>
              <a:rPr sz="2400" b="1">
                <a:sym typeface="+mn-ea"/>
              </a:rPr>
              <a:t>。故选</a:t>
            </a:r>
            <a:r>
              <a:rPr lang="en-US" altLang="zh-CN" sz="2400" b="1">
                <a:sym typeface="+mn-ea"/>
              </a:rPr>
              <a:t>C</a:t>
            </a:r>
            <a:r>
              <a:rPr sz="2400" b="1">
                <a:sym typeface="+mn-ea"/>
              </a:rPr>
              <a:t>。</a:t>
            </a:r>
            <a:endParaRPr sz="2400" b="1">
              <a:sym typeface="+mn-ea"/>
            </a:endParaRPr>
          </a:p>
          <a:p>
            <a:endParaRPr lang="zh-CN" altLang="en-US" sz="2400" b="1"/>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5.</a:t>
            </a:r>
            <a:r>
              <a:t>语义重复</a:t>
            </a:r>
          </a:p>
        </p:txBody>
      </p:sp>
      <p:sp>
        <p:nvSpPr>
          <p:cNvPr id="3" name="内容占位符 2"/>
          <p:cNvSpPr>
            <a:spLocks noGrp="1"/>
          </p:cNvSpPr>
          <p:nvPr>
            <p:ph idx="1"/>
          </p:nvPr>
        </p:nvSpPr>
        <p:spPr/>
        <p:txBody>
          <a:bodyPr/>
          <a:p>
            <a:r>
              <a:rPr lang="zh-CN" altLang="en-US" sz="2400" b="1">
                <a:solidFill>
                  <a:srgbClr val="FF0000"/>
                </a:solidFill>
              </a:rPr>
              <a:t>成语本身含有一定的意义，若不注意将成语与文中某些词句的意思进行对照，可能造成语义重复。</a:t>
            </a:r>
            <a:endParaRPr lang="zh-CN" altLang="en-US" sz="2400" b="1">
              <a:solidFill>
                <a:srgbClr val="FF0000"/>
              </a:solidFill>
            </a:endParaRPr>
          </a:p>
          <a:p>
            <a:r>
              <a:rPr lang="zh-CN" altLang="en-US" sz="2400" b="1">
                <a:solidFill>
                  <a:schemeClr val="tx1"/>
                </a:solidFill>
              </a:rPr>
              <a:t>如：</a:t>
            </a:r>
            <a:r>
              <a:rPr lang="zh-CN" altLang="en-US" sz="2400" b="1">
                <a:solidFill>
                  <a:srgbClr val="7030A0"/>
                </a:solidFill>
              </a:rPr>
              <a:t>目前</a:t>
            </a:r>
            <a:r>
              <a:rPr lang="zh-CN" altLang="en-US" sz="2400" b="1">
                <a:solidFill>
                  <a:schemeClr val="tx1"/>
                </a:solidFill>
              </a:rPr>
              <a:t>的</a:t>
            </a:r>
            <a:r>
              <a:rPr lang="zh-CN" altLang="en-US" sz="2400" b="1">
                <a:solidFill>
                  <a:srgbClr val="7030A0"/>
                </a:solidFill>
              </a:rPr>
              <a:t>当</a:t>
            </a:r>
            <a:r>
              <a:rPr lang="zh-CN" altLang="en-US" sz="2400" b="1">
                <a:solidFill>
                  <a:schemeClr val="tx1"/>
                </a:solidFill>
              </a:rPr>
              <a:t>务之急是</a:t>
            </a:r>
            <a:r>
              <a:rPr lang="zh-CN" altLang="en-US" sz="2400" b="1">
                <a:solidFill>
                  <a:schemeClr val="tx1"/>
                </a:solidFill>
                <a:latin typeface="宋体" panose="02010600030101010101" pitchFamily="2" charset="-122"/>
                <a:ea typeface="宋体" panose="02010600030101010101" pitchFamily="2" charset="-122"/>
              </a:rPr>
              <a:t>······</a:t>
            </a:r>
            <a:endParaRPr lang="zh-CN" altLang="en-US" sz="2400" b="1">
              <a:solidFill>
                <a:schemeClr val="tx1"/>
              </a:solidFill>
              <a:latin typeface="宋体" panose="02010600030101010101" pitchFamily="2" charset="-122"/>
              <a:ea typeface="宋体" panose="02010600030101010101" pitchFamily="2" charset="-122"/>
            </a:endParaRPr>
          </a:p>
          <a:p>
            <a:r>
              <a:rPr lang="zh-CN" altLang="en-US" sz="2400" b="1">
                <a:solidFill>
                  <a:srgbClr val="00B050"/>
                </a:solidFill>
                <a:latin typeface="+mn-ea"/>
                <a:cs typeface="+mn-ea"/>
              </a:rPr>
              <a:t>真题</a:t>
            </a:r>
            <a:r>
              <a:rPr lang="en-US" altLang="zh-CN" sz="2400" b="1">
                <a:solidFill>
                  <a:srgbClr val="00B050"/>
                </a:solidFill>
                <a:latin typeface="+mn-ea"/>
                <a:cs typeface="+mn-ea"/>
              </a:rPr>
              <a:t>36</a:t>
            </a:r>
            <a:r>
              <a:rPr sz="2400" b="1">
                <a:solidFill>
                  <a:schemeClr val="tx1"/>
                </a:solidFill>
                <a:latin typeface="+mn-ea"/>
                <a:cs typeface="+mn-ea"/>
              </a:rPr>
              <a:t>：每个民族都有自己的优秀作品，同样每个民族都有自己的历史痼疾。健康而优秀的民族心理必然善于扬长避短，精于</a:t>
            </a:r>
            <a:r>
              <a:rPr sz="2400" b="1">
                <a:solidFill>
                  <a:schemeClr val="tx1"/>
                </a:solidFill>
                <a:latin typeface="+mn-ea"/>
                <a:cs typeface="+mn-ea"/>
                <a:sym typeface="+mn-ea"/>
              </a:rPr>
              <a:t>͟͟ ͟͟͟͟͟͟͟͟ ͟͟͟͟͟͟͟͟͟ ，长于</a:t>
            </a:r>
            <a:r>
              <a:rPr lang="en-US" altLang="zh-CN" sz="2400" b="1">
                <a:solidFill>
                  <a:schemeClr val="tx1"/>
                </a:solidFill>
                <a:latin typeface="+mn-ea"/>
                <a:cs typeface="+mn-ea"/>
                <a:sym typeface="+mn-ea"/>
              </a:rPr>
              <a:t>“</a:t>
            </a:r>
            <a:r>
              <a:rPr sz="2400" b="1">
                <a:solidFill>
                  <a:schemeClr val="tx1"/>
                </a:solidFill>
                <a:latin typeface="+mn-ea"/>
                <a:cs typeface="+mn-ea"/>
                <a:sym typeface="+mn-ea"/>
              </a:rPr>
              <a:t>取其精华去其糟粕</a:t>
            </a:r>
            <a:r>
              <a:rPr lang="en-US" altLang="zh-CN" sz="2400" b="1">
                <a:solidFill>
                  <a:schemeClr val="tx1"/>
                </a:solidFill>
                <a:latin typeface="+mn-ea"/>
                <a:cs typeface="+mn-ea"/>
                <a:sym typeface="+mn-ea"/>
              </a:rPr>
              <a:t>”</a:t>
            </a:r>
            <a:endParaRPr sz="2400" b="1">
              <a:solidFill>
                <a:schemeClr val="tx1"/>
              </a:solidFill>
              <a:latin typeface="+mn-ea"/>
              <a:cs typeface="+mn-ea"/>
              <a:sym typeface="+mn-ea"/>
            </a:endParaRPr>
          </a:p>
          <a:p>
            <a:r>
              <a:rPr sz="2400" b="1">
                <a:solidFill>
                  <a:schemeClr val="tx1"/>
                </a:solidFill>
                <a:sym typeface="+mn-ea"/>
              </a:rPr>
              <a:t>依次填入画横线部分最恰当的一项是（    ）</a:t>
            </a:r>
            <a:endParaRPr sz="2400" b="1">
              <a:solidFill>
                <a:schemeClr val="tx1"/>
              </a:solidFill>
              <a:sym typeface="+mn-ea"/>
            </a:endParaRPr>
          </a:p>
          <a:p>
            <a:r>
              <a:rPr lang="en-US" altLang="zh-CN" sz="2400" b="1">
                <a:solidFill>
                  <a:schemeClr val="tx1"/>
                </a:solidFill>
                <a:sym typeface="+mn-ea"/>
              </a:rPr>
              <a:t>A.</a:t>
            </a:r>
            <a:r>
              <a:rPr sz="2400" b="1">
                <a:solidFill>
                  <a:schemeClr val="tx1"/>
                </a:solidFill>
                <a:sym typeface="+mn-ea"/>
              </a:rPr>
              <a:t>去芜存菁</a:t>
            </a:r>
            <a:r>
              <a:rPr lang="en-US" altLang="zh-CN" sz="2400" b="1">
                <a:solidFill>
                  <a:schemeClr val="tx1"/>
                </a:solidFill>
                <a:sym typeface="+mn-ea"/>
              </a:rPr>
              <a:t>(jing)</a:t>
            </a:r>
            <a:r>
              <a:rPr sz="2400" b="1">
                <a:solidFill>
                  <a:schemeClr val="tx1"/>
                </a:solidFill>
                <a:sym typeface="+mn-ea"/>
              </a:rPr>
              <a:t>            </a:t>
            </a:r>
            <a:r>
              <a:rPr lang="en-US" altLang="zh-CN" sz="2400" b="1">
                <a:solidFill>
                  <a:schemeClr val="tx1"/>
                </a:solidFill>
                <a:sym typeface="+mn-ea"/>
              </a:rPr>
              <a:t>B.</a:t>
            </a:r>
            <a:r>
              <a:rPr sz="2400" b="1">
                <a:solidFill>
                  <a:schemeClr val="tx1"/>
                </a:solidFill>
                <a:sym typeface="+mn-ea"/>
              </a:rPr>
              <a:t>弃旧图新</a:t>
            </a:r>
            <a:endParaRPr sz="2400" b="1">
              <a:solidFill>
                <a:schemeClr val="tx1"/>
              </a:solidFill>
              <a:sym typeface="+mn-ea"/>
            </a:endParaRPr>
          </a:p>
          <a:p>
            <a:r>
              <a:rPr lang="en-US" altLang="zh-CN" sz="2400" b="1">
                <a:solidFill>
                  <a:schemeClr val="tx1"/>
                </a:solidFill>
                <a:sym typeface="+mn-ea"/>
              </a:rPr>
              <a:t>C.</a:t>
            </a:r>
            <a:r>
              <a:rPr sz="2400" b="1">
                <a:solidFill>
                  <a:schemeClr val="tx1"/>
                </a:solidFill>
                <a:sym typeface="+mn-ea"/>
              </a:rPr>
              <a:t>激浊扬清                    </a:t>
            </a:r>
            <a:r>
              <a:rPr lang="en-US" altLang="zh-CN" sz="2400" b="1">
                <a:solidFill>
                  <a:schemeClr val="tx1"/>
                </a:solidFill>
                <a:sym typeface="+mn-ea"/>
              </a:rPr>
              <a:t>D.</a:t>
            </a:r>
            <a:r>
              <a:rPr sz="2400" b="1">
                <a:solidFill>
                  <a:schemeClr val="tx1"/>
                </a:solidFill>
                <a:sym typeface="+mn-ea"/>
              </a:rPr>
              <a:t>拨乱反正</a:t>
            </a:r>
            <a:endParaRPr sz="2400" b="1">
              <a:solidFill>
                <a:schemeClr val="tx1"/>
              </a:solidFill>
              <a:sym typeface="+mn-ea"/>
            </a:endParaRPr>
          </a:p>
          <a:p>
            <a:endParaRPr sz="2400" b="1">
              <a:solidFill>
                <a:schemeClr val="tx1"/>
              </a:solidFill>
              <a:latin typeface="Arial" panose="020B0604020202020204" pitchFamily="34" charset="0"/>
              <a:ea typeface="宋体" panose="02010600030101010101" pitchFamily="2" charset="-122"/>
              <a:cs typeface="Arial" panose="020B0604020202020204" pitchFamily="34" charset="0"/>
              <a:sym typeface="+mn-ea"/>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36</a:t>
            </a:r>
            <a:r>
              <a:t>分析</a:t>
            </a:r>
          </a:p>
        </p:txBody>
      </p:sp>
      <p:sp>
        <p:nvSpPr>
          <p:cNvPr id="3" name="内容占位符 2"/>
          <p:cNvSpPr>
            <a:spLocks noGrp="1"/>
          </p:cNvSpPr>
          <p:nvPr>
            <p:ph idx="1"/>
          </p:nvPr>
        </p:nvSpPr>
        <p:spPr/>
        <p:txBody>
          <a:bodyPr/>
          <a:p>
            <a:r>
              <a:rPr sz="2400" b="1">
                <a:latin typeface="+mn-ea"/>
                <a:cs typeface="+mn-ea"/>
                <a:sym typeface="+mn-ea"/>
              </a:rPr>
              <a:t>真题</a:t>
            </a:r>
            <a:r>
              <a:rPr lang="en-US" altLang="zh-CN" sz="2400" b="1">
                <a:latin typeface="+mn-ea"/>
                <a:cs typeface="+mn-ea"/>
                <a:sym typeface="+mn-ea"/>
              </a:rPr>
              <a:t>36</a:t>
            </a:r>
            <a:r>
              <a:rPr sz="2400" b="1">
                <a:latin typeface="+mn-ea"/>
                <a:cs typeface="+mn-ea"/>
                <a:sym typeface="+mn-ea"/>
              </a:rPr>
              <a:t>：每个民族都有自己的优秀作品，同样每个民族都有自己的历史痼疾。健康而优秀的</a:t>
            </a:r>
            <a:r>
              <a:rPr sz="2400" b="1">
                <a:solidFill>
                  <a:srgbClr val="00B050"/>
                </a:solidFill>
                <a:latin typeface="+mn-ea"/>
                <a:cs typeface="+mn-ea"/>
                <a:sym typeface="+mn-ea"/>
              </a:rPr>
              <a:t>民族心理</a:t>
            </a:r>
            <a:r>
              <a:rPr sz="2400" b="1">
                <a:latin typeface="+mn-ea"/>
                <a:cs typeface="+mn-ea"/>
                <a:sym typeface="+mn-ea"/>
              </a:rPr>
              <a:t>必然善于扬长避短，精于</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mn-ea"/>
                <a:cs typeface="+mn-ea"/>
                <a:sym typeface="+mn-ea"/>
              </a:rPr>
              <a:t>，长于</a:t>
            </a:r>
            <a:r>
              <a:rPr lang="en-US" altLang="zh-CN" sz="2400" b="1">
                <a:latin typeface="+mn-ea"/>
                <a:cs typeface="+mn-ea"/>
                <a:sym typeface="+mn-ea"/>
              </a:rPr>
              <a:t>“</a:t>
            </a:r>
            <a:r>
              <a:rPr sz="2400" b="1">
                <a:solidFill>
                  <a:srgbClr val="FF0000"/>
                </a:solidFill>
                <a:latin typeface="+mn-ea"/>
                <a:cs typeface="+mn-ea"/>
                <a:sym typeface="+mn-ea"/>
              </a:rPr>
              <a:t>取其精华去其糟粕</a:t>
            </a:r>
            <a:r>
              <a:rPr lang="en-US" altLang="zh-CN" sz="2400" b="1">
                <a:latin typeface="+mn-ea"/>
                <a:cs typeface="+mn-ea"/>
                <a:sym typeface="+mn-ea"/>
              </a:rPr>
              <a:t>”</a:t>
            </a:r>
            <a:endParaRPr sz="2400" b="1">
              <a:latin typeface="+mn-ea"/>
              <a:cs typeface="+mn-ea"/>
              <a:sym typeface="+mn-ea"/>
            </a:endParaRPr>
          </a:p>
          <a:p>
            <a:r>
              <a:rPr sz="2400" b="1">
                <a:sym typeface="+mn-ea"/>
              </a:rPr>
              <a:t>依次填入画横线部分最恰当的一项是（    ）</a:t>
            </a:r>
            <a:endParaRPr sz="2400" b="1">
              <a:sym typeface="+mn-ea"/>
            </a:endParaRPr>
          </a:p>
          <a:p>
            <a:r>
              <a:rPr lang="en-US" altLang="zh-CN" sz="2400" b="1">
                <a:sym typeface="+mn-ea"/>
              </a:rPr>
              <a:t>A.</a:t>
            </a:r>
            <a:r>
              <a:rPr sz="2400" b="1">
                <a:sym typeface="+mn-ea"/>
              </a:rPr>
              <a:t>去芜存菁            </a:t>
            </a:r>
            <a:r>
              <a:rPr lang="en-US" altLang="zh-CN" sz="2400" b="1">
                <a:sym typeface="+mn-ea"/>
              </a:rPr>
              <a:t>B.</a:t>
            </a:r>
            <a:r>
              <a:rPr sz="2400" b="1">
                <a:sym typeface="+mn-ea"/>
              </a:rPr>
              <a:t>弃旧图新</a:t>
            </a:r>
            <a:endParaRPr sz="2400" b="1">
              <a:sym typeface="+mn-ea"/>
            </a:endParaRPr>
          </a:p>
          <a:p>
            <a:r>
              <a:rPr lang="en-US" altLang="zh-CN" sz="2400" b="1">
                <a:sym typeface="+mn-ea"/>
              </a:rPr>
              <a:t>C.</a:t>
            </a:r>
            <a:r>
              <a:rPr sz="2400" b="1">
                <a:sym typeface="+mn-ea"/>
              </a:rPr>
              <a:t>激浊扬清            </a:t>
            </a:r>
            <a:r>
              <a:rPr lang="en-US" altLang="zh-CN" sz="2400" b="1">
                <a:sym typeface="+mn-ea"/>
              </a:rPr>
              <a:t>D.</a:t>
            </a:r>
            <a:r>
              <a:rPr sz="2400" b="1">
                <a:sym typeface="+mn-ea"/>
              </a:rPr>
              <a:t>拨乱反正</a:t>
            </a:r>
            <a:endParaRPr sz="2400" b="1">
              <a:sym typeface="+mn-ea"/>
            </a:endParaRPr>
          </a:p>
          <a:p>
            <a:r>
              <a:rPr sz="2400" b="1">
                <a:sym typeface="+mn-ea"/>
              </a:rPr>
              <a:t>分析：</a:t>
            </a:r>
            <a:r>
              <a:rPr lang="en-US" altLang="zh-CN" sz="2400" b="1">
                <a:sym typeface="+mn-ea"/>
              </a:rPr>
              <a:t>“</a:t>
            </a:r>
            <a:r>
              <a:rPr sz="2400" b="1">
                <a:sym typeface="+mn-ea"/>
              </a:rPr>
              <a:t>去芜存菁</a:t>
            </a:r>
            <a:r>
              <a:rPr lang="en-US" altLang="zh-CN" sz="2400" b="1">
                <a:sym typeface="+mn-ea"/>
              </a:rPr>
              <a:t>”</a:t>
            </a:r>
            <a:r>
              <a:rPr sz="2400" b="1">
                <a:sym typeface="+mn-ea"/>
              </a:rPr>
              <a:t>与</a:t>
            </a:r>
            <a:r>
              <a:rPr lang="en-US" altLang="zh-CN" sz="2400" b="1">
                <a:sym typeface="+mn-ea"/>
              </a:rPr>
              <a:t>“</a:t>
            </a:r>
            <a:r>
              <a:rPr sz="2400" b="1">
                <a:solidFill>
                  <a:srgbClr val="FF0000"/>
                </a:solidFill>
                <a:latin typeface="+mn-ea"/>
                <a:cs typeface="+mn-ea"/>
                <a:sym typeface="+mn-ea"/>
              </a:rPr>
              <a:t>取其精华去其糟粕</a:t>
            </a:r>
            <a:r>
              <a:rPr lang="en-US" altLang="zh-CN" sz="2400" b="1">
                <a:sym typeface="+mn-ea"/>
              </a:rPr>
              <a:t>”</a:t>
            </a:r>
            <a:r>
              <a:rPr sz="2400" b="1">
                <a:sym typeface="+mn-ea"/>
              </a:rPr>
              <a:t>语义重复，排除</a:t>
            </a:r>
            <a:r>
              <a:rPr lang="en-US" altLang="zh-CN" sz="2400" b="1">
                <a:sym typeface="+mn-ea"/>
              </a:rPr>
              <a:t>A</a:t>
            </a:r>
            <a:r>
              <a:rPr sz="2400" b="1">
                <a:sym typeface="+mn-ea"/>
              </a:rPr>
              <a:t>。</a:t>
            </a:r>
            <a:r>
              <a:rPr lang="en-US" altLang="zh-CN" sz="2400" b="1">
                <a:sym typeface="+mn-ea"/>
              </a:rPr>
              <a:t>“</a:t>
            </a:r>
            <a:r>
              <a:rPr sz="2400" b="1">
                <a:solidFill>
                  <a:srgbClr val="00B050"/>
                </a:solidFill>
                <a:latin typeface="+mn-ea"/>
                <a:cs typeface="+mn-ea"/>
                <a:sym typeface="+mn-ea"/>
              </a:rPr>
              <a:t>民族心理</a:t>
            </a:r>
            <a:r>
              <a:rPr lang="en-US" altLang="zh-CN" sz="2400" b="1">
                <a:sym typeface="+mn-ea"/>
              </a:rPr>
              <a:t>”</a:t>
            </a:r>
            <a:r>
              <a:rPr sz="2400" b="1">
                <a:sym typeface="+mn-ea"/>
              </a:rPr>
              <a:t>没有新旧正反之说，排除</a:t>
            </a:r>
            <a:r>
              <a:rPr lang="en-US" altLang="zh-CN" sz="2400" b="1">
                <a:sym typeface="+mn-ea"/>
              </a:rPr>
              <a:t>BD</a:t>
            </a:r>
            <a:r>
              <a:rPr sz="2400" b="1">
                <a:sym typeface="+mn-ea"/>
              </a:rPr>
              <a:t>。</a:t>
            </a:r>
            <a:r>
              <a:rPr lang="en-US" altLang="zh-CN" sz="2400" b="1">
                <a:sym typeface="+mn-ea"/>
              </a:rPr>
              <a:t>“</a:t>
            </a:r>
            <a:r>
              <a:rPr sz="2400" b="1">
                <a:sym typeface="+mn-ea"/>
              </a:rPr>
              <a:t>激浊扬清</a:t>
            </a:r>
            <a:r>
              <a:rPr lang="en-US" altLang="zh-CN" sz="2400" b="1">
                <a:sym typeface="+mn-ea"/>
              </a:rPr>
              <a:t>”</a:t>
            </a:r>
            <a:r>
              <a:rPr sz="2400" b="1">
                <a:sym typeface="+mn-ea"/>
              </a:rPr>
              <a:t>清除坏的，发扬好的。故选</a:t>
            </a:r>
            <a:r>
              <a:rPr lang="en-US" altLang="zh-CN" sz="2400" b="1">
                <a:sym typeface="+mn-ea"/>
              </a:rPr>
              <a:t>C</a:t>
            </a:r>
            <a:r>
              <a:rPr sz="2400" b="1">
                <a:sym typeface="+mn-ea"/>
              </a:rPr>
              <a:t>。</a:t>
            </a:r>
            <a:endParaRPr sz="2400" b="1">
              <a:sym typeface="+mn-ea"/>
            </a:endParaRPr>
          </a:p>
          <a:p>
            <a:endParaRPr lang="zh-CN" altLang="en-US" sz="2400"/>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latin typeface="+mn-ea"/>
                <a:cs typeface="+mn-ea"/>
                <a:sym typeface="+mn-ea"/>
              </a:rPr>
              <a:t>真题</a:t>
            </a:r>
            <a:r>
              <a:rPr lang="en-US" altLang="zh-CN">
                <a:solidFill>
                  <a:srgbClr val="00B050"/>
                </a:solidFill>
                <a:latin typeface="+mn-ea"/>
                <a:cs typeface="+mn-ea"/>
                <a:sym typeface="+mn-ea"/>
              </a:rPr>
              <a:t>37</a:t>
            </a:r>
            <a:r>
              <a:rPr>
                <a:latin typeface="+mn-ea"/>
                <a:cs typeface="+mn-ea"/>
                <a:sym typeface="+mn-ea"/>
              </a:rPr>
              <a:t>（川</a:t>
            </a:r>
            <a:r>
              <a:rPr lang="en-US" altLang="zh-CN">
                <a:latin typeface="+mn-ea"/>
                <a:cs typeface="+mn-ea"/>
                <a:sym typeface="+mn-ea"/>
              </a:rPr>
              <a:t>2019</a:t>
            </a:r>
            <a:r>
              <a:rPr>
                <a:latin typeface="+mn-ea"/>
                <a:cs typeface="+mn-ea"/>
                <a:sym typeface="+mn-ea"/>
              </a:rPr>
              <a:t>上</a:t>
            </a:r>
            <a:r>
              <a:rPr lang="en-US" altLang="zh-CN">
                <a:latin typeface="+mn-ea"/>
                <a:cs typeface="+mn-ea"/>
                <a:sym typeface="+mn-ea"/>
              </a:rPr>
              <a:t>-23</a:t>
            </a:r>
            <a:r>
              <a:rPr>
                <a:latin typeface="+mn-ea"/>
                <a:cs typeface="+mn-ea"/>
                <a:sym typeface="+mn-ea"/>
              </a:rPr>
              <a:t>）</a:t>
            </a:r>
            <a:endParaRPr lang="zh-CN" altLang="en-US"/>
          </a:p>
        </p:txBody>
      </p:sp>
      <p:sp>
        <p:nvSpPr>
          <p:cNvPr id="3" name="内容占位符 2"/>
          <p:cNvSpPr>
            <a:spLocks noGrp="1"/>
          </p:cNvSpPr>
          <p:nvPr>
            <p:ph idx="1"/>
          </p:nvPr>
        </p:nvSpPr>
        <p:spPr/>
        <p:txBody>
          <a:bodyPr/>
          <a:p>
            <a:r>
              <a:rPr lang="zh-CN" altLang="en-US" sz="2400" b="1">
                <a:solidFill>
                  <a:schemeClr val="tx1"/>
                </a:solidFill>
              </a:rPr>
              <a:t>在“路见危难、伸出援手”日益稀缺，公众又普遍缺乏急救知识的现实语境下，</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质疑救人者的专业能力与救人方式，既会挫伤救人者的积极性，也会让其他人因为救人之外的风险而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，相比于救治的精确性，保护好人环境的缺失，才是亟待解决的问题。</a:t>
            </a:r>
            <a:endParaRPr lang="zh-CN" altLang="en-US" sz="2400" b="1">
              <a:solidFill>
                <a:schemeClr val="tx1"/>
              </a:solidFill>
            </a:endParaRPr>
          </a:p>
          <a:p>
            <a:r>
              <a:rPr lang="zh-CN" altLang="en-US" sz="2400" b="1">
                <a:solidFill>
                  <a:schemeClr val="tx1"/>
                </a:solidFill>
              </a:rPr>
              <a:t>填入画横线部分最恰当的一项是：</a:t>
            </a:r>
            <a:endParaRPr lang="zh-CN" altLang="en-US" sz="2400" b="1">
              <a:solidFill>
                <a:schemeClr val="tx1"/>
              </a:solidFill>
            </a:endParaRPr>
          </a:p>
          <a:p>
            <a:r>
              <a:rPr lang="zh-CN" altLang="en-US" sz="2400" b="1">
                <a:solidFill>
                  <a:schemeClr val="tx1"/>
                </a:solidFill>
              </a:rPr>
              <a:t>A.屡屡    噤若寒蝉        B.无理    畏首畏尾</a:t>
            </a:r>
            <a:endParaRPr lang="zh-CN" altLang="en-US" sz="2400" b="1">
              <a:solidFill>
                <a:schemeClr val="tx1"/>
              </a:solidFill>
            </a:endParaRPr>
          </a:p>
          <a:p>
            <a:r>
              <a:rPr lang="zh-CN" altLang="en-US" sz="2400" b="1">
                <a:solidFill>
                  <a:schemeClr val="tx1"/>
                </a:solidFill>
              </a:rPr>
              <a:t>B.随意    投鼠忌器        D.反复    谈虎色变</a:t>
            </a:r>
            <a:endParaRPr lang="zh-CN" altLang="en-US" sz="2400" b="1">
              <a:solidFill>
                <a:schemeClr val="tx1"/>
              </a:solidFill>
            </a:endParaRPr>
          </a:p>
          <a:p>
            <a:endParaRPr lang="zh-CN" altLang="en-US" sz="2400" b="1">
              <a:solidFill>
                <a:schemeClr val="tx1"/>
              </a:solidFill>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chemeClr val="tx1"/>
                </a:solidFill>
                <a:latin typeface="+mn-ea"/>
                <a:cs typeface="+mn-ea"/>
                <a:sym typeface="+mn-ea"/>
              </a:rPr>
              <a:t>真题</a:t>
            </a:r>
            <a:r>
              <a:rPr lang="en-US" altLang="zh-CN">
                <a:solidFill>
                  <a:schemeClr val="tx1"/>
                </a:solidFill>
                <a:latin typeface="+mn-ea"/>
                <a:cs typeface="+mn-ea"/>
                <a:sym typeface="+mn-ea"/>
              </a:rPr>
              <a:t>37</a:t>
            </a:r>
            <a:r>
              <a:rPr>
                <a:latin typeface="+mn-ea"/>
                <a:cs typeface="+mn-ea"/>
                <a:sym typeface="+mn-ea"/>
              </a:rPr>
              <a:t>（川</a:t>
            </a:r>
            <a:r>
              <a:rPr lang="en-US" altLang="zh-CN">
                <a:latin typeface="+mn-ea"/>
                <a:cs typeface="+mn-ea"/>
                <a:sym typeface="+mn-ea"/>
              </a:rPr>
              <a:t>2019</a:t>
            </a:r>
            <a:r>
              <a:rPr>
                <a:latin typeface="+mn-ea"/>
                <a:cs typeface="+mn-ea"/>
                <a:sym typeface="+mn-ea"/>
              </a:rPr>
              <a:t>上</a:t>
            </a:r>
            <a:r>
              <a:rPr lang="en-US" altLang="zh-CN">
                <a:latin typeface="+mn-ea"/>
                <a:cs typeface="+mn-ea"/>
                <a:sym typeface="+mn-ea"/>
              </a:rPr>
              <a:t>-23</a:t>
            </a:r>
            <a:r>
              <a:rPr>
                <a:latin typeface="+mn-ea"/>
                <a:cs typeface="+mn-ea"/>
                <a:sym typeface="+mn-ea"/>
              </a:rPr>
              <a:t>）</a:t>
            </a:r>
            <a:endParaRPr lang="zh-CN" altLang="en-US"/>
          </a:p>
        </p:txBody>
      </p:sp>
      <p:sp>
        <p:nvSpPr>
          <p:cNvPr id="3" name="内容占位符 2"/>
          <p:cNvSpPr>
            <a:spLocks noGrp="1"/>
          </p:cNvSpPr>
          <p:nvPr>
            <p:ph idx="1"/>
          </p:nvPr>
        </p:nvSpPr>
        <p:spPr>
          <a:xfrm>
            <a:off x="669925" y="1296035"/>
            <a:ext cx="10938510" cy="5319395"/>
          </a:xfrm>
        </p:spPr>
        <p:txBody>
          <a:bodyPr/>
          <a:p>
            <a:r>
              <a:rPr lang="zh-CN" altLang="en-US" sz="2400" b="1">
                <a:solidFill>
                  <a:schemeClr val="tx1"/>
                </a:solidFill>
              </a:rPr>
              <a:t>在“路见危难、伸出援手”日益稀缺，公众又普遍缺乏急救知识的现实语境下，</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a:t>
            </a:r>
            <a:r>
              <a:rPr lang="zh-CN" altLang="en-US" sz="2400" b="1">
                <a:solidFill>
                  <a:srgbClr val="00B050"/>
                </a:solidFill>
              </a:rPr>
              <a:t>质疑</a:t>
            </a:r>
            <a:r>
              <a:rPr lang="zh-CN" altLang="en-US" sz="2400" b="1">
                <a:solidFill>
                  <a:schemeClr val="tx1"/>
                </a:solidFill>
              </a:rPr>
              <a:t>救人者的专业能力与救人方式，既会挫伤救人者的积极性，也会让其他人因为救人之外的风险而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，相比于救治的精确性，</a:t>
            </a:r>
            <a:r>
              <a:rPr lang="zh-CN" altLang="en-US" sz="2400" b="1">
                <a:solidFill>
                  <a:srgbClr val="FF0000"/>
                </a:solidFill>
              </a:rPr>
              <a:t>保护好人环境的缺失</a:t>
            </a:r>
            <a:r>
              <a:rPr lang="zh-CN" altLang="en-US" sz="2400" b="1">
                <a:solidFill>
                  <a:schemeClr val="tx1"/>
                </a:solidFill>
              </a:rPr>
              <a:t>，才是亟待解决的问题。</a:t>
            </a:r>
            <a:endParaRPr lang="zh-CN" altLang="en-US" sz="2400" b="1">
              <a:solidFill>
                <a:schemeClr val="tx1"/>
              </a:solidFill>
            </a:endParaRPr>
          </a:p>
          <a:p>
            <a:r>
              <a:rPr lang="zh-CN" altLang="en-US" sz="2400" b="1">
                <a:solidFill>
                  <a:schemeClr val="tx1"/>
                </a:solidFill>
              </a:rPr>
              <a:t>A.屡屡    噤若寒蝉        B.无理    畏首畏尾</a:t>
            </a:r>
            <a:endParaRPr lang="zh-CN" altLang="en-US" sz="2400" b="1">
              <a:solidFill>
                <a:schemeClr val="tx1"/>
              </a:solidFill>
            </a:endParaRPr>
          </a:p>
          <a:p>
            <a:r>
              <a:rPr lang="zh-CN" altLang="en-US" sz="2400" b="1">
                <a:solidFill>
                  <a:schemeClr val="tx1"/>
                </a:solidFill>
              </a:rPr>
              <a:t>B.随意    投鼠忌器        D.反复    谈虎色变</a:t>
            </a:r>
            <a:endParaRPr lang="zh-CN" altLang="en-US" sz="2400" b="1">
              <a:solidFill>
                <a:schemeClr val="tx1"/>
              </a:solidFill>
            </a:endParaRPr>
          </a:p>
          <a:p>
            <a:r>
              <a:rPr lang="zh-CN" altLang="en-US" sz="2400" b="1">
                <a:solidFill>
                  <a:schemeClr val="tx1"/>
                </a:solidFill>
              </a:rPr>
              <a:t>分析：文段客观叙述，</a:t>
            </a:r>
            <a:r>
              <a:rPr lang="en-US" altLang="zh-CN" sz="2400" b="1">
                <a:solidFill>
                  <a:schemeClr val="tx1"/>
                </a:solidFill>
              </a:rPr>
              <a:t>“</a:t>
            </a:r>
            <a:r>
              <a:rPr sz="2400" b="1">
                <a:solidFill>
                  <a:schemeClr val="tx1"/>
                </a:solidFill>
                <a:sym typeface="+mn-ea"/>
              </a:rPr>
              <a:t>噤若寒蝉</a:t>
            </a:r>
            <a:r>
              <a:rPr lang="en-US" altLang="zh-CN" sz="2400" b="1">
                <a:solidFill>
                  <a:schemeClr val="tx1"/>
                </a:solidFill>
              </a:rPr>
              <a:t>”</a:t>
            </a:r>
            <a:r>
              <a:rPr sz="2400" b="1">
                <a:solidFill>
                  <a:schemeClr val="tx1"/>
                </a:solidFill>
              </a:rPr>
              <a:t>和</a:t>
            </a:r>
            <a:r>
              <a:rPr lang="en-US" altLang="zh-CN" sz="2400" b="1">
                <a:solidFill>
                  <a:schemeClr val="tx1"/>
                </a:solidFill>
              </a:rPr>
              <a:t>“</a:t>
            </a:r>
            <a:r>
              <a:rPr sz="2400" b="1">
                <a:solidFill>
                  <a:schemeClr val="tx1"/>
                </a:solidFill>
                <a:sym typeface="+mn-ea"/>
              </a:rPr>
              <a:t>谈虎色变</a:t>
            </a:r>
            <a:r>
              <a:rPr lang="en-US" altLang="zh-CN" sz="2400" b="1">
                <a:solidFill>
                  <a:schemeClr val="tx1"/>
                </a:solidFill>
              </a:rPr>
              <a:t>”</a:t>
            </a:r>
            <a:r>
              <a:rPr sz="2400" b="1">
                <a:solidFill>
                  <a:schemeClr val="tx1"/>
                </a:solidFill>
              </a:rPr>
              <a:t>语义太重。</a:t>
            </a:r>
            <a:r>
              <a:rPr lang="en-US" altLang="zh-CN" sz="2400" b="1">
                <a:solidFill>
                  <a:schemeClr val="tx1"/>
                </a:solidFill>
              </a:rPr>
              <a:t>“</a:t>
            </a:r>
            <a:r>
              <a:rPr sz="2400" b="1">
                <a:solidFill>
                  <a:srgbClr val="FF0000"/>
                </a:solidFill>
                <a:sym typeface="+mn-ea"/>
              </a:rPr>
              <a:t>保护好人环境的缺失</a:t>
            </a:r>
            <a:r>
              <a:rPr lang="en-US" altLang="zh-CN" sz="2400" b="1">
                <a:solidFill>
                  <a:schemeClr val="tx1"/>
                </a:solidFill>
              </a:rPr>
              <a:t>”</a:t>
            </a:r>
            <a:r>
              <a:rPr sz="2400" b="1">
                <a:solidFill>
                  <a:schemeClr val="tx1"/>
                </a:solidFill>
              </a:rPr>
              <a:t>排除带有贬义的</a:t>
            </a:r>
            <a:r>
              <a:rPr lang="en-US" altLang="zh-CN" sz="2400" b="1">
                <a:solidFill>
                  <a:schemeClr val="tx1"/>
                </a:solidFill>
              </a:rPr>
              <a:t>“</a:t>
            </a:r>
            <a:r>
              <a:rPr sz="2400" b="1">
                <a:solidFill>
                  <a:schemeClr val="tx1"/>
                </a:solidFill>
                <a:sym typeface="+mn-ea"/>
              </a:rPr>
              <a:t>畏首畏尾</a:t>
            </a:r>
            <a:r>
              <a:rPr lang="en-US" altLang="zh-CN" sz="2400" b="1">
                <a:solidFill>
                  <a:schemeClr val="tx1"/>
                </a:solidFill>
              </a:rPr>
              <a:t>”</a:t>
            </a:r>
            <a:r>
              <a:rPr sz="2400" b="1">
                <a:solidFill>
                  <a:schemeClr val="tx1"/>
                </a:solidFill>
              </a:rPr>
              <a:t>。</a:t>
            </a:r>
            <a:r>
              <a:rPr lang="en-US" altLang="zh-CN" sz="2400" b="1">
                <a:solidFill>
                  <a:schemeClr val="tx1"/>
                </a:solidFill>
              </a:rPr>
              <a:t>“</a:t>
            </a:r>
            <a:r>
              <a:rPr sz="2400" b="1">
                <a:solidFill>
                  <a:schemeClr val="tx1"/>
                </a:solidFill>
                <a:sym typeface="+mn-ea"/>
              </a:rPr>
              <a:t> 投鼠忌器</a:t>
            </a:r>
            <a:r>
              <a:rPr lang="en-US" altLang="zh-CN" sz="2400" b="1">
                <a:solidFill>
                  <a:schemeClr val="tx1"/>
                </a:solidFill>
              </a:rPr>
              <a:t>”</a:t>
            </a:r>
            <a:r>
              <a:rPr sz="2400" b="1">
                <a:solidFill>
                  <a:schemeClr val="tx1"/>
                </a:solidFill>
              </a:rPr>
              <a:t>：</a:t>
            </a:r>
            <a:r>
              <a:rPr lang="en-US" altLang="zh-CN" sz="2400" b="1">
                <a:solidFill>
                  <a:schemeClr val="tx1"/>
                </a:solidFill>
              </a:rPr>
              <a:t>想用东西打老鼠</a:t>
            </a:r>
            <a:r>
              <a:rPr sz="2400" b="1">
                <a:solidFill>
                  <a:schemeClr val="tx1"/>
                </a:solidFill>
              </a:rPr>
              <a:t>，</a:t>
            </a:r>
            <a:r>
              <a:rPr lang="en-US" altLang="zh-CN" sz="2400" b="1">
                <a:solidFill>
                  <a:schemeClr val="tx1"/>
                </a:solidFill>
              </a:rPr>
              <a:t>又怕打坏了老鼠旁边的器物</a:t>
            </a:r>
            <a:r>
              <a:rPr sz="2400" b="1">
                <a:solidFill>
                  <a:schemeClr val="tx1"/>
                </a:solidFill>
              </a:rPr>
              <a:t>；</a:t>
            </a:r>
            <a:r>
              <a:rPr lang="en-US" altLang="zh-CN" sz="2400" b="1">
                <a:solidFill>
                  <a:schemeClr val="tx1"/>
                </a:solidFill>
              </a:rPr>
              <a:t>比喻想打击坏人而又有所顾忌</a:t>
            </a:r>
            <a:r>
              <a:rPr sz="2400" b="1">
                <a:solidFill>
                  <a:schemeClr val="tx1"/>
                </a:solidFill>
              </a:rPr>
              <a:t>。这里</a:t>
            </a:r>
            <a:r>
              <a:rPr lang="en-US" altLang="zh-CN" sz="2400" b="1">
                <a:solidFill>
                  <a:schemeClr val="tx1"/>
                </a:solidFill>
              </a:rPr>
              <a:t>“</a:t>
            </a:r>
            <a:r>
              <a:rPr sz="2400" b="1">
                <a:solidFill>
                  <a:srgbClr val="00B050"/>
                </a:solidFill>
                <a:sym typeface="+mn-ea"/>
              </a:rPr>
              <a:t>质疑</a:t>
            </a:r>
            <a:r>
              <a:rPr lang="en-US" altLang="zh-CN" sz="2400" b="1">
                <a:solidFill>
                  <a:schemeClr val="tx1"/>
                </a:solidFill>
              </a:rPr>
              <a:t>”</a:t>
            </a:r>
            <a:r>
              <a:rPr sz="2400" b="1">
                <a:solidFill>
                  <a:schemeClr val="tx1"/>
                </a:solidFill>
              </a:rPr>
              <a:t>并非完全无理。故选</a:t>
            </a:r>
            <a:r>
              <a:rPr lang="en-US" altLang="zh-CN" sz="2400" b="1">
                <a:solidFill>
                  <a:schemeClr val="tx1"/>
                </a:solidFill>
              </a:rPr>
              <a:t>B</a:t>
            </a:r>
            <a:r>
              <a:rPr sz="2400" b="1">
                <a:solidFill>
                  <a:schemeClr val="tx1"/>
                </a:solidFill>
              </a:rPr>
              <a:t>。</a:t>
            </a:r>
            <a:endParaRPr lang="en-US" altLang="zh-CN" sz="2400" b="1">
              <a:solidFill>
                <a:schemeClr val="tx1"/>
              </a:solidFill>
            </a:endParaRPr>
          </a:p>
          <a:p>
            <a:endParaRPr lang="zh-CN" altLang="en-US" sz="2400" b="1">
              <a:solidFill>
                <a:schemeClr val="tx1"/>
              </a:solidFill>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小结</a:t>
            </a:r>
            <a:endParaRPr lang="zh-CN" altLang="en-US"/>
          </a:p>
        </p:txBody>
      </p:sp>
      <p:sp>
        <p:nvSpPr>
          <p:cNvPr id="3" name="内容占位符 2"/>
          <p:cNvSpPr>
            <a:spLocks noGrp="1"/>
          </p:cNvSpPr>
          <p:nvPr>
            <p:ph idx="1"/>
          </p:nvPr>
        </p:nvSpPr>
        <p:spPr/>
        <p:txBody>
          <a:bodyPr/>
          <a:p>
            <a:r>
              <a:rPr sz="2400" b="1">
                <a:solidFill>
                  <a:schemeClr val="tx1"/>
                </a:solidFill>
                <a:sym typeface="+mn-ea"/>
              </a:rPr>
              <a:t>逻辑填空涉及的对应关系主要包括以下五种：</a:t>
            </a:r>
            <a:r>
              <a:rPr lang="en-US" altLang="zh-CN" sz="2400" b="1">
                <a:solidFill>
                  <a:srgbClr val="FF0000"/>
                </a:solidFill>
                <a:sym typeface="+mn-ea"/>
              </a:rPr>
              <a:t>1.</a:t>
            </a:r>
            <a:r>
              <a:rPr sz="2400" b="1">
                <a:solidFill>
                  <a:srgbClr val="FF0000"/>
                </a:solidFill>
                <a:sym typeface="+mn-ea"/>
              </a:rPr>
              <a:t>解释关系</a:t>
            </a:r>
            <a:r>
              <a:rPr sz="2400" b="1">
                <a:solidFill>
                  <a:schemeClr val="tx1"/>
                </a:solidFill>
                <a:sym typeface="+mn-ea"/>
              </a:rPr>
              <a:t>；</a:t>
            </a:r>
            <a:r>
              <a:rPr lang="en-US" altLang="zh-CN" sz="2400" b="1">
                <a:solidFill>
                  <a:schemeClr val="tx1"/>
                </a:solidFill>
                <a:sym typeface="+mn-ea"/>
              </a:rPr>
              <a:t>2.</a:t>
            </a:r>
            <a:r>
              <a:rPr sz="2400" b="1">
                <a:solidFill>
                  <a:schemeClr val="tx1"/>
                </a:solidFill>
                <a:sym typeface="+mn-ea"/>
              </a:rPr>
              <a:t>反对关系；</a:t>
            </a:r>
            <a:r>
              <a:rPr lang="en-US" altLang="zh-CN" sz="2400" b="1">
                <a:solidFill>
                  <a:srgbClr val="FF0000"/>
                </a:solidFill>
                <a:sym typeface="+mn-ea"/>
              </a:rPr>
              <a:t>3.</a:t>
            </a:r>
            <a:r>
              <a:rPr sz="2400" b="1">
                <a:solidFill>
                  <a:srgbClr val="FF0000"/>
                </a:solidFill>
                <a:sym typeface="+mn-ea"/>
              </a:rPr>
              <a:t>并列关系</a:t>
            </a:r>
            <a:r>
              <a:rPr sz="2400" b="1">
                <a:solidFill>
                  <a:schemeClr val="tx1"/>
                </a:solidFill>
                <a:sym typeface="+mn-ea"/>
              </a:rPr>
              <a:t>；</a:t>
            </a:r>
            <a:r>
              <a:rPr lang="en-US" altLang="zh-CN" sz="2400" b="1">
                <a:solidFill>
                  <a:schemeClr val="tx1"/>
                </a:solidFill>
                <a:sym typeface="+mn-ea"/>
              </a:rPr>
              <a:t>4.</a:t>
            </a:r>
            <a:r>
              <a:rPr sz="2400" b="1">
                <a:solidFill>
                  <a:schemeClr val="tx1"/>
                </a:solidFill>
                <a:sym typeface="+mn-ea"/>
              </a:rPr>
              <a:t>递进关系；</a:t>
            </a:r>
            <a:r>
              <a:rPr lang="en-US" altLang="zh-CN" sz="2400" b="1">
                <a:solidFill>
                  <a:srgbClr val="FF0000"/>
                </a:solidFill>
                <a:sym typeface="+mn-ea"/>
              </a:rPr>
              <a:t>5.</a:t>
            </a:r>
            <a:r>
              <a:rPr sz="2400" b="1">
                <a:solidFill>
                  <a:srgbClr val="FF0000"/>
                </a:solidFill>
                <a:sym typeface="+mn-ea"/>
              </a:rPr>
              <a:t>顺承关系</a:t>
            </a:r>
            <a:endParaRPr lang="zh-CN" altLang="en-US" sz="2400" b="1">
              <a:solidFill>
                <a:schemeClr val="tx1"/>
              </a:solidFill>
            </a:endParaRPr>
          </a:p>
          <a:p>
            <a:r>
              <a:rPr sz="2400" b="1">
                <a:sym typeface="+mn-ea"/>
              </a:rPr>
              <a:t>进行</a:t>
            </a:r>
            <a:r>
              <a:rPr sz="2400" b="1">
                <a:sym typeface="+mn-ea"/>
              </a:rPr>
              <a:t>近义词语辨析时可以从以下五个角度进行考虑：</a:t>
            </a:r>
            <a:r>
              <a:rPr lang="en-US" altLang="zh-CN" sz="2400" b="1">
                <a:sym typeface="+mn-ea"/>
              </a:rPr>
              <a:t>1.</a:t>
            </a:r>
            <a:r>
              <a:rPr sz="2400" b="1">
                <a:sym typeface="+mn-ea"/>
              </a:rPr>
              <a:t>词语的适用对象；</a:t>
            </a:r>
            <a:r>
              <a:rPr lang="en-US" altLang="zh-CN" sz="2400" b="1">
                <a:solidFill>
                  <a:srgbClr val="FF0000"/>
                </a:solidFill>
                <a:sym typeface="+mn-ea"/>
              </a:rPr>
              <a:t>2.</a:t>
            </a:r>
            <a:r>
              <a:rPr sz="2400" b="1">
                <a:solidFill>
                  <a:srgbClr val="FF0000"/>
                </a:solidFill>
                <a:sym typeface="+mn-ea"/>
              </a:rPr>
              <a:t>意义的侧重点；</a:t>
            </a:r>
            <a:r>
              <a:rPr lang="en-US" altLang="zh-CN" sz="2400" b="1">
                <a:solidFill>
                  <a:schemeClr val="tx1"/>
                </a:solidFill>
                <a:sym typeface="+mn-ea"/>
              </a:rPr>
              <a:t>3.</a:t>
            </a:r>
            <a:r>
              <a:rPr sz="2400" b="1">
                <a:sym typeface="+mn-ea"/>
              </a:rPr>
              <a:t>意义的轻重；</a:t>
            </a:r>
            <a:r>
              <a:rPr lang="en-US" altLang="zh-CN" sz="2400" b="1">
                <a:solidFill>
                  <a:srgbClr val="FF0000"/>
                </a:solidFill>
                <a:sym typeface="+mn-ea"/>
              </a:rPr>
              <a:t>4.</a:t>
            </a:r>
            <a:r>
              <a:rPr sz="2400" b="1">
                <a:solidFill>
                  <a:srgbClr val="FF0000"/>
                </a:solidFill>
                <a:sym typeface="+mn-ea"/>
              </a:rPr>
              <a:t>词语的感情色彩；</a:t>
            </a:r>
            <a:r>
              <a:rPr lang="en-US" altLang="zh-CN" sz="2400" b="1">
                <a:solidFill>
                  <a:srgbClr val="FF0000"/>
                </a:solidFill>
                <a:sym typeface="+mn-ea"/>
              </a:rPr>
              <a:t>5.</a:t>
            </a:r>
            <a:r>
              <a:rPr sz="2400" b="1">
                <a:sym typeface="+mn-ea"/>
              </a:rPr>
              <a:t>词语的搭配</a:t>
            </a:r>
            <a:endParaRPr sz="2400" b="1">
              <a:sym typeface="+mn-ea"/>
            </a:endParaRPr>
          </a:p>
          <a:p>
            <a:r>
              <a:rPr sz="2400" b="1">
                <a:sym typeface="+mn-ea"/>
              </a:rPr>
              <a:t>重点关注成语以下五类陷阱：</a:t>
            </a:r>
            <a:r>
              <a:rPr lang="en-US" altLang="zh-CN" sz="2400" b="1">
                <a:sym typeface="+mn-ea"/>
              </a:rPr>
              <a:t>1.</a:t>
            </a:r>
            <a:r>
              <a:rPr sz="2400" b="1">
                <a:sym typeface="+mn-ea"/>
              </a:rPr>
              <a:t>望文生义；</a:t>
            </a:r>
            <a:r>
              <a:rPr lang="en-US" altLang="zh-CN" sz="2400" b="1">
                <a:solidFill>
                  <a:srgbClr val="FF0000"/>
                </a:solidFill>
                <a:sym typeface="+mn-ea"/>
              </a:rPr>
              <a:t>2.</a:t>
            </a:r>
            <a:r>
              <a:rPr sz="2400" b="1">
                <a:solidFill>
                  <a:srgbClr val="FF0000"/>
                </a:solidFill>
                <a:sym typeface="+mn-ea"/>
              </a:rPr>
              <a:t>对象误用；</a:t>
            </a:r>
            <a:r>
              <a:rPr lang="en-US" altLang="zh-CN" sz="2400" b="1">
                <a:sym typeface="+mn-ea"/>
              </a:rPr>
              <a:t>3.</a:t>
            </a:r>
            <a:r>
              <a:rPr sz="2400" b="1">
                <a:sym typeface="+mn-ea"/>
              </a:rPr>
              <a:t>轻重失衡；</a:t>
            </a:r>
            <a:r>
              <a:rPr lang="en-US" altLang="zh-CN" sz="2400" b="1">
                <a:solidFill>
                  <a:srgbClr val="FF0000"/>
                </a:solidFill>
                <a:sym typeface="+mn-ea"/>
              </a:rPr>
              <a:t>4.</a:t>
            </a:r>
            <a:r>
              <a:rPr sz="2400" b="1">
                <a:solidFill>
                  <a:srgbClr val="FF0000"/>
                </a:solidFill>
                <a:sym typeface="+mn-ea"/>
              </a:rPr>
              <a:t>感情色彩不符；</a:t>
            </a:r>
            <a:r>
              <a:rPr lang="en-US" altLang="zh-CN" sz="2400" b="1">
                <a:sym typeface="+mn-ea"/>
              </a:rPr>
              <a:t>5.</a:t>
            </a:r>
            <a:r>
              <a:rPr sz="2400" b="1">
                <a:sym typeface="+mn-ea"/>
              </a:rPr>
              <a:t>语义重复</a:t>
            </a:r>
            <a:endParaRPr sz="2400" b="1">
              <a:sym typeface="+mn-ea"/>
            </a:endParaRPr>
          </a:p>
          <a:p>
            <a:r>
              <a:rPr sz="2400" b="1">
                <a:sym typeface="+mn-ea"/>
              </a:rPr>
              <a:t>公务员考试的文段材料一般都是上下句有着紧密逻辑关联的好文段，</a:t>
            </a:r>
            <a:r>
              <a:rPr sz="2400" b="1">
                <a:solidFill>
                  <a:srgbClr val="FF0000"/>
                </a:solidFill>
                <a:sym typeface="+mn-ea"/>
              </a:rPr>
              <a:t>做题的突破口就是尽快找到关键的提示信息，准备把握语句之间的逻辑关联。</a:t>
            </a:r>
            <a:endParaRPr sz="2400" b="1"/>
          </a:p>
          <a:p>
            <a:endParaRPr b="1"/>
          </a:p>
          <a:p>
            <a:endParaRPr lang="zh-CN" altLang="en-US"/>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93682" y="266900"/>
            <a:ext cx="10852237" cy="648000"/>
          </a:xfrm>
        </p:spPr>
        <p:txBody>
          <a:bodyPr/>
          <a:p>
            <a:r>
              <a:t>作业</a:t>
            </a:r>
            <a:endParaRPr lang="en-US" altLang="zh-CN"/>
          </a:p>
        </p:txBody>
      </p:sp>
      <p:sp>
        <p:nvSpPr>
          <p:cNvPr id="3" name="内容占位符 2"/>
          <p:cNvSpPr>
            <a:spLocks noGrp="1"/>
          </p:cNvSpPr>
          <p:nvPr>
            <p:ph idx="1"/>
          </p:nvPr>
        </p:nvSpPr>
        <p:spPr>
          <a:xfrm>
            <a:off x="669925" y="1067435"/>
            <a:ext cx="10852150" cy="5384165"/>
          </a:xfrm>
        </p:spPr>
        <p:txBody>
          <a:bodyPr/>
          <a:p>
            <a:pPr>
              <a:lnSpc>
                <a:spcPct val="120000"/>
              </a:lnSpc>
              <a:spcAft>
                <a:spcPts val="800"/>
              </a:spcAft>
            </a:pPr>
            <a:r>
              <a:rPr lang="zh-CN" altLang="en-US" sz="2400" b="1">
                <a:solidFill>
                  <a:srgbClr val="00B050"/>
                </a:solidFill>
                <a:latin typeface="+mn-ea"/>
                <a:cs typeface="+mn-ea"/>
              </a:rPr>
              <a:t>真题</a:t>
            </a:r>
            <a:r>
              <a:rPr lang="en-US" altLang="zh-CN" sz="2400" b="1">
                <a:solidFill>
                  <a:srgbClr val="00B050"/>
                </a:solidFill>
                <a:latin typeface="+mn-ea"/>
                <a:cs typeface="+mn-ea"/>
              </a:rPr>
              <a:t>38</a:t>
            </a:r>
            <a:r>
              <a:rPr sz="2400" b="1">
                <a:solidFill>
                  <a:schemeClr val="tx1"/>
                </a:solidFill>
                <a:latin typeface="+mn-ea"/>
                <a:cs typeface="+mn-ea"/>
              </a:rPr>
              <a:t>（川</a:t>
            </a:r>
            <a:r>
              <a:rPr lang="en-US" altLang="zh-CN" sz="2400" b="1">
                <a:solidFill>
                  <a:schemeClr val="tx1"/>
                </a:solidFill>
                <a:latin typeface="+mn-ea"/>
                <a:cs typeface="+mn-ea"/>
              </a:rPr>
              <a:t>2019</a:t>
            </a:r>
            <a:r>
              <a:rPr sz="2400" b="1">
                <a:solidFill>
                  <a:schemeClr val="tx1"/>
                </a:solidFill>
                <a:latin typeface="+mn-ea"/>
                <a:cs typeface="+mn-ea"/>
              </a:rPr>
              <a:t>下</a:t>
            </a:r>
            <a:r>
              <a:rPr lang="en-US" altLang="zh-CN" sz="2400" b="1">
                <a:solidFill>
                  <a:schemeClr val="tx1"/>
                </a:solidFill>
                <a:latin typeface="+mn-ea"/>
                <a:cs typeface="+mn-ea"/>
              </a:rPr>
              <a:t>-22</a:t>
            </a:r>
            <a:r>
              <a:rPr sz="2400" b="1">
                <a:solidFill>
                  <a:schemeClr val="tx1"/>
                </a:solidFill>
                <a:latin typeface="+mn-ea"/>
                <a:cs typeface="+mn-ea"/>
              </a:rPr>
              <a:t>）：</a:t>
            </a:r>
            <a:r>
              <a:rPr lang="zh-CN" altLang="en-US" sz="2400" b="1">
                <a:solidFill>
                  <a:schemeClr val="tx1"/>
                </a:solidFill>
                <a:latin typeface="+mn-ea"/>
                <a:cs typeface="+mn-ea"/>
              </a:rPr>
              <a:t>我们喜欢向他人分享目标，好像在寻求某种认可和鼓励。然而分享会给人一种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latin typeface="+mn-ea"/>
                <a:cs typeface="+mn-ea"/>
              </a:rPr>
              <a:t>的满足感，将空谈错认为</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latin typeface="+mn-ea"/>
                <a:cs typeface="+mn-ea"/>
              </a:rPr>
              <a:t>。记下你的目标，制订可行计划，才更可能成功。</a:t>
            </a:r>
            <a:endParaRPr lang="zh-CN" altLang="en-US" sz="2400" b="1">
              <a:solidFill>
                <a:schemeClr val="tx1"/>
              </a:solidFill>
              <a:latin typeface="+mn-ea"/>
              <a:cs typeface="+mn-ea"/>
            </a:endParaRPr>
          </a:p>
          <a:p>
            <a:pPr>
              <a:lnSpc>
                <a:spcPct val="120000"/>
              </a:lnSpc>
              <a:spcAft>
                <a:spcPts val="800"/>
              </a:spcAft>
            </a:pPr>
            <a:r>
              <a:rPr lang="zh-CN" altLang="en-US" sz="2400" b="1">
                <a:solidFill>
                  <a:schemeClr val="tx1"/>
                </a:solidFill>
                <a:latin typeface="+mn-ea"/>
                <a:cs typeface="+mn-ea"/>
              </a:rPr>
              <a:t>A.想象    目的            B.即时    结果</a:t>
            </a:r>
            <a:endParaRPr lang="zh-CN" altLang="en-US" sz="2400" b="1">
              <a:solidFill>
                <a:schemeClr val="tx1"/>
              </a:solidFill>
              <a:latin typeface="+mn-ea"/>
              <a:cs typeface="+mn-ea"/>
            </a:endParaRPr>
          </a:p>
          <a:p>
            <a:pPr>
              <a:lnSpc>
                <a:spcPct val="120000"/>
              </a:lnSpc>
              <a:spcAft>
                <a:spcPts val="800"/>
              </a:spcAft>
            </a:pPr>
            <a:r>
              <a:rPr lang="en-US" altLang="zh-CN" sz="2400" b="1">
                <a:solidFill>
                  <a:schemeClr val="tx1"/>
                </a:solidFill>
                <a:latin typeface="+mn-ea"/>
                <a:cs typeface="+mn-ea"/>
              </a:rPr>
              <a:t>C.</a:t>
            </a:r>
            <a:r>
              <a:rPr lang="zh-CN" altLang="en-US" sz="2400" b="1">
                <a:solidFill>
                  <a:schemeClr val="tx1"/>
                </a:solidFill>
                <a:latin typeface="+mn-ea"/>
                <a:cs typeface="+mn-ea"/>
              </a:rPr>
              <a:t>暂时    事实            D.虚假    实践</a:t>
            </a:r>
            <a:endParaRPr lang="zh-CN" altLang="en-US" sz="2400" b="1">
              <a:solidFill>
                <a:schemeClr val="tx1"/>
              </a:solidFill>
              <a:latin typeface="+mn-ea"/>
              <a:cs typeface="+mn-ea"/>
            </a:endParaRPr>
          </a:p>
          <a:p>
            <a:pPr>
              <a:lnSpc>
                <a:spcPct val="120000"/>
              </a:lnSpc>
              <a:spcAft>
                <a:spcPts val="800"/>
              </a:spcAft>
            </a:pPr>
            <a:r>
              <a:rPr sz="2400" b="1">
                <a:solidFill>
                  <a:srgbClr val="00B050"/>
                </a:solidFill>
                <a:latin typeface="+mn-ea"/>
                <a:cs typeface="+mn-ea"/>
                <a:sym typeface="+mn-ea"/>
              </a:rPr>
              <a:t>真题</a:t>
            </a:r>
            <a:r>
              <a:rPr lang="en-US" altLang="zh-CN" sz="2400" b="1">
                <a:solidFill>
                  <a:srgbClr val="00B050"/>
                </a:solidFill>
                <a:latin typeface="+mn-ea"/>
                <a:cs typeface="+mn-ea"/>
                <a:sym typeface="+mn-ea"/>
              </a:rPr>
              <a:t>39</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上</a:t>
            </a:r>
            <a:r>
              <a:rPr lang="en-US" altLang="zh-CN" sz="2400" b="1">
                <a:solidFill>
                  <a:schemeClr val="tx1"/>
                </a:solidFill>
                <a:latin typeface="+mn-ea"/>
                <a:cs typeface="+mn-ea"/>
                <a:sym typeface="+mn-ea"/>
              </a:rPr>
              <a:t>-29</a:t>
            </a:r>
            <a:r>
              <a:rPr sz="2400" b="1">
                <a:solidFill>
                  <a:schemeClr val="tx1"/>
                </a:solidFill>
                <a:latin typeface="+mn-ea"/>
                <a:cs typeface="+mn-ea"/>
                <a:sym typeface="+mn-ea"/>
              </a:rPr>
              <a:t>）：</a:t>
            </a:r>
            <a:r>
              <a:rPr sz="2400" b="1">
                <a:sym typeface="+mn-ea"/>
              </a:rPr>
              <a:t>即便是比较严肃的史学著作，在习惯了一种写作和思维路径后，也很难有别的考察和分析视角。这样一来，人们读到的史书就难免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，在一定程度上使读者</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endParaRPr lang="zh-CN" altLang="en-US" sz="2400" b="1"/>
          </a:p>
          <a:p>
            <a:pPr>
              <a:lnSpc>
                <a:spcPct val="120000"/>
              </a:lnSpc>
              <a:spcAft>
                <a:spcPts val="800"/>
              </a:spcAft>
            </a:pPr>
            <a:r>
              <a:rPr sz="2400" b="1">
                <a:sym typeface="+mn-ea"/>
              </a:rPr>
              <a:t>A.如出一辙    心不在焉        B.人云亦云    不求甚解</a:t>
            </a:r>
            <a:endParaRPr lang="zh-CN" altLang="en-US" sz="2400" b="1"/>
          </a:p>
          <a:p>
            <a:pPr>
              <a:lnSpc>
                <a:spcPct val="120000"/>
              </a:lnSpc>
              <a:spcAft>
                <a:spcPts val="800"/>
              </a:spcAft>
            </a:pPr>
            <a:r>
              <a:rPr sz="2400" b="1">
                <a:sym typeface="+mn-ea"/>
              </a:rPr>
              <a:t>C.众口一词    味同嚼蜡         D.大同小异    兴味索然</a:t>
            </a:r>
            <a:endParaRPr lang="zh-CN" altLang="en-US" sz="2400" b="1">
              <a:solidFill>
                <a:schemeClr val="tx1"/>
              </a:solidFill>
              <a:latin typeface="+mn-ea"/>
              <a:cs typeface="+mn-ea"/>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84157" y="454860"/>
            <a:ext cx="10852237" cy="648000"/>
          </a:xfrm>
        </p:spPr>
        <p:txBody>
          <a:bodyPr/>
          <a:p>
            <a:r>
              <a:t>作业</a:t>
            </a:r>
            <a:r>
              <a:rPr lang="en-US" altLang="zh-CN"/>
              <a:t>1</a:t>
            </a:r>
            <a:r>
              <a:rPr>
                <a:sym typeface="+mn-ea"/>
              </a:rPr>
              <a:t>（续</a:t>
            </a:r>
            <a:r>
              <a:rPr lang="en-US" altLang="zh-CN">
                <a:sym typeface="+mn-ea"/>
              </a:rPr>
              <a:t>1</a:t>
            </a:r>
            <a:r>
              <a:rPr>
                <a:sym typeface="+mn-ea"/>
              </a:rPr>
              <a:t>）</a:t>
            </a:r>
            <a:endParaRPr lang="en-US" altLang="zh-CN"/>
          </a:p>
        </p:txBody>
      </p:sp>
      <p:sp>
        <p:nvSpPr>
          <p:cNvPr id="3" name="内容占位符 2"/>
          <p:cNvSpPr>
            <a:spLocks noGrp="1"/>
          </p:cNvSpPr>
          <p:nvPr>
            <p:ph idx="1"/>
          </p:nvPr>
        </p:nvSpPr>
        <p:spPr>
          <a:xfrm>
            <a:off x="669925" y="1501775"/>
            <a:ext cx="10852150" cy="4702175"/>
          </a:xfrm>
        </p:spPr>
        <p:txBody>
          <a:bodyPr/>
          <a:p>
            <a:pPr>
              <a:lnSpc>
                <a:spcPct val="120000"/>
              </a:lnSpc>
              <a:spcAft>
                <a:spcPts val="800"/>
              </a:spcAft>
            </a:pPr>
            <a:r>
              <a:rPr sz="2400" b="1">
                <a:solidFill>
                  <a:srgbClr val="00B050"/>
                </a:solidFill>
                <a:latin typeface="+mn-ea"/>
                <a:cs typeface="+mn-ea"/>
                <a:sym typeface="+mn-ea"/>
              </a:rPr>
              <a:t>真题</a:t>
            </a:r>
            <a:r>
              <a:rPr lang="en-US" altLang="zh-CN" sz="2400" b="1">
                <a:solidFill>
                  <a:srgbClr val="00B050"/>
                </a:solidFill>
                <a:latin typeface="+mn-ea"/>
                <a:cs typeface="+mn-ea"/>
                <a:sym typeface="+mn-ea"/>
              </a:rPr>
              <a:t>40</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上</a:t>
            </a:r>
            <a:r>
              <a:rPr lang="en-US" altLang="zh-CN" sz="2400" b="1">
                <a:solidFill>
                  <a:schemeClr val="tx1"/>
                </a:solidFill>
                <a:latin typeface="+mn-ea"/>
                <a:cs typeface="+mn-ea"/>
                <a:sym typeface="+mn-ea"/>
              </a:rPr>
              <a:t>-20</a:t>
            </a:r>
            <a:r>
              <a:rPr sz="2400" b="1">
                <a:solidFill>
                  <a:schemeClr val="tx1"/>
                </a:solidFill>
                <a:latin typeface="+mn-ea"/>
                <a:cs typeface="+mn-ea"/>
                <a:sym typeface="+mn-ea"/>
              </a:rPr>
              <a:t>）：</a:t>
            </a:r>
            <a:r>
              <a:rPr lang="zh-CN" altLang="en-US" sz="2400" b="1">
                <a:solidFill>
                  <a:schemeClr val="tx1"/>
                </a:solidFill>
                <a:latin typeface="+mn-ea"/>
                <a:cs typeface="+mn-ea"/>
              </a:rPr>
              <a:t>面对异质文化间的交流，特别是走出国门的艺术展示，我们常会想当然地选择</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latin typeface="+mn-ea"/>
                <a:cs typeface="+mn-ea"/>
              </a:rPr>
              <a:t>受众，在艺术观念与表现形式上有意融合甚至直接“迎合”，而这样做的结果往往得不到理想的效果。艺术风格的坚持、纯化与适度包容，更有利于我们向世界更好地展现中国艺术的精华，同时接受当地受众的文化</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latin typeface="+mn-ea"/>
                <a:cs typeface="+mn-ea"/>
              </a:rPr>
              <a:t>   </a:t>
            </a:r>
            <a:endParaRPr lang="zh-CN" altLang="en-US" sz="2400" b="1">
              <a:solidFill>
                <a:schemeClr val="tx1"/>
              </a:solidFill>
              <a:latin typeface="+mn-ea"/>
              <a:cs typeface="+mn-ea"/>
            </a:endParaRPr>
          </a:p>
          <a:p>
            <a:pPr>
              <a:lnSpc>
                <a:spcPct val="120000"/>
              </a:lnSpc>
              <a:spcAft>
                <a:spcPts val="800"/>
              </a:spcAft>
            </a:pPr>
            <a:r>
              <a:rPr lang="zh-CN" altLang="en-US" sz="2400" b="1">
                <a:solidFill>
                  <a:schemeClr val="tx1"/>
                </a:solidFill>
                <a:latin typeface="+mn-ea"/>
                <a:cs typeface="+mn-ea"/>
              </a:rPr>
              <a:t> </a:t>
            </a:r>
            <a:r>
              <a:rPr sz="2400" b="1">
                <a:solidFill>
                  <a:schemeClr val="tx1"/>
                </a:solidFill>
                <a:sym typeface="+mn-ea"/>
              </a:rPr>
              <a:t>依次填入画横线部分最恰当的一项是（  ）：</a:t>
            </a:r>
            <a:endParaRPr lang="zh-CN" altLang="en-US" sz="2400" b="1">
              <a:solidFill>
                <a:schemeClr val="tx1"/>
              </a:solidFill>
              <a:latin typeface="+mn-ea"/>
              <a:cs typeface="+mn-ea"/>
            </a:endParaRPr>
          </a:p>
          <a:p>
            <a:pPr>
              <a:lnSpc>
                <a:spcPct val="120000"/>
              </a:lnSpc>
              <a:spcAft>
                <a:spcPts val="800"/>
              </a:spcAft>
            </a:pPr>
            <a:r>
              <a:rPr lang="zh-CN" altLang="en-US" sz="2400" b="1">
                <a:solidFill>
                  <a:schemeClr val="tx1"/>
                </a:solidFill>
                <a:latin typeface="+mn-ea"/>
                <a:cs typeface="+mn-ea"/>
              </a:rPr>
              <a:t>A.尊重    评论         B.迁就    反馈  </a:t>
            </a:r>
            <a:endParaRPr lang="zh-CN" altLang="en-US" sz="2400" b="1">
              <a:solidFill>
                <a:schemeClr val="tx1"/>
              </a:solidFill>
              <a:latin typeface="+mn-ea"/>
              <a:cs typeface="+mn-ea"/>
            </a:endParaRPr>
          </a:p>
          <a:p>
            <a:pPr>
              <a:lnSpc>
                <a:spcPct val="120000"/>
              </a:lnSpc>
              <a:spcAft>
                <a:spcPts val="800"/>
              </a:spcAft>
            </a:pPr>
            <a:r>
              <a:rPr lang="zh-CN" altLang="en-US" sz="2400" b="1">
                <a:solidFill>
                  <a:schemeClr val="tx1"/>
                </a:solidFill>
                <a:latin typeface="+mn-ea"/>
                <a:cs typeface="+mn-ea"/>
              </a:rPr>
              <a:t>C.考虑    主张         D.顾及    观念</a:t>
            </a:r>
            <a:endParaRPr lang="zh-CN" altLang="en-US" sz="2400" b="1">
              <a:solidFill>
                <a:schemeClr val="tx1"/>
              </a:solidFill>
              <a:latin typeface="+mn-ea"/>
              <a:cs typeface="+mn-ea"/>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作业（续</a:t>
            </a:r>
            <a:r>
              <a:rPr lang="en-US" altLang="zh-CN"/>
              <a:t>2</a:t>
            </a:r>
            <a:r>
              <a:t>）</a:t>
            </a:r>
          </a:p>
        </p:txBody>
      </p:sp>
      <p:sp>
        <p:nvSpPr>
          <p:cNvPr id="3" name="内容占位符 2"/>
          <p:cNvSpPr>
            <a:spLocks noGrp="1"/>
          </p:cNvSpPr>
          <p:nvPr>
            <p:ph idx="1"/>
          </p:nvPr>
        </p:nvSpPr>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41</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上</a:t>
            </a:r>
            <a:r>
              <a:rPr lang="en-US" altLang="zh-CN" sz="2400" b="1">
                <a:solidFill>
                  <a:schemeClr val="tx1"/>
                </a:solidFill>
                <a:latin typeface="+mn-ea"/>
                <a:cs typeface="+mn-ea"/>
                <a:sym typeface="+mn-ea"/>
              </a:rPr>
              <a:t>-25</a:t>
            </a:r>
            <a:r>
              <a:rPr sz="2400" b="1">
                <a:solidFill>
                  <a:schemeClr val="tx1"/>
                </a:solidFill>
                <a:latin typeface="+mn-ea"/>
                <a:cs typeface="+mn-ea"/>
                <a:sym typeface="+mn-ea"/>
              </a:rPr>
              <a:t>）：</a:t>
            </a:r>
            <a:r>
              <a:rPr lang="zh-CN" altLang="en-US" sz="2400" b="1">
                <a:solidFill>
                  <a:schemeClr val="tx1"/>
                </a:solidFill>
              </a:rPr>
              <a:t>随着改革的深入，军工企业逐步建立起适应市场经济的现代企业制度。但军工集团改制并不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sym typeface="+mn-ea"/>
              </a:rPr>
              <a:t> </a:t>
            </a:r>
            <a:r>
              <a:rPr lang="zh-CN" altLang="en-US" sz="2400" b="1">
                <a:solidFill>
                  <a:schemeClr val="tx1"/>
                </a:solidFill>
              </a:rPr>
              <a:t>。一方面，从事生产经营的军工企业基本完成了公司制改造，成立了股份制公司；另一方面，多数军工院所依然在事业单位体制内，独立于市场经济之外。产研</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sym typeface="+mn-ea"/>
              </a:rPr>
              <a:t> </a:t>
            </a:r>
            <a:r>
              <a:rPr lang="zh-CN" altLang="en-US" sz="2400" b="1">
                <a:solidFill>
                  <a:schemeClr val="tx1"/>
                </a:solidFill>
              </a:rPr>
              <a:t>    一定程度导致了科技成果市场化程度低，技术成果社会转换利用率不高的问题。</a:t>
            </a:r>
            <a:endParaRPr lang="zh-CN" altLang="en-US" sz="2400" b="1">
              <a:solidFill>
                <a:schemeClr val="tx1"/>
              </a:solidFill>
            </a:endParaRPr>
          </a:p>
          <a:p>
            <a:r>
              <a:rPr lang="zh-CN" altLang="en-US" sz="2400" b="1">
                <a:solidFill>
                  <a:schemeClr val="tx1"/>
                </a:solidFill>
              </a:rPr>
              <a:t>依次填入画横线部分最恰当的一项是（  ）：</a:t>
            </a:r>
            <a:endParaRPr lang="zh-CN" altLang="en-US" sz="2400" b="1">
              <a:solidFill>
                <a:schemeClr val="tx1"/>
              </a:solidFill>
            </a:endParaRPr>
          </a:p>
          <a:p>
            <a:r>
              <a:rPr lang="zh-CN" altLang="en-US" sz="2400" b="1">
                <a:solidFill>
                  <a:schemeClr val="tx1"/>
                </a:solidFill>
              </a:rPr>
              <a:t>A.彻底    分离        B.系统     互促  </a:t>
            </a:r>
            <a:endParaRPr lang="zh-CN" altLang="en-US" sz="2400" b="1">
              <a:solidFill>
                <a:schemeClr val="tx1"/>
              </a:solidFill>
            </a:endParaRPr>
          </a:p>
          <a:p>
            <a:r>
              <a:rPr lang="zh-CN" altLang="en-US" sz="2400" b="1">
                <a:solidFill>
                  <a:schemeClr val="tx1"/>
                </a:solidFill>
              </a:rPr>
              <a:t>C.完善    共建        D.全面     脱节</a:t>
            </a:r>
            <a:endParaRPr lang="zh-CN" altLang="en-US" sz="2400" b="1">
              <a:solidFill>
                <a:schemeClr val="tx1"/>
              </a:solidFill>
            </a:endParaRP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2392" y="164665"/>
            <a:ext cx="10852237" cy="648000"/>
          </a:xfrm>
        </p:spPr>
        <p:txBody>
          <a:bodyPr/>
          <a:p>
            <a:r>
              <a:t>作业（续</a:t>
            </a:r>
            <a:r>
              <a:rPr lang="en-US" altLang="zh-CN"/>
              <a:t>3</a:t>
            </a:r>
            <a:r>
              <a:t>）</a:t>
            </a:r>
          </a:p>
        </p:txBody>
      </p:sp>
      <p:sp>
        <p:nvSpPr>
          <p:cNvPr id="3" name="内容占位符 2"/>
          <p:cNvSpPr>
            <a:spLocks noGrp="1"/>
          </p:cNvSpPr>
          <p:nvPr>
            <p:ph idx="1"/>
          </p:nvPr>
        </p:nvSpPr>
        <p:spPr>
          <a:xfrm>
            <a:off x="729615" y="908685"/>
            <a:ext cx="10852150" cy="5654675"/>
          </a:xfrm>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42</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上</a:t>
            </a:r>
            <a:r>
              <a:rPr lang="en-US" altLang="zh-CN" sz="2400" b="1">
                <a:solidFill>
                  <a:schemeClr val="tx1"/>
                </a:solidFill>
                <a:latin typeface="+mn-ea"/>
                <a:cs typeface="+mn-ea"/>
                <a:sym typeface="+mn-ea"/>
              </a:rPr>
              <a:t>-26</a:t>
            </a:r>
            <a:r>
              <a:rPr sz="2400" b="1">
                <a:solidFill>
                  <a:schemeClr val="tx1"/>
                </a:solidFill>
                <a:latin typeface="+mn-ea"/>
                <a:cs typeface="+mn-ea"/>
                <a:sym typeface="+mn-ea"/>
              </a:rPr>
              <a:t>）：</a:t>
            </a:r>
            <a:r>
              <a:rPr lang="zh-CN" altLang="en-US" sz="2400" b="1">
                <a:solidFill>
                  <a:schemeClr val="tx1"/>
                </a:solidFill>
              </a:rPr>
              <a:t>20多年过去，原始创新，集成创新，引进消化吸收再创新，中国迅速缩短了同发达国家在信息领域的差距，成为拥有网民最多的网络大国。一大批颇具竞争力的网信企业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，一大批市场需求旺盛的新应用</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，引领着经济的转型升级，也倒逼着治理体系体制机制的改革创新。</a:t>
            </a:r>
            <a:endParaRPr lang="zh-CN" altLang="en-US" sz="2400" b="1">
              <a:solidFill>
                <a:schemeClr val="tx1"/>
              </a:solidFill>
            </a:endParaRPr>
          </a:p>
          <a:p>
            <a:r>
              <a:rPr sz="2400" b="1">
                <a:solidFill>
                  <a:schemeClr val="tx1"/>
                </a:solidFill>
                <a:sym typeface="+mn-ea"/>
              </a:rPr>
              <a:t>依次填入画横线部分最恰当的一项是（  ）：</a:t>
            </a:r>
            <a:endParaRPr lang="zh-CN" altLang="en-US" sz="2400" b="1">
              <a:solidFill>
                <a:schemeClr val="tx1"/>
              </a:solidFill>
            </a:endParaRPr>
          </a:p>
          <a:p>
            <a:r>
              <a:rPr lang="zh-CN" altLang="en-US" sz="2400" b="1">
                <a:solidFill>
                  <a:schemeClr val="tx1"/>
                </a:solidFill>
              </a:rPr>
              <a:t>A.如鱼得水    屡见不鲜         B.异军突起    层出不穷</a:t>
            </a:r>
            <a:endParaRPr lang="zh-CN" altLang="en-US" sz="2400" b="1">
              <a:solidFill>
                <a:schemeClr val="tx1"/>
              </a:solidFill>
            </a:endParaRPr>
          </a:p>
          <a:p>
            <a:r>
              <a:rPr lang="zh-CN" altLang="en-US" sz="2400" b="1">
                <a:solidFill>
                  <a:schemeClr val="tx1"/>
                </a:solidFill>
              </a:rPr>
              <a:t>B.崭露头角    比比皆是         D.雨后春笋    数不胜数</a:t>
            </a:r>
            <a:endParaRPr lang="zh-CN" altLang="en-US" sz="2400" b="1">
              <a:solidFill>
                <a:schemeClr val="tx1"/>
              </a:solidFill>
            </a:endParaRPr>
          </a:p>
          <a:p>
            <a:endParaRPr lang="zh-CN" altLang="en-US" sz="2400" b="1">
              <a:solidFill>
                <a:schemeClr val="tx1"/>
              </a:solidFill>
            </a:endParaRPr>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作业（续</a:t>
            </a:r>
            <a:r>
              <a:rPr lang="en-US" altLang="zh-CN">
                <a:sym typeface="+mn-ea"/>
              </a:rPr>
              <a:t>4</a:t>
            </a:r>
            <a:r>
              <a:rPr>
                <a:sym typeface="+mn-ea"/>
              </a:rPr>
              <a:t>）</a:t>
            </a:r>
            <a:endParaRPr lang="zh-CN" altLang="en-US"/>
          </a:p>
        </p:txBody>
      </p:sp>
      <p:sp>
        <p:nvSpPr>
          <p:cNvPr id="3" name="内容占位符 2"/>
          <p:cNvSpPr>
            <a:spLocks noGrp="1"/>
          </p:cNvSpPr>
          <p:nvPr>
            <p:ph idx="1"/>
          </p:nvPr>
        </p:nvSpPr>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43</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上</a:t>
            </a:r>
            <a:r>
              <a:rPr lang="en-US" altLang="zh-CN" sz="2400" b="1">
                <a:solidFill>
                  <a:schemeClr val="tx1"/>
                </a:solidFill>
                <a:latin typeface="+mn-ea"/>
                <a:cs typeface="+mn-ea"/>
                <a:sym typeface="+mn-ea"/>
              </a:rPr>
              <a:t>-27</a:t>
            </a:r>
            <a:r>
              <a:rPr sz="2400" b="1">
                <a:solidFill>
                  <a:schemeClr val="tx1"/>
                </a:solidFill>
                <a:latin typeface="+mn-ea"/>
                <a:cs typeface="+mn-ea"/>
                <a:sym typeface="+mn-ea"/>
              </a:rPr>
              <a:t>）：</a:t>
            </a:r>
            <a:r>
              <a:rPr lang="zh-CN" altLang="en-US" sz="2400" b="1">
                <a:solidFill>
                  <a:schemeClr val="tx1"/>
                </a:solidFill>
              </a:rPr>
              <a:t>在产品广告和自媒体营销号中，我们经常看到对“防癌食品”“抗癌保健品”的</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许多营销文案还能列出一篇篇的科学文献，动不动就说“某著名大学发现”“某权威医学期刊证实”等，显得“很有科学依据”。其实，科学领域说的“致癌”和“防癌”，跟广大公众心中所想的“致癌”“防癌”</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a:t>
            </a:r>
            <a:endParaRPr lang="zh-CN" altLang="en-US" sz="2400" b="1">
              <a:solidFill>
                <a:schemeClr val="tx1"/>
              </a:solidFill>
            </a:endParaRPr>
          </a:p>
          <a:p>
            <a:r>
              <a:rPr lang="zh-CN" altLang="en-US" sz="2400" b="1">
                <a:solidFill>
                  <a:schemeClr val="tx1"/>
                </a:solidFill>
              </a:rPr>
              <a:t>依次填入画横线部分最恰当的一项是（  ）：</a:t>
            </a:r>
            <a:endParaRPr lang="zh-CN" altLang="en-US" sz="2400" b="1">
              <a:solidFill>
                <a:schemeClr val="tx1"/>
              </a:solidFill>
            </a:endParaRPr>
          </a:p>
          <a:p>
            <a:r>
              <a:rPr sz="2400" b="1">
                <a:solidFill>
                  <a:schemeClr val="tx1"/>
                </a:solidFill>
                <a:sym typeface="+mn-ea"/>
              </a:rPr>
              <a:t>A.鼓吹    相距甚远            B. 宣传     毫不相干</a:t>
            </a:r>
            <a:endParaRPr lang="zh-CN" altLang="en-US" sz="2400" b="1">
              <a:solidFill>
                <a:schemeClr val="tx1"/>
              </a:solidFill>
            </a:endParaRPr>
          </a:p>
          <a:p>
            <a:r>
              <a:rPr sz="2400" b="1">
                <a:solidFill>
                  <a:schemeClr val="tx1"/>
                </a:solidFill>
                <a:sym typeface="+mn-ea"/>
              </a:rPr>
              <a:t>C.炒作    南辕北辙            D. 正名     判若云泥</a:t>
            </a:r>
            <a:endParaRPr lang="zh-CN" altLang="en-US" sz="2400" b="1">
              <a:solidFill>
                <a:schemeClr val="tx1"/>
              </a:solidFill>
            </a:endParaRPr>
          </a:p>
          <a:p>
            <a:endParaRPr lang="zh-CN" altLang="en-US" sz="2400" b="1">
              <a:solidFill>
                <a:schemeClr val="tx1"/>
              </a:solidFill>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UNIT_TABLE_BEAUTIFY" val="smartTable{539c4a2b-84d3-4ffc-b7f6-013081cc23c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ags/tag91.xml><?xml version="1.0" encoding="utf-8"?>
<p:tagLst xmlns:p="http://schemas.openxmlformats.org/presentationml/2006/main">
  <p:tag name="KSO_WM_BEAUTIFY_FLAG" val="#wm#"/>
  <p:tag name="KSO_WM_TEMPLATE_CATEGORY" val="custom"/>
  <p:tag name="KSO_WM_TEMPLATE_INDEX" val="20187308"/>
</p:tagLst>
</file>

<file path=ppt/tags/tag92.xml><?xml version="1.0" encoding="utf-8"?>
<p:tagLst xmlns:p="http://schemas.openxmlformats.org/presentationml/2006/main">
  <p:tag name="KSO_WM_BEAUTIFY_FLAG" val="#wm#"/>
  <p:tag name="KSO_WM_TEMPLATE_CATEGORY" val="custom"/>
  <p:tag name="KSO_WM_TEMPLATE_INDEX" val="20187308"/>
</p:tagLst>
</file>

<file path=ppt/tags/tag93.xml><?xml version="1.0" encoding="utf-8"?>
<p:tagLst xmlns:p="http://schemas.openxmlformats.org/presentationml/2006/main">
  <p:tag name="KSO_WM_BEAUTIFY_FLAG" val="#wm#"/>
  <p:tag name="KSO_WM_TEMPLATE_CATEGORY" val="custom"/>
  <p:tag name="KSO_WM_TEMPLATE_INDEX" val="20187308"/>
</p:tagLst>
</file>

<file path=ppt/tags/tag94.xml><?xml version="1.0" encoding="utf-8"?>
<p:tagLst xmlns:p="http://schemas.openxmlformats.org/presentationml/2006/main">
  <p:tag name="KSO_WM_BEAUTIFY_FLAG" val="#wm#"/>
  <p:tag name="KSO_WM_TEMPLATE_CATEGORY" val="custom"/>
  <p:tag name="KSO_WM_TEMPLATE_INDEX" val="20187308"/>
</p:tagLst>
</file>

<file path=ppt/tags/tag95.xml><?xml version="1.0" encoding="utf-8"?>
<p:tagLst xmlns:p="http://schemas.openxmlformats.org/presentationml/2006/main">
  <p:tag name="KSO_WM_BEAUTIFY_FLAG" val="#wm#"/>
  <p:tag name="KSO_WM_TEMPLATE_CATEGORY" val="custom"/>
  <p:tag name="KSO_WM_TEMPLATE_INDEX" val="20187308"/>
</p:tagLst>
</file>

<file path=ppt/tags/tag96.xml><?xml version="1.0" encoding="utf-8"?>
<p:tagLst xmlns:p="http://schemas.openxmlformats.org/presentationml/2006/main">
  <p:tag name="KSO_WM_BEAUTIFY_FLAG" val="#wm#"/>
  <p:tag name="KSO_WM_TEMPLATE_CATEGORY" val="custom"/>
  <p:tag name="KSO_WM_TEMPLATE_INDEX" val="20187308"/>
</p:tagLst>
</file>

<file path=ppt/tags/tag97.xml><?xml version="1.0" encoding="utf-8"?>
<p:tagLst xmlns:p="http://schemas.openxmlformats.org/presentationml/2006/main">
  <p:tag name="KSO_WM_BEAUTIFY_FLAG" val="#wm#"/>
  <p:tag name="KSO_WM_TEMPLATE_CATEGORY" val="custom"/>
  <p:tag name="KSO_WM_TEMPLATE_INDEX" val="20187308"/>
</p:tagLst>
</file>

<file path=ppt/tags/tag98.xml><?xml version="1.0" encoding="utf-8"?>
<p:tagLst xmlns:p="http://schemas.openxmlformats.org/presentationml/2006/main">
  <p:tag name="KSO_WM_BEAUTIFY_FLAG" val="#wm#"/>
  <p:tag name="KSO_WM_TEMPLATE_CATEGORY" val="custom"/>
  <p:tag name="KSO_WM_TEMPLATE_INDEX" val="20187308"/>
</p:tagLst>
</file>

<file path=ppt/tags/tag99.xml><?xml version="1.0" encoding="utf-8"?>
<p:tagLst xmlns:p="http://schemas.openxmlformats.org/presentationml/2006/main">
  <p:tag name="KSO_WM_BEAUTIFY_FLAG" val="#wm#"/>
  <p:tag name="KSO_WM_TEMPLATE_CATEGORY" val="custom"/>
  <p:tag name="KSO_WM_TEMPLATE_INDEX" val="20187308"/>
</p:tagLst>
</file>

<file path=ppt/tags/tag100.xml><?xml version="1.0" encoding="utf-8"?>
<p:tagLst xmlns:p="http://schemas.openxmlformats.org/presentationml/2006/main">
  <p:tag name="KSO_WM_BEAUTIFY_FLAG" val="#wm#"/>
  <p:tag name="KSO_WM_TEMPLATE_CATEGORY" val="custom"/>
  <p:tag name="KSO_WM_TEMPLATE_INDEX" val="20187308"/>
</p:tagLst>
</file>

<file path=ppt/tags/tag101.xml><?xml version="1.0" encoding="utf-8"?>
<p:tagLst xmlns:p="http://schemas.openxmlformats.org/presentationml/2006/main">
  <p:tag name="KSO_WM_BEAUTIFY_FLAG" val="#wm#"/>
  <p:tag name="KSO_WM_TEMPLATE_CATEGORY" val="custom"/>
  <p:tag name="KSO_WM_TEMPLATE_INDEX" val="20187308"/>
</p:tagLst>
</file>

<file path=ppt/tags/tag102.xml><?xml version="1.0" encoding="utf-8"?>
<p:tagLst xmlns:p="http://schemas.openxmlformats.org/presentationml/2006/main">
  <p:tag name="KSO_WM_BEAUTIFY_FLAG" val="#wm#"/>
  <p:tag name="KSO_WM_TEMPLATE_CATEGORY" val="custom"/>
  <p:tag name="KSO_WM_TEMPLATE_INDEX" val="20187308"/>
</p:tagLst>
</file>

<file path=ppt/tags/tag103.xml><?xml version="1.0" encoding="utf-8"?>
<p:tagLst xmlns:p="http://schemas.openxmlformats.org/presentationml/2006/main">
  <p:tag name="KSO_WM_BEAUTIFY_FLAG" val="#wm#"/>
  <p:tag name="KSO_WM_TEMPLATE_CATEGORY" val="custom"/>
  <p:tag name="KSO_WM_TEMPLATE_INDEX" val="20187308"/>
</p:tagLst>
</file>

<file path=ppt/tags/tag104.xml><?xml version="1.0" encoding="utf-8"?>
<p:tagLst xmlns:p="http://schemas.openxmlformats.org/presentationml/2006/main">
  <p:tag name="KSO_WM_BEAUTIFY_FLAG" val="#wm#"/>
  <p:tag name="KSO_WM_TEMPLATE_CATEGORY" val="custom"/>
  <p:tag name="KSO_WM_TEMPLATE_INDEX" val="20187308"/>
</p:tagLst>
</file>

<file path=ppt/tags/tag105.xml><?xml version="1.0" encoding="utf-8"?>
<p:tagLst xmlns:p="http://schemas.openxmlformats.org/presentationml/2006/main">
  <p:tag name="KSO_WM_BEAUTIFY_FLAG" val="#wm#"/>
  <p:tag name="KSO_WM_TEMPLATE_CATEGORY" val="custom"/>
  <p:tag name="KSO_WM_TEMPLATE_INDEX" val="20187308"/>
</p:tagLst>
</file>

<file path=ppt/tags/tag106.xml><?xml version="1.0" encoding="utf-8"?>
<p:tagLst xmlns:p="http://schemas.openxmlformats.org/presentationml/2006/main">
  <p:tag name="KSO_WM_BEAUTIFY_FLAG" val="#wm#"/>
  <p:tag name="KSO_WM_TEMPLATE_CATEGORY" val="custom"/>
  <p:tag name="KSO_WM_TEMPLATE_INDEX" val="20187308"/>
</p:tagLst>
</file>

<file path=ppt/tags/tag107.xml><?xml version="1.0" encoding="utf-8"?>
<p:tagLst xmlns:p="http://schemas.openxmlformats.org/presentationml/2006/main">
  <p:tag name="KSO_WM_BEAUTIFY_FLAG" val="#wm#"/>
  <p:tag name="KSO_WM_TEMPLATE_CATEGORY" val="custom"/>
  <p:tag name="KSO_WM_TEMPLATE_INDEX" val="20187308"/>
</p:tagLst>
</file>

<file path=ppt/tags/tag108.xml><?xml version="1.0" encoding="utf-8"?>
<p:tagLst xmlns:p="http://schemas.openxmlformats.org/presentationml/2006/main">
  <p:tag name="KSO_WM_BEAUTIFY_FLAG" val="#wm#"/>
  <p:tag name="KSO_WM_TEMPLATE_CATEGORY" val="custom"/>
  <p:tag name="KSO_WM_TEMPLATE_INDEX" val="20187308"/>
</p:tagLst>
</file>

<file path=ppt/tags/tag109.xml><?xml version="1.0" encoding="utf-8"?>
<p:tagLst xmlns:p="http://schemas.openxmlformats.org/presentationml/2006/main">
  <p:tag name="KSO_WM_BEAUTIFY_FLAG" val="#wm#"/>
  <p:tag name="KSO_WM_TEMPLATE_CATEGORY" val="custom"/>
  <p:tag name="KSO_WM_TEMPLATE_INDEX" val="20187308"/>
</p:tagLst>
</file>

<file path=ppt/tags/tag110.xml><?xml version="1.0" encoding="utf-8"?>
<p:tagLst xmlns:p="http://schemas.openxmlformats.org/presentationml/2006/main">
  <p:tag name="KSO_WM_BEAUTIFY_FLAG" val="#wm#"/>
  <p:tag name="KSO_WM_TEMPLATE_CATEGORY" val="custom"/>
  <p:tag name="KSO_WM_TEMPLATE_INDEX" val="20187308"/>
</p:tagLst>
</file>

<file path=ppt/tags/tag111.xml><?xml version="1.0" encoding="utf-8"?>
<p:tagLst xmlns:p="http://schemas.openxmlformats.org/presentationml/2006/main">
  <p:tag name="KSO_WM_BEAUTIFY_FLAG" val="#wm#"/>
  <p:tag name="KSO_WM_TEMPLATE_CATEGORY" val="custom"/>
  <p:tag name="KSO_WM_TEMPLATE_INDEX" val="20187308"/>
</p:tagLst>
</file>

<file path=ppt/tags/tag112.xml><?xml version="1.0" encoding="utf-8"?>
<p:tagLst xmlns:p="http://schemas.openxmlformats.org/presentationml/2006/main">
  <p:tag name="KSO_WM_BEAUTIFY_FLAG" val="#wm#"/>
  <p:tag name="KSO_WM_TEMPLATE_CATEGORY" val="custom"/>
  <p:tag name="KSO_WM_TEMPLATE_INDEX" val="20187308"/>
</p:tagLst>
</file>

<file path=ppt/tags/tag113.xml><?xml version="1.0" encoding="utf-8"?>
<p:tagLst xmlns:p="http://schemas.openxmlformats.org/presentationml/2006/main">
  <p:tag name="KSO_WM_BEAUTIFY_FLAG" val="#wm#"/>
  <p:tag name="KSO_WM_TEMPLATE_CATEGORY" val="custom"/>
  <p:tag name="KSO_WM_TEMPLATE_INDEX" val="20187308"/>
</p:tagLst>
</file>

<file path=ppt/tags/tag114.xml><?xml version="1.0" encoding="utf-8"?>
<p:tagLst xmlns:p="http://schemas.openxmlformats.org/presentationml/2006/main">
  <p:tag name="KSO_WM_BEAUTIFY_FLAG" val="#wm#"/>
  <p:tag name="KSO_WM_TEMPLATE_CATEGORY" val="custom"/>
  <p:tag name="KSO_WM_TEMPLATE_INDEX" val="20187308"/>
</p:tagLst>
</file>

<file path=ppt/tags/tag115.xml><?xml version="1.0" encoding="utf-8"?>
<p:tagLst xmlns:p="http://schemas.openxmlformats.org/presentationml/2006/main">
  <p:tag name="KSO_WM_BEAUTIFY_FLAG" val="#wm#"/>
  <p:tag name="KSO_WM_TEMPLATE_CATEGORY" val="custom"/>
  <p:tag name="KSO_WM_TEMPLATE_INDEX" val="20187308"/>
</p:tagLst>
</file>

<file path=ppt/tags/tag116.xml><?xml version="1.0" encoding="utf-8"?>
<p:tagLst xmlns:p="http://schemas.openxmlformats.org/presentationml/2006/main">
  <p:tag name="KSO_WM_BEAUTIFY_FLAG" val="#wm#"/>
  <p:tag name="KSO_WM_TEMPLATE_CATEGORY" val="custom"/>
  <p:tag name="KSO_WM_TEMPLATE_INDEX" val="20187308"/>
</p:tagLst>
</file>

<file path=ppt/tags/tag117.xml><?xml version="1.0" encoding="utf-8"?>
<p:tagLst xmlns:p="http://schemas.openxmlformats.org/presentationml/2006/main">
  <p:tag name="KSO_WM_BEAUTIFY_FLAG" val="#wm#"/>
  <p:tag name="KSO_WM_TEMPLATE_CATEGORY" val="custom"/>
  <p:tag name="KSO_WM_TEMPLATE_INDEX" val="20187308"/>
</p:tagLst>
</file>

<file path=ppt/tags/tag118.xml><?xml version="1.0" encoding="utf-8"?>
<p:tagLst xmlns:p="http://schemas.openxmlformats.org/presentationml/2006/main">
  <p:tag name="KSO_WM_BEAUTIFY_FLAG" val="#wm#"/>
  <p:tag name="KSO_WM_TEMPLATE_CATEGORY" val="custom"/>
  <p:tag name="KSO_WM_TEMPLATE_INDEX" val="20187308"/>
</p:tagLst>
</file>

<file path=ppt/tags/tag119.xml><?xml version="1.0" encoding="utf-8"?>
<p:tagLst xmlns:p="http://schemas.openxmlformats.org/presentationml/2006/main">
  <p:tag name="KSO_WM_BEAUTIFY_FLAG" val="#wm#"/>
  <p:tag name="KSO_WM_TEMPLATE_CATEGORY" val="custom"/>
  <p:tag name="KSO_WM_TEMPLATE_INDEX" val="20187308"/>
</p:tagLst>
</file>

<file path=ppt/tags/tag120.xml><?xml version="1.0" encoding="utf-8"?>
<p:tagLst xmlns:p="http://schemas.openxmlformats.org/presentationml/2006/main">
  <p:tag name="KSO_WM_BEAUTIFY_FLAG" val="#wm#"/>
  <p:tag name="KSO_WM_TEMPLATE_CATEGORY" val="custom"/>
  <p:tag name="KSO_WM_TEMPLATE_INDEX" val="20187308"/>
</p:tagLst>
</file>

<file path=ppt/tags/tag121.xml><?xml version="1.0" encoding="utf-8"?>
<p:tagLst xmlns:p="http://schemas.openxmlformats.org/presentationml/2006/main">
  <p:tag name="KSO_WM_BEAUTIFY_FLAG" val="#wm#"/>
  <p:tag name="KSO_WM_TEMPLATE_CATEGORY" val="custom"/>
  <p:tag name="KSO_WM_TEMPLATE_INDEX" val="20187308"/>
</p:tagLst>
</file>

<file path=ppt/tags/tag122.xml><?xml version="1.0" encoding="utf-8"?>
<p:tagLst xmlns:p="http://schemas.openxmlformats.org/presentationml/2006/main">
  <p:tag name="KSO_WM_BEAUTIFY_FLAG" val="#wm#"/>
  <p:tag name="KSO_WM_TEMPLATE_CATEGORY" val="custom"/>
  <p:tag name="KSO_WM_TEMPLATE_INDEX" val="20187308"/>
</p:tagLst>
</file>

<file path=ppt/tags/tag123.xml><?xml version="1.0" encoding="utf-8"?>
<p:tagLst xmlns:p="http://schemas.openxmlformats.org/presentationml/2006/main">
  <p:tag name="KSO_WM_BEAUTIFY_FLAG" val="#wm#"/>
  <p:tag name="KSO_WM_TEMPLATE_CATEGORY" val="custom"/>
  <p:tag name="KSO_WM_TEMPLATE_INDEX" val="20187308"/>
</p:tagLst>
</file>

<file path=ppt/tags/tag124.xml><?xml version="1.0" encoding="utf-8"?>
<p:tagLst xmlns:p="http://schemas.openxmlformats.org/presentationml/2006/main">
  <p:tag name="KSO_WM_BEAUTIFY_FLAG" val="#wm#"/>
  <p:tag name="KSO_WM_TEMPLATE_CATEGORY" val="custom"/>
  <p:tag name="KSO_WM_TEMPLATE_INDEX" val="20187308"/>
</p:tagLst>
</file>

<file path=ppt/tags/tag125.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17419</Words>
  <Application>WPS 演示</Application>
  <PresentationFormat>宽屏</PresentationFormat>
  <Paragraphs>525</Paragraphs>
  <Slides>61</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61</vt:i4>
      </vt:variant>
    </vt:vector>
  </HeadingPairs>
  <TitlesOfParts>
    <vt:vector size="68" baseType="lpstr">
      <vt:lpstr>Arial</vt:lpstr>
      <vt:lpstr>宋体</vt:lpstr>
      <vt:lpstr>Wingdings</vt:lpstr>
      <vt:lpstr>微软雅黑</vt:lpstr>
      <vt:lpstr>Times New Roman</vt:lpstr>
      <vt:lpstr>Arial Unicode MS</vt:lpstr>
      <vt:lpstr>Office 主题​​</vt:lpstr>
      <vt:lpstr>公务员考试中的逻辑学</vt:lpstr>
      <vt:lpstr>作业讲解1</vt:lpstr>
      <vt:lpstr>作业讲解2</vt:lpstr>
      <vt:lpstr>作业讲解3</vt:lpstr>
      <vt:lpstr>作业讲解4</vt:lpstr>
      <vt:lpstr>作业讲解5</vt:lpstr>
      <vt:lpstr>作业讲解6</vt:lpstr>
      <vt:lpstr>3.并列关系</vt:lpstr>
      <vt:lpstr>真题16</vt:lpstr>
      <vt:lpstr>真题16分析</vt:lpstr>
      <vt:lpstr>真题17（川2012上-27）</vt:lpstr>
      <vt:lpstr>真题17分析</vt:lpstr>
      <vt:lpstr>4.递进关系</vt:lpstr>
      <vt:lpstr>真题18</vt:lpstr>
      <vt:lpstr>真题18分析</vt:lpstr>
      <vt:lpstr>5.顺承关系</vt:lpstr>
      <vt:lpstr>真题19分析</vt:lpstr>
      <vt:lpstr>二、言语理解与表达模块中的辨析词语差异</vt:lpstr>
      <vt:lpstr>1.词语的适用对象</vt:lpstr>
      <vt:lpstr>真题20分析</vt:lpstr>
      <vt:lpstr>真题21（川2019下-21）</vt:lpstr>
      <vt:lpstr>真题21分析（川2019下-21）</vt:lpstr>
      <vt:lpstr>2.意义的侧重点</vt:lpstr>
      <vt:lpstr>真题22分析</vt:lpstr>
      <vt:lpstr>真题23（川2019下-25）</vt:lpstr>
      <vt:lpstr>真题23（川2019下-25）分析</vt:lpstr>
      <vt:lpstr>3.意义的轻重</vt:lpstr>
      <vt:lpstr>真题24分析</vt:lpstr>
      <vt:lpstr>真题25（川2019下-25）</vt:lpstr>
      <vt:lpstr>真题25分析（川2019下-23）：</vt:lpstr>
      <vt:lpstr>4.词语的感情色彩</vt:lpstr>
      <vt:lpstr>真题26分析</vt:lpstr>
      <vt:lpstr>真题27（川2019下-24）</vt:lpstr>
      <vt:lpstr>真题27分析（川2019下-24）</vt:lpstr>
      <vt:lpstr>5.词语搭配</vt:lpstr>
      <vt:lpstr>真题28分析：</vt:lpstr>
      <vt:lpstr>真题29（川2019下-19）</vt:lpstr>
      <vt:lpstr>真题29分析</vt:lpstr>
      <vt:lpstr>三、警惕成语设置陷阱</vt:lpstr>
      <vt:lpstr>1.望文生义</vt:lpstr>
      <vt:lpstr>真题30分析</vt:lpstr>
      <vt:lpstr>2.对象误用</vt:lpstr>
      <vt:lpstr>真题31分析</vt:lpstr>
      <vt:lpstr>真题32（川2019上-22）</vt:lpstr>
      <vt:lpstr>真题32分析（川2019上-22）：</vt:lpstr>
      <vt:lpstr>3.轻重失衡</vt:lpstr>
      <vt:lpstr>真题33分析</vt:lpstr>
      <vt:lpstr>真题34（川2019上-21）</vt:lpstr>
      <vt:lpstr>真题34分析（川2019上-21）</vt:lpstr>
      <vt:lpstr>4.感情色彩不符</vt:lpstr>
      <vt:lpstr>真题35分析</vt:lpstr>
      <vt:lpstr>5.语义重复</vt:lpstr>
      <vt:lpstr>真题36分析</vt:lpstr>
      <vt:lpstr>真题37（川2019上-23）</vt:lpstr>
      <vt:lpstr>真题37（川2019上-23）</vt:lpstr>
      <vt:lpstr>小结</vt:lpstr>
      <vt:lpstr>作业1</vt:lpstr>
      <vt:lpstr>作业1（续1）</vt:lpstr>
      <vt:lpstr>作业（续2）</vt:lpstr>
      <vt:lpstr>作业（续3）</vt:lpstr>
      <vt:lpstr>作业（续4）</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61</cp:revision>
  <dcterms:created xsi:type="dcterms:W3CDTF">2019-06-19T02:08:00Z</dcterms:created>
  <dcterms:modified xsi:type="dcterms:W3CDTF">2020-03-02T10:46:16Z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