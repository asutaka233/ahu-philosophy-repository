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63"/>
  </p:handoutMasterIdLst>
  <p:sldIdLst>
    <p:sldId id="256" r:id="rId3"/>
    <p:sldId id="266" r:id="rId5"/>
    <p:sldId id="258" r:id="rId6"/>
    <p:sldId id="259" r:id="rId7"/>
    <p:sldId id="260" r:id="rId8"/>
    <p:sldId id="261" r:id="rId9"/>
    <p:sldId id="262" r:id="rId10"/>
    <p:sldId id="263" r:id="rId11"/>
    <p:sldId id="264" r:id="rId12"/>
    <p:sldId id="265" r:id="rId13"/>
    <p:sldId id="267" r:id="rId14"/>
    <p:sldId id="268" r:id="rId15"/>
    <p:sldId id="341" r:id="rId16"/>
    <p:sldId id="285" r:id="rId17"/>
    <p:sldId id="286" r:id="rId18"/>
    <p:sldId id="287" r:id="rId19"/>
    <p:sldId id="288" r:id="rId20"/>
    <p:sldId id="428" r:id="rId21"/>
    <p:sldId id="289" r:id="rId22"/>
    <p:sldId id="269" r:id="rId23"/>
    <p:sldId id="270" r:id="rId24"/>
    <p:sldId id="271" r:id="rId25"/>
    <p:sldId id="343" r:id="rId26"/>
    <p:sldId id="339" r:id="rId27"/>
    <p:sldId id="340" r:id="rId28"/>
    <p:sldId id="272" r:id="rId29"/>
    <p:sldId id="273" r:id="rId30"/>
    <p:sldId id="342" r:id="rId31"/>
    <p:sldId id="274" r:id="rId32"/>
    <p:sldId id="298" r:id="rId33"/>
    <p:sldId id="275" r:id="rId34"/>
    <p:sldId id="316" r:id="rId35"/>
    <p:sldId id="313" r:id="rId36"/>
    <p:sldId id="299" r:id="rId37"/>
    <p:sldId id="314" r:id="rId38"/>
    <p:sldId id="300" r:id="rId39"/>
    <p:sldId id="319" r:id="rId40"/>
    <p:sldId id="323" r:id="rId41"/>
    <p:sldId id="324" r:id="rId42"/>
    <p:sldId id="303" r:id="rId43"/>
    <p:sldId id="383" r:id="rId44"/>
    <p:sldId id="385" r:id="rId45"/>
    <p:sldId id="388" r:id="rId46"/>
    <p:sldId id="387" r:id="rId47"/>
    <p:sldId id="389" r:id="rId48"/>
    <p:sldId id="391" r:id="rId49"/>
    <p:sldId id="345" r:id="rId50"/>
    <p:sldId id="304" r:id="rId51"/>
    <p:sldId id="305" r:id="rId52"/>
    <p:sldId id="346" r:id="rId53"/>
    <p:sldId id="306" r:id="rId54"/>
    <p:sldId id="411" r:id="rId55"/>
    <p:sldId id="421" r:id="rId56"/>
    <p:sldId id="413" r:id="rId57"/>
    <p:sldId id="416" r:id="rId58"/>
    <p:sldId id="417" r:id="rId59"/>
    <p:sldId id="403" r:id="rId60"/>
    <p:sldId id="404" r:id="rId61"/>
    <p:sldId id="307" r:id="rId6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DCDCDC"/>
    <a:srgbClr val="F0F0F0"/>
    <a:srgbClr val="E6E6E6"/>
    <a:srgbClr val="C8C8C8"/>
    <a:srgbClr val="FFFFFF"/>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78" d="100"/>
          <a:sy n="78" d="100"/>
        </p:scale>
        <p:origin x="654" y="54"/>
      </p:cViewPr>
      <p:guideLst>
        <p:guide orient="horz" pos="2159"/>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6" Type="http://schemas.openxmlformats.org/officeDocument/2006/relationships/tableStyles" Target="tableStyles.xml"/><Relationship Id="rId65" Type="http://schemas.openxmlformats.org/officeDocument/2006/relationships/viewProps" Target="viewProps.xml"/><Relationship Id="rId64" Type="http://schemas.openxmlformats.org/officeDocument/2006/relationships/presProps" Target="presProps.xml"/><Relationship Id="rId63" Type="http://schemas.openxmlformats.org/officeDocument/2006/relationships/handoutMaster" Target="handoutMasters/handoutMaster1.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rPr>
            </a:fld>
            <a:endParaRPr lang="zh-CN" altLang="en-US" smtClean="0">
              <a:latin typeface="微软雅黑" panose="020B0503020204020204" charset="-122"/>
              <a:ea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rPr>
            </a:fld>
            <a:endParaRPr lang="zh-CN" altLang="en-US" smtClean="0">
              <a:latin typeface="微软雅黑" panose="020B0503020204020204" charset="-122"/>
              <a:ea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defRPr>
            </a:lvl1pPr>
          </a:lstStyle>
          <a:p>
            <a:fld id="{1AC49D05-6128-4D0D-A32A-06A5E73B386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defRPr>
            </a:lvl1pPr>
          </a:lstStyle>
          <a:p>
            <a:fld id="{5849F42C-2DAE-424C-A4B8-3140182C3E9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600" kern="1200">
        <a:solidFill>
          <a:schemeClr val="tx1"/>
        </a:solidFill>
        <a:latin typeface="微软雅黑" panose="020B0503020204020204" charset="-122"/>
        <a:ea typeface="微软雅黑" panose="020B0503020204020204" charset="-122"/>
        <a:cs typeface="+mn-cs"/>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5D0DACE-38E0-42D2-9336-2B707D34BC6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669882" y="2588281"/>
            <a:ext cx="10852237" cy="899167"/>
          </a:xfrm>
        </p:spPr>
        <p:txBody>
          <a:bodyPr lIns="101600" tIns="38100" rIns="25400" bIns="38100" anchor="t" anchorCtr="0">
            <a:noAutofit/>
          </a:bodyPr>
          <a:lstStyle>
            <a:lvl1pPr algn="ctr">
              <a:defRPr sz="5400" b="0" spc="600">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669882" y="3566160"/>
            <a:ext cx="10852237" cy="950984"/>
          </a:xfrm>
        </p:spPr>
        <p:txBody>
          <a:bodyPr lIns="101600" tIns="38100" rIns="76200" bIns="3810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32000"/>
            <a:ext cx="10852237" cy="648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69882" y="1296000"/>
            <a:ext cx="10852237" cy="5041355"/>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3808730"/>
            <a:ext cx="10852237" cy="624845"/>
          </a:xfrm>
        </p:spPr>
        <p:txBody>
          <a:bodyPr lIns="101600" tIns="38100" rIns="63500" bIns="38100" anchor="t" anchorCtr="0">
            <a:noAutofit/>
          </a:bodyPr>
          <a:lstStyle>
            <a:lvl1pPr>
              <a:defRPr sz="3600" b="0" u="none" strike="noStrike" kern="1200" cap="none" spc="300" normalizeH="0">
                <a:solidFill>
                  <a:schemeClr val="tx1"/>
                </a:solidFill>
                <a:effectLst>
                  <a:outerShdw blurRad="38100" dist="38100" dir="2700000" algn="tl">
                    <a:srgbClr val="000000">
                      <a:alpha val="43137"/>
                    </a:srgbClr>
                  </a:outerShdw>
                </a:effectLst>
                <a:uFillTx/>
              </a:defRPr>
            </a:lvl1pPr>
          </a:lstStyle>
          <a:p>
            <a:r>
              <a:rPr lang="zh-CN" altLang="en-US" dirty="0"/>
              <a:t>单击此处编辑母版标题样式</a:t>
            </a:r>
            <a:endParaRPr lang="zh-CN" altLang="en-US" dirty="0"/>
          </a:p>
        </p:txBody>
      </p:sp>
      <p:sp>
        <p:nvSpPr>
          <p:cNvPr id="3" name="文本占位符 2"/>
          <p:cNvSpPr>
            <a:spLocks noGrp="1"/>
          </p:cNvSpPr>
          <p:nvPr>
            <p:ph type="body" idx="1"/>
            <p:custDataLst>
              <p:tags r:id="rId3"/>
            </p:custDataLst>
          </p:nvPr>
        </p:nvSpPr>
        <p:spPr>
          <a:xfrm>
            <a:off x="669925" y="4511675"/>
            <a:ext cx="10852237" cy="1077985"/>
          </a:xfrm>
        </p:spPr>
        <p:txBody>
          <a:bodyPr lIns="101600" tIns="38100" rIns="76200" bIns="38100">
            <a:noAutofit/>
          </a:bodyPr>
          <a:lstStyle>
            <a:lvl1pPr marL="0" indent="0" eaLnBrk="1" fontAlgn="auto" latinLnBrk="0" hangingPunct="1">
              <a:buNone/>
              <a:defRPr kumimoji="0" lang="zh-CN" altLang="en-US" sz="1600" b="0" i="0" u="none" strike="noStrike" kern="1200" cap="none" spc="150" normalizeH="0" baseline="0" noProof="1">
                <a:solidFill>
                  <a:schemeClr val="tx1"/>
                </a:solidFill>
                <a:uFillTx/>
                <a:latin typeface="+mn-lt"/>
                <a:ea typeface="+mn-ea"/>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32000"/>
            <a:ext cx="10852237" cy="648000"/>
          </a:xfrm>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69930" y="1296000"/>
            <a:ext cx="5283242" cy="504000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238877" y="1296000"/>
            <a:ext cx="5283242" cy="5040000"/>
          </a:xfrm>
        </p:spPr>
        <p:txBody>
          <a:bodyPr>
            <a:noAutofit/>
          </a:bodyPr>
          <a:lstStyle>
            <a:lvl1pPr>
              <a:defRPr sz="1600">
                <a:solidFill>
                  <a:schemeClr val="tx1">
                    <a:lumMod val="75000"/>
                    <a:lumOff val="25000"/>
                  </a:schemeClr>
                </a:solidFill>
              </a:defRPr>
            </a:lvl1pPr>
            <a:lvl2pPr>
              <a:defRPr sz="16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32000"/>
            <a:ext cx="10852237" cy="648000"/>
          </a:xfrm>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69930" y="1296000"/>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solidFill>
                <a:uFillTx/>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69925" y="1789043"/>
            <a:ext cx="5283200" cy="4552234"/>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296000"/>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solidFill>
                <a:uFillTx/>
                <a:latin typeface="+mn-lt"/>
                <a:ea typeface="+mn-ea"/>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789043"/>
            <a:ext cx="5283242" cy="4552234"/>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69930" y="1296000"/>
            <a:ext cx="5283242" cy="5040000"/>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238925" y="1296000"/>
            <a:ext cx="5283242" cy="50400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3"/>
            </p:custDataLst>
          </p:nvPr>
        </p:nvSpPr>
        <p:spPr>
          <a:xfrm>
            <a:off x="669925" y="952500"/>
            <a:ext cx="9828101" cy="5388907"/>
          </a:xfrm>
        </p:spPr>
        <p:txBody>
          <a:bodyPr vert="eaVert"/>
          <a:lstStyle>
            <a:lvl1pPr indent="0" eaLnBrk="1" fontAlgn="auto" latinLnBrk="0" hangingPunct="1">
              <a:defRPr>
                <a:solidFill>
                  <a:schemeClr val="tx1">
                    <a:lumMod val="75000"/>
                    <a:lumOff val="25000"/>
                  </a:schemeClr>
                </a:solidFill>
              </a:defRPr>
            </a:lvl1pPr>
            <a:lvl2pPr indent="0" eaLnBrk="1" fontAlgn="auto" latinLnBrk="0" hangingPunct="1">
              <a:defRPr>
                <a:solidFill>
                  <a:schemeClr val="tx1">
                    <a:lumMod val="75000"/>
                    <a:lumOff val="25000"/>
                  </a:schemeClr>
                </a:solidFill>
              </a:defRPr>
            </a:lvl2pPr>
            <a:lvl3pPr indent="0" eaLnBrk="1" fontAlgn="auto" latinLnBrk="0" hangingPunct="1">
              <a:defRPr>
                <a:solidFill>
                  <a:schemeClr val="tx1">
                    <a:lumMod val="75000"/>
                    <a:lumOff val="25000"/>
                  </a:schemeClr>
                </a:solidFill>
              </a:defRPr>
            </a:lvl3pPr>
            <a:lvl4pPr indent="0" eaLnBrk="1" fontAlgn="auto" latinLnBrk="0" hangingPunct="1">
              <a:defRPr>
                <a:solidFill>
                  <a:schemeClr val="tx1">
                    <a:lumMod val="75000"/>
                    <a:lumOff val="25000"/>
                  </a:schemeClr>
                </a:solidFill>
              </a:defRPr>
            </a:lvl4pPr>
            <a:lvl5pPr indent="0" eaLnBrk="1" fontAlgn="auto" latinLnBrk="0" hangingPunct="1">
              <a:defRPr>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69930" y="952508"/>
            <a:ext cx="10852237" cy="504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669882" y="2588281"/>
            <a:ext cx="10852237" cy="899167"/>
          </a:xfrm>
        </p:spPr>
        <p:txBody>
          <a:bodyPr vert="horz" lIns="101600" tIns="38100" rIns="25400" bIns="38100" rtlCol="0" anchor="t" anchorCtr="0">
            <a:noAutofit/>
          </a:bodyPr>
          <a:lstStyle>
            <a:lvl1pPr marL="0" marR="0" algn="ctr" defTabSz="914400" rtl="0" eaLnBrk="1" fontAlgn="auto" latinLnBrk="0" hangingPunct="1">
              <a:lnSpc>
                <a:spcPct val="100000"/>
              </a:lnSpc>
              <a:buNone/>
              <a:defRPr kumimoji="0" lang="zh-CN" altLang="en-US" sz="5400" b="0" i="0" u="none" strike="noStrike" kern="1200" cap="none" spc="600" normalizeH="0" baseline="0" noProof="1" dirty="0">
                <a:solidFill>
                  <a:schemeClr val="tx1"/>
                </a:solidFill>
                <a:effectLst>
                  <a:outerShdw blurRad="38100" dist="38100" dir="2700000" algn="tl">
                    <a:srgbClr val="000000">
                      <a:alpha val="43137"/>
                    </a:srgbClr>
                  </a:outerShdw>
                </a:effectLst>
                <a:uFillTx/>
                <a:latin typeface="+mj-lt"/>
                <a:ea typeface="+mj-ea"/>
                <a:cs typeface="+mj-cs"/>
                <a:sym typeface="+mn-ea"/>
              </a:defRPr>
            </a:lvl1pPr>
          </a:lstStyle>
          <a:p>
            <a:pPr lvl="0"/>
            <a:r>
              <a:rPr>
                <a:sym typeface="+mn-ea"/>
              </a:rPr>
              <a:t>单击此处编辑标题</a:t>
            </a:r>
            <a:endParaRPr>
              <a:sym typeface="+mn-ea"/>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1.xml"/><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tags" Target="../tags/tag56.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DCDCDC"/>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69882" y="432000"/>
            <a:ext cx="10852237" cy="648000"/>
          </a:xfrm>
          <a:prstGeom prst="rect">
            <a:avLst/>
          </a:prstGeom>
        </p:spPr>
        <p:txBody>
          <a:bodyPr vert="horz" lIns="101600" tIns="38100" rIns="76200" bIns="38100" rtlCol="0" anchor="ctr" anchorCtr="0">
            <a:no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69882" y="1296000"/>
            <a:ext cx="10852237" cy="5040000"/>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p:custDataLst>
              <p:tags r:id="rId1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lt"/>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tags" Target="../tags/tag6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0.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1.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3.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4.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5.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6.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7.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8.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9.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0.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1.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2.xml"/></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4.xml"/><Relationship Id="rId2" Type="http://schemas.openxmlformats.org/officeDocument/2006/relationships/image" Target="../media/image2.jpeg"/><Relationship Id="rId1" Type="http://schemas.openxmlformats.org/officeDocument/2006/relationships/tags" Target="../tags/tag83.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5.xml"/><Relationship Id="rId1" Type="http://schemas.openxmlformats.org/officeDocument/2006/relationships/image" Target="../media/image3.jpe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6.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7.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8.xml"/><Relationship Id="rId1"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9.xml"/><Relationship Id="rId1" Type="http://schemas.openxmlformats.org/officeDocument/2006/relationships/image" Target="../media/image5.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0.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1.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2.xml"/><Relationship Id="rId1" Type="http://schemas.openxmlformats.org/officeDocument/2006/relationships/image" Target="../media/image6.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3.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4.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5.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6.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7.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8.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9.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0.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1.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3.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4.xml"/><Relationship Id="rId1" Type="http://schemas.openxmlformats.org/officeDocument/2006/relationships/image" Target="../media/image7.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5.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6.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7.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8.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9.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0.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1.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2.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3.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4.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5.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6.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7.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8.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9.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0.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1.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2.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lstStyle/>
          <a:p>
            <a:r>
              <a:rPr lang="zh-CN" altLang="en-US"/>
              <a:t>公务员考试中的逻辑学</a:t>
            </a:r>
            <a:endParaRPr lang="zh-CN" altLang="en-US"/>
          </a:p>
        </p:txBody>
      </p:sp>
      <p:sp>
        <p:nvSpPr>
          <p:cNvPr id="3" name="副标题 2"/>
          <p:cNvSpPr>
            <a:spLocks noGrp="1"/>
          </p:cNvSpPr>
          <p:nvPr>
            <p:ph type="subTitle" idx="1"/>
            <p:custDataLst>
              <p:tags r:id="rId2"/>
            </p:custDataLst>
          </p:nvPr>
        </p:nvSpPr>
        <p:spPr>
          <a:xfrm>
            <a:off x="669925" y="4022725"/>
            <a:ext cx="10852150" cy="1259840"/>
          </a:xfrm>
        </p:spPr>
        <p:txBody>
          <a:bodyPr/>
          <a:lstStyle/>
          <a:p>
            <a:pPr>
              <a:lnSpc>
                <a:spcPct val="150000"/>
              </a:lnSpc>
            </a:pPr>
            <a:r>
              <a:rPr lang="zh-CN" altLang="en-US" b="1"/>
              <a:t>第一讲：引言</a:t>
            </a:r>
            <a:endParaRPr lang="zh-CN" altLang="en-US" b="1"/>
          </a:p>
          <a:p>
            <a:pPr>
              <a:lnSpc>
                <a:spcPct val="150000"/>
              </a:lnSpc>
            </a:pPr>
            <a:r>
              <a:rPr lang="zh-CN" altLang="en-US" b="1">
                <a:solidFill>
                  <a:srgbClr val="FF0000"/>
                </a:solidFill>
              </a:rPr>
              <a:t>第二讲：言语理解与表达中的逻辑填空</a:t>
            </a:r>
            <a:r>
              <a:rPr lang="en-US" altLang="zh-CN" b="1">
                <a:solidFill>
                  <a:srgbClr val="FF0000"/>
                </a:solidFill>
              </a:rPr>
              <a:t>1</a:t>
            </a:r>
            <a:endParaRPr lang="zh-CN" altLang="en-US" b="1">
              <a:solidFill>
                <a:srgbClr val="FF0000"/>
              </a:solidFill>
            </a:endParaRPr>
          </a:p>
          <a:p>
            <a:endParaRPr lang="zh-CN" altLang="en-US"/>
          </a:p>
          <a:p>
            <a:endParaRPr lang="zh-CN" altLang="en-US"/>
          </a:p>
          <a:p>
            <a:endParaRPr lang="zh-CN" altLang="en-US"/>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69925" y="106045"/>
            <a:ext cx="10852150" cy="973455"/>
          </a:xfrm>
        </p:spPr>
        <p:txBody>
          <a:bodyPr/>
          <a:p>
            <a:pPr algn="l"/>
            <a:r>
              <a:rPr lang="zh-CN" altLang="en-US"/>
              <a:t>教师简介：        （电话</a:t>
            </a:r>
            <a:r>
              <a:rPr>
                <a:sym typeface="+mn-ea"/>
              </a:rPr>
              <a:t>：18180684058    </a:t>
            </a:r>
            <a:r>
              <a:rPr lang="en-US" altLang="zh-CN">
                <a:sym typeface="+mn-ea"/>
              </a:rPr>
              <a:t>QQ: 591551032</a:t>
            </a:r>
            <a:r>
              <a:rPr>
                <a:sym typeface="+mn-ea"/>
              </a:rPr>
              <a:t>）</a:t>
            </a:r>
            <a:endParaRPr lang="zh-CN" altLang="en-US"/>
          </a:p>
        </p:txBody>
      </p:sp>
      <p:sp>
        <p:nvSpPr>
          <p:cNvPr id="3" name="内容占位符 2"/>
          <p:cNvSpPr>
            <a:spLocks noGrp="1"/>
          </p:cNvSpPr>
          <p:nvPr>
            <p:ph idx="1"/>
          </p:nvPr>
        </p:nvSpPr>
        <p:spPr>
          <a:xfrm>
            <a:off x="205740" y="1078865"/>
            <a:ext cx="11728450" cy="5447030"/>
          </a:xfrm>
        </p:spPr>
        <p:txBody>
          <a:bodyPr/>
          <a:p>
            <a:r>
              <a:rPr lang="zh-CN" altLang="en-US" sz="2400" b="1"/>
              <a:t>张晓君，女，汉族，四川南充人。现任四川师范大学逻辑与信息研究所所长、四川师范大学逻辑学硕士点负责人、研究员、中国逻辑学会应用逻辑专业委员会常务理事、中国逻辑学会语言逻辑专业委员会常务理事、四川省自然辩证法研究会常务理事。</a:t>
            </a:r>
            <a:r>
              <a:rPr lang="zh-CN" altLang="en-US" sz="2400" b="1">
                <a:solidFill>
                  <a:schemeClr val="tx1"/>
                </a:solidFill>
              </a:rPr>
              <a:t>2011年博士毕业于中国社会科学院，获得哲学博士学位（逻辑学方向）。2011年7月-2013年7月为厦门大学博士后。2018年8月到四川师范大学工作至今。主要研究方向为人工智能逻辑、自然语</a:t>
            </a:r>
            <a:r>
              <a:rPr lang="zh-CN" altLang="en-US" sz="2400" b="1"/>
              <a:t>言逻辑等。</a:t>
            </a:r>
            <a:endParaRPr lang="zh-CN" altLang="en-US" sz="2400" b="1"/>
          </a:p>
          <a:p>
            <a:r>
              <a:rPr lang="zh-CN" altLang="en-US" sz="2400" b="1"/>
              <a:t>近年来，在《模式识别与人工智能》、《计算机科学》、《哲学研究》、《哲学动态》、《逻辑学研究》等核心期刊发表学术期刊50余篇，其中：英文10篇、被人大复印资料《逻辑》季刊全文转载5篇，目前已经出版专著4部，合著2部，主持国家级课题5项。获得金岳霖学术奖、四川省政府奖等奖项多项，</a:t>
            </a:r>
            <a:r>
              <a:rPr lang="zh-CN" altLang="en-US" sz="2400" b="1">
                <a:solidFill>
                  <a:schemeClr val="tx1"/>
                </a:solidFill>
              </a:rPr>
              <a:t>并3次获得四川师范大学“科研十佳”。</a:t>
            </a:r>
            <a:endParaRPr lang="zh-CN" altLang="en-US" sz="2400" b="1">
              <a:solidFill>
                <a:schemeClr val="tx1"/>
              </a:solidFill>
            </a:endParaRP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l"/>
            <a:r>
              <a:rPr lang="zh-CN" altLang="en-US" sz="4000"/>
              <a:t>公务员考试科目</a:t>
            </a:r>
            <a:endParaRPr lang="zh-CN" altLang="en-US" sz="4000"/>
          </a:p>
        </p:txBody>
      </p:sp>
      <p:sp>
        <p:nvSpPr>
          <p:cNvPr id="3" name="内容占位符 2"/>
          <p:cNvSpPr>
            <a:spLocks noGrp="1"/>
          </p:cNvSpPr>
          <p:nvPr>
            <p:ph idx="1"/>
          </p:nvPr>
        </p:nvSpPr>
        <p:spPr/>
        <p:txBody>
          <a:bodyPr>
            <a:scene3d>
              <a:camera prst="orthographicFront"/>
              <a:lightRig rig="threePt" dir="t"/>
            </a:scene3d>
          </a:bodyPr>
          <a:p>
            <a:r>
              <a:rPr lang="en-US" altLang="zh-CN" sz="2800" b="1">
                <a:solidFill>
                  <a:schemeClr val="tx1"/>
                </a:solidFill>
                <a:effectLst>
                  <a:outerShdw blurRad="38100" dist="19050" dir="2700000" algn="tl" rotWithShape="0">
                    <a:schemeClr val="dk1">
                      <a:alpha val="40000"/>
                    </a:schemeClr>
                  </a:outerShdw>
                </a:effectLst>
              </a:rPr>
              <a:t>1. </a:t>
            </a:r>
            <a:r>
              <a:rPr lang="zh-CN" altLang="en-US" sz="2800" b="1">
                <a:solidFill>
                  <a:schemeClr val="tx1"/>
                </a:solidFill>
                <a:effectLst>
                  <a:outerShdw blurRad="38100" dist="19050" dir="2700000" algn="tl" rotWithShape="0">
                    <a:schemeClr val="dk1">
                      <a:alpha val="40000"/>
                    </a:schemeClr>
                  </a:outerShdw>
                </a:effectLst>
              </a:rPr>
              <a:t>笔试科目包括：</a:t>
            </a:r>
            <a:endParaRPr lang="zh-CN" altLang="en-US" sz="2800" b="1">
              <a:solidFill>
                <a:schemeClr val="tx1"/>
              </a:solidFill>
              <a:effectLst>
                <a:outerShdw blurRad="38100" dist="19050" dir="2700000" algn="tl" rotWithShape="0">
                  <a:schemeClr val="dk1">
                    <a:alpha val="40000"/>
                  </a:schemeClr>
                </a:outerShdw>
              </a:effectLst>
            </a:endParaRPr>
          </a:p>
          <a:p>
            <a:r>
              <a:rPr lang="zh-CN" altLang="en-US" sz="2800" b="1">
                <a:solidFill>
                  <a:schemeClr val="tx1"/>
                </a:solidFill>
                <a:effectLst>
                  <a:outerShdw blurRad="38100" dist="19050" dir="2700000" algn="tl" rotWithShape="0">
                    <a:schemeClr val="dk1">
                      <a:alpha val="40000"/>
                    </a:schemeClr>
                  </a:outerShdw>
                </a:effectLst>
              </a:rPr>
              <a:t>  （</a:t>
            </a:r>
            <a:r>
              <a:rPr lang="en-US" altLang="zh-CN" sz="2800" b="1">
                <a:solidFill>
                  <a:schemeClr val="tx1"/>
                </a:solidFill>
                <a:effectLst>
                  <a:outerShdw blurRad="38100" dist="19050" dir="2700000" algn="tl" rotWithShape="0">
                    <a:schemeClr val="dk1">
                      <a:alpha val="40000"/>
                    </a:schemeClr>
                  </a:outerShdw>
                </a:effectLst>
              </a:rPr>
              <a:t>1</a:t>
            </a:r>
            <a:r>
              <a:rPr sz="2800" b="1">
                <a:solidFill>
                  <a:schemeClr val="tx1"/>
                </a:solidFill>
                <a:effectLst>
                  <a:outerShdw blurRad="38100" dist="19050" dir="2700000" algn="tl" rotWithShape="0">
                    <a:schemeClr val="dk1">
                      <a:alpha val="40000"/>
                    </a:schemeClr>
                  </a:outerShdw>
                </a:effectLst>
              </a:rPr>
              <a:t>）《</a:t>
            </a:r>
            <a:r>
              <a:rPr lang="zh-CN" altLang="en-US" sz="2800" b="1">
                <a:solidFill>
                  <a:schemeClr val="tx1"/>
                </a:solidFill>
                <a:effectLst>
                  <a:outerShdw blurRad="38100" dist="19050" dir="2700000" algn="tl" rotWithShape="0">
                    <a:schemeClr val="dk1">
                      <a:alpha val="40000"/>
                    </a:schemeClr>
                  </a:outerShdw>
                </a:effectLst>
              </a:rPr>
              <a:t>行政职业能力测验》</a:t>
            </a:r>
            <a:r>
              <a:rPr lang="en-US" altLang="zh-CN" sz="2800" b="1">
                <a:solidFill>
                  <a:schemeClr val="tx1"/>
                </a:solidFill>
                <a:effectLst>
                  <a:outerShdw blurRad="38100" dist="19050" dir="2700000" algn="tl" rotWithShape="0">
                    <a:schemeClr val="dk1">
                      <a:alpha val="40000"/>
                    </a:schemeClr>
                  </a:outerShdw>
                </a:effectLst>
              </a:rPr>
              <a:t>100</a:t>
            </a:r>
            <a:r>
              <a:rPr sz="2800" b="1">
                <a:solidFill>
                  <a:schemeClr val="tx1"/>
                </a:solidFill>
                <a:effectLst>
                  <a:outerShdw blurRad="38100" dist="19050" dir="2700000" algn="tl" rotWithShape="0">
                    <a:schemeClr val="dk1">
                      <a:alpha val="40000"/>
                    </a:schemeClr>
                  </a:outerShdw>
                </a:effectLst>
              </a:rPr>
              <a:t>分，</a:t>
            </a:r>
            <a:r>
              <a:rPr lang="en-US" altLang="zh-CN" sz="2800" b="1">
                <a:solidFill>
                  <a:schemeClr val="tx1"/>
                </a:solidFill>
                <a:effectLst>
                  <a:outerShdw blurRad="38100" dist="19050" dir="2700000" algn="tl" rotWithShape="0">
                    <a:schemeClr val="dk1">
                      <a:alpha val="40000"/>
                    </a:schemeClr>
                  </a:outerShdw>
                </a:effectLst>
              </a:rPr>
              <a:t>120</a:t>
            </a:r>
            <a:r>
              <a:rPr sz="2800" b="1">
                <a:solidFill>
                  <a:schemeClr val="tx1"/>
                </a:solidFill>
                <a:effectLst>
                  <a:outerShdw blurRad="38100" dist="19050" dir="2700000" algn="tl" rotWithShape="0">
                    <a:schemeClr val="dk1">
                      <a:alpha val="40000"/>
                    </a:schemeClr>
                  </a:outerShdw>
                </a:effectLst>
              </a:rPr>
              <a:t>分钟</a:t>
            </a:r>
            <a:endParaRPr lang="zh-CN" altLang="en-US" sz="2800" b="1">
              <a:solidFill>
                <a:schemeClr val="tx1"/>
              </a:solidFill>
              <a:effectLst>
                <a:outerShdw blurRad="38100" dist="19050" dir="2700000" algn="tl" rotWithShape="0">
                  <a:schemeClr val="dk1">
                    <a:alpha val="40000"/>
                  </a:schemeClr>
                </a:outerShdw>
              </a:effectLst>
            </a:endParaRPr>
          </a:p>
          <a:p>
            <a:r>
              <a:rPr lang="zh-CN" altLang="en-US" sz="2800" b="1">
                <a:solidFill>
                  <a:schemeClr val="tx1"/>
                </a:solidFill>
                <a:effectLst>
                  <a:outerShdw blurRad="38100" dist="19050" dir="2700000" algn="tl" rotWithShape="0">
                    <a:schemeClr val="dk1">
                      <a:alpha val="40000"/>
                    </a:schemeClr>
                  </a:outerShdw>
                </a:effectLst>
              </a:rPr>
              <a:t>  （</a:t>
            </a:r>
            <a:r>
              <a:rPr lang="en-US" altLang="zh-CN" sz="2800" b="1">
                <a:solidFill>
                  <a:schemeClr val="tx1"/>
                </a:solidFill>
                <a:effectLst>
                  <a:outerShdw blurRad="38100" dist="19050" dir="2700000" algn="tl" rotWithShape="0">
                    <a:schemeClr val="dk1">
                      <a:alpha val="40000"/>
                    </a:schemeClr>
                  </a:outerShdw>
                </a:effectLst>
              </a:rPr>
              <a:t>2</a:t>
            </a:r>
            <a:r>
              <a:rPr sz="2800" b="1">
                <a:solidFill>
                  <a:schemeClr val="tx1"/>
                </a:solidFill>
                <a:effectLst>
                  <a:outerShdw blurRad="38100" dist="19050" dir="2700000" algn="tl" rotWithShape="0">
                    <a:schemeClr val="dk1">
                      <a:alpha val="40000"/>
                    </a:schemeClr>
                  </a:outerShdw>
                </a:effectLst>
              </a:rPr>
              <a:t>）《</a:t>
            </a:r>
            <a:r>
              <a:rPr lang="zh-CN" altLang="en-US" sz="2800" b="1">
                <a:solidFill>
                  <a:schemeClr val="tx1"/>
                </a:solidFill>
                <a:effectLst>
                  <a:outerShdw blurRad="38100" dist="19050" dir="2700000" algn="tl" rotWithShape="0">
                    <a:schemeClr val="dk1">
                      <a:alpha val="40000"/>
                    </a:schemeClr>
                  </a:outerShdw>
                </a:effectLst>
              </a:rPr>
              <a:t>申论》  </a:t>
            </a:r>
            <a:r>
              <a:rPr lang="en-US" altLang="zh-CN" sz="2800" b="1">
                <a:solidFill>
                  <a:schemeClr val="tx1"/>
                </a:solidFill>
                <a:effectLst>
                  <a:outerShdw blurRad="38100" dist="19050" dir="2700000" algn="tl" rotWithShape="0">
                    <a:schemeClr val="dk1">
                      <a:alpha val="40000"/>
                    </a:schemeClr>
                  </a:outerShdw>
                </a:effectLst>
              </a:rPr>
              <a:t>100</a:t>
            </a:r>
            <a:r>
              <a:rPr sz="2800" b="1">
                <a:solidFill>
                  <a:schemeClr val="tx1"/>
                </a:solidFill>
                <a:effectLst>
                  <a:outerShdw blurRad="38100" dist="19050" dir="2700000" algn="tl" rotWithShape="0">
                    <a:schemeClr val="dk1">
                      <a:alpha val="40000"/>
                    </a:schemeClr>
                  </a:outerShdw>
                </a:effectLst>
              </a:rPr>
              <a:t>分，</a:t>
            </a:r>
            <a:r>
              <a:rPr lang="en-US" altLang="zh-CN" sz="2800" b="1">
                <a:solidFill>
                  <a:schemeClr val="tx1"/>
                </a:solidFill>
                <a:effectLst>
                  <a:outerShdw blurRad="38100" dist="19050" dir="2700000" algn="tl" rotWithShape="0">
                    <a:schemeClr val="dk1">
                      <a:alpha val="40000"/>
                    </a:schemeClr>
                  </a:outerShdw>
                </a:effectLst>
              </a:rPr>
              <a:t>150</a:t>
            </a:r>
            <a:r>
              <a:rPr sz="2800" b="1">
                <a:solidFill>
                  <a:schemeClr val="tx1"/>
                </a:solidFill>
                <a:effectLst>
                  <a:outerShdw blurRad="38100" dist="19050" dir="2700000" algn="tl" rotWithShape="0">
                    <a:schemeClr val="dk1">
                      <a:alpha val="40000"/>
                    </a:schemeClr>
                  </a:outerShdw>
                </a:effectLst>
              </a:rPr>
              <a:t>分钟</a:t>
            </a:r>
            <a:endParaRPr lang="zh-CN" altLang="en-US" sz="2800" b="1">
              <a:solidFill>
                <a:schemeClr val="tx1"/>
              </a:solidFill>
              <a:effectLst>
                <a:outerShdw blurRad="38100" dist="19050" dir="2700000" algn="tl" rotWithShape="0">
                  <a:schemeClr val="dk1">
                    <a:alpha val="40000"/>
                  </a:schemeClr>
                </a:outerShdw>
              </a:effectLst>
            </a:endParaRPr>
          </a:p>
          <a:p>
            <a:r>
              <a:rPr lang="en-US" altLang="zh-CN" sz="2800" b="1">
                <a:solidFill>
                  <a:schemeClr val="tx1"/>
                </a:solidFill>
                <a:effectLst>
                  <a:outerShdw blurRad="38100" dist="19050" dir="2700000" algn="tl" rotWithShape="0">
                    <a:schemeClr val="dk1">
                      <a:alpha val="40000"/>
                    </a:schemeClr>
                  </a:outerShdw>
                </a:effectLst>
              </a:rPr>
              <a:t>2. </a:t>
            </a:r>
            <a:r>
              <a:rPr sz="2800" b="1">
                <a:solidFill>
                  <a:schemeClr val="tx1"/>
                </a:solidFill>
                <a:effectLst>
                  <a:outerShdw blurRad="38100" dist="19050" dir="2700000" algn="tl" rotWithShape="0">
                    <a:schemeClr val="dk1">
                      <a:alpha val="40000"/>
                    </a:schemeClr>
                  </a:outerShdw>
                </a:effectLst>
              </a:rPr>
              <a:t>面试</a:t>
            </a:r>
            <a:endParaRPr sz="2800" b="1">
              <a:solidFill>
                <a:schemeClr val="tx1"/>
              </a:solidFill>
              <a:effectLst>
                <a:outerShdw blurRad="38100" dist="19050" dir="2700000" algn="tl" rotWithShape="0">
                  <a:schemeClr val="dk1">
                    <a:alpha val="40000"/>
                  </a:schemeClr>
                </a:outerShdw>
              </a:effectLst>
            </a:endParaRPr>
          </a:p>
          <a:p>
            <a:r>
              <a:rPr lang="en-US" altLang="zh-CN" sz="2800" b="1">
                <a:solidFill>
                  <a:schemeClr val="tx1"/>
                </a:solidFill>
                <a:effectLst>
                  <a:outerShdw blurRad="38100" dist="19050" dir="2700000" algn="tl" rotWithShape="0">
                    <a:schemeClr val="dk1">
                      <a:alpha val="40000"/>
                    </a:schemeClr>
                  </a:outerShdw>
                </a:effectLst>
              </a:rPr>
              <a:t>3. </a:t>
            </a:r>
            <a:r>
              <a:rPr sz="2800" b="1">
                <a:solidFill>
                  <a:schemeClr val="tx1"/>
                </a:solidFill>
                <a:effectLst>
                  <a:outerShdw blurRad="38100" dist="19050" dir="2700000" algn="tl" rotWithShape="0">
                    <a:schemeClr val="dk1">
                      <a:alpha val="40000"/>
                    </a:schemeClr>
                  </a:outerShdw>
                </a:effectLst>
              </a:rPr>
              <a:t>有些单位还考《心理素质测评》</a:t>
            </a:r>
            <a:endParaRPr sz="2800" b="1">
              <a:solidFill>
                <a:schemeClr val="tx1"/>
              </a:solidFill>
              <a:effectLst>
                <a:outerShdw blurRad="38100" dist="19050" dir="2700000" algn="tl" rotWithShape="0">
                  <a:schemeClr val="dk1">
                    <a:alpha val="40000"/>
                  </a:schemeClr>
                </a:outerShdw>
              </a:effectLst>
            </a:endParaRPr>
          </a:p>
          <a:p>
            <a:r>
              <a:rPr sz="2800" b="1">
                <a:solidFill>
                  <a:schemeClr val="tx1"/>
                </a:solidFill>
                <a:effectLst>
                  <a:outerShdw blurRad="38100" dist="19050" dir="2700000" algn="tl" rotWithShape="0">
                    <a:schemeClr val="dk1">
                      <a:alpha val="40000"/>
                    </a:schemeClr>
                  </a:outerShdw>
                </a:effectLst>
              </a:rPr>
              <a:t>我们的课程以公务员考试真题为例，主要讲</a:t>
            </a:r>
            <a:r>
              <a:rPr sz="2800" b="1">
                <a:solidFill>
                  <a:schemeClr val="tx1"/>
                </a:solidFill>
                <a:effectLst>
                  <a:outerShdw blurRad="38100" dist="19050" dir="2700000" algn="tl" rotWithShape="0">
                    <a:schemeClr val="dk1">
                      <a:alpha val="40000"/>
                    </a:schemeClr>
                  </a:outerShdw>
                </a:effectLst>
                <a:sym typeface="+mn-ea"/>
              </a:rPr>
              <a:t>《行测》中与逻辑学紧密相关的内容</a:t>
            </a:r>
            <a:endParaRPr lang="zh-CN" altLang="en-US" sz="2800" b="1">
              <a:solidFill>
                <a:schemeClr val="tx1"/>
              </a:solidFill>
              <a:effectLst>
                <a:outerShdw blurRad="38100" dist="19050" dir="2700000" algn="tl" rotWithShape="0">
                  <a:schemeClr val="dk1">
                    <a:alpha val="40000"/>
                  </a:schemeClr>
                </a:outerShdw>
              </a:effectLst>
            </a:endParaRPr>
          </a:p>
          <a:p>
            <a:endParaRPr lang="zh-CN" altLang="en-US" sz="2800" b="1">
              <a:solidFill>
                <a:schemeClr val="tx1"/>
              </a:solidFill>
              <a:effectLst>
                <a:outerShdw blurRad="38100" dist="19050" dir="2700000" algn="tl" rotWithShape="0">
                  <a:schemeClr val="dk1">
                    <a:alpha val="40000"/>
                  </a:schemeClr>
                </a:outerShdw>
              </a:effectLst>
            </a:endParaRP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2019</a:t>
            </a:r>
            <a:r>
              <a:t>年上半年四川《申论》第</a:t>
            </a:r>
            <a:r>
              <a:rPr lang="en-US" altLang="zh-CN"/>
              <a:t>1</a:t>
            </a:r>
            <a:r>
              <a:t>题</a:t>
            </a:r>
          </a:p>
        </p:txBody>
      </p:sp>
      <p:sp>
        <p:nvSpPr>
          <p:cNvPr id="3" name="内容占位符 2"/>
          <p:cNvSpPr>
            <a:spLocks noGrp="1"/>
          </p:cNvSpPr>
          <p:nvPr>
            <p:ph idx="1"/>
          </p:nvPr>
        </p:nvSpPr>
        <p:spPr/>
        <p:txBody>
          <a:bodyPr/>
          <a:p>
            <a:r>
              <a:rPr lang="zh-CN" altLang="en-US" sz="2400" b="1"/>
              <a:t>第</a:t>
            </a:r>
            <a:r>
              <a:rPr lang="en-US" altLang="zh-CN" sz="2400" b="1"/>
              <a:t>1</a:t>
            </a:r>
            <a:r>
              <a:rPr lang="zh-CN" altLang="en-US" sz="2400" b="1"/>
              <a:t>题：根据</a:t>
            </a:r>
            <a:r>
              <a:rPr lang="en-US" altLang="zh-CN" sz="2400" b="1"/>
              <a:t>“</a:t>
            </a:r>
            <a:r>
              <a:rPr sz="2400" b="1"/>
              <a:t>给定资料</a:t>
            </a:r>
            <a:r>
              <a:rPr lang="en-US" altLang="zh-CN" sz="2400" b="1"/>
              <a:t>1--4”</a:t>
            </a:r>
            <a:r>
              <a:rPr sz="2400" b="1"/>
              <a:t>，概括目前我国中小学开展研学旅行活动的特点。（</a:t>
            </a:r>
            <a:r>
              <a:rPr lang="en-US" altLang="zh-CN" sz="2400" b="1"/>
              <a:t>20</a:t>
            </a:r>
            <a:r>
              <a:rPr sz="2400" b="1"/>
              <a:t>分）</a:t>
            </a:r>
            <a:endParaRPr sz="2400" b="1"/>
          </a:p>
          <a:p>
            <a:r>
              <a:rPr sz="2400" b="1"/>
              <a:t>要求：全面、</a:t>
            </a:r>
            <a:r>
              <a:rPr sz="2400" b="1">
                <a:solidFill>
                  <a:srgbClr val="FF0000"/>
                </a:solidFill>
              </a:rPr>
              <a:t>准确、有条理</a:t>
            </a:r>
            <a:r>
              <a:rPr sz="2400" b="1"/>
              <a:t>，不超过</a:t>
            </a:r>
            <a:r>
              <a:rPr lang="en-US" altLang="zh-CN" sz="2400" b="1"/>
              <a:t>200</a:t>
            </a:r>
            <a:r>
              <a:rPr sz="2400" b="1"/>
              <a:t>字</a:t>
            </a:r>
            <a:endParaRPr sz="2400" b="1"/>
          </a:p>
          <a:p>
            <a:r>
              <a:rPr sz="2400" b="1"/>
              <a:t>资料</a:t>
            </a:r>
            <a:r>
              <a:rPr lang="en-US" altLang="zh-CN" sz="2400" b="1"/>
              <a:t>1</a:t>
            </a:r>
            <a:r>
              <a:rPr sz="2400" b="1"/>
              <a:t>：</a:t>
            </a:r>
            <a:r>
              <a:rPr sz="2400" b="1">
                <a:sym typeface="+mn-ea"/>
              </a:rPr>
              <a:t>研学旅行：</a:t>
            </a:r>
            <a:r>
              <a:rPr sz="2400" b="1"/>
              <a:t>参观海军博物馆、遗址博物馆、教育部《关于推进中小学</a:t>
            </a:r>
            <a:r>
              <a:rPr sz="2400" b="1">
                <a:sym typeface="+mn-ea"/>
              </a:rPr>
              <a:t>研学旅行的意见》</a:t>
            </a:r>
            <a:r>
              <a:rPr sz="2400" b="1"/>
              <a:t>等等</a:t>
            </a:r>
            <a:endParaRPr sz="2400" b="1"/>
          </a:p>
          <a:p>
            <a:r>
              <a:rPr sz="2400" b="1"/>
              <a:t>资料</a:t>
            </a:r>
            <a:r>
              <a:rPr lang="en-US" altLang="zh-CN" sz="2400" b="1"/>
              <a:t>2</a:t>
            </a:r>
            <a:r>
              <a:rPr sz="2400" b="1"/>
              <a:t>：</a:t>
            </a:r>
            <a:r>
              <a:rPr lang="en-US" altLang="zh-CN" sz="2400" b="1"/>
              <a:t>“</a:t>
            </a:r>
            <a:r>
              <a:rPr sz="2400" b="1"/>
              <a:t>寻找儒家文化，做骄傲中国人</a:t>
            </a:r>
            <a:r>
              <a:rPr lang="en-US" altLang="zh-CN" sz="2400" b="1"/>
              <a:t>”</a:t>
            </a:r>
            <a:r>
              <a:rPr sz="2400" b="1"/>
              <a:t>为主题的</a:t>
            </a:r>
            <a:r>
              <a:rPr sz="2400" b="1">
                <a:sym typeface="+mn-ea"/>
              </a:rPr>
              <a:t>研学旅行，介绍了课程目标、内容、保障、实施过程、评价等</a:t>
            </a:r>
            <a:endParaRPr sz="2400" b="1">
              <a:sym typeface="+mn-ea"/>
            </a:endParaRPr>
          </a:p>
          <a:p>
            <a:r>
              <a:rPr sz="2400" b="1"/>
              <a:t>资料</a:t>
            </a:r>
            <a:r>
              <a:rPr lang="en-US" altLang="zh-CN" sz="2400" b="1"/>
              <a:t>3</a:t>
            </a:r>
            <a:r>
              <a:rPr sz="2400" b="1"/>
              <a:t>：结对帮扶、下乡送课、亲近乡土、农耕体验等等</a:t>
            </a:r>
            <a:endParaRPr sz="2400" b="1"/>
          </a:p>
          <a:p>
            <a:r>
              <a:rPr sz="2400" b="1"/>
              <a:t>资料</a:t>
            </a:r>
            <a:r>
              <a:rPr lang="en-US" altLang="zh-CN" sz="2400" b="1"/>
              <a:t>4</a:t>
            </a:r>
            <a:r>
              <a:rPr sz="2400" b="1"/>
              <a:t>：短文</a:t>
            </a:r>
            <a:r>
              <a:rPr lang="en-US" altLang="zh-CN" sz="2400" b="1"/>
              <a:t>“</a:t>
            </a:r>
            <a:r>
              <a:rPr sz="2400" b="1"/>
              <a:t>走进古都长安，我就好像走进了一段深刻的历史。。。。。</a:t>
            </a:r>
            <a:r>
              <a:rPr lang="en-US" altLang="zh-CN" sz="2400" b="1"/>
              <a:t>”</a:t>
            </a:r>
            <a:endParaRPr lang="en-US" altLang="zh-CN" sz="2400" b="1"/>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2019</a:t>
            </a:r>
            <a:r>
              <a:rPr>
                <a:sym typeface="+mn-ea"/>
              </a:rPr>
              <a:t>年上半年四川《申论》第</a:t>
            </a:r>
            <a:r>
              <a:rPr lang="en-US" altLang="zh-CN">
                <a:sym typeface="+mn-ea"/>
              </a:rPr>
              <a:t>2</a:t>
            </a:r>
            <a:r>
              <a:rPr>
                <a:sym typeface="+mn-ea"/>
              </a:rPr>
              <a:t>题</a:t>
            </a:r>
            <a:r>
              <a:rPr lang="en-US" altLang="zh-CN">
                <a:sym typeface="+mn-ea"/>
              </a:rPr>
              <a:t>-3</a:t>
            </a:r>
            <a:r>
              <a:rPr>
                <a:sym typeface="+mn-ea"/>
              </a:rPr>
              <a:t>题</a:t>
            </a:r>
            <a:endParaRPr>
              <a:sym typeface="+mn-ea"/>
            </a:endParaRPr>
          </a:p>
        </p:txBody>
      </p:sp>
      <p:sp>
        <p:nvSpPr>
          <p:cNvPr id="3" name="内容占位符 2"/>
          <p:cNvSpPr>
            <a:spLocks noGrp="1"/>
          </p:cNvSpPr>
          <p:nvPr>
            <p:ph idx="1"/>
          </p:nvPr>
        </p:nvSpPr>
        <p:spPr/>
        <p:txBody>
          <a:bodyPr/>
          <a:p>
            <a:r>
              <a:rPr lang="zh-CN" altLang="en-US" sz="2400" b="1"/>
              <a:t>第</a:t>
            </a:r>
            <a:r>
              <a:rPr lang="en-US" altLang="zh-CN" sz="2400" b="1"/>
              <a:t>2</a:t>
            </a:r>
            <a:r>
              <a:rPr sz="2400" b="1"/>
              <a:t>题：</a:t>
            </a:r>
            <a:r>
              <a:rPr lang="en-US" altLang="zh-CN" sz="2400" b="1"/>
              <a:t>“</a:t>
            </a:r>
            <a:r>
              <a:rPr sz="2400" b="1"/>
              <a:t>给定资料</a:t>
            </a:r>
            <a:r>
              <a:rPr lang="en-US" altLang="zh-CN" sz="2400" b="1"/>
              <a:t>6”</a:t>
            </a:r>
            <a:r>
              <a:rPr sz="2400" b="1"/>
              <a:t>中，作为中小学研学基地的</a:t>
            </a:r>
            <a:r>
              <a:rPr lang="en-US" altLang="zh-CN" sz="2400" b="1"/>
              <a:t>L</a:t>
            </a:r>
            <a:r>
              <a:rPr sz="2400" b="1"/>
              <a:t>市博物馆还存在许多问题。假如你是</a:t>
            </a:r>
            <a:r>
              <a:rPr lang="en-US" altLang="zh-CN" sz="2400" b="1">
                <a:sym typeface="+mn-ea"/>
              </a:rPr>
              <a:t>L</a:t>
            </a:r>
            <a:r>
              <a:rPr sz="2400" b="1">
                <a:sym typeface="+mn-ea"/>
              </a:rPr>
              <a:t>市</a:t>
            </a:r>
            <a:r>
              <a:rPr sz="2400" b="1"/>
              <a:t>博物馆的工作人员，请你参考</a:t>
            </a:r>
            <a:r>
              <a:rPr lang="en-US" altLang="zh-CN" sz="2400" b="1"/>
              <a:t>“</a:t>
            </a:r>
            <a:r>
              <a:rPr sz="2400" b="1"/>
              <a:t>给定资料</a:t>
            </a:r>
            <a:r>
              <a:rPr lang="en-US" altLang="zh-CN" sz="2400" b="1"/>
              <a:t>5--6”</a:t>
            </a:r>
            <a:r>
              <a:rPr sz="2400" b="1"/>
              <a:t>，有针对性地提出一份整改意见，供领导参考。（</a:t>
            </a:r>
            <a:r>
              <a:rPr lang="en-US" altLang="zh-CN" sz="2400" b="1"/>
              <a:t>30</a:t>
            </a:r>
            <a:r>
              <a:rPr sz="2400" b="1"/>
              <a:t>分）</a:t>
            </a:r>
            <a:endParaRPr sz="2400"/>
          </a:p>
          <a:p>
            <a:r>
              <a:rPr sz="2400"/>
              <a:t>要求：内容全面，有针对性，</a:t>
            </a:r>
            <a:r>
              <a:rPr sz="2400" b="1">
                <a:solidFill>
                  <a:srgbClr val="FF0000"/>
                </a:solidFill>
              </a:rPr>
              <a:t>条理清楚</a:t>
            </a:r>
            <a:r>
              <a:rPr sz="2400"/>
              <a:t>，语言流畅，不超过</a:t>
            </a:r>
            <a:r>
              <a:rPr lang="en-US" altLang="zh-CN" sz="2400"/>
              <a:t>400</a:t>
            </a:r>
            <a:r>
              <a:rPr sz="2400"/>
              <a:t>字。</a:t>
            </a:r>
            <a:endParaRPr sz="2400"/>
          </a:p>
          <a:p>
            <a:r>
              <a:rPr sz="2400" b="1"/>
              <a:t>第</a:t>
            </a:r>
            <a:r>
              <a:rPr lang="en-US" altLang="zh-CN" sz="2400" b="1"/>
              <a:t>3</a:t>
            </a:r>
            <a:r>
              <a:rPr sz="2400" b="1"/>
              <a:t>题：从给定资料出发，联系实际，以</a:t>
            </a:r>
            <a:r>
              <a:rPr lang="en-US" altLang="zh-CN" sz="2400" b="1"/>
              <a:t>“</a:t>
            </a:r>
            <a:r>
              <a:rPr sz="2400" b="1"/>
              <a:t>学以</a:t>
            </a:r>
            <a:r>
              <a:rPr lang="en-US" altLang="zh-CN" sz="2400" b="1"/>
              <a:t>‘</a:t>
            </a:r>
            <a:r>
              <a:rPr sz="2400" b="1"/>
              <a:t>成人</a:t>
            </a:r>
            <a:r>
              <a:rPr lang="en-US" altLang="zh-CN" sz="2400" b="1"/>
              <a:t>’”</a:t>
            </a:r>
            <a:r>
              <a:rPr sz="2400" b="1"/>
              <a:t>为题目，写一篇议论文。（</a:t>
            </a:r>
            <a:r>
              <a:rPr lang="en-US" altLang="zh-CN" sz="2400" b="1"/>
              <a:t>50</a:t>
            </a:r>
            <a:r>
              <a:rPr sz="2400" b="1"/>
              <a:t>分）</a:t>
            </a:r>
            <a:endParaRPr sz="2400" b="1"/>
          </a:p>
          <a:p>
            <a:r>
              <a:rPr sz="2400"/>
              <a:t>要求：（</a:t>
            </a:r>
            <a:r>
              <a:rPr lang="en-US" altLang="zh-CN" sz="2400"/>
              <a:t>1</a:t>
            </a:r>
            <a:r>
              <a:rPr sz="2400"/>
              <a:t>）观点明确，见解深刻；  （</a:t>
            </a:r>
            <a:r>
              <a:rPr lang="en-US" altLang="zh-CN" sz="2400"/>
              <a:t>2</a:t>
            </a:r>
            <a:r>
              <a:rPr sz="2400"/>
              <a:t>）</a:t>
            </a:r>
            <a:r>
              <a:rPr sz="2400" b="1">
                <a:solidFill>
                  <a:srgbClr val="FF0000"/>
                </a:solidFill>
              </a:rPr>
              <a:t>思路清晰，结构严谨</a:t>
            </a:r>
            <a:r>
              <a:rPr sz="2400"/>
              <a:t>；</a:t>
            </a:r>
            <a:endParaRPr sz="2400"/>
          </a:p>
          <a:p>
            <a:r>
              <a:rPr sz="2400"/>
              <a:t>          （</a:t>
            </a:r>
            <a:r>
              <a:rPr lang="en-US" altLang="zh-CN" sz="2400"/>
              <a:t>3</a:t>
            </a:r>
            <a:r>
              <a:rPr sz="2400"/>
              <a:t>）语言流畅，书写工整；  （</a:t>
            </a:r>
            <a:r>
              <a:rPr lang="en-US" altLang="zh-CN" sz="2400"/>
              <a:t>4</a:t>
            </a:r>
            <a:r>
              <a:rPr sz="2400"/>
              <a:t>）总字数</a:t>
            </a:r>
            <a:r>
              <a:rPr lang="en-US" altLang="zh-CN" sz="2400"/>
              <a:t>800-1000</a:t>
            </a:r>
            <a:r>
              <a:rPr sz="2400"/>
              <a:t>字。</a:t>
            </a:r>
            <a:endParaRPr sz="2400"/>
          </a:p>
          <a:p>
            <a:r>
              <a:rPr sz="2400"/>
              <a:t>资料</a:t>
            </a:r>
            <a:r>
              <a:rPr lang="en-US" altLang="zh-CN" sz="2400"/>
              <a:t>7</a:t>
            </a:r>
            <a:r>
              <a:rPr sz="2400"/>
              <a:t>：某小学合唱团出国比赛学生的诸多不良行为，</a:t>
            </a:r>
            <a:r>
              <a:rPr lang="en-US" altLang="zh-CN" sz="2400"/>
              <a:t>‘</a:t>
            </a:r>
            <a:r>
              <a:rPr sz="2400"/>
              <a:t>成人</a:t>
            </a:r>
            <a:r>
              <a:rPr lang="en-US" altLang="zh-CN" sz="2400"/>
              <a:t>’</a:t>
            </a:r>
            <a:r>
              <a:rPr sz="2400"/>
              <a:t>的定义？</a:t>
            </a:r>
            <a:endParaRPr sz="2400"/>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试题分析</a:t>
            </a:r>
            <a:r>
              <a:rPr lang="en-US" altLang="zh-CN"/>
              <a:t>1</a:t>
            </a:r>
            <a:endParaRPr lang="en-US" altLang="zh-CN"/>
          </a:p>
        </p:txBody>
      </p:sp>
      <p:sp>
        <p:nvSpPr>
          <p:cNvPr id="3" name="内容占位符 2"/>
          <p:cNvSpPr>
            <a:spLocks noGrp="1"/>
          </p:cNvSpPr>
          <p:nvPr>
            <p:ph idx="1"/>
          </p:nvPr>
        </p:nvSpPr>
        <p:spPr/>
        <p:txBody>
          <a:bodyPr/>
          <a:p>
            <a:r>
              <a:rPr lang="en-US" altLang="zh-CN" sz="2400" b="1">
                <a:sym typeface="+mn-ea"/>
              </a:rPr>
              <a:t>2019</a:t>
            </a:r>
            <a:r>
              <a:rPr sz="2400" b="1">
                <a:sym typeface="+mn-ea"/>
              </a:rPr>
              <a:t>年四川申论共</a:t>
            </a:r>
            <a:r>
              <a:rPr lang="en-US" altLang="zh-CN" sz="2400" b="1">
                <a:sym typeface="+mn-ea"/>
              </a:rPr>
              <a:t>7</a:t>
            </a:r>
            <a:r>
              <a:rPr sz="2400" b="1">
                <a:sym typeface="+mn-ea"/>
              </a:rPr>
              <a:t>个给定资料，</a:t>
            </a:r>
            <a:r>
              <a:rPr lang="en-US" altLang="zh-CN" sz="2400" b="1">
                <a:sym typeface="+mn-ea"/>
              </a:rPr>
              <a:t>5</a:t>
            </a:r>
            <a:r>
              <a:rPr sz="2400" b="1">
                <a:sym typeface="+mn-ea"/>
              </a:rPr>
              <a:t>页多一点</a:t>
            </a:r>
            <a:endParaRPr sz="2400" b="1">
              <a:sym typeface="+mn-ea"/>
            </a:endParaRPr>
          </a:p>
          <a:p>
            <a:r>
              <a:rPr sz="2400" b="1">
                <a:sym typeface="+mn-ea"/>
              </a:rPr>
              <a:t>第</a:t>
            </a:r>
            <a:r>
              <a:rPr lang="en-US" altLang="zh-CN" sz="2400" b="1">
                <a:sym typeface="+mn-ea"/>
              </a:rPr>
              <a:t>1</a:t>
            </a:r>
            <a:r>
              <a:rPr sz="2400" b="1">
                <a:sym typeface="+mn-ea"/>
              </a:rPr>
              <a:t>题的资料概括题要求：全面、准确、有条理</a:t>
            </a:r>
            <a:endParaRPr sz="2400">
              <a:sym typeface="+mn-ea"/>
            </a:endParaRPr>
          </a:p>
          <a:p>
            <a:r>
              <a:rPr sz="2400">
                <a:sym typeface="+mn-ea"/>
              </a:rPr>
              <a:t>全面：不能够遗漏关键内容</a:t>
            </a:r>
            <a:endParaRPr sz="2400">
              <a:sym typeface="+mn-ea"/>
            </a:endParaRPr>
          </a:p>
          <a:p>
            <a:r>
              <a:rPr sz="2400">
                <a:sym typeface="+mn-ea"/>
              </a:rPr>
              <a:t>准确：等义表达</a:t>
            </a:r>
            <a:endParaRPr sz="2400">
              <a:sym typeface="+mn-ea"/>
            </a:endParaRPr>
          </a:p>
          <a:p>
            <a:r>
              <a:rPr sz="2400" b="1">
                <a:solidFill>
                  <a:srgbClr val="FF0000"/>
                </a:solidFill>
                <a:sym typeface="+mn-ea"/>
              </a:rPr>
              <a:t>有条理</a:t>
            </a:r>
            <a:r>
              <a:rPr sz="2400">
                <a:sym typeface="+mn-ea"/>
              </a:rPr>
              <a:t>：</a:t>
            </a:r>
            <a:r>
              <a:rPr sz="2400">
                <a:sym typeface="+mn-ea"/>
              </a:rPr>
              <a:t>先讲什么后讲什么？按照时间顺序？空间顺序？逻辑顺序？一定要清楚明白</a:t>
            </a:r>
            <a:endParaRPr sz="2400">
              <a:sym typeface="+mn-ea"/>
            </a:endParaRPr>
          </a:p>
          <a:p>
            <a:endParaRPr lang="zh-CN" altLang="en-US" sz="2400"/>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试题分析</a:t>
            </a:r>
            <a:r>
              <a:rPr lang="en-US" altLang="zh-CN"/>
              <a:t>2</a:t>
            </a:r>
            <a:endParaRPr lang="en-US" altLang="zh-CN"/>
          </a:p>
        </p:txBody>
      </p:sp>
      <p:sp>
        <p:nvSpPr>
          <p:cNvPr id="3" name="内容占位符 2"/>
          <p:cNvSpPr>
            <a:spLocks noGrp="1"/>
          </p:cNvSpPr>
          <p:nvPr>
            <p:ph idx="1"/>
          </p:nvPr>
        </p:nvSpPr>
        <p:spPr/>
        <p:txBody>
          <a:bodyPr/>
          <a:p>
            <a:r>
              <a:rPr sz="2400" b="1">
                <a:sym typeface="+mn-ea"/>
              </a:rPr>
              <a:t>第</a:t>
            </a:r>
            <a:r>
              <a:rPr lang="en-US" altLang="zh-CN" sz="2400" b="1">
                <a:sym typeface="+mn-ea"/>
              </a:rPr>
              <a:t>2</a:t>
            </a:r>
            <a:r>
              <a:rPr sz="2400" b="1">
                <a:sym typeface="+mn-ea"/>
              </a:rPr>
              <a:t>题博物馆整改建议要求：内容全面，有针对性，条理清楚，语言流畅</a:t>
            </a:r>
            <a:endParaRPr sz="2400">
              <a:sym typeface="+mn-ea"/>
            </a:endParaRPr>
          </a:p>
          <a:p>
            <a:r>
              <a:rPr sz="2400">
                <a:sym typeface="+mn-ea"/>
              </a:rPr>
              <a:t>内容全面：不能够遗漏关键内容</a:t>
            </a:r>
            <a:endParaRPr sz="2400">
              <a:sym typeface="+mn-ea"/>
            </a:endParaRPr>
          </a:p>
          <a:p>
            <a:r>
              <a:rPr sz="2400">
                <a:sym typeface="+mn-ea"/>
              </a:rPr>
              <a:t>有针对性：有的放矢、重点突出，不能泛泛而谈</a:t>
            </a:r>
            <a:endParaRPr sz="2400">
              <a:sym typeface="+mn-ea"/>
            </a:endParaRPr>
          </a:p>
          <a:p>
            <a:r>
              <a:rPr sz="2400" b="1">
                <a:solidFill>
                  <a:srgbClr val="FF0000"/>
                </a:solidFill>
                <a:sym typeface="+mn-ea"/>
              </a:rPr>
              <a:t>条理清楚</a:t>
            </a:r>
            <a:r>
              <a:rPr sz="2400">
                <a:sym typeface="+mn-ea"/>
              </a:rPr>
              <a:t>：上一句与下一句要具有逻辑关联性，上一段与下一段具有逻辑关   联性（不能够东拉西扯），全文与主题的逻辑关联性（不能够跑题）</a:t>
            </a:r>
            <a:endParaRPr>
              <a:sym typeface="+mn-ea"/>
            </a:endParaRPr>
          </a:p>
          <a:p>
            <a:r>
              <a:rPr sz="2400">
                <a:sym typeface="+mn-ea"/>
              </a:rPr>
              <a:t>语言流畅：这与语言结构和逻辑思维能力都有关</a:t>
            </a:r>
            <a:endParaRPr sz="2400">
              <a:sym typeface="+mn-ea"/>
            </a:endParaRPr>
          </a:p>
          <a:p>
            <a:r>
              <a:rPr sz="2400" b="1">
                <a:sym typeface="+mn-ea"/>
              </a:rPr>
              <a:t>第</a:t>
            </a:r>
            <a:r>
              <a:rPr lang="en-US" altLang="zh-CN" sz="2400" b="1">
                <a:sym typeface="+mn-ea"/>
              </a:rPr>
              <a:t>3</a:t>
            </a:r>
            <a:r>
              <a:rPr sz="2400" b="1">
                <a:sym typeface="+mn-ea"/>
              </a:rPr>
              <a:t>题</a:t>
            </a:r>
            <a:r>
              <a:rPr lang="en-US" altLang="zh-CN" sz="2400" b="1">
                <a:sym typeface="+mn-ea"/>
              </a:rPr>
              <a:t>“</a:t>
            </a:r>
            <a:r>
              <a:rPr sz="2400" b="1">
                <a:sym typeface="+mn-ea"/>
              </a:rPr>
              <a:t>学以</a:t>
            </a:r>
            <a:r>
              <a:rPr lang="en-US" altLang="zh-CN" sz="2400" b="1">
                <a:sym typeface="+mn-ea"/>
              </a:rPr>
              <a:t>‘</a:t>
            </a:r>
            <a:r>
              <a:rPr sz="2400" b="1">
                <a:sym typeface="+mn-ea"/>
              </a:rPr>
              <a:t>成人</a:t>
            </a:r>
            <a:r>
              <a:rPr lang="en-US" altLang="zh-CN" sz="2400" b="1">
                <a:sym typeface="+mn-ea"/>
              </a:rPr>
              <a:t>’”</a:t>
            </a:r>
            <a:r>
              <a:rPr sz="2400" b="1">
                <a:sym typeface="+mn-ea"/>
              </a:rPr>
              <a:t>的议论文要求</a:t>
            </a:r>
            <a:endParaRPr sz="2400" b="1">
              <a:sym typeface="+mn-ea"/>
            </a:endParaRPr>
          </a:p>
          <a:p>
            <a:r>
              <a:rPr lang="en-US" altLang="zh-CN" sz="2400" b="1">
                <a:sym typeface="+mn-ea"/>
              </a:rPr>
              <a:t>“</a:t>
            </a:r>
            <a:r>
              <a:rPr sz="2400">
                <a:sym typeface="+mn-ea"/>
              </a:rPr>
              <a:t>思路清晰与结构严谨</a:t>
            </a:r>
            <a:r>
              <a:rPr lang="en-US" altLang="zh-CN" sz="2400">
                <a:sym typeface="+mn-ea"/>
              </a:rPr>
              <a:t>”</a:t>
            </a:r>
            <a:r>
              <a:rPr sz="2400">
                <a:sym typeface="+mn-ea"/>
              </a:rPr>
              <a:t>就是要求逻辑严密、有条理，不能够逻辑混乱</a:t>
            </a:r>
            <a:endParaRPr sz="2400">
              <a:sym typeface="+mn-ea"/>
            </a:endParaRPr>
          </a:p>
          <a:p>
            <a:endParaRPr sz="2400">
              <a:sym typeface="+mn-ea"/>
            </a:endParaRPr>
          </a:p>
          <a:p>
            <a:endParaRPr>
              <a:sym typeface="+mn-ea"/>
            </a:endParaRPr>
          </a:p>
          <a:p>
            <a:endParaRPr>
              <a:sym typeface="+mn-ea"/>
            </a:endParaRPr>
          </a:p>
          <a:p>
            <a:endParaRPr lang="zh-CN" altLang="en-US"/>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2018</a:t>
            </a:r>
            <a:r>
              <a:t>年下半年四川公务员考试</a:t>
            </a:r>
          </a:p>
        </p:txBody>
      </p:sp>
      <p:sp>
        <p:nvSpPr>
          <p:cNvPr id="3" name="内容占位符 2"/>
          <p:cNvSpPr>
            <a:spLocks noGrp="1"/>
          </p:cNvSpPr>
          <p:nvPr>
            <p:ph idx="1"/>
          </p:nvPr>
        </p:nvSpPr>
        <p:spPr/>
        <p:txBody>
          <a:bodyPr/>
          <a:p>
            <a:r>
              <a:rPr lang="en-US" altLang="zh-CN" sz="2400" b="1">
                <a:sym typeface="+mn-ea"/>
              </a:rPr>
              <a:t>2018</a:t>
            </a:r>
            <a:r>
              <a:rPr sz="2400" b="1">
                <a:sym typeface="+mn-ea"/>
              </a:rPr>
              <a:t>年申论共</a:t>
            </a:r>
            <a:r>
              <a:rPr lang="en-US" altLang="zh-CN" sz="2400" b="1">
                <a:sym typeface="+mn-ea"/>
              </a:rPr>
              <a:t>7</a:t>
            </a:r>
            <a:r>
              <a:rPr sz="2400" b="1">
                <a:sym typeface="+mn-ea"/>
              </a:rPr>
              <a:t>个给定资料，</a:t>
            </a:r>
            <a:r>
              <a:rPr lang="en-US" altLang="zh-CN" sz="2400" b="1">
                <a:sym typeface="+mn-ea"/>
              </a:rPr>
              <a:t>5</a:t>
            </a:r>
            <a:r>
              <a:rPr sz="2400" b="1">
                <a:sym typeface="+mn-ea"/>
              </a:rPr>
              <a:t>页多一点</a:t>
            </a:r>
            <a:endParaRPr sz="2400" b="1">
              <a:sym typeface="+mn-ea"/>
            </a:endParaRPr>
          </a:p>
          <a:p>
            <a:r>
              <a:rPr lang="zh-CN" altLang="en-US" sz="2400" b="1"/>
              <a:t>第</a:t>
            </a:r>
            <a:r>
              <a:rPr lang="en-US" altLang="zh-CN" sz="2400" b="1"/>
              <a:t>1</a:t>
            </a:r>
            <a:r>
              <a:rPr sz="2400" b="1"/>
              <a:t>题：资料概括题，对给定资料</a:t>
            </a:r>
            <a:r>
              <a:rPr lang="en-US" altLang="zh-CN" sz="2400" b="1"/>
              <a:t>1--3</a:t>
            </a:r>
            <a:r>
              <a:rPr sz="2400" b="1"/>
              <a:t>进行概括</a:t>
            </a:r>
            <a:r>
              <a:rPr sz="2400"/>
              <a:t> 。（</a:t>
            </a:r>
            <a:r>
              <a:rPr lang="en-US" altLang="zh-CN" sz="2400"/>
              <a:t>20</a:t>
            </a:r>
            <a:r>
              <a:rPr sz="2400"/>
              <a:t>分）</a:t>
            </a:r>
            <a:endParaRPr sz="2400"/>
          </a:p>
          <a:p>
            <a:r>
              <a:rPr sz="2400" b="1"/>
              <a:t>第</a:t>
            </a:r>
            <a:r>
              <a:rPr lang="en-US" altLang="zh-CN" sz="2400" b="1"/>
              <a:t>2</a:t>
            </a:r>
            <a:r>
              <a:rPr sz="2400" b="1"/>
              <a:t>题：建议题：根据给定资料</a:t>
            </a:r>
            <a:r>
              <a:rPr lang="en-US" altLang="zh-CN" sz="2400" b="1"/>
              <a:t>4--6</a:t>
            </a:r>
            <a:r>
              <a:rPr sz="2400" b="1"/>
              <a:t>，你认为采取哪些措施可以为企事业单位更好留在人才？</a:t>
            </a:r>
            <a:endParaRPr sz="2400"/>
          </a:p>
          <a:p>
            <a:r>
              <a:rPr sz="2400"/>
              <a:t>要求：措施得当、操作性强、</a:t>
            </a:r>
            <a:r>
              <a:rPr sz="2400" b="1">
                <a:solidFill>
                  <a:srgbClr val="FF0000"/>
                </a:solidFill>
              </a:rPr>
              <a:t>思路清晰</a:t>
            </a:r>
            <a:r>
              <a:rPr sz="2400"/>
              <a:t>、语言简洁（</a:t>
            </a:r>
            <a:r>
              <a:rPr lang="en-US" altLang="zh-CN" sz="2400"/>
              <a:t>30</a:t>
            </a:r>
            <a:r>
              <a:rPr sz="2400"/>
              <a:t>分）</a:t>
            </a:r>
            <a:endParaRPr sz="2400"/>
          </a:p>
          <a:p>
            <a:r>
              <a:rPr sz="2400" b="1">
                <a:solidFill>
                  <a:schemeClr val="tx1"/>
                </a:solidFill>
              </a:rPr>
              <a:t>第</a:t>
            </a:r>
            <a:r>
              <a:rPr lang="en-US" altLang="zh-CN" sz="2400" b="1">
                <a:solidFill>
                  <a:schemeClr val="tx1"/>
                </a:solidFill>
              </a:rPr>
              <a:t>3</a:t>
            </a:r>
            <a:r>
              <a:rPr sz="2400" b="1">
                <a:solidFill>
                  <a:schemeClr val="tx1"/>
                </a:solidFill>
              </a:rPr>
              <a:t>题：结合给定资料，联系实际，以</a:t>
            </a:r>
            <a:r>
              <a:rPr lang="en-US" altLang="zh-CN" sz="2400" b="1">
                <a:solidFill>
                  <a:schemeClr val="tx1"/>
                </a:solidFill>
              </a:rPr>
              <a:t>“</a:t>
            </a:r>
            <a:r>
              <a:rPr sz="2400" b="1">
                <a:solidFill>
                  <a:schemeClr val="tx1"/>
                </a:solidFill>
              </a:rPr>
              <a:t>流与留</a:t>
            </a:r>
            <a:r>
              <a:rPr lang="en-US" altLang="zh-CN" sz="2400" b="1">
                <a:solidFill>
                  <a:schemeClr val="tx1"/>
                </a:solidFill>
              </a:rPr>
              <a:t>”</a:t>
            </a:r>
            <a:r>
              <a:rPr sz="2400" b="1">
                <a:solidFill>
                  <a:schemeClr val="tx1"/>
                </a:solidFill>
              </a:rPr>
              <a:t>为主题，自选角度，自拟题目，写篇议论文。（</a:t>
            </a:r>
            <a:r>
              <a:rPr lang="en-US" altLang="zh-CN" sz="2400" b="1">
                <a:solidFill>
                  <a:schemeClr val="tx1"/>
                </a:solidFill>
              </a:rPr>
              <a:t>50</a:t>
            </a:r>
            <a:r>
              <a:rPr sz="2400" b="1">
                <a:solidFill>
                  <a:schemeClr val="tx1"/>
                </a:solidFill>
              </a:rPr>
              <a:t>分）</a:t>
            </a:r>
            <a:endParaRPr lang="zh-CN" altLang="en-US" sz="2400" b="1">
              <a:solidFill>
                <a:schemeClr val="tx1"/>
              </a:solidFill>
            </a:endParaRPr>
          </a:p>
          <a:p>
            <a:r>
              <a:rPr sz="2400">
                <a:sym typeface="+mn-ea"/>
              </a:rPr>
              <a:t>要求：观点明确，立意深刻； </a:t>
            </a:r>
            <a:r>
              <a:rPr sz="2400" b="1">
                <a:solidFill>
                  <a:srgbClr val="FF0000"/>
                </a:solidFill>
                <a:sym typeface="+mn-ea"/>
              </a:rPr>
              <a:t>逻辑清晰</a:t>
            </a:r>
            <a:r>
              <a:rPr sz="2400">
                <a:sym typeface="+mn-ea"/>
              </a:rPr>
              <a:t>，</a:t>
            </a:r>
            <a:r>
              <a:rPr sz="2400" b="1">
                <a:solidFill>
                  <a:srgbClr val="FF0000"/>
                </a:solidFill>
                <a:sym typeface="+mn-ea"/>
              </a:rPr>
              <a:t>结构严谨</a:t>
            </a:r>
            <a:r>
              <a:rPr sz="2400">
                <a:sym typeface="+mn-ea"/>
              </a:rPr>
              <a:t>；语言言流畅，书写工整； 总字数</a:t>
            </a:r>
            <a:r>
              <a:rPr lang="en-US" altLang="zh-CN" sz="2400">
                <a:sym typeface="+mn-ea"/>
              </a:rPr>
              <a:t>800-1000</a:t>
            </a:r>
            <a:r>
              <a:rPr sz="2400">
                <a:sym typeface="+mn-ea"/>
              </a:rPr>
              <a:t>字。</a:t>
            </a:r>
            <a:endParaRPr sz="2400"/>
          </a:p>
          <a:p>
            <a:endParaRPr b="1">
              <a:sym typeface="+mn-ea"/>
            </a:endParaRPr>
          </a:p>
          <a:p>
            <a:endParaRPr b="1">
              <a:sym typeface="+mn-ea"/>
            </a:endParaRP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2012</a:t>
            </a:r>
            <a:r>
              <a:t>年上</a:t>
            </a:r>
            <a:r>
              <a:rPr lang="en-US" altLang="zh-CN"/>
              <a:t>--2019</a:t>
            </a:r>
            <a:r>
              <a:t>年下共</a:t>
            </a:r>
            <a:r>
              <a:rPr lang="en-US" altLang="zh-CN"/>
              <a:t>14</a:t>
            </a:r>
            <a:r>
              <a:t>次</a:t>
            </a:r>
            <a:r>
              <a:rPr lang="zh-CN" altLang="en-US"/>
              <a:t>四川申论每次共</a:t>
            </a:r>
            <a:r>
              <a:rPr lang="en-US" altLang="zh-CN"/>
              <a:t>3</a:t>
            </a:r>
            <a:r>
              <a:t>个</a:t>
            </a:r>
            <a:r>
              <a:t>题</a:t>
            </a:r>
          </a:p>
        </p:txBody>
      </p:sp>
      <p:sp>
        <p:nvSpPr>
          <p:cNvPr id="3" name="内容占位符 2"/>
          <p:cNvSpPr>
            <a:spLocks noGrp="1"/>
          </p:cNvSpPr>
          <p:nvPr>
            <p:ph idx="1"/>
          </p:nvPr>
        </p:nvSpPr>
        <p:spPr/>
        <p:txBody>
          <a:bodyPr/>
          <a:p>
            <a:r>
              <a:rPr lang="zh-CN" altLang="en-US" sz="2400" b="1"/>
              <a:t>第</a:t>
            </a:r>
            <a:r>
              <a:rPr lang="en-US" altLang="zh-CN" sz="2400" b="1"/>
              <a:t>1</a:t>
            </a:r>
            <a:r>
              <a:rPr sz="2400" b="1"/>
              <a:t>题：材料概括题（</a:t>
            </a:r>
            <a:r>
              <a:rPr lang="en-US" altLang="zh-CN" sz="2400" b="1"/>
              <a:t>20</a:t>
            </a:r>
            <a:r>
              <a:rPr sz="2400" b="1"/>
              <a:t>分）</a:t>
            </a:r>
            <a:endParaRPr sz="2400"/>
          </a:p>
          <a:p>
            <a:r>
              <a:rPr sz="2400"/>
              <a:t>要求：</a:t>
            </a:r>
            <a:r>
              <a:rPr sz="2400">
                <a:sym typeface="+mn-ea"/>
              </a:rPr>
              <a:t>全面</a:t>
            </a:r>
            <a:r>
              <a:rPr sz="2400" b="1">
                <a:sym typeface="+mn-ea"/>
              </a:rPr>
              <a:t>、</a:t>
            </a:r>
            <a:r>
              <a:rPr sz="2400" b="1">
                <a:solidFill>
                  <a:srgbClr val="FF0000"/>
                </a:solidFill>
                <a:sym typeface="+mn-ea"/>
              </a:rPr>
              <a:t>准确、有条理</a:t>
            </a:r>
            <a:r>
              <a:rPr sz="2400">
                <a:solidFill>
                  <a:schemeClr val="tx1"/>
                </a:solidFill>
                <a:sym typeface="+mn-ea"/>
              </a:rPr>
              <a:t>，不超过</a:t>
            </a:r>
            <a:r>
              <a:rPr lang="en-US" altLang="zh-CN" sz="2400">
                <a:solidFill>
                  <a:schemeClr val="tx1"/>
                </a:solidFill>
                <a:sym typeface="+mn-ea"/>
              </a:rPr>
              <a:t>200</a:t>
            </a:r>
            <a:r>
              <a:rPr sz="2400">
                <a:solidFill>
                  <a:schemeClr val="tx1"/>
                </a:solidFill>
                <a:sym typeface="+mn-ea"/>
              </a:rPr>
              <a:t>字</a:t>
            </a:r>
            <a:endParaRPr sz="2400">
              <a:solidFill>
                <a:schemeClr val="tx1"/>
              </a:solidFill>
            </a:endParaRPr>
          </a:p>
          <a:p>
            <a:r>
              <a:rPr sz="2400" b="1"/>
              <a:t>第</a:t>
            </a:r>
            <a:r>
              <a:rPr lang="en-US" altLang="zh-CN" sz="2400" b="1"/>
              <a:t>2</a:t>
            </a:r>
            <a:r>
              <a:rPr sz="2400" b="1"/>
              <a:t>题：措施改进等建议题（</a:t>
            </a:r>
            <a:r>
              <a:rPr lang="en-US" altLang="zh-CN" sz="2400" b="1"/>
              <a:t>30</a:t>
            </a:r>
            <a:r>
              <a:rPr sz="2400" b="1"/>
              <a:t>分）</a:t>
            </a:r>
            <a:endParaRPr sz="2400"/>
          </a:p>
          <a:p>
            <a:r>
              <a:rPr sz="2400">
                <a:sym typeface="+mn-ea"/>
              </a:rPr>
              <a:t>要求：措施得当、有针对性，表达得体、</a:t>
            </a:r>
            <a:r>
              <a:rPr sz="2400" b="1">
                <a:solidFill>
                  <a:srgbClr val="FF0000"/>
                </a:solidFill>
                <a:sym typeface="+mn-ea"/>
              </a:rPr>
              <a:t>条理清楚</a:t>
            </a:r>
            <a:r>
              <a:rPr sz="2400">
                <a:sym typeface="+mn-ea"/>
              </a:rPr>
              <a:t>，语言流畅，不超过</a:t>
            </a:r>
            <a:r>
              <a:rPr lang="en-US" altLang="zh-CN" sz="2400">
                <a:sym typeface="+mn-ea"/>
              </a:rPr>
              <a:t>500</a:t>
            </a:r>
            <a:r>
              <a:rPr sz="2400">
                <a:sym typeface="+mn-ea"/>
              </a:rPr>
              <a:t>字</a:t>
            </a:r>
            <a:endParaRPr sz="2400"/>
          </a:p>
          <a:p>
            <a:r>
              <a:rPr sz="2400" b="1">
                <a:solidFill>
                  <a:schemeClr val="tx1"/>
                </a:solidFill>
              </a:rPr>
              <a:t>第</a:t>
            </a:r>
            <a:r>
              <a:rPr lang="en-US" altLang="zh-CN" sz="2400" b="1">
                <a:solidFill>
                  <a:schemeClr val="tx1"/>
                </a:solidFill>
              </a:rPr>
              <a:t>3</a:t>
            </a:r>
            <a:r>
              <a:rPr sz="2400" b="1">
                <a:solidFill>
                  <a:schemeClr val="tx1"/>
                </a:solidFill>
              </a:rPr>
              <a:t>题：结合材料联系实际的议论文（</a:t>
            </a:r>
            <a:r>
              <a:rPr lang="en-US" altLang="zh-CN" sz="2400" b="1">
                <a:solidFill>
                  <a:schemeClr val="tx1"/>
                </a:solidFill>
              </a:rPr>
              <a:t>50</a:t>
            </a:r>
            <a:r>
              <a:rPr sz="2400" b="1">
                <a:solidFill>
                  <a:schemeClr val="tx1"/>
                </a:solidFill>
              </a:rPr>
              <a:t>分）</a:t>
            </a:r>
            <a:endParaRPr sz="2400" b="1">
              <a:solidFill>
                <a:schemeClr val="tx1"/>
              </a:solidFill>
            </a:endParaRPr>
          </a:p>
          <a:p>
            <a:r>
              <a:rPr sz="2400">
                <a:sym typeface="+mn-ea"/>
              </a:rPr>
              <a:t>观点明确，立意深刻； </a:t>
            </a:r>
            <a:r>
              <a:rPr sz="2400" b="1">
                <a:solidFill>
                  <a:srgbClr val="FF0000"/>
                </a:solidFill>
                <a:sym typeface="+mn-ea"/>
              </a:rPr>
              <a:t>逻辑清晰</a:t>
            </a:r>
            <a:r>
              <a:rPr sz="2400">
                <a:sym typeface="+mn-ea"/>
              </a:rPr>
              <a:t>，</a:t>
            </a:r>
            <a:r>
              <a:rPr sz="2400" b="1">
                <a:solidFill>
                  <a:srgbClr val="FF0000"/>
                </a:solidFill>
                <a:sym typeface="+mn-ea"/>
              </a:rPr>
              <a:t>结构严谨</a:t>
            </a:r>
            <a:r>
              <a:rPr sz="2400">
                <a:sym typeface="+mn-ea"/>
              </a:rPr>
              <a:t>；语言言流畅，书写工整，总字数</a:t>
            </a:r>
            <a:r>
              <a:rPr lang="en-US" altLang="zh-CN" sz="2400">
                <a:sym typeface="+mn-ea"/>
              </a:rPr>
              <a:t>800-1000</a:t>
            </a:r>
            <a:r>
              <a:rPr sz="2400">
                <a:sym typeface="+mn-ea"/>
              </a:rPr>
              <a:t>字</a:t>
            </a:r>
            <a:endParaRPr sz="2400">
              <a:sym typeface="+mn-ea"/>
            </a:endParaRPr>
          </a:p>
          <a:p>
            <a:pPr marL="0" indent="0">
              <a:buNone/>
            </a:pPr>
            <a:endParaRPr sz="2400"/>
          </a:p>
          <a:p>
            <a:endParaRPr sz="2400"/>
          </a:p>
          <a:p>
            <a:endParaRPr sz="2400"/>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参加申论考试建议</a:t>
            </a:r>
            <a:endParaRPr lang="zh-CN" altLang="en-US"/>
          </a:p>
        </p:txBody>
      </p:sp>
      <p:sp>
        <p:nvSpPr>
          <p:cNvPr id="3" name="内容占位符 2"/>
          <p:cNvSpPr>
            <a:spLocks noGrp="1"/>
          </p:cNvSpPr>
          <p:nvPr>
            <p:ph idx="1"/>
          </p:nvPr>
        </p:nvSpPr>
        <p:spPr/>
        <p:txBody>
          <a:bodyPr/>
          <a:p>
            <a:r>
              <a:rPr sz="2400" b="1">
                <a:sym typeface="+mn-ea"/>
              </a:rPr>
              <a:t>（</a:t>
            </a:r>
            <a:r>
              <a:rPr lang="en-US" altLang="zh-CN" sz="2400" b="1">
                <a:sym typeface="+mn-ea"/>
              </a:rPr>
              <a:t>1</a:t>
            </a:r>
            <a:r>
              <a:rPr sz="2400" b="1">
                <a:sym typeface="+mn-ea"/>
              </a:rPr>
              <a:t>）多做真题。可以先看答案，后做真题。</a:t>
            </a:r>
            <a:endParaRPr sz="2400" b="1">
              <a:sym typeface="+mn-ea"/>
            </a:endParaRPr>
          </a:p>
          <a:p>
            <a:r>
              <a:rPr sz="2400" b="1">
                <a:sym typeface="+mn-ea"/>
              </a:rPr>
              <a:t>（</a:t>
            </a:r>
            <a:r>
              <a:rPr lang="en-US" altLang="zh-CN" sz="2400" b="1">
                <a:sym typeface="+mn-ea"/>
              </a:rPr>
              <a:t>2</a:t>
            </a:r>
            <a:r>
              <a:rPr sz="2400" b="1">
                <a:sym typeface="+mn-ea"/>
              </a:rPr>
              <a:t>）学习之余，多参加社会实践，实实在在提高自身综合素质。</a:t>
            </a:r>
            <a:endParaRPr sz="2400" b="1">
              <a:sym typeface="+mn-ea"/>
            </a:endParaRPr>
          </a:p>
          <a:p>
            <a:r>
              <a:rPr sz="2400" b="1">
                <a:sym typeface="+mn-ea"/>
              </a:rPr>
              <a:t>（</a:t>
            </a:r>
            <a:r>
              <a:rPr lang="en-US" altLang="zh-CN" sz="2400" b="1">
                <a:sym typeface="+mn-ea"/>
              </a:rPr>
              <a:t>3</a:t>
            </a:r>
            <a:r>
              <a:rPr sz="2400" b="1">
                <a:sym typeface="+mn-ea"/>
              </a:rPr>
              <a:t>）写议论文需要多阅读，扩大知识面，而且一定要多动笔写。</a:t>
            </a:r>
            <a:endParaRPr sz="2400" b="1">
              <a:sym typeface="+mn-ea"/>
            </a:endParaRPr>
          </a:p>
          <a:p>
            <a:r>
              <a:rPr sz="2400" b="1"/>
              <a:t>（</a:t>
            </a:r>
            <a:r>
              <a:rPr lang="en-US" altLang="zh-CN" sz="2400" b="1"/>
              <a:t>4</a:t>
            </a:r>
            <a:r>
              <a:rPr sz="2400" b="1"/>
              <a:t>）做人做事都需要本着良心、善心、公心，内化于心，才能够外化于行</a:t>
            </a:r>
            <a:r>
              <a:rPr lang="en-US" altLang="zh-CN" sz="2400" b="1"/>
              <a:t>/</a:t>
            </a:r>
            <a:r>
              <a:rPr sz="2400" b="1"/>
              <a:t>字：要感动别人，首先需要感动自己。</a:t>
            </a:r>
            <a:endParaRPr sz="2400" b="1"/>
          </a:p>
          <a:p>
            <a:r>
              <a:rPr sz="2400" b="1">
                <a:sym typeface="+mn-ea"/>
              </a:rPr>
              <a:t>（</a:t>
            </a:r>
            <a:r>
              <a:rPr lang="en-US" altLang="zh-CN" sz="2400" b="1">
                <a:sym typeface="+mn-ea"/>
              </a:rPr>
              <a:t>5</a:t>
            </a:r>
            <a:r>
              <a:rPr sz="2400" b="1">
                <a:sym typeface="+mn-ea"/>
              </a:rPr>
              <a:t>）</a:t>
            </a:r>
            <a:r>
              <a:rPr sz="2400" b="1">
                <a:solidFill>
                  <a:srgbClr val="FF0000"/>
                </a:solidFill>
                <a:sym typeface="+mn-ea"/>
              </a:rPr>
              <a:t>准确、有条理、思路清晰、结构严谨等思维品质，则需要提高逻辑思维能力，这需要认真学习逻辑学。</a:t>
            </a:r>
            <a:endParaRPr sz="2400" b="1">
              <a:solidFill>
                <a:srgbClr val="FF0000"/>
              </a:solidFill>
              <a:sym typeface="+mn-ea"/>
            </a:endParaRP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《行政职业能力测验》（简称《行测》）考题</a:t>
            </a:r>
            <a:r>
              <a:rPr lang="en-US" altLang="zh-CN"/>
              <a:t>5</a:t>
            </a:r>
            <a:r>
              <a:t>大</a:t>
            </a:r>
            <a:r>
              <a:rPr lang="zh-CN" altLang="en-US"/>
              <a:t>板块</a:t>
            </a:r>
            <a:endParaRPr lang="zh-CN" altLang="en-US"/>
          </a:p>
        </p:txBody>
      </p:sp>
      <p:sp>
        <p:nvSpPr>
          <p:cNvPr id="3" name="内容占位符 2"/>
          <p:cNvSpPr>
            <a:spLocks noGrp="1"/>
          </p:cNvSpPr>
          <p:nvPr>
            <p:ph idx="1"/>
          </p:nvPr>
        </p:nvSpPr>
        <p:spPr/>
        <p:txBody>
          <a:bodyPr/>
          <a:p>
            <a:pPr marL="0" indent="0">
              <a:buNone/>
            </a:pPr>
            <a:r>
              <a:rPr sz="2400"/>
              <a:t>（</a:t>
            </a:r>
            <a:r>
              <a:rPr lang="en-US" altLang="zh-CN" sz="2400"/>
              <a:t>1</a:t>
            </a:r>
            <a:r>
              <a:rPr sz="2400"/>
              <a:t>）</a:t>
            </a:r>
            <a:r>
              <a:rPr sz="2400" b="1"/>
              <a:t>常识判断</a:t>
            </a:r>
            <a:r>
              <a:rPr sz="2400"/>
              <a:t>（包括：政治、经济、法律、人文与历史、科技与生活、国 </a:t>
            </a:r>
            <a:endParaRPr sz="2400"/>
          </a:p>
          <a:p>
            <a:pPr marL="0" indent="0">
              <a:buNone/>
            </a:pPr>
            <a:r>
              <a:rPr sz="2400"/>
              <a:t>                       情与地理、管理与公文等）    </a:t>
            </a:r>
            <a:r>
              <a:rPr sz="2400" b="1"/>
              <a:t>（</a:t>
            </a:r>
            <a:r>
              <a:rPr lang="en-US" altLang="zh-CN" sz="2400" b="1"/>
              <a:t>20</a:t>
            </a:r>
            <a:r>
              <a:rPr sz="2400" b="1"/>
              <a:t>题</a:t>
            </a:r>
            <a:r>
              <a:rPr sz="2400" b="1"/>
              <a:t>）</a:t>
            </a:r>
            <a:endParaRPr sz="2400" b="1"/>
          </a:p>
          <a:p>
            <a:pPr marL="0" indent="0">
              <a:buNone/>
            </a:pPr>
            <a:r>
              <a:rPr sz="2400"/>
              <a:t>（</a:t>
            </a:r>
            <a:r>
              <a:rPr lang="en-US" altLang="zh-CN" sz="2400"/>
              <a:t>2</a:t>
            </a:r>
            <a:r>
              <a:rPr sz="2400"/>
              <a:t>）</a:t>
            </a:r>
            <a:r>
              <a:rPr sz="2400" b="1"/>
              <a:t>言语理解与表达</a:t>
            </a:r>
            <a:r>
              <a:rPr sz="2400"/>
              <a:t>（包括：</a:t>
            </a:r>
            <a:r>
              <a:rPr sz="2400" b="1">
                <a:solidFill>
                  <a:srgbClr val="FF0000"/>
                </a:solidFill>
              </a:rPr>
              <a:t>逻辑填空</a:t>
            </a:r>
            <a:r>
              <a:rPr sz="2400"/>
              <a:t>、阅读理解、语句表达）</a:t>
            </a:r>
            <a:r>
              <a:rPr sz="2400" b="1"/>
              <a:t>（</a:t>
            </a:r>
            <a:r>
              <a:rPr lang="en-US" altLang="zh-CN" sz="2400" b="1"/>
              <a:t>40</a:t>
            </a:r>
            <a:r>
              <a:rPr sz="2400" b="1"/>
              <a:t>题</a:t>
            </a:r>
            <a:r>
              <a:rPr sz="2400" b="1"/>
              <a:t>）</a:t>
            </a:r>
            <a:endParaRPr sz="2400"/>
          </a:p>
          <a:p>
            <a:pPr marL="0" indent="0">
              <a:buNone/>
            </a:pPr>
            <a:r>
              <a:rPr sz="2400"/>
              <a:t>（</a:t>
            </a:r>
            <a:r>
              <a:rPr lang="en-US" altLang="zh-CN" sz="2400"/>
              <a:t>3</a:t>
            </a:r>
            <a:r>
              <a:rPr sz="2400"/>
              <a:t>）</a:t>
            </a:r>
            <a:r>
              <a:rPr sz="2400" b="1">
                <a:solidFill>
                  <a:schemeClr val="tx1"/>
                </a:solidFill>
              </a:rPr>
              <a:t>数量关系</a:t>
            </a:r>
            <a:r>
              <a:rPr sz="2400">
                <a:sym typeface="Symbol" panose="05050102010706020507" charset="0"/>
              </a:rPr>
              <a:t>数学运算（算数基础</a:t>
            </a:r>
            <a:r>
              <a:rPr lang="en-US" altLang="zh-CN" sz="2400">
                <a:sym typeface="Symbol" panose="05050102010706020507" charset="0"/>
              </a:rPr>
              <a:t>+</a:t>
            </a:r>
            <a:r>
              <a:rPr sz="2400">
                <a:sym typeface="Symbol" panose="05050102010706020507" charset="0"/>
              </a:rPr>
              <a:t>代数工具</a:t>
            </a:r>
            <a:r>
              <a:rPr lang="en-US" altLang="zh-CN" sz="2400">
                <a:sym typeface="Symbol" panose="05050102010706020507" charset="0"/>
              </a:rPr>
              <a:t>+</a:t>
            </a:r>
            <a:r>
              <a:rPr sz="2400">
                <a:sym typeface="Symbol" panose="05050102010706020507" charset="0"/>
              </a:rPr>
              <a:t>实战技巧）</a:t>
            </a:r>
            <a:r>
              <a:rPr sz="2400" b="1">
                <a:sym typeface="Symbol" panose="05050102010706020507" charset="0"/>
              </a:rPr>
              <a:t>（</a:t>
            </a:r>
            <a:r>
              <a:rPr lang="en-US" altLang="zh-CN" sz="2400" b="1">
                <a:sym typeface="Symbol" panose="05050102010706020507" charset="0"/>
              </a:rPr>
              <a:t>10/15</a:t>
            </a:r>
            <a:r>
              <a:rPr sz="2400" b="1">
                <a:sym typeface="Symbol" panose="05050102010706020507" charset="0"/>
              </a:rPr>
              <a:t>题</a:t>
            </a:r>
            <a:r>
              <a:rPr sz="2400" b="1">
                <a:sym typeface="Symbol" panose="05050102010706020507" charset="0"/>
              </a:rPr>
              <a:t>）</a:t>
            </a:r>
            <a:endParaRPr sz="2400"/>
          </a:p>
          <a:p>
            <a:pPr marL="0" indent="0">
              <a:buNone/>
            </a:pPr>
            <a:r>
              <a:rPr sz="2400"/>
              <a:t>（</a:t>
            </a:r>
            <a:r>
              <a:rPr lang="en-US" altLang="zh-CN" sz="2400"/>
              <a:t>4</a:t>
            </a:r>
            <a:r>
              <a:rPr sz="2400"/>
              <a:t>）</a:t>
            </a:r>
            <a:r>
              <a:rPr sz="2400" b="1">
                <a:solidFill>
                  <a:srgbClr val="FF0000"/>
                </a:solidFill>
              </a:rPr>
              <a:t>判断推理（包括：图形推理、定义判断、类比推理、逻辑判断）</a:t>
            </a:r>
            <a:r>
              <a:rPr lang="en-US" altLang="zh-CN" sz="2400" b="1">
                <a:solidFill>
                  <a:srgbClr val="FF0000"/>
                </a:solidFill>
              </a:rPr>
              <a:t>40</a:t>
            </a:r>
            <a:r>
              <a:rPr sz="2400" b="1">
                <a:solidFill>
                  <a:srgbClr val="FF0000"/>
                </a:solidFill>
              </a:rPr>
              <a:t>题</a:t>
            </a:r>
            <a:endParaRPr sz="2400"/>
          </a:p>
          <a:p>
            <a:pPr marL="0" indent="0">
              <a:buNone/>
            </a:pPr>
            <a:r>
              <a:rPr sz="2400"/>
              <a:t>（</a:t>
            </a:r>
            <a:r>
              <a:rPr lang="en-US" altLang="zh-CN" sz="2400"/>
              <a:t>5</a:t>
            </a:r>
            <a:r>
              <a:rPr sz="2400"/>
              <a:t>）</a:t>
            </a:r>
            <a:r>
              <a:rPr sz="2400" b="1"/>
              <a:t>资料分析</a:t>
            </a:r>
            <a:r>
              <a:rPr sz="2400"/>
              <a:t>（核心统计知识</a:t>
            </a:r>
            <a:r>
              <a:rPr lang="en-US" altLang="zh-CN" sz="2400"/>
              <a:t>+</a:t>
            </a:r>
            <a:r>
              <a:rPr sz="2400"/>
              <a:t>核心考察体系</a:t>
            </a:r>
            <a:r>
              <a:rPr lang="en-US" altLang="zh-CN" sz="2400"/>
              <a:t>+</a:t>
            </a:r>
            <a:r>
              <a:rPr sz="2400"/>
              <a:t>实战快解技巧）   （</a:t>
            </a:r>
            <a:r>
              <a:rPr lang="en-US" altLang="zh-CN" sz="2400"/>
              <a:t>20</a:t>
            </a:r>
            <a:r>
              <a:rPr sz="2400"/>
              <a:t>题）</a:t>
            </a:r>
            <a:endParaRPr sz="2400"/>
          </a:p>
          <a:p>
            <a:pPr marL="0" indent="0">
              <a:buNone/>
            </a:pPr>
            <a:r>
              <a:rPr sz="2400"/>
              <a:t>国家卷：</a:t>
            </a:r>
            <a:r>
              <a:rPr lang="en-US" altLang="zh-CN" sz="2400"/>
              <a:t>100</a:t>
            </a:r>
            <a:r>
              <a:rPr sz="2400"/>
              <a:t>分，</a:t>
            </a:r>
            <a:r>
              <a:rPr lang="en-US" altLang="zh-CN" sz="2400"/>
              <a:t>135</a:t>
            </a:r>
            <a:r>
              <a:rPr sz="2400"/>
              <a:t>题，</a:t>
            </a:r>
            <a:r>
              <a:rPr lang="en-US" altLang="zh-CN" sz="2400"/>
              <a:t>120</a:t>
            </a:r>
            <a:r>
              <a:rPr sz="2400"/>
              <a:t>分钟</a:t>
            </a:r>
            <a:endParaRPr sz="2400"/>
          </a:p>
          <a:p>
            <a:pPr marL="0" indent="0">
              <a:buNone/>
            </a:pPr>
            <a:r>
              <a:rPr sz="2400">
                <a:sym typeface="+mn-ea"/>
              </a:rPr>
              <a:t>四川卷：</a:t>
            </a:r>
            <a:r>
              <a:rPr lang="en-US" altLang="zh-CN" sz="2400">
                <a:sym typeface="+mn-ea"/>
              </a:rPr>
              <a:t>100</a:t>
            </a:r>
            <a:r>
              <a:rPr sz="2400">
                <a:sym typeface="+mn-ea"/>
              </a:rPr>
              <a:t>分，</a:t>
            </a:r>
            <a:r>
              <a:rPr lang="en-US" altLang="zh-CN" sz="2400">
                <a:sym typeface="+mn-ea"/>
              </a:rPr>
              <a:t>100</a:t>
            </a:r>
            <a:r>
              <a:rPr sz="2400">
                <a:sym typeface="+mn-ea"/>
              </a:rPr>
              <a:t>题，</a:t>
            </a:r>
            <a:r>
              <a:rPr lang="en-US" altLang="zh-CN" sz="2400">
                <a:sym typeface="+mn-ea"/>
              </a:rPr>
              <a:t>120</a:t>
            </a:r>
            <a:r>
              <a:rPr sz="2400">
                <a:sym typeface="+mn-ea"/>
              </a:rPr>
              <a:t>分钟</a:t>
            </a:r>
            <a:endParaRPr sz="2400"/>
          </a:p>
          <a:p>
            <a:pPr marL="0" indent="0">
              <a:buNone/>
            </a:pPr>
            <a:endParaRPr sz="2400"/>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ym typeface="+mn-ea"/>
              </a:rPr>
              <a:t>四川卷</a:t>
            </a:r>
            <a:r>
              <a:rPr lang="en-US" altLang="zh-CN">
                <a:sym typeface="+mn-ea"/>
              </a:rPr>
              <a:t>2016</a:t>
            </a:r>
            <a:r>
              <a:rPr>
                <a:sym typeface="+mn-ea"/>
              </a:rPr>
              <a:t>下</a:t>
            </a:r>
            <a:r>
              <a:rPr lang="en-US" altLang="zh-CN">
                <a:sym typeface="+mn-ea"/>
              </a:rPr>
              <a:t>-2019</a:t>
            </a:r>
            <a:r>
              <a:rPr>
                <a:sym typeface="+mn-ea"/>
              </a:rPr>
              <a:t>下</a:t>
            </a:r>
            <a:r>
              <a:rPr lang="en-US" altLang="zh-CN">
                <a:sym typeface="+mn-ea"/>
              </a:rPr>
              <a:t>6</a:t>
            </a:r>
            <a:r>
              <a:rPr>
                <a:sym typeface="+mn-ea"/>
              </a:rPr>
              <a:t>套</a:t>
            </a:r>
            <a:r>
              <a:rPr>
                <a:sym typeface="+mn-ea"/>
              </a:rPr>
              <a:t>《行政职业能力测验》</a:t>
            </a:r>
            <a:endParaRPr lang="zh-CN" altLang="en-US"/>
          </a:p>
        </p:txBody>
      </p:sp>
      <p:sp>
        <p:nvSpPr>
          <p:cNvPr id="3" name="内容占位符 2"/>
          <p:cNvSpPr>
            <a:spLocks noGrp="1"/>
          </p:cNvSpPr>
          <p:nvPr>
            <p:ph idx="1"/>
          </p:nvPr>
        </p:nvSpPr>
        <p:spPr/>
        <p:txBody>
          <a:bodyPr/>
          <a:p>
            <a:r>
              <a:rPr sz="2800" b="1">
                <a:sym typeface="+mn-ea"/>
              </a:rPr>
              <a:t>四川卷：</a:t>
            </a:r>
            <a:r>
              <a:rPr lang="en-US" altLang="zh-CN" sz="2800" b="1">
                <a:sym typeface="+mn-ea"/>
              </a:rPr>
              <a:t>100</a:t>
            </a:r>
            <a:r>
              <a:rPr sz="2800" b="1">
                <a:sym typeface="+mn-ea"/>
              </a:rPr>
              <a:t>分，</a:t>
            </a:r>
            <a:r>
              <a:rPr lang="en-US" altLang="zh-CN" sz="2800" b="1">
                <a:sym typeface="+mn-ea"/>
              </a:rPr>
              <a:t>100</a:t>
            </a:r>
            <a:r>
              <a:rPr sz="2800" b="1">
                <a:sym typeface="+mn-ea"/>
              </a:rPr>
              <a:t>题，</a:t>
            </a:r>
            <a:r>
              <a:rPr lang="en-US" altLang="zh-CN" sz="2800" b="1">
                <a:sym typeface="+mn-ea"/>
              </a:rPr>
              <a:t>120</a:t>
            </a:r>
            <a:r>
              <a:rPr sz="2800" b="1">
                <a:sym typeface="+mn-ea"/>
              </a:rPr>
              <a:t>分钟</a:t>
            </a:r>
            <a:endParaRPr sz="2800" b="1"/>
          </a:p>
          <a:p>
            <a:r>
              <a:rPr lang="zh-CN" altLang="en-US" sz="2800" b="1"/>
              <a:t>常识判断： </a:t>
            </a:r>
            <a:r>
              <a:rPr lang="en-US" altLang="zh-CN" sz="2800" b="1"/>
              <a:t>15</a:t>
            </a:r>
            <a:r>
              <a:rPr sz="2800" b="1"/>
              <a:t>题</a:t>
            </a:r>
            <a:endParaRPr sz="2800" b="1"/>
          </a:p>
          <a:p>
            <a:r>
              <a:rPr sz="2800" b="1">
                <a:sym typeface="+mn-ea"/>
              </a:rPr>
              <a:t>言语理解与表达：</a:t>
            </a:r>
            <a:r>
              <a:rPr sz="2800">
                <a:sym typeface="+mn-ea"/>
              </a:rPr>
              <a:t>（</a:t>
            </a:r>
            <a:r>
              <a:rPr sz="2800" b="1">
                <a:solidFill>
                  <a:srgbClr val="FF0000"/>
                </a:solidFill>
                <a:sym typeface="+mn-ea"/>
              </a:rPr>
              <a:t>逻辑填空</a:t>
            </a:r>
            <a:r>
              <a:rPr sz="2800">
                <a:sym typeface="+mn-ea"/>
              </a:rPr>
              <a:t>、阅读理解、语句表达）</a:t>
            </a:r>
            <a:r>
              <a:rPr sz="2800" b="1">
                <a:sym typeface="+mn-ea"/>
              </a:rPr>
              <a:t> </a:t>
            </a:r>
            <a:r>
              <a:rPr lang="en-US" altLang="zh-CN" sz="2800" b="1">
                <a:sym typeface="+mn-ea"/>
              </a:rPr>
              <a:t>30</a:t>
            </a:r>
            <a:r>
              <a:rPr sz="2800" b="1">
                <a:sym typeface="+mn-ea"/>
              </a:rPr>
              <a:t>题</a:t>
            </a:r>
            <a:endParaRPr sz="2800" b="1"/>
          </a:p>
          <a:p>
            <a:r>
              <a:rPr sz="2800" b="1"/>
              <a:t>数理关系：</a:t>
            </a:r>
            <a:r>
              <a:rPr lang="en-US" altLang="zh-CN" sz="2800" b="1"/>
              <a:t>10</a:t>
            </a:r>
            <a:r>
              <a:rPr sz="2800" b="1"/>
              <a:t>题</a:t>
            </a:r>
            <a:endParaRPr sz="2800" b="1"/>
          </a:p>
          <a:p>
            <a:r>
              <a:rPr sz="2800" b="1">
                <a:solidFill>
                  <a:srgbClr val="FF0000"/>
                </a:solidFill>
              </a:rPr>
              <a:t>判断推理：</a:t>
            </a:r>
            <a:r>
              <a:rPr lang="en-US" altLang="zh-CN" sz="2800" b="1">
                <a:solidFill>
                  <a:srgbClr val="FF0000"/>
                </a:solidFill>
              </a:rPr>
              <a:t>30</a:t>
            </a:r>
            <a:r>
              <a:rPr sz="2800" b="1">
                <a:solidFill>
                  <a:srgbClr val="FF0000"/>
                </a:solidFill>
              </a:rPr>
              <a:t>题</a:t>
            </a:r>
            <a:endParaRPr sz="2800" b="1">
              <a:solidFill>
                <a:srgbClr val="FF0000"/>
              </a:solidFill>
            </a:endParaRPr>
          </a:p>
          <a:p>
            <a:r>
              <a:rPr sz="2800" b="1"/>
              <a:t>资料分析：</a:t>
            </a:r>
            <a:r>
              <a:rPr lang="en-US" altLang="zh-CN" sz="2800" b="1"/>
              <a:t>15</a:t>
            </a:r>
            <a:r>
              <a:rPr sz="2800" b="1"/>
              <a:t>题</a:t>
            </a:r>
            <a:endParaRPr sz="2800" b="1"/>
          </a:p>
          <a:p>
            <a:r>
              <a:rPr sz="2800" b="1">
                <a:solidFill>
                  <a:srgbClr val="FF0000"/>
                </a:solidFill>
              </a:rPr>
              <a:t>《行测》与逻辑有关的题最少</a:t>
            </a:r>
            <a:r>
              <a:rPr lang="en-US" altLang="zh-CN" sz="2800" b="1">
                <a:solidFill>
                  <a:srgbClr val="FF0000"/>
                </a:solidFill>
              </a:rPr>
              <a:t>40</a:t>
            </a:r>
            <a:r>
              <a:rPr sz="2800" b="1">
                <a:solidFill>
                  <a:srgbClr val="FF0000"/>
                </a:solidFill>
              </a:rPr>
              <a:t>分，</a:t>
            </a:r>
            <a:endParaRPr sz="2800" b="1">
              <a:solidFill>
                <a:srgbClr val="FF0000"/>
              </a:solidFill>
            </a:endParaRP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46362" y="216735"/>
            <a:ext cx="10852237" cy="648000"/>
          </a:xfrm>
        </p:spPr>
        <p:txBody>
          <a:bodyPr/>
          <a:p>
            <a:r>
              <a:rPr lang="zh-CN" altLang="en-US"/>
              <a:t>行测题量分布：</a:t>
            </a:r>
            <a:r>
              <a:rPr lang="zh-CN" altLang="en-US">
                <a:solidFill>
                  <a:srgbClr val="FF0000"/>
                </a:solidFill>
              </a:rPr>
              <a:t>言语理解与表达和判断推理是行测重中之重</a:t>
            </a:r>
            <a:endParaRPr lang="zh-CN" altLang="en-US">
              <a:solidFill>
                <a:srgbClr val="FF0000"/>
              </a:solidFill>
            </a:endParaRPr>
          </a:p>
        </p:txBody>
      </p:sp>
      <p:pic>
        <p:nvPicPr>
          <p:cNvPr id="8" name="图片 4"/>
          <p:cNvPicPr>
            <a:picLocks noChangeAspect="1"/>
          </p:cNvPicPr>
          <p:nvPr>
            <p:ph idx="1"/>
          </p:nvPr>
        </p:nvPicPr>
        <p:blipFill>
          <a:blip r:embed="rId1">
            <a:lum bright="-6000" contrast="100000"/>
          </a:blip>
          <a:stretch>
            <a:fillRect/>
          </a:stretch>
        </p:blipFill>
        <p:spPr>
          <a:xfrm>
            <a:off x="98425" y="864235"/>
            <a:ext cx="11272520" cy="4610100"/>
          </a:xfrm>
          <a:prstGeom prst="rect">
            <a:avLst/>
          </a:prstGeom>
          <a:noFill/>
          <a:ln>
            <a:noFill/>
          </a:ln>
        </p:spPr>
      </p:pic>
    </p:spTree>
    <p:custDataLst>
      <p:tags r:id="rId2"/>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69882" y="157045"/>
            <a:ext cx="10852237" cy="648000"/>
          </a:xfrm>
        </p:spPr>
        <p:txBody>
          <a:bodyPr/>
          <a:p>
            <a:r>
              <a:rPr>
                <a:solidFill>
                  <a:schemeClr val="tx1"/>
                </a:solidFill>
                <a:sym typeface="+mn-ea"/>
              </a:rPr>
              <a:t>为什么要学逻辑学？</a:t>
            </a:r>
            <a:endParaRPr lang="zh-CN" altLang="en-US">
              <a:solidFill>
                <a:schemeClr val="tx1"/>
              </a:solidFill>
              <a:sym typeface="+mn-ea"/>
            </a:endParaRPr>
          </a:p>
        </p:txBody>
      </p:sp>
      <p:sp>
        <p:nvSpPr>
          <p:cNvPr id="3" name="内容占位符 2"/>
          <p:cNvSpPr>
            <a:spLocks noGrp="1"/>
          </p:cNvSpPr>
          <p:nvPr>
            <p:ph idx="1"/>
          </p:nvPr>
        </p:nvSpPr>
        <p:spPr>
          <a:xfrm>
            <a:off x="593725" y="911225"/>
            <a:ext cx="10928350" cy="5426075"/>
          </a:xfrm>
        </p:spPr>
        <p:txBody>
          <a:bodyPr/>
          <a:p>
            <a:pPr>
              <a:lnSpc>
                <a:spcPts val="3600"/>
              </a:lnSpc>
              <a:spcAft>
                <a:spcPts val="800"/>
              </a:spcAft>
            </a:pPr>
            <a:r>
              <a:rPr sz="2400" b="1">
                <a:sym typeface="+mn-ea"/>
              </a:rPr>
              <a:t>一个人想要很好地生存，不仅需要付出努力，而且还必须具有智慧。逻辑学是智慧之学。 </a:t>
            </a:r>
            <a:endParaRPr lang="zh-CN" altLang="en-US" sz="2400" b="1"/>
          </a:p>
          <a:p>
            <a:pPr>
              <a:lnSpc>
                <a:spcPts val="3600"/>
              </a:lnSpc>
              <a:spcAft>
                <a:spcPts val="800"/>
              </a:spcAft>
            </a:pPr>
            <a:r>
              <a:rPr sz="2400" b="1">
                <a:solidFill>
                  <a:srgbClr val="000000"/>
                </a:solidFill>
                <a:sym typeface="+mn-ea"/>
              </a:rPr>
              <a:t>那些具有创造型思维和复合型思维的人，他们比一般人更善于思考，更懂得如何提炼有用的信息、如何驾驭和运用知识去解决新问题。</a:t>
            </a:r>
            <a:endParaRPr lang="zh-CN" altLang="en-US" sz="2400" b="1">
              <a:solidFill>
                <a:srgbClr val="000000"/>
              </a:solidFill>
            </a:endParaRPr>
          </a:p>
          <a:p>
            <a:pPr>
              <a:lnSpc>
                <a:spcPts val="3600"/>
              </a:lnSpc>
              <a:spcAft>
                <a:spcPts val="800"/>
              </a:spcAft>
            </a:pPr>
            <a:r>
              <a:rPr sz="2400" b="1">
                <a:sym typeface="+mn-ea"/>
              </a:rPr>
              <a:t>世界著名的物理学家劳厄曾说过，“重要的不是获得知识，而是发展思维能力。教育无非是一切已学过的东西都遗忘掉的时候所剩下来的东西。”</a:t>
            </a:r>
            <a:endParaRPr sz="2400" b="1">
              <a:sym typeface="+mn-ea"/>
            </a:endParaRPr>
          </a:p>
          <a:p>
            <a:pPr>
              <a:lnSpc>
                <a:spcPts val="3600"/>
              </a:lnSpc>
              <a:spcAft>
                <a:spcPts val="800"/>
              </a:spcAft>
            </a:pPr>
            <a:r>
              <a:rPr sz="2400" b="1">
                <a:sym typeface="+mn-ea"/>
              </a:rPr>
              <a:t>怀特海</a:t>
            </a:r>
            <a:r>
              <a:rPr lang="en-US" altLang="zh-CN" sz="2400" b="1">
                <a:sym typeface="+mn-ea"/>
              </a:rPr>
              <a:t>(Whitehead)</a:t>
            </a:r>
            <a:r>
              <a:rPr sz="2400" b="1">
                <a:sym typeface="+mn-ea"/>
              </a:rPr>
              <a:t>甚至认为，没有逻辑就没有科学。</a:t>
            </a:r>
            <a:endParaRPr lang="zh-CN" altLang="en-US" sz="2400" b="1"/>
          </a:p>
          <a:p>
            <a:pPr>
              <a:lnSpc>
                <a:spcPts val="3600"/>
              </a:lnSpc>
              <a:spcAft>
                <a:spcPts val="800"/>
              </a:spcAft>
            </a:pPr>
            <a:r>
              <a:rPr sz="2400" b="1">
                <a:sym typeface="+mn-ea"/>
              </a:rPr>
              <a:t>爱因斯坦也曾说过，科学家的目的是要得到关于自然界的一个逻辑上前后一贯的摹写。他指出：“西方科学的发展是以两个伟大的成就为基础，那就是：希腊哲学家发明形式逻辑体系（在欧几里得几何学中），以及通过系统的实验发现有可能找出的因果关系（在文艺复兴时期）。</a:t>
            </a:r>
            <a:endParaRPr lang="zh-CN" altLang="en-US" sz="2400"/>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olidFill>
                  <a:schemeClr val="tx1"/>
                </a:solidFill>
                <a:sym typeface="+mn-ea"/>
              </a:rPr>
              <a:t>逻辑学的基础地位</a:t>
            </a:r>
            <a:endParaRPr lang="zh-CN" altLang="en-US">
              <a:solidFill>
                <a:schemeClr val="tx1"/>
              </a:solidFill>
              <a:sym typeface="+mn-ea"/>
            </a:endParaRPr>
          </a:p>
        </p:txBody>
      </p:sp>
      <p:sp>
        <p:nvSpPr>
          <p:cNvPr id="3" name="内容占位符 2"/>
          <p:cNvSpPr>
            <a:spLocks noGrp="1"/>
          </p:cNvSpPr>
          <p:nvPr>
            <p:ph idx="1"/>
          </p:nvPr>
        </p:nvSpPr>
        <p:spPr/>
        <p:txBody>
          <a:bodyPr/>
          <a:p>
            <a:r>
              <a:rPr sz="2400" b="1">
                <a:solidFill>
                  <a:srgbClr val="FF3300"/>
                </a:solidFill>
                <a:sym typeface="+mn-ea"/>
              </a:rPr>
              <a:t>逻辑学是人文社会科学和自然科学共同的基础学科。</a:t>
            </a:r>
            <a:r>
              <a:rPr lang="en-US" altLang="zh-CN" sz="2400" b="1">
                <a:solidFill>
                  <a:schemeClr val="tx1"/>
                </a:solidFill>
                <a:sym typeface="+mn-ea"/>
              </a:rPr>
              <a:t>1974</a:t>
            </a:r>
            <a:r>
              <a:rPr sz="2400" b="1">
                <a:solidFill>
                  <a:schemeClr val="tx1"/>
                </a:solidFill>
                <a:sym typeface="+mn-ea"/>
              </a:rPr>
              <a:t>年联合国教科文组织规定的七大基础学科依次为数学、逻辑学、天文学和天体物理学、地球科学和空间科学、物理学、化学、生命科学。由此可见，</a:t>
            </a:r>
            <a:r>
              <a:rPr sz="2400" b="1">
                <a:solidFill>
                  <a:schemeClr val="tx1"/>
                </a:solidFill>
                <a:sym typeface="+mn-ea"/>
              </a:rPr>
              <a:t>逻辑学在人类整个知识结构中的基础地位。</a:t>
            </a:r>
            <a:endParaRPr sz="2400" b="1">
              <a:solidFill>
                <a:schemeClr val="tx1"/>
              </a:solidFill>
              <a:sym typeface="+mn-ea"/>
            </a:endParaRPr>
          </a:p>
          <a:p>
            <a:r>
              <a:rPr sz="2400" b="1">
                <a:solidFill>
                  <a:schemeClr val="tx1"/>
                </a:solidFill>
                <a:sym typeface="+mn-ea"/>
              </a:rPr>
              <a:t>信息时代的核心基础理论是逻辑学，因为：1）逻辑是所有信息系统的DNA，各种信息处理过程都是逻辑的语义解释和具体实现；2）信息时代的基本科学问题应归结为信息的结构和运动规律，其中包括传统信息处理和智能信息处理；3）</a:t>
            </a:r>
            <a:r>
              <a:rPr sz="2400" b="1">
                <a:solidFill>
                  <a:srgbClr val="FF0000"/>
                </a:solidFill>
                <a:sym typeface="+mn-ea"/>
              </a:rPr>
              <a:t>逻辑学不仅仅是研究思维规律的科学，更是研究信息结构和信息处理规律的科学</a:t>
            </a:r>
            <a:r>
              <a:rPr b="1">
                <a:solidFill>
                  <a:srgbClr val="FF0000"/>
                </a:solidFill>
                <a:sym typeface="+mn-ea"/>
              </a:rPr>
              <a:t>。</a:t>
            </a:r>
            <a:endParaRPr lang="zh-CN" altLang="en-US" b="1">
              <a:solidFill>
                <a:srgbClr val="FF0000"/>
              </a:solidFill>
              <a:sym typeface="+mn-ea"/>
            </a:endParaRPr>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ym typeface="+mn-ea"/>
              </a:rPr>
              <a:t>人工智能逻辑</a:t>
            </a:r>
            <a:endParaRPr lang="zh-CN" altLang="en-US"/>
          </a:p>
        </p:txBody>
      </p:sp>
      <p:sp>
        <p:nvSpPr>
          <p:cNvPr id="3" name="内容占位符 2"/>
          <p:cNvSpPr>
            <a:spLocks noGrp="1"/>
          </p:cNvSpPr>
          <p:nvPr>
            <p:ph idx="1"/>
          </p:nvPr>
        </p:nvSpPr>
        <p:spPr/>
        <p:txBody>
          <a:bodyPr/>
          <a:p>
            <a:r>
              <a:rPr sz="2400" b="1">
                <a:sym typeface="+mn-ea"/>
              </a:rPr>
              <a:t>近年来逻辑学发展迅速，目前已经有数十种不同形式和用途的逻辑学。</a:t>
            </a:r>
            <a:endParaRPr lang="zh-CN" altLang="en-US" sz="2400" b="1"/>
          </a:p>
          <a:p>
            <a:r>
              <a:rPr lang="zh-CN" altLang="en-US" sz="2400" b="1"/>
              <a:t>在人工智能学科强大应用需求的牵引下，人工智能逻辑成了逻辑学研究的重中之重，它采用逻辑方法和逻辑成果研究智能主体（agent）如何处理知识，重点研究专家经验知识、常识推理和智能行为。最早研究人工智能逻辑的是John McCarthy，他提出采用逻辑方法来形式化人工智能需要解决的问题。目前人工智能逻辑已经发展出了许多分支，如：缺省逻辑、非单调模态逻辑、时序逻辑、多值逻辑、模糊逻辑、非单调逻辑、组合逻辑、限定逻辑、认知逻辑、自认知逻辑、条件句逻辑、相信修正逻辑、信念-愿望-意图逻辑、描述逻辑、动态逻辑、真值维护系统等等。由此可见：人工智能逻辑是一类严格意义上的逻辑和一类不严格意义上的逻辑的混合。</a:t>
            </a:r>
            <a:endParaRPr lang="zh-CN" altLang="en-US" sz="2400" b="1"/>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51747" y="320240"/>
            <a:ext cx="10852237" cy="648000"/>
          </a:xfrm>
        </p:spPr>
        <p:txBody>
          <a:bodyPr/>
          <a:p>
            <a:pPr algn="ctr"/>
            <a:r>
              <a:rPr>
                <a:sym typeface="+mn-ea"/>
              </a:rPr>
              <a:t>良好的逻辑思维：胸怀苍生，面向世界</a:t>
            </a:r>
            <a:endParaRPr lang="zh-CN" altLang="en-US"/>
          </a:p>
        </p:txBody>
      </p:sp>
      <p:sp>
        <p:nvSpPr>
          <p:cNvPr id="3" name="内容占位符 2"/>
          <p:cNvSpPr>
            <a:spLocks noGrp="1"/>
          </p:cNvSpPr>
          <p:nvPr>
            <p:ph idx="1"/>
          </p:nvPr>
        </p:nvSpPr>
        <p:spPr>
          <a:xfrm>
            <a:off x="669925" y="1296035"/>
            <a:ext cx="10852150" cy="5238750"/>
          </a:xfrm>
        </p:spPr>
        <p:txBody>
          <a:bodyPr/>
          <a:p>
            <a:pPr algn="l"/>
            <a:r>
              <a:rPr sz="2400" b="1">
                <a:sym typeface="+mn-ea"/>
              </a:rPr>
              <a:t>邓小平成为当代中国的精神导师、一代巨人的关键是：他具有良好的思维方法。 邓小平具有良好的逻辑思维能力，是当代中国需要培养的理性公民的典范。</a:t>
            </a:r>
            <a:endParaRPr lang="zh-CN" altLang="en-US" sz="2400" b="1"/>
          </a:p>
          <a:p>
            <a:r>
              <a:rPr sz="2400" b="1">
                <a:solidFill>
                  <a:srgbClr val="FF3300"/>
                </a:solidFill>
                <a:sym typeface="+mn-ea"/>
              </a:rPr>
              <a:t>邓小平：</a:t>
            </a:r>
            <a:r>
              <a:rPr lang="en-US" altLang="zh-CN" sz="2400" b="1">
                <a:solidFill>
                  <a:srgbClr val="FF3300"/>
                </a:solidFill>
                <a:sym typeface="+mn-ea"/>
              </a:rPr>
              <a:t>“</a:t>
            </a:r>
            <a:r>
              <a:rPr sz="2400" b="1">
                <a:solidFill>
                  <a:srgbClr val="FF3300"/>
                </a:solidFill>
                <a:sym typeface="+mn-ea"/>
              </a:rPr>
              <a:t>我是中国人民的儿子，我深情地爱着我的祖国和人民。</a:t>
            </a:r>
            <a:r>
              <a:rPr lang="en-US" altLang="zh-CN" sz="2400" b="1">
                <a:solidFill>
                  <a:srgbClr val="FF3300"/>
                </a:solidFill>
                <a:sym typeface="+mn-ea"/>
              </a:rPr>
              <a:t>”</a:t>
            </a:r>
            <a:endParaRPr lang="zh-CN" altLang="en-US" sz="2400" b="1">
              <a:solidFill>
                <a:srgbClr val="FF3300"/>
              </a:solidFill>
            </a:endParaRPr>
          </a:p>
          <a:p>
            <a:r>
              <a:rPr sz="2400" b="1">
                <a:sym typeface="+mn-ea"/>
              </a:rPr>
              <a:t>同学们：你们爱着谁？  麻木不仁？胸无大志？</a:t>
            </a:r>
            <a:endParaRPr lang="zh-CN" altLang="en-US" sz="2400" b="1"/>
          </a:p>
          <a:p>
            <a:r>
              <a:rPr sz="2400" b="1">
                <a:solidFill>
                  <a:schemeClr val="tx1"/>
                </a:solidFill>
                <a:sym typeface="+mn-ea"/>
              </a:rPr>
              <a:t>自己吃饭都存在问题，还胸怀天下？</a:t>
            </a:r>
            <a:endParaRPr sz="2400" b="1">
              <a:solidFill>
                <a:schemeClr val="tx1"/>
              </a:solidFill>
              <a:sym typeface="+mn-ea"/>
            </a:endParaRPr>
          </a:p>
          <a:p>
            <a:r>
              <a:rPr sz="2400" b="1">
                <a:solidFill>
                  <a:schemeClr val="tx1"/>
                </a:solidFill>
                <a:sym typeface="+mn-ea"/>
              </a:rPr>
              <a:t>上帝公平吗？“善有善报，恶有恶报”符合逻辑吗？</a:t>
            </a:r>
            <a:endParaRPr sz="2400" b="1">
              <a:solidFill>
                <a:schemeClr val="tx1"/>
              </a:solidFill>
              <a:sym typeface="+mn-ea"/>
            </a:endParaRPr>
          </a:p>
          <a:p>
            <a:r>
              <a:rPr sz="2400" b="1">
                <a:solidFill>
                  <a:schemeClr val="tx1"/>
                </a:solidFill>
                <a:sym typeface="+mn-ea"/>
              </a:rPr>
              <a:t>善待你遇到的每一个人，你富有的概率大还是小？</a:t>
            </a:r>
            <a:endParaRPr lang="zh-CN" altLang="en-US" sz="2400" b="1">
              <a:solidFill>
                <a:schemeClr val="tx1"/>
              </a:solidFill>
            </a:endParaRPr>
          </a:p>
          <a:p>
            <a:r>
              <a:rPr sz="2400" b="1">
                <a:solidFill>
                  <a:srgbClr val="FF0000"/>
                </a:solidFill>
                <a:sym typeface="+mn-ea"/>
              </a:rPr>
              <a:t>每天用善良、微笑和爱拥抱世界，你幸福快乐的概率大还是小？</a:t>
            </a:r>
            <a:endParaRPr sz="2400" b="1">
              <a:sym typeface="+mn-ea"/>
            </a:endParaRPr>
          </a:p>
          <a:p>
            <a:endParaRPr lang="zh-CN" altLang="en-US" sz="2400" b="1"/>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97797" y="242770"/>
            <a:ext cx="10852237" cy="648000"/>
          </a:xfrm>
        </p:spPr>
        <p:txBody>
          <a:bodyPr/>
          <a:p>
            <a:r>
              <a:rPr lang="zh-CN" altLang="en-US"/>
              <a:t>逻辑学是智慧之学</a:t>
            </a:r>
            <a:endParaRPr lang="zh-CN" altLang="en-US"/>
          </a:p>
        </p:txBody>
      </p:sp>
      <p:sp>
        <p:nvSpPr>
          <p:cNvPr id="3" name="内容占位符 2"/>
          <p:cNvSpPr>
            <a:spLocks noGrp="1"/>
          </p:cNvSpPr>
          <p:nvPr>
            <p:ph idx="1"/>
          </p:nvPr>
        </p:nvSpPr>
        <p:spPr>
          <a:xfrm>
            <a:off x="403225" y="908685"/>
            <a:ext cx="10946765" cy="5642610"/>
          </a:xfrm>
        </p:spPr>
        <p:txBody>
          <a:bodyPr/>
          <a:p>
            <a:r>
              <a:rPr lang="zh-CN" altLang="en-US" sz="2400" b="1"/>
              <a:t>现实生活中逻辑推理无处不在。</a:t>
            </a:r>
            <a:endParaRPr lang="zh-CN" altLang="en-US" sz="2400" b="1"/>
          </a:p>
          <a:p>
            <a:r>
              <a:rPr lang="zh-CN" altLang="en-US" sz="2400" b="1">
                <a:solidFill>
                  <a:srgbClr val="FF0000"/>
                </a:solidFill>
              </a:rPr>
              <a:t>经常用到假言易位律：</a:t>
            </a:r>
            <a:r>
              <a:rPr lang="en-US" altLang="zh-CN" sz="2400" b="1">
                <a:solidFill>
                  <a:srgbClr val="FF0000"/>
                </a:solidFill>
              </a:rPr>
              <a:t>(p</a:t>
            </a:r>
            <a:r>
              <a:rPr lang="en-US" altLang="zh-CN" sz="2400" b="1">
                <a:solidFill>
                  <a:srgbClr val="FF0000"/>
                </a:solidFill>
                <a:sym typeface="Symbol" panose="05050102010706020507" charset="0"/>
              </a:rPr>
              <a:t>q)(qp)</a:t>
            </a:r>
            <a:r>
              <a:rPr sz="2400" b="1">
                <a:solidFill>
                  <a:srgbClr val="FF0000"/>
                </a:solidFill>
                <a:sym typeface="Symbol" panose="05050102010706020507" charset="0"/>
              </a:rPr>
              <a:t>。</a:t>
            </a:r>
            <a:endParaRPr lang="zh-CN" altLang="en-US" sz="2400" b="1">
              <a:solidFill>
                <a:srgbClr val="FF0000"/>
              </a:solidFill>
            </a:endParaRPr>
          </a:p>
          <a:p>
            <a:r>
              <a:rPr lang="zh-CN" altLang="en-US" sz="2400" b="1"/>
              <a:t>能够直视每个人眼睛的乞丐是真乞丐还是假乞丐？</a:t>
            </a:r>
            <a:endParaRPr lang="zh-CN" altLang="en-US" sz="2400" b="1"/>
          </a:p>
          <a:p>
            <a:r>
              <a:rPr sz="2400" b="1"/>
              <a:t>妈妈在儿子班级群里说：</a:t>
            </a:r>
            <a:r>
              <a:rPr lang="en-US" altLang="zh-CN" sz="2400" b="1"/>
              <a:t>“</a:t>
            </a:r>
            <a:r>
              <a:rPr sz="2400" b="1"/>
              <a:t>儿子说我又老又丑！</a:t>
            </a:r>
            <a:r>
              <a:rPr lang="en-US" altLang="zh-CN" sz="2400" b="1"/>
              <a:t>”</a:t>
            </a:r>
            <a:r>
              <a:rPr sz="2400" b="1"/>
              <a:t>，没有见到妈妈，能否推出真的</a:t>
            </a:r>
            <a:r>
              <a:rPr lang="en-US" altLang="zh-CN" sz="2400" b="1"/>
              <a:t>“</a:t>
            </a:r>
            <a:r>
              <a:rPr sz="2400" b="1">
                <a:sym typeface="+mn-ea"/>
              </a:rPr>
              <a:t>妈妈又老又丑</a:t>
            </a:r>
            <a:r>
              <a:rPr lang="en-US" altLang="zh-CN" sz="2400" b="1"/>
              <a:t>”</a:t>
            </a:r>
            <a:r>
              <a:rPr sz="2400" b="1"/>
              <a:t>？</a:t>
            </a:r>
            <a:endParaRPr sz="2400" b="1"/>
          </a:p>
          <a:p>
            <a:r>
              <a:rPr sz="2400" b="1"/>
              <a:t>语句的意义一定要在语境中理解：</a:t>
            </a:r>
            <a:endParaRPr sz="2400" b="1"/>
          </a:p>
          <a:p>
            <a:r>
              <a:rPr sz="2400" b="1"/>
              <a:t>（</a:t>
            </a:r>
            <a:r>
              <a:rPr lang="en-US" altLang="zh-CN" sz="2400" b="1"/>
              <a:t>1</a:t>
            </a:r>
            <a:r>
              <a:rPr sz="2400" b="1"/>
              <a:t>）知心朋友那里讲</a:t>
            </a:r>
            <a:r>
              <a:rPr lang="en-US" altLang="zh-CN" sz="2400" b="1"/>
              <a:t>“</a:t>
            </a:r>
            <a:r>
              <a:rPr sz="2400" b="1"/>
              <a:t>我很穷</a:t>
            </a:r>
            <a:r>
              <a:rPr lang="en-US" altLang="zh-CN" sz="2400" b="1"/>
              <a:t>”</a:t>
            </a:r>
            <a:r>
              <a:rPr sz="2400" b="1"/>
              <a:t>；（</a:t>
            </a:r>
            <a:r>
              <a:rPr lang="en-US" altLang="zh-CN" sz="2400" b="1"/>
              <a:t>2</a:t>
            </a:r>
            <a:r>
              <a:rPr sz="2400" b="1"/>
              <a:t>）公开大方地讲</a:t>
            </a:r>
            <a:r>
              <a:rPr lang="en-US" altLang="zh-CN" sz="2400" b="1"/>
              <a:t>“</a:t>
            </a:r>
            <a:r>
              <a:rPr sz="2400" b="1"/>
              <a:t>我很穷</a:t>
            </a:r>
            <a:r>
              <a:rPr lang="en-US" altLang="zh-CN" sz="2400" b="1"/>
              <a:t>”</a:t>
            </a:r>
            <a:endParaRPr lang="en-US" altLang="zh-CN" sz="2400" b="1"/>
          </a:p>
          <a:p>
            <a:r>
              <a:rPr sz="2400" b="1"/>
              <a:t>（</a:t>
            </a:r>
            <a:r>
              <a:rPr lang="en-US" altLang="zh-CN" sz="2400" b="1"/>
              <a:t>3</a:t>
            </a:r>
            <a:r>
              <a:rPr sz="2400" b="1"/>
              <a:t>）新闻联播：新冠肺炎浙江</a:t>
            </a:r>
            <a:r>
              <a:rPr lang="en-US" altLang="zh-CN" sz="2400" b="1"/>
              <a:t>1172</a:t>
            </a:r>
            <a:r>
              <a:rPr sz="2400" b="1"/>
              <a:t>确诊病例中零死亡；</a:t>
            </a:r>
            <a:r>
              <a:rPr sz="2400" b="1">
                <a:sym typeface="+mn-ea"/>
              </a:rPr>
              <a:t>（</a:t>
            </a:r>
            <a:r>
              <a:rPr lang="en-US" altLang="zh-CN" sz="2400" b="1">
                <a:sym typeface="+mn-ea"/>
              </a:rPr>
              <a:t>4</a:t>
            </a:r>
            <a:r>
              <a:rPr sz="2400" b="1">
                <a:sym typeface="+mn-ea"/>
              </a:rPr>
              <a:t>）闲谈中：新冠肺炎浙江</a:t>
            </a:r>
            <a:r>
              <a:rPr lang="en-US" altLang="zh-CN" sz="2400" b="1">
                <a:sym typeface="+mn-ea"/>
              </a:rPr>
              <a:t>1172</a:t>
            </a:r>
            <a:r>
              <a:rPr sz="2400" b="1">
                <a:sym typeface="+mn-ea"/>
              </a:rPr>
              <a:t>确诊病例中零死亡。如果有人加一句：有人为了保住乌纱帽故意造假。            （</a:t>
            </a:r>
            <a:r>
              <a:rPr lang="en-US" altLang="zh-CN" sz="2400" b="1">
                <a:sym typeface="+mn-ea"/>
              </a:rPr>
              <a:t>5</a:t>
            </a:r>
            <a:r>
              <a:rPr sz="2400" b="1">
                <a:sym typeface="+mn-ea"/>
              </a:rPr>
              <a:t>）你是不是骂人骂多了，嗓子才坏的？</a:t>
            </a:r>
            <a:endParaRPr sz="2400" b="1">
              <a:sym typeface="+mn-ea"/>
            </a:endParaRPr>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olidFill>
                  <a:schemeClr val="tx1"/>
                </a:solidFill>
                <a:sym typeface="+mn-ea"/>
              </a:rPr>
              <a:t>学习普通逻辑的意义</a:t>
            </a:r>
            <a:endParaRPr lang="zh-CN" altLang="en-US">
              <a:solidFill>
                <a:schemeClr val="tx1"/>
              </a:solidFill>
              <a:sym typeface="+mn-ea"/>
            </a:endParaRPr>
          </a:p>
        </p:txBody>
      </p:sp>
      <p:sp>
        <p:nvSpPr>
          <p:cNvPr id="3" name="内容占位符 2"/>
          <p:cNvSpPr>
            <a:spLocks noGrp="1"/>
          </p:cNvSpPr>
          <p:nvPr>
            <p:ph idx="1"/>
          </p:nvPr>
        </p:nvSpPr>
        <p:spPr/>
        <p:txBody>
          <a:bodyPr/>
          <a:p>
            <a:pPr>
              <a:spcBef>
                <a:spcPct val="0"/>
              </a:spcBef>
              <a:buClrTx/>
              <a:buFont typeface="Wingdings" panose="05000000000000000000" pitchFamily="2" charset="2"/>
              <a:buNone/>
            </a:pPr>
            <a:r>
              <a:rPr lang="en-US" altLang="zh-CN" sz="2400" b="1">
                <a:solidFill>
                  <a:srgbClr val="0066FF"/>
                </a:solidFill>
                <a:sym typeface="+mn-ea"/>
              </a:rPr>
              <a:t>1</a:t>
            </a:r>
            <a:r>
              <a:rPr sz="2400" b="1">
                <a:solidFill>
                  <a:srgbClr val="0066FF"/>
                </a:solidFill>
                <a:sym typeface="+mn-ea"/>
              </a:rPr>
              <a:t>、掌握逻辑工具</a:t>
            </a:r>
            <a:r>
              <a:rPr sz="2400" b="1">
                <a:solidFill>
                  <a:srgbClr val="0066FF"/>
                </a:solidFill>
                <a:sym typeface="Symbol" panose="05050102010706020507" charset="0"/>
              </a:rPr>
              <a:t></a:t>
            </a:r>
            <a:r>
              <a:rPr sz="2400" b="1">
                <a:solidFill>
                  <a:srgbClr val="0066FF"/>
                </a:solidFill>
                <a:sym typeface="+mn-ea"/>
              </a:rPr>
              <a:t>工具性</a:t>
            </a:r>
            <a:endParaRPr lang="zh-CN" altLang="en-US" sz="2400" b="1">
              <a:solidFill>
                <a:srgbClr val="0066FF"/>
              </a:solidFill>
            </a:endParaRPr>
          </a:p>
          <a:p>
            <a:pPr>
              <a:lnSpc>
                <a:spcPct val="130000"/>
              </a:lnSpc>
            </a:pPr>
            <a:r>
              <a:rPr sz="2400" b="1">
                <a:solidFill>
                  <a:schemeClr val="tx1"/>
                </a:solidFill>
                <a:sym typeface="+mn-ea"/>
              </a:rPr>
              <a:t>有助于提高逻辑思维的能力。</a:t>
            </a:r>
            <a:endParaRPr lang="zh-CN" altLang="en-US" sz="2400" b="1">
              <a:solidFill>
                <a:schemeClr val="tx1"/>
              </a:solidFill>
            </a:endParaRPr>
          </a:p>
          <a:p>
            <a:pPr>
              <a:lnSpc>
                <a:spcPct val="130000"/>
              </a:lnSpc>
            </a:pPr>
            <a:r>
              <a:rPr sz="2400" b="1">
                <a:solidFill>
                  <a:schemeClr val="tx1"/>
                </a:solidFill>
                <a:sym typeface="+mn-ea"/>
              </a:rPr>
              <a:t>有助于提高正确表达思想的能力。</a:t>
            </a:r>
            <a:endParaRPr lang="zh-CN" altLang="en-US" sz="2400" b="1">
              <a:solidFill>
                <a:schemeClr val="tx1"/>
              </a:solidFill>
            </a:endParaRPr>
          </a:p>
          <a:p>
            <a:pPr>
              <a:lnSpc>
                <a:spcPct val="130000"/>
              </a:lnSpc>
            </a:pPr>
            <a:r>
              <a:rPr sz="2400" b="1">
                <a:solidFill>
                  <a:schemeClr val="tx1"/>
                </a:solidFill>
                <a:sym typeface="+mn-ea"/>
              </a:rPr>
              <a:t>有助于提高识别错误、揭露诡辩的能力。</a:t>
            </a:r>
            <a:endParaRPr sz="2400" b="1">
              <a:solidFill>
                <a:schemeClr val="tx2"/>
              </a:solidFill>
              <a:sym typeface="+mn-ea"/>
            </a:endParaRPr>
          </a:p>
          <a:p>
            <a:pPr>
              <a:buClrTx/>
              <a:buFont typeface="Wingdings" panose="05000000000000000000" pitchFamily="2" charset="2"/>
              <a:buNone/>
            </a:pPr>
            <a:r>
              <a:rPr lang="en-US" altLang="zh-CN" sz="2400" b="1">
                <a:solidFill>
                  <a:srgbClr val="0066FF"/>
                </a:solidFill>
                <a:sym typeface="+mn-ea"/>
              </a:rPr>
              <a:t>2</a:t>
            </a:r>
            <a:r>
              <a:rPr sz="2400" b="1">
                <a:solidFill>
                  <a:srgbClr val="0066FF"/>
                </a:solidFill>
                <a:sym typeface="+mn-ea"/>
              </a:rPr>
              <a:t>、培养逻辑观念</a:t>
            </a:r>
            <a:r>
              <a:rPr sz="2400" b="1">
                <a:solidFill>
                  <a:srgbClr val="0066FF"/>
                </a:solidFill>
                <a:sym typeface="Symbol" panose="05050102010706020507" charset="0"/>
              </a:rPr>
              <a:t></a:t>
            </a:r>
            <a:r>
              <a:rPr sz="2400" b="1">
                <a:solidFill>
                  <a:srgbClr val="0066FF"/>
                </a:solidFill>
                <a:sym typeface="+mn-ea"/>
              </a:rPr>
              <a:t>人文性</a:t>
            </a:r>
            <a:endParaRPr lang="zh-CN" altLang="en-US" sz="2400" b="1">
              <a:solidFill>
                <a:srgbClr val="0066FF"/>
              </a:solidFill>
            </a:endParaRPr>
          </a:p>
          <a:p>
            <a:pPr>
              <a:lnSpc>
                <a:spcPct val="120000"/>
              </a:lnSpc>
              <a:buNone/>
            </a:pPr>
            <a:r>
              <a:rPr sz="2400" b="1">
                <a:sym typeface="+mn-ea"/>
              </a:rPr>
              <a:t>   </a:t>
            </a:r>
            <a:r>
              <a:rPr sz="2400" b="1">
                <a:solidFill>
                  <a:schemeClr val="tx1"/>
                </a:solidFill>
                <a:sym typeface="+mn-ea"/>
              </a:rPr>
              <a:t> 逻辑观念是指自觉应用逻辑工具探索真理、维护真理、传播真理的观念。</a:t>
            </a:r>
            <a:endParaRPr lang="zh-CN" altLang="en-US" sz="2400" b="1">
              <a:solidFill>
                <a:schemeClr val="tx1"/>
              </a:solidFill>
            </a:endParaRPr>
          </a:p>
          <a:p>
            <a:pPr>
              <a:lnSpc>
                <a:spcPct val="130000"/>
              </a:lnSpc>
            </a:pPr>
            <a:r>
              <a:rPr sz="2400" b="1">
                <a:solidFill>
                  <a:schemeClr val="tx1"/>
                </a:solidFill>
                <a:sym typeface="+mn-ea"/>
              </a:rPr>
              <a:t> 第一</a:t>
            </a:r>
            <a:r>
              <a:rPr lang="en-US" altLang="zh-CN" sz="2400" b="1">
                <a:solidFill>
                  <a:schemeClr val="tx1"/>
                </a:solidFill>
                <a:sym typeface="+mn-ea"/>
              </a:rPr>
              <a:t>,</a:t>
            </a:r>
            <a:r>
              <a:rPr sz="2400" b="1">
                <a:solidFill>
                  <a:schemeClr val="tx1"/>
                </a:solidFill>
                <a:sym typeface="+mn-ea"/>
              </a:rPr>
              <a:t>独立思考、敢于怀疑。           第二</a:t>
            </a:r>
            <a:r>
              <a:rPr lang="en-US" altLang="zh-CN" sz="2400" b="1">
                <a:solidFill>
                  <a:schemeClr val="tx1"/>
                </a:solidFill>
                <a:sym typeface="+mn-ea"/>
              </a:rPr>
              <a:t>,</a:t>
            </a:r>
            <a:r>
              <a:rPr sz="2400" b="1">
                <a:solidFill>
                  <a:schemeClr val="tx1"/>
                </a:solidFill>
                <a:sym typeface="+mn-ea"/>
              </a:rPr>
              <a:t>勇于探索、大胆创新。</a:t>
            </a:r>
            <a:endParaRPr lang="zh-CN" altLang="en-US" sz="2400" b="1">
              <a:solidFill>
                <a:schemeClr val="tx1"/>
              </a:solidFill>
            </a:endParaRPr>
          </a:p>
          <a:p>
            <a:pPr>
              <a:lnSpc>
                <a:spcPct val="130000"/>
              </a:lnSpc>
            </a:pPr>
            <a:r>
              <a:rPr sz="2400" b="1">
                <a:solidFill>
                  <a:schemeClr val="tx1"/>
                </a:solidFill>
                <a:sym typeface="+mn-ea"/>
              </a:rPr>
              <a:t> 第三</a:t>
            </a:r>
            <a:r>
              <a:rPr lang="en-US" altLang="zh-CN" sz="2400" b="1">
                <a:solidFill>
                  <a:schemeClr val="tx1"/>
                </a:solidFill>
                <a:sym typeface="+mn-ea"/>
              </a:rPr>
              <a:t>,</a:t>
            </a:r>
            <a:r>
              <a:rPr sz="2400" b="1">
                <a:solidFill>
                  <a:schemeClr val="tx1"/>
                </a:solidFill>
                <a:sym typeface="+mn-ea"/>
              </a:rPr>
              <a:t>思维和语言表达要有严密性。  第四</a:t>
            </a:r>
            <a:r>
              <a:rPr lang="en-US" altLang="zh-CN" sz="2400" b="1">
                <a:solidFill>
                  <a:schemeClr val="tx1"/>
                </a:solidFill>
                <a:sym typeface="+mn-ea"/>
              </a:rPr>
              <a:t>,</a:t>
            </a:r>
            <a:r>
              <a:rPr sz="2400" b="1">
                <a:solidFill>
                  <a:schemeClr val="tx1"/>
                </a:solidFill>
                <a:sym typeface="+mn-ea"/>
              </a:rPr>
              <a:t>提出任何主张都要有论证性。</a:t>
            </a:r>
            <a:endParaRPr lang="zh-CN" altLang="en-US" sz="2400" b="1">
              <a:solidFill>
                <a:schemeClr val="tx1"/>
              </a:solidFill>
              <a:sym typeface="+mn-ea"/>
            </a:endParaRPr>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69925" y="346075"/>
            <a:ext cx="10852150" cy="1039495"/>
          </a:xfrm>
        </p:spPr>
        <p:txBody>
          <a:bodyPr/>
          <a:p>
            <a:pPr>
              <a:lnSpc>
                <a:spcPct val="150000"/>
              </a:lnSpc>
            </a:pPr>
            <a:r>
              <a:rPr lang="zh-CN" altLang="en-US" sz="2400"/>
              <a:t>教材</a:t>
            </a:r>
            <a:r>
              <a:rPr lang="en-US" altLang="zh-CN" sz="2400"/>
              <a:t>1</a:t>
            </a:r>
            <a:r>
              <a:rPr sz="2400"/>
              <a:t>：中国人民大学哲学院逻辑室主编《逻辑学（第</a:t>
            </a:r>
            <a:r>
              <a:rPr lang="en-US" altLang="zh-CN" sz="2400"/>
              <a:t>3</a:t>
            </a:r>
            <a:r>
              <a:rPr sz="2400"/>
              <a:t>版）》，</a:t>
            </a:r>
            <a:br>
              <a:rPr sz="2400"/>
            </a:br>
            <a:r>
              <a:rPr sz="2400"/>
              <a:t>          </a:t>
            </a:r>
            <a:r>
              <a:rPr sz="2400">
                <a:sym typeface="+mn-ea"/>
              </a:rPr>
              <a:t>中国人民大学出版社，</a:t>
            </a:r>
            <a:r>
              <a:rPr lang="en-US" altLang="zh-CN" sz="2400">
                <a:sym typeface="+mn-ea"/>
              </a:rPr>
              <a:t>2014</a:t>
            </a:r>
            <a:r>
              <a:rPr sz="2400">
                <a:sym typeface="+mn-ea"/>
              </a:rPr>
              <a:t>。    </a:t>
            </a:r>
            <a:r>
              <a:rPr sz="2400">
                <a:solidFill>
                  <a:srgbClr val="FF0000"/>
                </a:solidFill>
                <a:sym typeface="+mn-ea"/>
              </a:rPr>
              <a:t>疫情过后可以选择购买</a:t>
            </a:r>
            <a:endParaRPr sz="2400">
              <a:solidFill>
                <a:srgbClr val="FF0000"/>
              </a:solidFill>
              <a:sym typeface="+mn-ea"/>
            </a:endParaRPr>
          </a:p>
        </p:txBody>
      </p:sp>
      <p:pic>
        <p:nvPicPr>
          <p:cNvPr id="5" name="内容占位符 4" descr="9B0389DA7196DAAD09C1C8AE367D4713"/>
          <p:cNvPicPr>
            <a:picLocks noChangeAspect="1"/>
          </p:cNvPicPr>
          <p:nvPr>
            <p:ph idx="1"/>
            <p:custDataLst>
              <p:tags r:id="rId1"/>
            </p:custDataLst>
          </p:nvPr>
        </p:nvPicPr>
        <p:blipFill>
          <a:blip r:embed="rId2"/>
          <a:stretch>
            <a:fillRect/>
          </a:stretch>
        </p:blipFill>
        <p:spPr>
          <a:xfrm rot="16200000">
            <a:off x="3023235" y="2031365"/>
            <a:ext cx="5165090" cy="3874135"/>
          </a:xfrm>
          <a:prstGeom prst="rect">
            <a:avLst/>
          </a:prstGeom>
        </p:spPr>
      </p:pic>
    </p:spTree>
    <p:custDataLst>
      <p:tags r:id="rId3"/>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2400"/>
              <a:t>教材</a:t>
            </a:r>
            <a:r>
              <a:rPr lang="en-US" altLang="zh-CN" sz="2400"/>
              <a:t>2</a:t>
            </a:r>
            <a:r>
              <a:rPr sz="2400"/>
              <a:t>：李永新主编《行政职业能力测验（第十四版）》，</a:t>
            </a:r>
            <a:br>
              <a:rPr sz="2400"/>
            </a:br>
            <a:r>
              <a:rPr sz="2400"/>
              <a:t>          西南财经大学出版社，</a:t>
            </a:r>
            <a:r>
              <a:rPr lang="en-US" altLang="zh-CN" sz="2400"/>
              <a:t>2019</a:t>
            </a:r>
            <a:r>
              <a:rPr sz="2400"/>
              <a:t>。 </a:t>
            </a:r>
            <a:r>
              <a:rPr sz="2400">
                <a:solidFill>
                  <a:srgbClr val="FF0000"/>
                </a:solidFill>
                <a:sym typeface="+mn-ea"/>
              </a:rPr>
              <a:t>疫情过后可以选择购买</a:t>
            </a:r>
            <a:endParaRPr sz="2400"/>
          </a:p>
        </p:txBody>
      </p:sp>
      <p:pic>
        <p:nvPicPr>
          <p:cNvPr id="4" name="内容占位符 3" descr="17BBF0DF4CD8E0E4E5F94E059E55E44C"/>
          <p:cNvPicPr>
            <a:picLocks noChangeAspect="1"/>
          </p:cNvPicPr>
          <p:nvPr>
            <p:ph idx="1"/>
          </p:nvPr>
        </p:nvPicPr>
        <p:blipFill>
          <a:blip r:embed="rId1"/>
          <a:stretch>
            <a:fillRect/>
          </a:stretch>
        </p:blipFill>
        <p:spPr>
          <a:xfrm rot="16200000">
            <a:off x="3288665" y="1952625"/>
            <a:ext cx="5410835" cy="4058285"/>
          </a:xfrm>
          <a:prstGeom prst="rect">
            <a:avLst/>
          </a:prstGeom>
        </p:spPr>
      </p:pic>
    </p:spTree>
    <p:custDataLst>
      <p:tags r:id="rId2"/>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本课程讲解重点与建议</a:t>
            </a:r>
            <a:endParaRPr lang="zh-CN" altLang="en-US"/>
          </a:p>
        </p:txBody>
      </p:sp>
      <p:sp>
        <p:nvSpPr>
          <p:cNvPr id="3" name="内容占位符 2"/>
          <p:cNvSpPr>
            <a:spLocks noGrp="1"/>
          </p:cNvSpPr>
          <p:nvPr>
            <p:ph idx="1"/>
          </p:nvPr>
        </p:nvSpPr>
        <p:spPr/>
        <p:txBody>
          <a:bodyPr/>
          <a:p>
            <a:r>
              <a:rPr lang="zh-CN" altLang="en-US" sz="2400" b="1"/>
              <a:t>重点讲解公务员考试《行测》中与逻辑学关系最密切的部分</a:t>
            </a:r>
            <a:endParaRPr lang="zh-CN" altLang="en-US" sz="2400" b="1"/>
          </a:p>
          <a:p>
            <a:r>
              <a:rPr lang="zh-CN" altLang="en-US" sz="2400" b="1"/>
              <a:t>逻辑学教材用于补充逻辑学知识</a:t>
            </a:r>
            <a:endParaRPr lang="zh-CN" altLang="en-US" sz="2400" b="1"/>
          </a:p>
          <a:p>
            <a:r>
              <a:rPr lang="zh-CN" altLang="en-US" sz="2400" b="1"/>
              <a:t>行测教材用于掌握命题趋势和核心考点</a:t>
            </a:r>
            <a:endParaRPr lang="zh-CN" altLang="en-US" sz="2400" b="1"/>
          </a:p>
          <a:p>
            <a:r>
              <a:rPr lang="zh-CN" altLang="en-US" sz="2400" b="1">
                <a:solidFill>
                  <a:schemeClr val="tx1"/>
                </a:solidFill>
              </a:rPr>
              <a:t>备考公务员考试的建议：</a:t>
            </a:r>
            <a:endParaRPr lang="zh-CN" altLang="en-US" sz="2400" b="1">
              <a:solidFill>
                <a:srgbClr val="FF0000"/>
              </a:solidFill>
            </a:endParaRPr>
          </a:p>
          <a:p>
            <a:r>
              <a:rPr lang="zh-CN" altLang="en-US" sz="2400" b="1">
                <a:solidFill>
                  <a:srgbClr val="FF0000"/>
                </a:solidFill>
              </a:rPr>
              <a:t>（</a:t>
            </a:r>
            <a:r>
              <a:rPr lang="en-US" altLang="zh-CN" sz="2400" b="1">
                <a:solidFill>
                  <a:srgbClr val="FF0000"/>
                </a:solidFill>
              </a:rPr>
              <a:t>1</a:t>
            </a:r>
            <a:r>
              <a:rPr sz="2400" b="1">
                <a:solidFill>
                  <a:srgbClr val="FF0000"/>
                </a:solidFill>
              </a:rPr>
              <a:t>）</a:t>
            </a:r>
            <a:r>
              <a:rPr lang="zh-CN" altLang="en-US" sz="2400" b="1">
                <a:solidFill>
                  <a:srgbClr val="FF0000"/>
                </a:solidFill>
              </a:rPr>
              <a:t>紧扣历年真题、把握命题趋势；这需要</a:t>
            </a:r>
            <a:r>
              <a:rPr lang="zh-CN" altLang="en-US" sz="2400" b="1">
                <a:solidFill>
                  <a:srgbClr val="FF0000"/>
                </a:solidFill>
              </a:rPr>
              <a:t>多做真题；</a:t>
            </a:r>
            <a:endParaRPr lang="zh-CN" altLang="en-US" sz="2400" b="1">
              <a:solidFill>
                <a:srgbClr val="FF0000"/>
              </a:solidFill>
            </a:endParaRPr>
          </a:p>
          <a:p>
            <a:r>
              <a:rPr lang="zh-CN" altLang="en-US" sz="2400" b="1">
                <a:solidFill>
                  <a:schemeClr val="tx1"/>
                </a:solidFill>
              </a:rPr>
              <a:t>（</a:t>
            </a:r>
            <a:r>
              <a:rPr lang="en-US" altLang="zh-CN" sz="2400" b="1">
                <a:solidFill>
                  <a:schemeClr val="tx1"/>
                </a:solidFill>
              </a:rPr>
              <a:t>2</a:t>
            </a:r>
            <a:r>
              <a:rPr sz="2400" b="1">
                <a:solidFill>
                  <a:schemeClr val="tx1"/>
                </a:solidFill>
              </a:rPr>
              <a:t>）掌握核心考点和快解方法；</a:t>
            </a:r>
            <a:endParaRPr sz="2400" b="1">
              <a:solidFill>
                <a:srgbClr val="FF0000"/>
              </a:solidFill>
            </a:endParaRPr>
          </a:p>
          <a:p>
            <a:r>
              <a:rPr sz="2400" b="1">
                <a:solidFill>
                  <a:srgbClr val="FF0000"/>
                </a:solidFill>
              </a:rPr>
              <a:t>（</a:t>
            </a:r>
            <a:r>
              <a:rPr lang="en-US" altLang="zh-CN" sz="2400" b="1">
                <a:solidFill>
                  <a:srgbClr val="FF0000"/>
                </a:solidFill>
              </a:rPr>
              <a:t>3</a:t>
            </a:r>
            <a:r>
              <a:rPr sz="2400" b="1">
                <a:solidFill>
                  <a:srgbClr val="FF0000"/>
                </a:solidFill>
              </a:rPr>
              <a:t>）注重实战训练，及时查漏补缺；</a:t>
            </a:r>
            <a:endParaRPr sz="2400" b="1">
              <a:solidFill>
                <a:srgbClr val="FF0000"/>
              </a:solidFill>
            </a:endParaRPr>
          </a:p>
          <a:p>
            <a:r>
              <a:rPr sz="2400" b="1">
                <a:solidFill>
                  <a:schemeClr val="tx1"/>
                </a:solidFill>
              </a:rPr>
              <a:t>（</a:t>
            </a:r>
            <a:r>
              <a:rPr lang="en-US" altLang="zh-CN" sz="2400" b="1">
                <a:solidFill>
                  <a:schemeClr val="tx1"/>
                </a:solidFill>
              </a:rPr>
              <a:t>4</a:t>
            </a:r>
            <a:r>
              <a:rPr sz="2400" b="1">
                <a:solidFill>
                  <a:schemeClr val="tx1"/>
                </a:solidFill>
              </a:rPr>
              <a:t>）安排好时间，提高学习效率。</a:t>
            </a:r>
            <a:endParaRPr lang="zh-CN" altLang="en-US" sz="2400" b="1"/>
          </a:p>
          <a:p>
            <a:endParaRPr lang="zh-CN" altLang="en-US" sz="2400" b="1"/>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ctr"/>
            <a:r>
              <a:rPr lang="zh-CN" altLang="en-US"/>
              <a:t>第二讲：</a:t>
            </a:r>
            <a:r>
              <a:rPr>
                <a:sym typeface="+mn-ea"/>
              </a:rPr>
              <a:t>言语理解与表达中的</a:t>
            </a:r>
            <a:r>
              <a:rPr lang="zh-CN" altLang="en-US"/>
              <a:t>逻辑填空</a:t>
            </a:r>
            <a:endParaRPr lang="zh-CN" altLang="en-US"/>
          </a:p>
        </p:txBody>
      </p:sp>
      <p:sp>
        <p:nvSpPr>
          <p:cNvPr id="3" name="内容占位符 2"/>
          <p:cNvSpPr>
            <a:spLocks noGrp="1"/>
          </p:cNvSpPr>
          <p:nvPr>
            <p:ph idx="1"/>
          </p:nvPr>
        </p:nvSpPr>
        <p:spPr/>
        <p:txBody>
          <a:bodyPr/>
          <a:p>
            <a:pPr marL="0" indent="0" algn="l">
              <a:buNone/>
            </a:pPr>
            <a:r>
              <a:rPr lang="zh-CN" altLang="en-US" sz="2400" b="1"/>
              <a:t>提要：</a:t>
            </a:r>
            <a:endParaRPr lang="zh-CN" altLang="en-US" sz="2400" b="1"/>
          </a:p>
          <a:p>
            <a:pPr marL="0" indent="0" algn="l">
              <a:buNone/>
            </a:pPr>
            <a:r>
              <a:rPr lang="zh-CN" altLang="en-US" sz="2400" b="1"/>
              <a:t>一、把握对应关系</a:t>
            </a:r>
            <a:endParaRPr lang="zh-CN" altLang="en-US" sz="2400" b="1"/>
          </a:p>
          <a:p>
            <a:pPr marL="0" indent="0" algn="l">
              <a:buNone/>
            </a:pPr>
            <a:r>
              <a:rPr lang="zh-CN" altLang="en-US" sz="2400" b="1"/>
              <a:t>二、辨析词语差异</a:t>
            </a:r>
            <a:endParaRPr lang="zh-CN" altLang="en-US" sz="2400" b="1"/>
          </a:p>
          <a:p>
            <a:pPr marL="0" indent="0" algn="l">
              <a:buNone/>
            </a:pPr>
            <a:r>
              <a:rPr lang="zh-CN" altLang="en-US" sz="2400" b="1"/>
              <a:t>三、警惕成语设置陷阱</a:t>
            </a:r>
            <a:endParaRPr lang="zh-CN" altLang="en-US" sz="2400" b="1"/>
          </a:p>
          <a:p>
            <a:pPr marL="0" indent="0" algn="l">
              <a:buNone/>
            </a:pPr>
            <a:r>
              <a:rPr lang="zh-CN" altLang="en-US" sz="2400" b="1"/>
              <a:t>四、掌握常考关联词</a:t>
            </a:r>
            <a:endParaRPr lang="zh-CN" altLang="en-US" sz="2400" b="1"/>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ctr"/>
            <a:r>
              <a:rPr>
                <a:sym typeface="+mn-ea"/>
              </a:rPr>
              <a:t>言语理解与表达模块中的</a:t>
            </a:r>
            <a:r>
              <a:rPr>
                <a:sym typeface="+mn-ea"/>
              </a:rPr>
              <a:t>逻辑填空占比（地级市）</a:t>
            </a:r>
            <a:endParaRPr lang="zh-CN" altLang="en-US"/>
          </a:p>
        </p:txBody>
      </p:sp>
      <p:pic>
        <p:nvPicPr>
          <p:cNvPr id="4" name="内容占位符 3"/>
          <p:cNvPicPr>
            <a:picLocks noChangeAspect="1"/>
          </p:cNvPicPr>
          <p:nvPr>
            <p:ph idx="1"/>
          </p:nvPr>
        </p:nvPicPr>
        <p:blipFill>
          <a:blip r:embed="rId1"/>
          <a:stretch>
            <a:fillRect/>
          </a:stretch>
        </p:blipFill>
        <p:spPr>
          <a:xfrm>
            <a:off x="1557655" y="1140460"/>
            <a:ext cx="7847965" cy="4980940"/>
          </a:xfrm>
          <a:prstGeom prst="rect">
            <a:avLst/>
          </a:prstGeom>
        </p:spPr>
      </p:pic>
    </p:spTree>
    <p:custDataLst>
      <p:tags r:id="rId2"/>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ctr"/>
            <a:r>
              <a:rPr>
                <a:sym typeface="+mn-ea"/>
              </a:rPr>
              <a:t>言语理解与表达模块中的逻辑填空占比（副省级）</a:t>
            </a:r>
            <a:endParaRPr lang="zh-CN" altLang="en-US"/>
          </a:p>
        </p:txBody>
      </p:sp>
      <p:pic>
        <p:nvPicPr>
          <p:cNvPr id="4" name="内容占位符 3"/>
          <p:cNvPicPr>
            <a:picLocks noChangeAspect="1"/>
          </p:cNvPicPr>
          <p:nvPr>
            <p:ph idx="1"/>
          </p:nvPr>
        </p:nvPicPr>
        <p:blipFill>
          <a:blip r:embed="rId1"/>
          <a:stretch>
            <a:fillRect/>
          </a:stretch>
        </p:blipFill>
        <p:spPr>
          <a:xfrm>
            <a:off x="1204595" y="1132840"/>
            <a:ext cx="9501505" cy="5212715"/>
          </a:xfrm>
          <a:prstGeom prst="rect">
            <a:avLst/>
          </a:prstGeom>
        </p:spPr>
      </p:pic>
    </p:spTree>
    <p:custDataLst>
      <p:tags r:id="rId2"/>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ctr"/>
            <a:r>
              <a:rPr lang="zh-CN" altLang="en-US"/>
              <a:t>第二讲：</a:t>
            </a:r>
            <a:r>
              <a:rPr>
                <a:sym typeface="+mn-ea"/>
              </a:rPr>
              <a:t>言语理解与表达中的</a:t>
            </a:r>
            <a:r>
              <a:rPr lang="zh-CN" altLang="en-US"/>
              <a:t>逻辑填空</a:t>
            </a:r>
            <a:endParaRPr lang="zh-CN" altLang="en-US"/>
          </a:p>
        </p:txBody>
      </p:sp>
      <p:sp>
        <p:nvSpPr>
          <p:cNvPr id="3" name="内容占位符 2"/>
          <p:cNvSpPr>
            <a:spLocks noGrp="1"/>
          </p:cNvSpPr>
          <p:nvPr>
            <p:ph idx="1"/>
          </p:nvPr>
        </p:nvSpPr>
        <p:spPr/>
        <p:txBody>
          <a:bodyPr/>
          <a:p>
            <a:pPr marL="0" indent="0" algn="l">
              <a:buNone/>
            </a:pPr>
            <a:r>
              <a:rPr lang="zh-CN" altLang="en-US" sz="2400" b="1"/>
              <a:t>提要：</a:t>
            </a:r>
            <a:endParaRPr lang="zh-CN" altLang="en-US" sz="2400" b="1"/>
          </a:p>
          <a:p>
            <a:pPr marL="0" indent="0" algn="l">
              <a:buNone/>
            </a:pPr>
            <a:r>
              <a:rPr lang="zh-CN" altLang="en-US" sz="2400" b="1"/>
              <a:t>一、把握对应关系</a:t>
            </a:r>
            <a:endParaRPr lang="zh-CN" altLang="en-US" sz="2400" b="1"/>
          </a:p>
          <a:p>
            <a:pPr marL="0" indent="0" algn="l">
              <a:buNone/>
            </a:pPr>
            <a:r>
              <a:rPr lang="zh-CN" altLang="en-US" sz="2400" b="1"/>
              <a:t>二、辨析词语差异</a:t>
            </a:r>
            <a:endParaRPr lang="zh-CN" altLang="en-US" sz="2400" b="1"/>
          </a:p>
          <a:p>
            <a:pPr marL="0" indent="0" algn="l">
              <a:buNone/>
            </a:pPr>
            <a:r>
              <a:rPr lang="zh-CN" altLang="en-US" sz="2400" b="1"/>
              <a:t>三、警惕成语设置陷阱</a:t>
            </a:r>
            <a:endParaRPr lang="zh-CN" altLang="en-US" sz="2400" b="1"/>
          </a:p>
          <a:p>
            <a:pPr marL="0" indent="0" algn="l">
              <a:buNone/>
            </a:pPr>
            <a:r>
              <a:rPr lang="zh-CN" altLang="en-US" sz="2400" b="1"/>
              <a:t>四、掌握常考关联词</a:t>
            </a:r>
            <a:endParaRPr lang="zh-CN" altLang="en-US" sz="2400" b="1"/>
          </a:p>
        </p:txBody>
      </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94927" y="268805"/>
            <a:ext cx="10852237" cy="648000"/>
          </a:xfrm>
        </p:spPr>
        <p:txBody>
          <a:bodyPr/>
          <a:p>
            <a:r>
              <a:rPr lang="zh-CN" altLang="en-US"/>
              <a:t>一、把握对应关系</a:t>
            </a:r>
            <a:endParaRPr lang="zh-CN" altLang="en-US"/>
          </a:p>
        </p:txBody>
      </p:sp>
      <p:sp>
        <p:nvSpPr>
          <p:cNvPr id="3" name="内容占位符 2"/>
          <p:cNvSpPr>
            <a:spLocks noGrp="1"/>
          </p:cNvSpPr>
          <p:nvPr>
            <p:ph idx="1"/>
          </p:nvPr>
        </p:nvSpPr>
        <p:spPr>
          <a:xfrm>
            <a:off x="669925" y="996315"/>
            <a:ext cx="10852150" cy="5340985"/>
          </a:xfrm>
        </p:spPr>
        <p:txBody>
          <a:bodyPr/>
          <a:p>
            <a:r>
              <a:rPr lang="zh-CN" altLang="en-US" sz="2400" b="1"/>
              <a:t>逻辑填空选取的材料多是语言规范、逻辑严密的文段，</a:t>
            </a:r>
            <a:r>
              <a:rPr lang="zh-CN" altLang="en-US" sz="2400" b="1">
                <a:solidFill>
                  <a:srgbClr val="FF0000"/>
                </a:solidFill>
              </a:rPr>
              <a:t>上下文之间相互照应，相互论证</a:t>
            </a:r>
            <a:r>
              <a:rPr lang="zh-CN" altLang="en-US" sz="2400" b="1"/>
              <a:t>。那些在文段中具有对应关系的词句常常成为命题点。逻辑填空涉及的对应关系主要包括以下五种：</a:t>
            </a:r>
            <a:endParaRPr lang="zh-CN" altLang="en-US" sz="2400" b="1"/>
          </a:p>
          <a:p>
            <a:r>
              <a:rPr lang="en-US" altLang="zh-CN" sz="2400" b="1">
                <a:solidFill>
                  <a:srgbClr val="FF0000"/>
                </a:solidFill>
              </a:rPr>
              <a:t>1.</a:t>
            </a:r>
            <a:r>
              <a:rPr sz="2400" b="1">
                <a:solidFill>
                  <a:srgbClr val="FF0000"/>
                </a:solidFill>
              </a:rPr>
              <a:t>解释关系</a:t>
            </a:r>
            <a:endParaRPr sz="2400" b="1">
              <a:solidFill>
                <a:srgbClr val="FF0000"/>
              </a:solidFill>
            </a:endParaRPr>
          </a:p>
          <a:p>
            <a:r>
              <a:rPr lang="en-US" altLang="zh-CN" sz="2400" b="1">
                <a:solidFill>
                  <a:schemeClr val="tx1"/>
                </a:solidFill>
              </a:rPr>
              <a:t>2.</a:t>
            </a:r>
            <a:r>
              <a:rPr sz="2400" b="1">
                <a:solidFill>
                  <a:schemeClr val="tx1"/>
                </a:solidFill>
              </a:rPr>
              <a:t>反对关系</a:t>
            </a:r>
            <a:endParaRPr sz="2400" b="1">
              <a:solidFill>
                <a:schemeClr val="tx1"/>
              </a:solidFill>
            </a:endParaRPr>
          </a:p>
          <a:p>
            <a:r>
              <a:rPr lang="en-US" altLang="zh-CN" sz="2400" b="1">
                <a:solidFill>
                  <a:srgbClr val="FF0000"/>
                </a:solidFill>
              </a:rPr>
              <a:t>3.</a:t>
            </a:r>
            <a:r>
              <a:rPr sz="2400" b="1">
                <a:solidFill>
                  <a:srgbClr val="FF0000"/>
                </a:solidFill>
              </a:rPr>
              <a:t>并列关系</a:t>
            </a:r>
            <a:endParaRPr sz="2400" b="1">
              <a:solidFill>
                <a:srgbClr val="FF0000"/>
              </a:solidFill>
            </a:endParaRPr>
          </a:p>
          <a:p>
            <a:r>
              <a:rPr lang="en-US" altLang="zh-CN" sz="2400" b="1"/>
              <a:t>4.</a:t>
            </a:r>
            <a:r>
              <a:rPr sz="2400" b="1"/>
              <a:t>递进关系</a:t>
            </a:r>
            <a:endParaRPr sz="2400" b="1"/>
          </a:p>
          <a:p>
            <a:r>
              <a:rPr lang="en-US" altLang="zh-CN" sz="2400" b="1">
                <a:solidFill>
                  <a:srgbClr val="FF0000"/>
                </a:solidFill>
              </a:rPr>
              <a:t>5.</a:t>
            </a:r>
            <a:r>
              <a:rPr sz="2400" b="1">
                <a:solidFill>
                  <a:srgbClr val="FF0000"/>
                </a:solidFill>
              </a:rPr>
              <a:t>顺承关系</a:t>
            </a:r>
            <a:endParaRPr lang="zh-CN" altLang="en-US" sz="2400" b="1">
              <a:solidFill>
                <a:srgbClr val="FF0000"/>
              </a:solidFill>
            </a:endParaRPr>
          </a:p>
          <a:p>
            <a:endParaRPr lang="zh-CN" altLang="en-US" sz="2400" b="1">
              <a:solidFill>
                <a:srgbClr val="FF0000"/>
              </a:solidFill>
            </a:endParaRPr>
          </a:p>
        </p:txBody>
      </p:sp>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1.</a:t>
            </a:r>
            <a:r>
              <a:rPr>
                <a:sym typeface="+mn-ea"/>
              </a:rPr>
              <a:t>言语理解与表达模块中的解释关系</a:t>
            </a:r>
            <a:endParaRPr lang="zh-CN" altLang="en-US"/>
          </a:p>
        </p:txBody>
      </p:sp>
      <p:sp>
        <p:nvSpPr>
          <p:cNvPr id="3" name="内容占位符 2"/>
          <p:cNvSpPr>
            <a:spLocks noGrp="1"/>
          </p:cNvSpPr>
          <p:nvPr>
            <p:ph idx="1"/>
          </p:nvPr>
        </p:nvSpPr>
        <p:spPr/>
        <p:txBody>
          <a:bodyPr/>
          <a:p>
            <a:r>
              <a:rPr sz="2400" b="1">
                <a:sym typeface="+mn-ea"/>
              </a:rPr>
              <a:t>解释关系指的是在文段中某些词句对空缺处所填词语的含义进行解释说明。</a:t>
            </a:r>
            <a:endParaRPr sz="2400" b="1">
              <a:sym typeface="+mn-ea"/>
            </a:endParaRPr>
          </a:p>
          <a:p>
            <a:r>
              <a:rPr sz="2400" b="1"/>
              <a:t>解释关系可通过以下五类提示信息以及前后语境进行识别：</a:t>
            </a:r>
            <a:endParaRPr sz="2400" b="1"/>
          </a:p>
          <a:p>
            <a:endParaRPr sz="2400" b="1"/>
          </a:p>
        </p:txBody>
      </p:sp>
      <p:pic>
        <p:nvPicPr>
          <p:cNvPr id="4" name="图片 7"/>
          <p:cNvPicPr>
            <a:picLocks noChangeAspect="1"/>
          </p:cNvPicPr>
          <p:nvPr/>
        </p:nvPicPr>
        <p:blipFill>
          <a:blip r:embed="rId1">
            <a:lum bright="6000" contrast="60000"/>
          </a:blip>
          <a:stretch>
            <a:fillRect/>
          </a:stretch>
        </p:blipFill>
        <p:spPr>
          <a:xfrm>
            <a:off x="1539875" y="2556510"/>
            <a:ext cx="9112250" cy="3965575"/>
          </a:xfrm>
          <a:prstGeom prst="rect">
            <a:avLst/>
          </a:prstGeom>
          <a:noFill/>
          <a:ln>
            <a:noFill/>
          </a:ln>
        </p:spPr>
      </p:pic>
    </p:spTree>
    <p:custDataLst>
      <p:tags r:id="rId2"/>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真题</a:t>
            </a:r>
            <a:r>
              <a:rPr lang="en-US" altLang="zh-CN"/>
              <a:t>1</a:t>
            </a:r>
            <a:r>
              <a:t>：</a:t>
            </a:r>
          </a:p>
        </p:txBody>
      </p:sp>
      <p:sp>
        <p:nvSpPr>
          <p:cNvPr id="3" name="内容占位符 2"/>
          <p:cNvSpPr>
            <a:spLocks noGrp="1"/>
          </p:cNvSpPr>
          <p:nvPr>
            <p:ph idx="1"/>
          </p:nvPr>
        </p:nvSpPr>
        <p:spPr/>
        <p:txBody>
          <a:bodyPr/>
          <a:p>
            <a:pPr marL="0" indent="0">
              <a:buNone/>
            </a:pPr>
            <a:r>
              <a:rPr sz="2400" b="1">
                <a:sym typeface="+mn-ea"/>
              </a:rPr>
              <a:t>儒家对</a:t>
            </a:r>
            <a:r>
              <a:rPr lang="en-US" altLang="zh-CN" sz="2400" b="1">
                <a:sym typeface="+mn-ea"/>
              </a:rPr>
              <a:t>“</a:t>
            </a:r>
            <a:r>
              <a:rPr sz="2400" b="1">
                <a:sym typeface="+mn-ea"/>
              </a:rPr>
              <a:t>君子</a:t>
            </a:r>
            <a:r>
              <a:rPr lang="en-US" altLang="zh-CN" sz="2400" b="1">
                <a:sym typeface="+mn-ea"/>
              </a:rPr>
              <a:t>”</a:t>
            </a:r>
            <a:r>
              <a:rPr sz="2400" b="1">
                <a:sym typeface="+mn-ea"/>
              </a:rPr>
              <a:t>进行阐述时，采取一种极为</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的理论技巧。那就是，不直接定义</a:t>
            </a:r>
            <a:r>
              <a:rPr lang="en-US" altLang="zh-CN" sz="2400" b="1">
                <a:sym typeface="+mn-ea"/>
              </a:rPr>
              <a:t>“</a:t>
            </a:r>
            <a:r>
              <a:rPr sz="2400" b="1">
                <a:sym typeface="+mn-ea"/>
              </a:rPr>
              <a:t>君子</a:t>
            </a:r>
            <a:r>
              <a:rPr lang="en-US" altLang="zh-CN" sz="2400" b="1">
                <a:sym typeface="+mn-ea"/>
              </a:rPr>
              <a:t>”</a:t>
            </a:r>
            <a:r>
              <a:rPr sz="2400" b="1">
                <a:sym typeface="+mn-ea"/>
              </a:rPr>
              <a:t>，只是反复</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它的对立面。</a:t>
            </a:r>
            <a:r>
              <a:rPr lang="en-US" altLang="zh-CN" sz="2400" b="1">
                <a:sym typeface="+mn-ea"/>
              </a:rPr>
              <a:t>“</a:t>
            </a:r>
            <a:r>
              <a:rPr sz="2400" b="1">
                <a:sym typeface="+mn-ea"/>
              </a:rPr>
              <a:t>君子</a:t>
            </a:r>
            <a:r>
              <a:rPr lang="en-US" altLang="zh-CN" sz="2400" b="1">
                <a:sym typeface="+mn-ea"/>
              </a:rPr>
              <a:t>”</a:t>
            </a:r>
            <a:r>
              <a:rPr sz="2400" b="1">
                <a:sym typeface="+mn-ea"/>
              </a:rPr>
              <a:t>的对立面，就是</a:t>
            </a:r>
            <a:r>
              <a:rPr lang="en-US" altLang="zh-CN" sz="2400" b="1">
                <a:sym typeface="+mn-ea"/>
              </a:rPr>
              <a:t>“</a:t>
            </a:r>
            <a:r>
              <a:rPr sz="2400" b="1">
                <a:sym typeface="+mn-ea"/>
              </a:rPr>
              <a:t>小人</a:t>
            </a:r>
            <a:r>
              <a:rPr lang="en-US" altLang="zh-CN" sz="2400" b="1">
                <a:sym typeface="+mn-ea"/>
              </a:rPr>
              <a:t>”</a:t>
            </a:r>
            <a:r>
              <a:rPr sz="2400" b="1">
                <a:sym typeface="+mn-ea"/>
              </a:rPr>
              <a:t>。用一系列的否定，来完成一种肯定。这种方法，在逻辑学上，是通过</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外延，来包围内涵。 </a:t>
            </a:r>
            <a:r>
              <a:rPr sz="2400" b="1">
                <a:sym typeface="+mn-ea"/>
              </a:rPr>
              <a:t>   </a:t>
            </a:r>
            <a:endParaRPr sz="2400" b="1"/>
          </a:p>
          <a:p>
            <a:r>
              <a:rPr sz="2400" b="1">
                <a:sym typeface="+mn-ea"/>
              </a:rPr>
              <a:t>填入画横线部分最恰当的一项是：</a:t>
            </a:r>
            <a:endParaRPr sz="2400" b="1"/>
          </a:p>
          <a:p>
            <a:r>
              <a:rPr lang="en-US" altLang="zh-CN" sz="2400" b="1">
                <a:sym typeface="+mn-ea"/>
              </a:rPr>
              <a:t>A. </a:t>
            </a:r>
            <a:r>
              <a:rPr sz="2400" b="1">
                <a:sym typeface="+mn-ea"/>
              </a:rPr>
              <a:t>罕见      列举      缩小     </a:t>
            </a:r>
            <a:r>
              <a:rPr lang="en-US" altLang="zh-CN" sz="2400" b="1">
                <a:sym typeface="+mn-ea"/>
              </a:rPr>
              <a:t>             B. </a:t>
            </a:r>
            <a:r>
              <a:rPr sz="2400" b="1">
                <a:sym typeface="+mn-ea"/>
              </a:rPr>
              <a:t>精当     强调      剔除    </a:t>
            </a:r>
            <a:endParaRPr sz="2400" b="1"/>
          </a:p>
          <a:p>
            <a:r>
              <a:rPr lang="en-US" altLang="zh-CN" sz="2400" b="1">
                <a:sym typeface="+mn-ea"/>
              </a:rPr>
              <a:t>C. </a:t>
            </a:r>
            <a:r>
              <a:rPr sz="2400" b="1">
                <a:sym typeface="+mn-ea"/>
              </a:rPr>
              <a:t>巧妙      叙述      限制               </a:t>
            </a:r>
            <a:r>
              <a:rPr lang="en-US" altLang="zh-CN" sz="2400" b="1">
                <a:sym typeface="+mn-ea"/>
              </a:rPr>
              <a:t>   D</a:t>
            </a:r>
            <a:r>
              <a:rPr lang="en-US" altLang="zh-CN" sz="2400" b="1">
                <a:solidFill>
                  <a:srgbClr val="FF0000"/>
                </a:solidFill>
                <a:sym typeface="+mn-ea"/>
              </a:rPr>
              <a:t>.</a:t>
            </a:r>
            <a:r>
              <a:rPr sz="2400" b="1">
                <a:sym typeface="+mn-ea"/>
              </a:rPr>
              <a:t> 高明     描绘      确认  </a:t>
            </a:r>
            <a:r>
              <a:rPr>
                <a:sym typeface="+mn-ea"/>
              </a:rPr>
              <a:t> </a:t>
            </a:r>
            <a:endParaRPr lang="zh-CN" altLang="en-US"/>
          </a:p>
        </p:txBody>
      </p:sp>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基本知识</a:t>
            </a:r>
            <a:r>
              <a:rPr lang="en-US" altLang="zh-CN"/>
              <a:t>1</a:t>
            </a:r>
            <a:r>
              <a:t>：概念</a:t>
            </a:r>
          </a:p>
        </p:txBody>
      </p:sp>
      <p:sp>
        <p:nvSpPr>
          <p:cNvPr id="3" name="内容占位符 2"/>
          <p:cNvSpPr>
            <a:spLocks noGrp="1"/>
          </p:cNvSpPr>
          <p:nvPr>
            <p:ph idx="1"/>
          </p:nvPr>
        </p:nvSpPr>
        <p:spPr/>
        <p:txBody>
          <a:bodyPr/>
          <a:p>
            <a:r>
              <a:rPr sz="2400" b="1">
                <a:solidFill>
                  <a:schemeClr val="tx1"/>
                </a:solidFill>
                <a:latin typeface="+mj-ea"/>
                <a:ea typeface="+mj-ea"/>
                <a:cs typeface="+mj-ea"/>
                <a:sym typeface="+mn-ea"/>
              </a:rPr>
              <a:t>一、什么是概念？</a:t>
            </a:r>
            <a:endParaRPr sz="2400" b="1">
              <a:solidFill>
                <a:schemeClr val="tx1"/>
              </a:solidFill>
              <a:latin typeface="+mj-ea"/>
              <a:ea typeface="+mj-ea"/>
              <a:cs typeface="+mj-ea"/>
              <a:sym typeface="+mn-ea"/>
            </a:endParaRPr>
          </a:p>
          <a:p>
            <a:r>
              <a:rPr sz="2400" b="1">
                <a:solidFill>
                  <a:schemeClr val="tx1"/>
                </a:solidFill>
                <a:latin typeface="+mj-ea"/>
                <a:ea typeface="+mj-ea"/>
                <a:cs typeface="+mj-ea"/>
                <a:sym typeface="+mn-ea"/>
              </a:rPr>
              <a:t>概念是反映思维对象</a:t>
            </a:r>
            <a:r>
              <a:rPr sz="2400" b="1">
                <a:solidFill>
                  <a:srgbClr val="FF0000"/>
                </a:solidFill>
                <a:latin typeface="+mj-ea"/>
                <a:ea typeface="+mj-ea"/>
                <a:cs typeface="+mj-ea"/>
                <a:sym typeface="+mn-ea"/>
              </a:rPr>
              <a:t>本质属性</a:t>
            </a:r>
            <a:r>
              <a:rPr sz="2400" b="1">
                <a:solidFill>
                  <a:schemeClr val="tx1"/>
                </a:solidFill>
                <a:latin typeface="+mj-ea"/>
                <a:ea typeface="+mj-ea"/>
                <a:cs typeface="+mj-ea"/>
                <a:sym typeface="+mn-ea"/>
              </a:rPr>
              <a:t>的思维形式。</a:t>
            </a:r>
            <a:endParaRPr sz="2400" b="1">
              <a:solidFill>
                <a:schemeClr val="tx1"/>
              </a:solidFill>
              <a:latin typeface="+mj-ea"/>
              <a:ea typeface="+mj-ea"/>
              <a:cs typeface="+mj-ea"/>
              <a:sym typeface="+mn-ea"/>
            </a:endParaRPr>
          </a:p>
          <a:p>
            <a:pPr>
              <a:buNone/>
            </a:pPr>
            <a:r>
              <a:rPr sz="2400" b="1">
                <a:solidFill>
                  <a:schemeClr val="tx1"/>
                </a:solidFill>
                <a:latin typeface="+mj-ea"/>
                <a:ea typeface="+mj-ea"/>
                <a:cs typeface="+mj-ea"/>
                <a:sym typeface="+mn-ea"/>
              </a:rPr>
              <a:t>   </a:t>
            </a:r>
            <a:r>
              <a:rPr sz="2400" b="1">
                <a:solidFill>
                  <a:srgbClr val="FF0000"/>
                </a:solidFill>
                <a:latin typeface="+mj-ea"/>
                <a:ea typeface="+mj-ea"/>
                <a:cs typeface="+mj-ea"/>
                <a:sym typeface="+mn-ea"/>
              </a:rPr>
              <a:t>本质属性</a:t>
            </a:r>
            <a:r>
              <a:rPr sz="2400" b="1">
                <a:solidFill>
                  <a:schemeClr val="tx1"/>
                </a:solidFill>
                <a:latin typeface="+mj-ea"/>
                <a:ea typeface="+mj-ea"/>
                <a:cs typeface="+mj-ea"/>
                <a:sym typeface="+mn-ea"/>
              </a:rPr>
              <a:t>是一类对象</a:t>
            </a:r>
            <a:r>
              <a:rPr sz="2400" b="1">
                <a:solidFill>
                  <a:srgbClr val="FF0000"/>
                </a:solidFill>
                <a:latin typeface="+mj-ea"/>
                <a:ea typeface="+mj-ea"/>
                <a:cs typeface="+mj-ea"/>
                <a:sym typeface="+mn-ea"/>
              </a:rPr>
              <a:t>共同具有，且仅仅为该类对象</a:t>
            </a:r>
            <a:r>
              <a:rPr sz="2400" b="1">
                <a:solidFill>
                  <a:schemeClr val="tx1"/>
                </a:solidFill>
                <a:latin typeface="+mj-ea"/>
                <a:ea typeface="+mj-ea"/>
                <a:cs typeface="+mj-ea"/>
                <a:sym typeface="+mn-ea"/>
              </a:rPr>
              <a:t>所具有的属性。</a:t>
            </a:r>
            <a:endParaRPr lang="zh-CN" altLang="en-US" sz="2400" b="1" dirty="0">
              <a:solidFill>
                <a:schemeClr val="tx1"/>
              </a:solidFill>
              <a:latin typeface="+mj-ea"/>
              <a:ea typeface="+mj-ea"/>
              <a:cs typeface="+mj-ea"/>
            </a:endParaRPr>
          </a:p>
          <a:p>
            <a:pPr>
              <a:buNone/>
            </a:pPr>
            <a:r>
              <a:rPr lang="en-US" altLang="zh-CN" sz="2400" b="1">
                <a:solidFill>
                  <a:schemeClr val="tx1"/>
                </a:solidFill>
                <a:latin typeface="+mj-ea"/>
                <a:ea typeface="+mj-ea"/>
                <a:cs typeface="+mj-ea"/>
                <a:sym typeface="+mn-ea"/>
              </a:rPr>
              <a:t>   </a:t>
            </a:r>
            <a:r>
              <a:rPr sz="2400" b="1">
                <a:solidFill>
                  <a:schemeClr val="tx1"/>
                </a:solidFill>
                <a:latin typeface="+mj-ea"/>
                <a:ea typeface="+mj-ea"/>
                <a:cs typeface="+mj-ea"/>
                <a:sym typeface="+mn-ea"/>
              </a:rPr>
              <a:t>任何概念都有内涵和外延。</a:t>
            </a:r>
            <a:endParaRPr lang="zh-CN" altLang="en-US" sz="2400" b="1" dirty="0">
              <a:solidFill>
                <a:schemeClr val="tx1"/>
              </a:solidFill>
              <a:latin typeface="+mj-ea"/>
              <a:ea typeface="+mj-ea"/>
              <a:cs typeface="+mj-ea"/>
            </a:endParaRPr>
          </a:p>
          <a:p>
            <a:r>
              <a:rPr sz="2400" b="1">
                <a:solidFill>
                  <a:schemeClr val="tx1"/>
                </a:solidFill>
                <a:latin typeface="+mj-ea"/>
                <a:ea typeface="+mj-ea"/>
                <a:cs typeface="+mj-ea"/>
                <a:sym typeface="+mn-ea"/>
              </a:rPr>
              <a:t>概念的</a:t>
            </a:r>
            <a:r>
              <a:rPr sz="2400" b="1">
                <a:solidFill>
                  <a:srgbClr val="FF0000"/>
                </a:solidFill>
                <a:latin typeface="+mj-ea"/>
                <a:ea typeface="+mj-ea"/>
                <a:cs typeface="+mj-ea"/>
                <a:sym typeface="+mn-ea"/>
              </a:rPr>
              <a:t>内涵</a:t>
            </a:r>
            <a:r>
              <a:rPr sz="2400" b="1">
                <a:solidFill>
                  <a:schemeClr val="tx1"/>
                </a:solidFill>
                <a:latin typeface="+mj-ea"/>
                <a:ea typeface="+mj-ea"/>
                <a:cs typeface="+mj-ea"/>
                <a:sym typeface="+mn-ea"/>
              </a:rPr>
              <a:t>就是反映在概念中的对象的</a:t>
            </a:r>
            <a:r>
              <a:rPr sz="2400" b="1">
                <a:solidFill>
                  <a:srgbClr val="FF0000"/>
                </a:solidFill>
                <a:latin typeface="+mj-ea"/>
                <a:ea typeface="+mj-ea"/>
                <a:cs typeface="+mj-ea"/>
                <a:sym typeface="+mn-ea"/>
              </a:rPr>
              <a:t>本质属性</a:t>
            </a:r>
            <a:r>
              <a:rPr sz="2400" b="1">
                <a:solidFill>
                  <a:schemeClr val="tx1"/>
                </a:solidFill>
                <a:latin typeface="+mj-ea"/>
                <a:ea typeface="+mj-ea"/>
                <a:cs typeface="+mj-ea"/>
                <a:sym typeface="+mn-ea"/>
              </a:rPr>
              <a:t>。</a:t>
            </a:r>
            <a:endParaRPr sz="2400" b="1">
              <a:solidFill>
                <a:schemeClr val="tx1"/>
              </a:solidFill>
              <a:latin typeface="+mj-ea"/>
              <a:ea typeface="+mj-ea"/>
              <a:cs typeface="+mj-ea"/>
              <a:sym typeface="+mn-ea"/>
            </a:endParaRPr>
          </a:p>
          <a:p>
            <a:r>
              <a:rPr sz="2400" b="1">
                <a:solidFill>
                  <a:schemeClr val="tx1"/>
                </a:solidFill>
                <a:latin typeface="+mj-ea"/>
                <a:ea typeface="+mj-ea"/>
                <a:cs typeface="+mj-ea"/>
                <a:sym typeface="+mn-ea"/>
              </a:rPr>
              <a:t>概念的</a:t>
            </a:r>
            <a:r>
              <a:rPr sz="2400" b="1">
                <a:solidFill>
                  <a:srgbClr val="FF0000"/>
                </a:solidFill>
                <a:latin typeface="+mj-ea"/>
                <a:ea typeface="+mj-ea"/>
                <a:cs typeface="+mj-ea"/>
                <a:sym typeface="+mn-ea"/>
              </a:rPr>
              <a:t>外延</a:t>
            </a:r>
            <a:r>
              <a:rPr sz="2400" b="1">
                <a:solidFill>
                  <a:schemeClr val="tx1"/>
                </a:solidFill>
                <a:latin typeface="+mj-ea"/>
                <a:ea typeface="+mj-ea"/>
                <a:cs typeface="+mj-ea"/>
                <a:sym typeface="+mn-ea"/>
              </a:rPr>
              <a:t>就是具有概念所反映的本质属性</a:t>
            </a:r>
            <a:r>
              <a:rPr sz="2400" b="1">
                <a:solidFill>
                  <a:srgbClr val="FF0000"/>
                </a:solidFill>
                <a:latin typeface="+mj-ea"/>
                <a:ea typeface="+mj-ea"/>
                <a:cs typeface="+mj-ea"/>
                <a:sym typeface="+mn-ea"/>
              </a:rPr>
              <a:t>的对象</a:t>
            </a:r>
            <a:r>
              <a:rPr sz="2400" b="1">
                <a:solidFill>
                  <a:schemeClr val="tx1"/>
                </a:solidFill>
                <a:latin typeface="+mj-ea"/>
                <a:ea typeface="+mj-ea"/>
                <a:cs typeface="+mj-ea"/>
                <a:sym typeface="+mn-ea"/>
              </a:rPr>
              <a:t>。</a:t>
            </a:r>
            <a:endParaRPr sz="2400" b="1">
              <a:solidFill>
                <a:schemeClr val="tx1"/>
              </a:solidFill>
              <a:latin typeface="楷体_GB2312" pitchFamily="1" charset="-122"/>
              <a:ea typeface="楷体_GB2312" pitchFamily="1" charset="-122"/>
              <a:sym typeface="+mn-ea"/>
            </a:endParaRPr>
          </a:p>
          <a:p>
            <a:endParaRPr lang="zh-CN" altLang="en-US" sz="2400" b="1" dirty="0">
              <a:solidFill>
                <a:schemeClr val="tx1"/>
              </a:solidFill>
            </a:endParaRPr>
          </a:p>
        </p:txBody>
      </p:sp>
    </p:spTree>
    <p:custDataLst>
      <p:tags r:id="rId1"/>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基本知识</a:t>
            </a:r>
            <a:r>
              <a:rPr lang="en-US" altLang="zh-CN"/>
              <a:t>2</a:t>
            </a:r>
            <a:r>
              <a:t>：定义</a:t>
            </a:r>
          </a:p>
        </p:txBody>
      </p:sp>
      <p:sp>
        <p:nvSpPr>
          <p:cNvPr id="3" name="内容占位符 2"/>
          <p:cNvSpPr>
            <a:spLocks noGrp="1"/>
          </p:cNvSpPr>
          <p:nvPr>
            <p:ph idx="1"/>
          </p:nvPr>
        </p:nvSpPr>
        <p:spPr>
          <a:xfrm>
            <a:off x="584200" y="1261745"/>
            <a:ext cx="10938510" cy="5427345"/>
          </a:xfrm>
        </p:spPr>
        <p:txBody>
          <a:bodyPr/>
          <a:p>
            <a:pPr>
              <a:lnSpc>
                <a:spcPct val="120000"/>
              </a:lnSpc>
              <a:spcAft>
                <a:spcPts val="800"/>
              </a:spcAft>
              <a:buNone/>
            </a:pPr>
            <a:r>
              <a:rPr sz="2400" b="1">
                <a:solidFill>
                  <a:schemeClr val="tx1"/>
                </a:solidFill>
                <a:sym typeface="+mn-ea"/>
              </a:rPr>
              <a:t>一、什么是定义</a:t>
            </a:r>
            <a:endParaRPr lang="zh-CN" altLang="en-US" sz="2400" b="1" dirty="0">
              <a:solidFill>
                <a:schemeClr val="tx1"/>
              </a:solidFill>
            </a:endParaRPr>
          </a:p>
          <a:p>
            <a:pPr>
              <a:lnSpc>
                <a:spcPct val="130000"/>
              </a:lnSpc>
              <a:spcBef>
                <a:spcPct val="40000"/>
              </a:spcBef>
              <a:spcAft>
                <a:spcPts val="800"/>
              </a:spcAft>
              <a:buNone/>
            </a:pPr>
            <a:r>
              <a:rPr sz="2400" b="1">
                <a:solidFill>
                  <a:schemeClr val="tx1"/>
                </a:solidFill>
                <a:effectLst>
                  <a:outerShdw blurRad="38100" dist="38100" dir="2700000">
                    <a:srgbClr val="000000"/>
                  </a:outerShdw>
                </a:effectLst>
                <a:sym typeface="+mn-ea"/>
              </a:rPr>
              <a:t>   </a:t>
            </a:r>
            <a:r>
              <a:rPr sz="2400" b="1">
                <a:solidFill>
                  <a:srgbClr val="FF0000"/>
                </a:solidFill>
                <a:sym typeface="+mn-ea"/>
              </a:rPr>
              <a:t>定义</a:t>
            </a:r>
            <a:r>
              <a:rPr sz="2400" b="1">
                <a:solidFill>
                  <a:schemeClr val="tx1"/>
                </a:solidFill>
                <a:sym typeface="+mn-ea"/>
              </a:rPr>
              <a:t>是用简洁的语句</a:t>
            </a:r>
            <a:r>
              <a:rPr sz="2400" b="1">
                <a:solidFill>
                  <a:srgbClr val="FF0000"/>
                </a:solidFill>
                <a:sym typeface="+mn-ea"/>
              </a:rPr>
              <a:t>明确概念</a:t>
            </a:r>
            <a:r>
              <a:rPr sz="2400" b="1">
                <a:solidFill>
                  <a:srgbClr val="00B050"/>
                </a:solidFill>
                <a:sym typeface="+mn-ea"/>
              </a:rPr>
              <a:t>内涵</a:t>
            </a:r>
            <a:r>
              <a:rPr sz="2400" b="1">
                <a:solidFill>
                  <a:schemeClr val="tx1"/>
                </a:solidFill>
                <a:sym typeface="+mn-ea"/>
              </a:rPr>
              <a:t>的逻辑方法。</a:t>
            </a:r>
            <a:endParaRPr sz="2400" b="1">
              <a:solidFill>
                <a:schemeClr val="tx1"/>
              </a:solidFill>
              <a:sym typeface="+mn-ea"/>
            </a:endParaRPr>
          </a:p>
          <a:p>
            <a:pPr>
              <a:lnSpc>
                <a:spcPct val="130000"/>
              </a:lnSpc>
              <a:spcBef>
                <a:spcPct val="40000"/>
              </a:spcBef>
              <a:spcAft>
                <a:spcPts val="800"/>
              </a:spcAft>
              <a:buNone/>
            </a:pPr>
            <a:r>
              <a:rPr sz="2400" b="1">
                <a:solidFill>
                  <a:schemeClr val="tx1"/>
                </a:solidFill>
                <a:sym typeface="+mn-ea"/>
              </a:rPr>
              <a:t>   </a:t>
            </a:r>
            <a:r>
              <a:rPr sz="2400" b="1">
                <a:solidFill>
                  <a:schemeClr val="tx1"/>
                </a:solidFill>
                <a:sym typeface="+mn-ea"/>
              </a:rPr>
              <a:t>定义揭示概念的</a:t>
            </a:r>
            <a:r>
              <a:rPr sz="2400" b="1">
                <a:solidFill>
                  <a:srgbClr val="FF0000"/>
                </a:solidFill>
                <a:sym typeface="+mn-ea"/>
              </a:rPr>
              <a:t>本质属性</a:t>
            </a:r>
            <a:r>
              <a:rPr sz="2400" b="1">
                <a:solidFill>
                  <a:schemeClr val="tx1"/>
                </a:solidFill>
                <a:sym typeface="+mn-ea"/>
              </a:rPr>
              <a:t>。</a:t>
            </a:r>
            <a:endParaRPr sz="2400" b="1">
              <a:solidFill>
                <a:schemeClr val="tx1"/>
              </a:solidFill>
              <a:sym typeface="+mn-ea"/>
            </a:endParaRPr>
          </a:p>
          <a:p>
            <a:pPr>
              <a:lnSpc>
                <a:spcPct val="130000"/>
              </a:lnSpc>
              <a:spcBef>
                <a:spcPct val="40000"/>
              </a:spcBef>
              <a:spcAft>
                <a:spcPts val="800"/>
              </a:spcAft>
              <a:buNone/>
            </a:pPr>
            <a:r>
              <a:rPr sz="2400" b="1">
                <a:solidFill>
                  <a:schemeClr val="tx1"/>
                </a:solidFill>
                <a:sym typeface="+mn-ea"/>
              </a:rPr>
              <a:t>   什么叫概念明确</a:t>
            </a:r>
            <a:r>
              <a:rPr sz="2400" b="1">
                <a:solidFill>
                  <a:schemeClr val="tx1"/>
                </a:solidFill>
                <a:sym typeface="Symbol" panose="05050102010706020507" charset="0"/>
              </a:rPr>
              <a:t></a:t>
            </a:r>
            <a:r>
              <a:rPr sz="2400" b="1">
                <a:solidFill>
                  <a:schemeClr val="tx1"/>
                </a:solidFill>
                <a:latin typeface="Arial" panose="020B0604020202020204" pitchFamily="34" charset="0"/>
                <a:sym typeface="+mn-ea"/>
              </a:rPr>
              <a:t>内涵和外延明确</a:t>
            </a:r>
            <a:endParaRPr lang="zh-CN" altLang="en-US" sz="2400" b="1" dirty="0">
              <a:solidFill>
                <a:schemeClr val="tx1"/>
              </a:solidFill>
            </a:endParaRPr>
          </a:p>
          <a:p>
            <a:pPr>
              <a:lnSpc>
                <a:spcPct val="130000"/>
              </a:lnSpc>
              <a:spcBef>
                <a:spcPct val="40000"/>
              </a:spcBef>
              <a:spcAft>
                <a:spcPts val="800"/>
              </a:spcAft>
              <a:buNone/>
            </a:pPr>
            <a:r>
              <a:rPr sz="2400" b="1">
                <a:solidFill>
                  <a:schemeClr val="tx1"/>
                </a:solidFill>
                <a:effectLst>
                  <a:outerShdw blurRad="38100" dist="38100" dir="2700000">
                    <a:srgbClr val="000000"/>
                  </a:outerShdw>
                </a:effectLst>
                <a:sym typeface="+mn-ea"/>
              </a:rPr>
              <a:t>   </a:t>
            </a:r>
            <a:r>
              <a:rPr sz="2400" b="1">
                <a:solidFill>
                  <a:schemeClr val="tx1"/>
                </a:solidFill>
                <a:sym typeface="+mn-ea"/>
              </a:rPr>
              <a:t>定义由被定义项、定义项和定义联项组成。</a:t>
            </a:r>
            <a:endParaRPr lang="zh-CN" altLang="en-US" sz="2400" b="1" u="sng" dirty="0">
              <a:solidFill>
                <a:schemeClr val="tx1"/>
              </a:solidFill>
            </a:endParaRPr>
          </a:p>
          <a:p>
            <a:pPr>
              <a:lnSpc>
                <a:spcPct val="120000"/>
              </a:lnSpc>
              <a:spcBef>
                <a:spcPct val="60000"/>
              </a:spcBef>
              <a:spcAft>
                <a:spcPts val="800"/>
              </a:spcAft>
              <a:buNone/>
            </a:pPr>
            <a:r>
              <a:rPr lang="en-US" altLang="zh-CN" sz="2400" b="1">
                <a:solidFill>
                  <a:schemeClr val="tx1"/>
                </a:solidFill>
                <a:latin typeface="楷体_GB2312" pitchFamily="1" charset="-122"/>
                <a:ea typeface="楷体_GB2312" pitchFamily="1" charset="-122"/>
                <a:sym typeface="+mn-ea"/>
              </a:rPr>
              <a:t> 【</a:t>
            </a:r>
            <a:r>
              <a:rPr sz="2400" b="1">
                <a:solidFill>
                  <a:schemeClr val="tx1"/>
                </a:solidFill>
                <a:latin typeface="楷体_GB2312" pitchFamily="1" charset="-122"/>
                <a:ea typeface="楷体_GB2312" pitchFamily="1" charset="-122"/>
                <a:sym typeface="+mn-ea"/>
              </a:rPr>
              <a:t>商 品</a:t>
            </a:r>
            <a:r>
              <a:rPr lang="en-US" altLang="zh-CN" sz="2400" b="1">
                <a:solidFill>
                  <a:schemeClr val="tx1"/>
                </a:solidFill>
                <a:latin typeface="楷体_GB2312" pitchFamily="1" charset="-122"/>
                <a:ea typeface="楷体_GB2312" pitchFamily="1" charset="-122"/>
                <a:sym typeface="+mn-ea"/>
              </a:rPr>
              <a:t>】  </a:t>
            </a:r>
            <a:r>
              <a:rPr sz="2400" b="1">
                <a:solidFill>
                  <a:schemeClr val="tx1"/>
                </a:solidFill>
                <a:latin typeface="楷体_GB2312" pitchFamily="1" charset="-122"/>
                <a:ea typeface="楷体_GB2312" pitchFamily="1" charset="-122"/>
                <a:sym typeface="+mn-ea"/>
              </a:rPr>
              <a:t>就是  </a:t>
            </a:r>
            <a:r>
              <a:rPr lang="en-US" altLang="zh-CN" sz="2400" b="1" u="sng">
                <a:solidFill>
                  <a:schemeClr val="tx1"/>
                </a:solidFill>
                <a:latin typeface="楷体_GB2312" pitchFamily="1" charset="-122"/>
                <a:ea typeface="楷体_GB2312" pitchFamily="1" charset="-122"/>
                <a:sym typeface="+mn-ea"/>
              </a:rPr>
              <a:t>(</a:t>
            </a:r>
            <a:r>
              <a:rPr sz="2400" b="1" u="sng">
                <a:solidFill>
                  <a:schemeClr val="tx1"/>
                </a:solidFill>
                <a:latin typeface="楷体_GB2312" pitchFamily="1" charset="-122"/>
                <a:ea typeface="楷体_GB2312" pitchFamily="1" charset="-122"/>
                <a:sym typeface="+mn-ea"/>
              </a:rPr>
              <a:t>为交换而生产的</a:t>
            </a:r>
            <a:r>
              <a:rPr lang="en-US" altLang="zh-CN" sz="2400" b="1" u="sng">
                <a:solidFill>
                  <a:schemeClr val="tx1"/>
                </a:solidFill>
                <a:latin typeface="楷体_GB2312" pitchFamily="1" charset="-122"/>
                <a:ea typeface="楷体_GB2312" pitchFamily="1" charset="-122"/>
                <a:sym typeface="+mn-ea"/>
              </a:rPr>
              <a:t>)[</a:t>
            </a:r>
            <a:r>
              <a:rPr sz="2400" b="1" u="sng">
                <a:solidFill>
                  <a:schemeClr val="tx1"/>
                </a:solidFill>
                <a:latin typeface="楷体_GB2312" pitchFamily="1" charset="-122"/>
                <a:ea typeface="楷体_GB2312" pitchFamily="1" charset="-122"/>
                <a:sym typeface="+mn-ea"/>
              </a:rPr>
              <a:t>劳动产品</a:t>
            </a:r>
            <a:r>
              <a:rPr lang="en-US" altLang="zh-CN" sz="2400" b="1" u="sng">
                <a:solidFill>
                  <a:schemeClr val="tx1"/>
                </a:solidFill>
                <a:latin typeface="楷体_GB2312" pitchFamily="1" charset="-122"/>
                <a:ea typeface="楷体_GB2312" pitchFamily="1" charset="-122"/>
                <a:sym typeface="+mn-ea"/>
              </a:rPr>
              <a:t>]</a:t>
            </a:r>
            <a:r>
              <a:rPr sz="2400" b="1">
                <a:solidFill>
                  <a:schemeClr val="tx1"/>
                </a:solidFill>
                <a:latin typeface="楷体_GB2312" pitchFamily="1" charset="-122"/>
                <a:ea typeface="楷体_GB2312" pitchFamily="1" charset="-122"/>
                <a:sym typeface="+mn-ea"/>
              </a:rPr>
              <a:t>。</a:t>
            </a:r>
            <a:endParaRPr lang="zh-CN" altLang="en-US" sz="2400" b="1" dirty="0">
              <a:solidFill>
                <a:schemeClr val="tx1"/>
              </a:solidFill>
              <a:latin typeface="楷体_GB2312" pitchFamily="1" charset="-122"/>
              <a:ea typeface="楷体_GB2312" pitchFamily="1" charset="-122"/>
            </a:endParaRPr>
          </a:p>
          <a:p>
            <a:pPr>
              <a:lnSpc>
                <a:spcPct val="120000"/>
              </a:lnSpc>
              <a:spcAft>
                <a:spcPts val="800"/>
              </a:spcAft>
              <a:buNone/>
            </a:pPr>
            <a:r>
              <a:rPr sz="2400" b="1">
                <a:solidFill>
                  <a:schemeClr val="tx1"/>
                </a:solidFill>
                <a:effectLst>
                  <a:outerShdw blurRad="38100" dist="38100" dir="2700000">
                    <a:srgbClr val="000000"/>
                  </a:outerShdw>
                </a:effectLst>
                <a:sym typeface="+mn-ea"/>
              </a:rPr>
              <a:t>  被定义项</a:t>
            </a:r>
            <a:r>
              <a:rPr lang="en-US" altLang="zh-CN" sz="2400" b="1">
                <a:solidFill>
                  <a:schemeClr val="tx1"/>
                </a:solidFill>
                <a:effectLst>
                  <a:outerShdw blurRad="38100" dist="38100" dir="2700000">
                    <a:srgbClr val="000000"/>
                  </a:outerShdw>
                </a:effectLst>
                <a:sym typeface="+mn-ea"/>
              </a:rPr>
              <a:t>】 </a:t>
            </a:r>
            <a:r>
              <a:rPr sz="2400" b="1">
                <a:solidFill>
                  <a:schemeClr val="tx1"/>
                </a:solidFill>
                <a:effectLst>
                  <a:outerShdw blurRad="38100" dist="38100" dir="2700000">
                    <a:srgbClr val="000000"/>
                  </a:outerShdw>
                </a:effectLst>
                <a:sym typeface="+mn-ea"/>
              </a:rPr>
              <a:t>联项           </a:t>
            </a:r>
            <a:r>
              <a:rPr sz="2400" b="1" u="sng">
                <a:solidFill>
                  <a:schemeClr val="tx1"/>
                </a:solidFill>
                <a:effectLst>
                  <a:outerShdw blurRad="38100" dist="38100" dir="2700000">
                    <a:srgbClr val="000000"/>
                  </a:outerShdw>
                </a:effectLst>
                <a:sym typeface="+mn-ea"/>
              </a:rPr>
              <a:t>定 义 项</a:t>
            </a:r>
            <a:endParaRPr lang="zh-CN" altLang="en-US" sz="2400" b="1" u="sng" dirty="0">
              <a:solidFill>
                <a:schemeClr val="tx1"/>
              </a:solidFill>
              <a:effectLst>
                <a:outerShdw blurRad="38100" dist="38100" dir="2700000">
                  <a:srgbClr val="000000"/>
                </a:outerShdw>
              </a:effectLst>
            </a:endParaRPr>
          </a:p>
          <a:p>
            <a:pPr>
              <a:lnSpc>
                <a:spcPct val="120000"/>
              </a:lnSpc>
              <a:spcAft>
                <a:spcPts val="800"/>
              </a:spcAft>
              <a:buNone/>
            </a:pPr>
            <a:r>
              <a:rPr sz="2400" b="1">
                <a:solidFill>
                  <a:schemeClr val="tx1"/>
                </a:solidFill>
                <a:effectLst>
                  <a:outerShdw blurRad="38100" dist="38100" dir="2700000">
                    <a:srgbClr val="000000"/>
                  </a:outerShdw>
                </a:effectLst>
                <a:sym typeface="+mn-ea"/>
              </a:rPr>
              <a:t> </a:t>
            </a:r>
            <a:r>
              <a:rPr lang="en-US" altLang="zh-CN" sz="2400" b="1">
                <a:solidFill>
                  <a:schemeClr val="tx1"/>
                </a:solidFill>
                <a:effectLst>
                  <a:outerShdw blurRad="38100" dist="38100" dir="2700000">
                    <a:srgbClr val="000000"/>
                  </a:outerShdw>
                </a:effectLst>
                <a:sym typeface="+mn-ea"/>
              </a:rPr>
              <a:t>“</a:t>
            </a:r>
            <a:r>
              <a:rPr sz="2400" b="1">
                <a:solidFill>
                  <a:schemeClr val="tx1"/>
                </a:solidFill>
                <a:effectLst>
                  <a:outerShdw blurRad="38100" dist="38100" dir="2700000">
                    <a:srgbClr val="000000"/>
                  </a:outerShdw>
                </a:effectLst>
                <a:sym typeface="+mn-ea"/>
              </a:rPr>
              <a:t>人是有思想的动物</a:t>
            </a:r>
            <a:r>
              <a:rPr lang="en-US" altLang="zh-CN" sz="2400" b="1">
                <a:solidFill>
                  <a:schemeClr val="tx1"/>
                </a:solidFill>
                <a:effectLst>
                  <a:outerShdw blurRad="38100" dist="38100" dir="2700000">
                    <a:srgbClr val="000000"/>
                  </a:outerShdw>
                </a:effectLst>
                <a:sym typeface="+mn-ea"/>
              </a:rPr>
              <a:t>”</a:t>
            </a:r>
            <a:r>
              <a:rPr sz="2400" b="1">
                <a:solidFill>
                  <a:schemeClr val="tx1"/>
                </a:solidFill>
                <a:effectLst>
                  <a:outerShdw blurRad="38100" dist="38100" dir="2700000">
                    <a:srgbClr val="000000"/>
                  </a:outerShdw>
                </a:effectLst>
                <a:sym typeface="+mn-ea"/>
              </a:rPr>
              <a:t>是否是一个恰当的定义？</a:t>
            </a:r>
            <a:endParaRPr lang="zh-CN" altLang="en-US"/>
          </a:p>
          <a:p>
            <a:endParaRPr lang="zh-CN" altLang="en-US"/>
          </a:p>
        </p:txBody>
      </p:sp>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ym typeface="+mn-ea"/>
              </a:rPr>
              <a:t>真题</a:t>
            </a:r>
            <a:r>
              <a:rPr lang="en-US" altLang="zh-CN">
                <a:sym typeface="+mn-ea"/>
              </a:rPr>
              <a:t>1</a:t>
            </a:r>
            <a:endParaRPr lang="zh-CN" altLang="en-US"/>
          </a:p>
        </p:txBody>
      </p:sp>
      <p:sp>
        <p:nvSpPr>
          <p:cNvPr id="3" name="内容占位符 2"/>
          <p:cNvSpPr>
            <a:spLocks noGrp="1"/>
          </p:cNvSpPr>
          <p:nvPr>
            <p:ph idx="1"/>
          </p:nvPr>
        </p:nvSpPr>
        <p:spPr/>
        <p:txBody>
          <a:bodyPr/>
          <a:p>
            <a:r>
              <a:rPr sz="2400" b="1">
                <a:solidFill>
                  <a:srgbClr val="FF0000"/>
                </a:solidFill>
                <a:sym typeface="+mn-ea"/>
              </a:rPr>
              <a:t>解释关系指的是在文段中某些词句对空缺处所填词语的含义进行解释说明。</a:t>
            </a:r>
            <a:endParaRPr sz="2400" b="1"/>
          </a:p>
          <a:p>
            <a:r>
              <a:rPr sz="2400" b="1">
                <a:solidFill>
                  <a:schemeClr val="tx1"/>
                </a:solidFill>
                <a:sym typeface="+mn-ea"/>
              </a:rPr>
              <a:t>真题</a:t>
            </a:r>
            <a:r>
              <a:rPr lang="en-US" altLang="zh-CN" sz="2400" b="1">
                <a:solidFill>
                  <a:schemeClr val="tx1"/>
                </a:solidFill>
                <a:sym typeface="+mn-ea"/>
              </a:rPr>
              <a:t>1</a:t>
            </a:r>
            <a:r>
              <a:rPr sz="2400" b="1">
                <a:solidFill>
                  <a:schemeClr val="tx1"/>
                </a:solidFill>
                <a:sym typeface="+mn-ea"/>
              </a:rPr>
              <a:t>：儒家对</a:t>
            </a:r>
            <a:r>
              <a:rPr lang="en-US" altLang="zh-CN" sz="2400" b="1">
                <a:solidFill>
                  <a:schemeClr val="tx1"/>
                </a:solidFill>
                <a:sym typeface="+mn-ea"/>
              </a:rPr>
              <a:t>“</a:t>
            </a:r>
            <a:r>
              <a:rPr sz="2400" b="1">
                <a:solidFill>
                  <a:schemeClr val="tx1"/>
                </a:solidFill>
                <a:sym typeface="+mn-ea"/>
              </a:rPr>
              <a:t>君子</a:t>
            </a:r>
            <a:r>
              <a:rPr lang="en-US" altLang="zh-CN" sz="2400" b="1">
                <a:solidFill>
                  <a:schemeClr val="tx1"/>
                </a:solidFill>
                <a:sym typeface="+mn-ea"/>
              </a:rPr>
              <a:t>”</a:t>
            </a:r>
            <a:r>
              <a:rPr sz="2400" b="1">
                <a:solidFill>
                  <a:schemeClr val="tx1"/>
                </a:solidFill>
                <a:sym typeface="+mn-ea"/>
              </a:rPr>
              <a:t>进行阐述时，采取一种极为</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的理论技巧。那就是，不直接定义</a:t>
            </a:r>
            <a:r>
              <a:rPr lang="en-US" altLang="zh-CN" sz="2400" b="1">
                <a:solidFill>
                  <a:schemeClr val="tx1"/>
                </a:solidFill>
                <a:sym typeface="+mn-ea"/>
              </a:rPr>
              <a:t>“</a:t>
            </a:r>
            <a:r>
              <a:rPr sz="2400" b="1">
                <a:solidFill>
                  <a:schemeClr val="tx1"/>
                </a:solidFill>
                <a:sym typeface="+mn-ea"/>
              </a:rPr>
              <a:t>君子</a:t>
            </a:r>
            <a:r>
              <a:rPr lang="en-US" altLang="zh-CN" sz="2400" b="1">
                <a:solidFill>
                  <a:schemeClr val="tx1"/>
                </a:solidFill>
                <a:sym typeface="+mn-ea"/>
              </a:rPr>
              <a:t>”</a:t>
            </a:r>
            <a:r>
              <a:rPr sz="2400" b="1">
                <a:solidFill>
                  <a:schemeClr val="tx1"/>
                </a:solidFill>
                <a:sym typeface="+mn-ea"/>
              </a:rPr>
              <a:t>，只是反复</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它的对立面。</a:t>
            </a:r>
            <a:r>
              <a:rPr lang="en-US" altLang="zh-CN" sz="2400" b="1">
                <a:solidFill>
                  <a:schemeClr val="tx1"/>
                </a:solidFill>
                <a:sym typeface="+mn-ea"/>
              </a:rPr>
              <a:t>“</a:t>
            </a:r>
            <a:r>
              <a:rPr sz="2400" b="1">
                <a:solidFill>
                  <a:schemeClr val="tx1"/>
                </a:solidFill>
                <a:sym typeface="+mn-ea"/>
              </a:rPr>
              <a:t>君子</a:t>
            </a:r>
            <a:r>
              <a:rPr lang="en-US" altLang="zh-CN" sz="2400" b="1">
                <a:solidFill>
                  <a:schemeClr val="tx1"/>
                </a:solidFill>
                <a:sym typeface="+mn-ea"/>
              </a:rPr>
              <a:t>”</a:t>
            </a:r>
            <a:r>
              <a:rPr sz="2400" b="1">
                <a:solidFill>
                  <a:schemeClr val="tx1"/>
                </a:solidFill>
                <a:sym typeface="+mn-ea"/>
              </a:rPr>
              <a:t>的对立面，就是</a:t>
            </a:r>
            <a:r>
              <a:rPr lang="en-US" altLang="zh-CN" sz="2400" b="1">
                <a:solidFill>
                  <a:schemeClr val="tx1"/>
                </a:solidFill>
                <a:sym typeface="+mn-ea"/>
              </a:rPr>
              <a:t>“</a:t>
            </a:r>
            <a:r>
              <a:rPr sz="2400" b="1">
                <a:solidFill>
                  <a:schemeClr val="tx1"/>
                </a:solidFill>
                <a:sym typeface="+mn-ea"/>
              </a:rPr>
              <a:t>小人</a:t>
            </a:r>
            <a:r>
              <a:rPr lang="en-US" altLang="zh-CN" sz="2400" b="1">
                <a:solidFill>
                  <a:schemeClr val="tx1"/>
                </a:solidFill>
                <a:sym typeface="+mn-ea"/>
              </a:rPr>
              <a:t>”</a:t>
            </a:r>
            <a:r>
              <a:rPr sz="2400" b="1">
                <a:solidFill>
                  <a:schemeClr val="tx1"/>
                </a:solidFill>
                <a:sym typeface="+mn-ea"/>
              </a:rPr>
              <a:t>。用一系列的否定，来完成一种肯定。</a:t>
            </a:r>
            <a:r>
              <a:rPr sz="2400" b="1">
                <a:sym typeface="+mn-ea"/>
              </a:rPr>
              <a:t>这种方法，在逻辑学上，是通过</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外延，来包围内涵。 </a:t>
            </a:r>
            <a:r>
              <a:rPr sz="2400" b="1">
                <a:sym typeface="+mn-ea"/>
              </a:rPr>
              <a:t>   </a:t>
            </a:r>
            <a:endParaRPr sz="2400" b="1"/>
          </a:p>
          <a:p>
            <a:r>
              <a:rPr sz="2400" b="1">
                <a:sym typeface="+mn-ea"/>
              </a:rPr>
              <a:t>填入画横线部分最恰当的一项是</a:t>
            </a:r>
            <a:r>
              <a:rPr sz="2400" b="1">
                <a:sym typeface="+mn-ea"/>
              </a:rPr>
              <a:t>（    ）</a:t>
            </a:r>
            <a:r>
              <a:rPr sz="2400" b="1">
                <a:sym typeface="+mn-ea"/>
              </a:rPr>
              <a:t>：</a:t>
            </a:r>
            <a:endParaRPr sz="2400" b="1"/>
          </a:p>
          <a:p>
            <a:r>
              <a:rPr lang="en-US" altLang="zh-CN" sz="2400" b="1">
                <a:sym typeface="+mn-ea"/>
              </a:rPr>
              <a:t>A. </a:t>
            </a:r>
            <a:r>
              <a:rPr sz="2400" b="1">
                <a:sym typeface="+mn-ea"/>
              </a:rPr>
              <a:t>罕见      列举      缩小     </a:t>
            </a:r>
            <a:r>
              <a:rPr lang="en-US" altLang="zh-CN" sz="2400" b="1">
                <a:sym typeface="+mn-ea"/>
              </a:rPr>
              <a:t>             B. </a:t>
            </a:r>
            <a:r>
              <a:rPr sz="2400" b="1">
                <a:sym typeface="+mn-ea"/>
              </a:rPr>
              <a:t>精当     强调      剔除    </a:t>
            </a:r>
            <a:endParaRPr sz="2400" b="1"/>
          </a:p>
          <a:p>
            <a:r>
              <a:rPr lang="en-US" altLang="zh-CN" sz="2400" b="1">
                <a:sym typeface="+mn-ea"/>
              </a:rPr>
              <a:t>C. </a:t>
            </a:r>
            <a:r>
              <a:rPr sz="2400" b="1">
                <a:sym typeface="+mn-ea"/>
              </a:rPr>
              <a:t>巧妙      叙述      限制               </a:t>
            </a:r>
            <a:r>
              <a:rPr lang="en-US" altLang="zh-CN" sz="2400" b="1">
                <a:sym typeface="+mn-ea"/>
              </a:rPr>
              <a:t>   D</a:t>
            </a:r>
            <a:r>
              <a:rPr lang="en-US" altLang="zh-CN" sz="2400" b="1">
                <a:solidFill>
                  <a:schemeClr val="tx1"/>
                </a:solidFill>
                <a:sym typeface="+mn-ea"/>
              </a:rPr>
              <a:t>.</a:t>
            </a:r>
            <a:r>
              <a:rPr sz="2400" b="1">
                <a:sym typeface="+mn-ea"/>
              </a:rPr>
              <a:t> 高明     描绘      确认  </a:t>
            </a:r>
            <a:endParaRPr sz="2400" b="1">
              <a:sym typeface="+mn-ea"/>
            </a:endParaRPr>
          </a:p>
          <a:p>
            <a:endParaRPr lang="zh-CN" altLang="en-US"/>
          </a:p>
        </p:txBody>
      </p:sp>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ym typeface="+mn-ea"/>
              </a:rPr>
              <a:t>真题</a:t>
            </a:r>
            <a:r>
              <a:rPr lang="en-US" altLang="zh-CN">
                <a:sym typeface="+mn-ea"/>
              </a:rPr>
              <a:t>1</a:t>
            </a:r>
            <a:r>
              <a:rPr>
                <a:sym typeface="+mn-ea"/>
              </a:rPr>
              <a:t>精讲</a:t>
            </a:r>
            <a:endParaRPr>
              <a:sym typeface="+mn-ea"/>
            </a:endParaRPr>
          </a:p>
        </p:txBody>
      </p:sp>
      <p:sp>
        <p:nvSpPr>
          <p:cNvPr id="3" name="内容占位符 2"/>
          <p:cNvSpPr>
            <a:spLocks noGrp="1"/>
          </p:cNvSpPr>
          <p:nvPr>
            <p:ph idx="1"/>
          </p:nvPr>
        </p:nvSpPr>
        <p:spPr/>
        <p:txBody>
          <a:bodyPr/>
          <a:p>
            <a:r>
              <a:rPr sz="2400" b="1">
                <a:solidFill>
                  <a:srgbClr val="FF0000"/>
                </a:solidFill>
                <a:sym typeface="+mn-ea"/>
              </a:rPr>
              <a:t>真题</a:t>
            </a:r>
            <a:r>
              <a:rPr lang="en-US" altLang="zh-CN" sz="2400" b="1">
                <a:solidFill>
                  <a:srgbClr val="FF0000"/>
                </a:solidFill>
                <a:sym typeface="+mn-ea"/>
              </a:rPr>
              <a:t>1</a:t>
            </a:r>
            <a:r>
              <a:rPr sz="2400" b="1">
                <a:sym typeface="+mn-ea"/>
              </a:rPr>
              <a:t>：儒家对</a:t>
            </a:r>
            <a:r>
              <a:rPr lang="en-US" altLang="zh-CN" sz="2400" b="1">
                <a:sym typeface="+mn-ea"/>
              </a:rPr>
              <a:t>“</a:t>
            </a:r>
            <a:r>
              <a:rPr sz="2400" b="1">
                <a:sym typeface="+mn-ea"/>
              </a:rPr>
              <a:t>君子</a:t>
            </a:r>
            <a:r>
              <a:rPr lang="en-US" altLang="zh-CN" sz="2400" b="1">
                <a:sym typeface="+mn-ea"/>
              </a:rPr>
              <a:t>”</a:t>
            </a:r>
            <a:r>
              <a:rPr sz="2400" b="1">
                <a:sym typeface="+mn-ea"/>
              </a:rPr>
              <a:t>进行阐述时，采取一种极为</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的理论技巧。那就是，</a:t>
            </a:r>
            <a:r>
              <a:rPr sz="2400" b="1">
                <a:solidFill>
                  <a:srgbClr val="FF0000"/>
                </a:solidFill>
                <a:sym typeface="+mn-ea"/>
              </a:rPr>
              <a:t>不直接定义</a:t>
            </a:r>
            <a:r>
              <a:rPr lang="en-US" altLang="zh-CN" sz="2400" b="1">
                <a:sym typeface="+mn-ea"/>
              </a:rPr>
              <a:t>“</a:t>
            </a:r>
            <a:r>
              <a:rPr sz="2400" b="1">
                <a:sym typeface="+mn-ea"/>
              </a:rPr>
              <a:t>君子</a:t>
            </a:r>
            <a:r>
              <a:rPr lang="en-US" altLang="zh-CN" sz="2400" b="1">
                <a:sym typeface="+mn-ea"/>
              </a:rPr>
              <a:t>”</a:t>
            </a:r>
            <a:r>
              <a:rPr sz="2400" b="1">
                <a:sym typeface="+mn-ea"/>
              </a:rPr>
              <a:t>，只是反复</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它的对立面。</a:t>
            </a:r>
            <a:r>
              <a:rPr lang="en-US" altLang="zh-CN" sz="2400" b="1">
                <a:sym typeface="+mn-ea"/>
              </a:rPr>
              <a:t>“</a:t>
            </a:r>
            <a:r>
              <a:rPr sz="2400" b="1">
                <a:sym typeface="+mn-ea"/>
              </a:rPr>
              <a:t>君子</a:t>
            </a:r>
            <a:r>
              <a:rPr lang="en-US" altLang="zh-CN" sz="2400" b="1">
                <a:sym typeface="+mn-ea"/>
              </a:rPr>
              <a:t>”</a:t>
            </a:r>
            <a:r>
              <a:rPr sz="2400" b="1">
                <a:sym typeface="+mn-ea"/>
              </a:rPr>
              <a:t>的对立面，就是</a:t>
            </a:r>
            <a:r>
              <a:rPr lang="en-US" altLang="zh-CN" sz="2400" b="1">
                <a:sym typeface="+mn-ea"/>
              </a:rPr>
              <a:t>“</a:t>
            </a:r>
            <a:r>
              <a:rPr sz="2400" b="1">
                <a:sym typeface="+mn-ea"/>
              </a:rPr>
              <a:t>小人</a:t>
            </a:r>
            <a:r>
              <a:rPr lang="en-US" altLang="zh-CN" sz="2400" b="1">
                <a:sym typeface="+mn-ea"/>
              </a:rPr>
              <a:t>”</a:t>
            </a:r>
            <a:r>
              <a:rPr sz="2400" b="1">
                <a:sym typeface="+mn-ea"/>
              </a:rPr>
              <a:t>。</a:t>
            </a:r>
            <a:r>
              <a:rPr sz="2400" b="1">
                <a:solidFill>
                  <a:srgbClr val="FF0000"/>
                </a:solidFill>
                <a:sym typeface="+mn-ea"/>
              </a:rPr>
              <a:t>用一系列的否定，来完成一种肯定</a:t>
            </a:r>
            <a:r>
              <a:rPr sz="2400" b="1">
                <a:sym typeface="+mn-ea"/>
              </a:rPr>
              <a:t>。这种方法，在逻辑学上，是通过</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外延，来包围内涵。 </a:t>
            </a:r>
            <a:r>
              <a:rPr sz="2400" b="1">
                <a:sym typeface="+mn-ea"/>
              </a:rPr>
              <a:t>   </a:t>
            </a:r>
            <a:endParaRPr sz="2400" b="1"/>
          </a:p>
          <a:p>
            <a:r>
              <a:rPr sz="2400" b="1">
                <a:sym typeface="+mn-ea"/>
              </a:rPr>
              <a:t>填入画横线部分最恰当的一项是</a:t>
            </a:r>
            <a:r>
              <a:rPr sz="2400" b="1">
                <a:sym typeface="+mn-ea"/>
              </a:rPr>
              <a:t>（    ）</a:t>
            </a:r>
            <a:r>
              <a:rPr sz="2400" b="1">
                <a:sym typeface="+mn-ea"/>
              </a:rPr>
              <a:t>：</a:t>
            </a:r>
            <a:endParaRPr sz="2400" b="1"/>
          </a:p>
          <a:p>
            <a:r>
              <a:rPr lang="en-US" altLang="zh-CN" sz="2400" b="1">
                <a:sym typeface="+mn-ea"/>
              </a:rPr>
              <a:t>A. </a:t>
            </a:r>
            <a:r>
              <a:rPr sz="2400" b="1">
                <a:sym typeface="+mn-ea"/>
              </a:rPr>
              <a:t>罕见      列举      缩小     </a:t>
            </a:r>
            <a:r>
              <a:rPr lang="en-US" altLang="zh-CN" sz="2400" b="1">
                <a:sym typeface="+mn-ea"/>
              </a:rPr>
              <a:t>             B. </a:t>
            </a:r>
            <a:r>
              <a:rPr sz="2400" b="1">
                <a:sym typeface="+mn-ea"/>
              </a:rPr>
              <a:t>精当     强调      剔除    </a:t>
            </a:r>
            <a:endParaRPr sz="2400" b="1"/>
          </a:p>
          <a:p>
            <a:r>
              <a:rPr lang="en-US" altLang="zh-CN" sz="2400" b="1">
                <a:sym typeface="+mn-ea"/>
              </a:rPr>
              <a:t>C. </a:t>
            </a:r>
            <a:r>
              <a:rPr sz="2400" b="1">
                <a:sym typeface="+mn-ea"/>
              </a:rPr>
              <a:t>巧妙      叙述      限制               </a:t>
            </a:r>
            <a:r>
              <a:rPr lang="en-US" altLang="zh-CN" sz="2400" b="1">
                <a:sym typeface="+mn-ea"/>
              </a:rPr>
              <a:t>   D</a:t>
            </a:r>
            <a:r>
              <a:rPr lang="en-US" altLang="zh-CN" sz="2400" b="1">
                <a:solidFill>
                  <a:srgbClr val="FF0000"/>
                </a:solidFill>
                <a:sym typeface="+mn-ea"/>
              </a:rPr>
              <a:t>.</a:t>
            </a:r>
            <a:r>
              <a:rPr sz="2400" b="1">
                <a:sym typeface="+mn-ea"/>
              </a:rPr>
              <a:t> 高明     描绘      确认  </a:t>
            </a:r>
            <a:endParaRPr sz="2400" b="1">
              <a:sym typeface="+mn-ea"/>
            </a:endParaRPr>
          </a:p>
          <a:p>
            <a:r>
              <a:rPr sz="2400" b="1">
                <a:sym typeface="+mn-ea"/>
              </a:rPr>
              <a:t>分析：根据红色字部分排除</a:t>
            </a:r>
            <a:r>
              <a:rPr lang="en-US" altLang="zh-CN" sz="2400" b="1">
                <a:sym typeface="+mn-ea"/>
              </a:rPr>
              <a:t>A</a:t>
            </a:r>
            <a:r>
              <a:rPr sz="2400" b="1">
                <a:sym typeface="+mn-ea"/>
              </a:rPr>
              <a:t>与</a:t>
            </a:r>
            <a:r>
              <a:rPr lang="en-US" altLang="zh-CN" sz="2400" b="1">
                <a:sym typeface="+mn-ea"/>
              </a:rPr>
              <a:t>B</a:t>
            </a:r>
            <a:r>
              <a:rPr sz="2400" b="1">
                <a:sym typeface="+mn-ea"/>
              </a:rPr>
              <a:t>，根据外延与内涵的对应关系排除</a:t>
            </a:r>
            <a:r>
              <a:rPr lang="en-US" altLang="zh-CN" sz="2400" b="1">
                <a:sym typeface="+mn-ea"/>
              </a:rPr>
              <a:t>C</a:t>
            </a:r>
            <a:r>
              <a:rPr>
                <a:sym typeface="+mn-ea"/>
              </a:rPr>
              <a:t> </a:t>
            </a:r>
            <a:endParaRPr lang="zh-CN" altLang="en-US"/>
          </a:p>
        </p:txBody>
      </p:sp>
    </p:spTree>
    <p:custDataLst>
      <p:tags r:id="rId1"/>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t>真题</a:t>
            </a:r>
            <a:r>
              <a:rPr lang="en-US" altLang="zh-CN"/>
              <a:t>2</a:t>
            </a:r>
            <a:r>
              <a:rPr lang="en-US" altLang="zh-CN"/>
              <a:t> </a:t>
            </a:r>
            <a:endParaRPr lang="en-US" altLang="zh-CN"/>
          </a:p>
        </p:txBody>
      </p:sp>
      <p:sp>
        <p:nvSpPr>
          <p:cNvPr id="3" name="内容占位符 2"/>
          <p:cNvSpPr>
            <a:spLocks noGrp="1"/>
          </p:cNvSpPr>
          <p:nvPr>
            <p:ph idx="1"/>
          </p:nvPr>
        </p:nvSpPr>
        <p:spPr/>
        <p:txBody>
          <a:bodyPr/>
          <a:p>
            <a:r>
              <a:rPr sz="2400" b="1">
                <a:sym typeface="+mn-ea"/>
              </a:rPr>
              <a:t>（川</a:t>
            </a:r>
            <a:r>
              <a:rPr lang="en-US" altLang="zh-CN" sz="2400" b="1">
                <a:sym typeface="+mn-ea"/>
              </a:rPr>
              <a:t>2019</a:t>
            </a:r>
            <a:r>
              <a:rPr sz="2400" b="1">
                <a:sym typeface="+mn-ea"/>
              </a:rPr>
              <a:t>下</a:t>
            </a:r>
            <a:r>
              <a:rPr lang="en-US" altLang="zh-CN" sz="2400" b="1">
                <a:sym typeface="+mn-ea"/>
              </a:rPr>
              <a:t>-16</a:t>
            </a:r>
            <a:r>
              <a:rPr sz="2400" b="1">
                <a:sym typeface="+mn-ea"/>
              </a:rPr>
              <a:t>）</a:t>
            </a:r>
            <a:r>
              <a:rPr lang="zh-CN" altLang="en-US" sz="2400" b="1"/>
              <a:t>康藏高寒地区海拔通常都在三四千米以上，当地藏民有喝酥油茶的习惯，但该地茶叶</a:t>
            </a:r>
            <a:r>
              <a:rPr lang="zh-CN" altLang="en-US" sz="2400" b="1">
                <a:solidFill>
                  <a:schemeClr val="tx1"/>
                </a:solidFill>
              </a:rPr>
              <a:t>稀缺；而在内地，民间生活和战争所需的大量骡马，同样</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。因此，</a:t>
            </a:r>
            <a:r>
              <a:rPr sz="2400" b="1">
                <a:sym typeface="+mn-ea"/>
              </a:rPr>
              <a:t>具有互补性的</a:t>
            </a:r>
            <a:r>
              <a:rPr lang="en-US" altLang="zh-CN" sz="2400" b="1">
                <a:sym typeface="+mn-ea"/>
              </a:rPr>
              <a:t>“</a:t>
            </a:r>
            <a:r>
              <a:rPr sz="2400" b="1">
                <a:sym typeface="+mn-ea"/>
              </a:rPr>
              <a:t>茶马互市</a:t>
            </a:r>
            <a:r>
              <a:rPr lang="en-US" altLang="zh-CN" sz="2400" b="1">
                <a:sym typeface="+mn-ea"/>
              </a:rPr>
              <a:t>”</a:t>
            </a:r>
            <a:r>
              <a:rPr sz="2400" b="1">
                <a:sym typeface="+mn-ea"/>
              </a:rPr>
              <a:t>应运而生。</a:t>
            </a:r>
            <a:endParaRPr sz="2400" b="1">
              <a:sym typeface="+mn-ea"/>
            </a:endParaRPr>
          </a:p>
          <a:p>
            <a:r>
              <a:rPr sz="2400" b="1">
                <a:sym typeface="+mn-ea"/>
              </a:rPr>
              <a:t>填入画横线部分最恰当的一项是：</a:t>
            </a:r>
            <a:endParaRPr sz="2400" b="1">
              <a:sym typeface="+mn-ea"/>
            </a:endParaRPr>
          </a:p>
          <a:p>
            <a:r>
              <a:rPr lang="en-US" altLang="zh-CN" sz="2400" b="1">
                <a:sym typeface="+mn-ea"/>
              </a:rPr>
              <a:t>A. </a:t>
            </a:r>
            <a:r>
              <a:rPr sz="2400" b="1">
                <a:sym typeface="+mn-ea"/>
              </a:rPr>
              <a:t>缺一不可           </a:t>
            </a:r>
            <a:r>
              <a:rPr lang="en-US" altLang="zh-CN" sz="2400" b="1">
                <a:sym typeface="+mn-ea"/>
              </a:rPr>
              <a:t>B</a:t>
            </a:r>
            <a:r>
              <a:rPr lang="en-US" altLang="zh-CN" sz="2400" b="1">
                <a:solidFill>
                  <a:schemeClr val="tx1"/>
                </a:solidFill>
                <a:sym typeface="+mn-ea"/>
              </a:rPr>
              <a:t>.</a:t>
            </a:r>
            <a:r>
              <a:rPr lang="en-US" altLang="zh-CN" sz="2400" b="1">
                <a:sym typeface="+mn-ea"/>
              </a:rPr>
              <a:t> </a:t>
            </a:r>
            <a:r>
              <a:rPr sz="2400" b="1">
                <a:sym typeface="+mn-ea"/>
              </a:rPr>
              <a:t>供不应求       </a:t>
            </a:r>
            <a:r>
              <a:rPr lang="en-US" altLang="zh-CN" sz="2400" b="1">
                <a:sym typeface="+mn-ea"/>
              </a:rPr>
              <a:t>C.  </a:t>
            </a:r>
            <a:r>
              <a:rPr sz="2400" b="1">
                <a:sym typeface="+mn-ea"/>
              </a:rPr>
              <a:t>千金难买     </a:t>
            </a:r>
            <a:r>
              <a:rPr lang="en-US" altLang="zh-CN" sz="2400" b="1">
                <a:sym typeface="+mn-ea"/>
              </a:rPr>
              <a:t>D.  </a:t>
            </a:r>
            <a:r>
              <a:rPr sz="2400" b="1">
                <a:sym typeface="+mn-ea"/>
              </a:rPr>
              <a:t>难能可贵</a:t>
            </a:r>
            <a:endParaRPr sz="2400" b="1">
              <a:sym typeface="+mn-ea"/>
            </a:endParaRPr>
          </a:p>
          <a:p>
            <a:endParaRPr lang="en-US" altLang="zh-CN" sz="2400" b="1">
              <a:sym typeface="+mn-ea"/>
            </a:endParaRPr>
          </a:p>
        </p:txBody>
      </p:sp>
    </p:spTree>
    <p:custDataLst>
      <p:tags r:id="rId1"/>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t>真题</a:t>
            </a:r>
            <a:r>
              <a:rPr lang="en-US" altLang="zh-CN"/>
              <a:t>2</a:t>
            </a:r>
            <a:r>
              <a:t>精讲</a:t>
            </a:r>
            <a:r>
              <a:rPr lang="en-US" altLang="zh-CN"/>
              <a:t> </a:t>
            </a:r>
            <a:endParaRPr lang="en-US" altLang="zh-CN"/>
          </a:p>
        </p:txBody>
      </p:sp>
      <p:sp>
        <p:nvSpPr>
          <p:cNvPr id="3" name="内容占位符 2"/>
          <p:cNvSpPr>
            <a:spLocks noGrp="1"/>
          </p:cNvSpPr>
          <p:nvPr>
            <p:ph idx="1"/>
          </p:nvPr>
        </p:nvSpPr>
        <p:spPr/>
        <p:txBody>
          <a:bodyPr/>
          <a:p>
            <a:r>
              <a:rPr sz="2400" b="1">
                <a:sym typeface="+mn-ea"/>
              </a:rPr>
              <a:t>（川</a:t>
            </a:r>
            <a:r>
              <a:rPr lang="en-US" altLang="zh-CN" sz="2400" b="1">
                <a:sym typeface="+mn-ea"/>
              </a:rPr>
              <a:t>2019</a:t>
            </a:r>
            <a:r>
              <a:rPr sz="2400" b="1">
                <a:sym typeface="+mn-ea"/>
              </a:rPr>
              <a:t>下</a:t>
            </a:r>
            <a:r>
              <a:rPr lang="en-US" altLang="zh-CN" sz="2400" b="1">
                <a:sym typeface="+mn-ea"/>
              </a:rPr>
              <a:t>-16</a:t>
            </a:r>
            <a:r>
              <a:rPr sz="2400" b="1">
                <a:sym typeface="+mn-ea"/>
              </a:rPr>
              <a:t>）</a:t>
            </a:r>
            <a:r>
              <a:rPr lang="zh-CN" altLang="en-US" sz="2400" b="1"/>
              <a:t>康藏高寒地区海拔通常都在三四千米以上，当地藏民有喝酥油茶的习惯，但该地茶叶</a:t>
            </a:r>
            <a:r>
              <a:rPr lang="zh-CN" altLang="en-US" sz="2400" b="1">
                <a:solidFill>
                  <a:srgbClr val="FF0000"/>
                </a:solidFill>
              </a:rPr>
              <a:t>稀缺</a:t>
            </a:r>
            <a:r>
              <a:rPr lang="zh-CN" altLang="en-US" sz="2400" b="1"/>
              <a:t>；而在内地，民间生活和战争所需的大量骡马，</a:t>
            </a:r>
            <a:r>
              <a:rPr lang="zh-CN" altLang="en-US" sz="2400" b="1">
                <a:solidFill>
                  <a:srgbClr val="FF0000"/>
                </a:solidFill>
              </a:rPr>
              <a:t>同样</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。因此，具有互补性的</a:t>
            </a:r>
            <a:r>
              <a:rPr lang="en-US" altLang="zh-CN" sz="2400" b="1">
                <a:sym typeface="+mn-ea"/>
              </a:rPr>
              <a:t>“</a:t>
            </a:r>
            <a:r>
              <a:rPr sz="2400" b="1">
                <a:sym typeface="+mn-ea"/>
              </a:rPr>
              <a:t>茶马互市</a:t>
            </a:r>
            <a:r>
              <a:rPr lang="en-US" altLang="zh-CN" sz="2400" b="1">
                <a:sym typeface="+mn-ea"/>
              </a:rPr>
              <a:t>”</a:t>
            </a:r>
            <a:r>
              <a:rPr sz="2400" b="1">
                <a:sym typeface="+mn-ea"/>
              </a:rPr>
              <a:t>应运而生。</a:t>
            </a:r>
            <a:endParaRPr sz="2400" b="1">
              <a:sym typeface="+mn-ea"/>
            </a:endParaRPr>
          </a:p>
          <a:p>
            <a:r>
              <a:rPr sz="2400" b="1">
                <a:sym typeface="+mn-ea"/>
              </a:rPr>
              <a:t>填入画横线部分最恰当的一项是</a:t>
            </a:r>
            <a:r>
              <a:rPr sz="2400" b="1">
                <a:sym typeface="+mn-ea"/>
              </a:rPr>
              <a:t>（    ）</a:t>
            </a:r>
            <a:r>
              <a:rPr sz="2400" b="1">
                <a:sym typeface="+mn-ea"/>
              </a:rPr>
              <a:t>：</a:t>
            </a:r>
            <a:endParaRPr sz="2400" b="1">
              <a:sym typeface="+mn-ea"/>
            </a:endParaRPr>
          </a:p>
          <a:p>
            <a:r>
              <a:rPr lang="en-US" altLang="zh-CN" sz="2400" b="1">
                <a:sym typeface="+mn-ea"/>
              </a:rPr>
              <a:t>A. </a:t>
            </a:r>
            <a:r>
              <a:rPr sz="2400" b="1">
                <a:sym typeface="+mn-ea"/>
              </a:rPr>
              <a:t>缺一不可           </a:t>
            </a:r>
            <a:r>
              <a:rPr lang="en-US" altLang="zh-CN" sz="2400" b="1">
                <a:sym typeface="+mn-ea"/>
              </a:rPr>
              <a:t>B</a:t>
            </a:r>
            <a:r>
              <a:rPr lang="en-US" altLang="zh-CN" sz="2400" b="1">
                <a:solidFill>
                  <a:schemeClr val="tx1"/>
                </a:solidFill>
                <a:sym typeface="+mn-ea"/>
              </a:rPr>
              <a:t>.</a:t>
            </a:r>
            <a:r>
              <a:rPr lang="en-US" altLang="zh-CN" sz="2400" b="1">
                <a:sym typeface="+mn-ea"/>
              </a:rPr>
              <a:t> </a:t>
            </a:r>
            <a:r>
              <a:rPr sz="2400" b="1">
                <a:sym typeface="+mn-ea"/>
              </a:rPr>
              <a:t>供不应求       </a:t>
            </a:r>
            <a:r>
              <a:rPr lang="en-US" altLang="zh-CN" sz="2400" b="1">
                <a:sym typeface="+mn-ea"/>
              </a:rPr>
              <a:t>C.  </a:t>
            </a:r>
            <a:r>
              <a:rPr sz="2400" b="1">
                <a:sym typeface="+mn-ea"/>
              </a:rPr>
              <a:t>千金难买     </a:t>
            </a:r>
            <a:r>
              <a:rPr lang="en-US" altLang="zh-CN" sz="2400" b="1">
                <a:sym typeface="+mn-ea"/>
              </a:rPr>
              <a:t>D.  </a:t>
            </a:r>
            <a:r>
              <a:rPr sz="2400" b="1">
                <a:sym typeface="+mn-ea"/>
              </a:rPr>
              <a:t>难能可贵</a:t>
            </a:r>
            <a:endParaRPr sz="2400" b="1">
              <a:sym typeface="+mn-ea"/>
            </a:endParaRPr>
          </a:p>
          <a:p>
            <a:r>
              <a:rPr sz="2400" b="1">
                <a:sym typeface="+mn-ea"/>
              </a:rPr>
              <a:t>分析：</a:t>
            </a:r>
            <a:r>
              <a:rPr lang="en-US" altLang="zh-CN" sz="2400" b="1">
                <a:sym typeface="+mn-ea"/>
              </a:rPr>
              <a:t>A</a:t>
            </a:r>
            <a:r>
              <a:rPr sz="2400" b="1">
                <a:sym typeface="+mn-ea"/>
              </a:rPr>
              <a:t>侧重必要性，</a:t>
            </a:r>
            <a:r>
              <a:rPr lang="en-US" altLang="zh-CN" sz="2400" b="1">
                <a:sym typeface="+mn-ea"/>
              </a:rPr>
              <a:t>D</a:t>
            </a:r>
            <a:r>
              <a:rPr sz="2400" b="1">
                <a:sym typeface="+mn-ea"/>
              </a:rPr>
              <a:t>一般指人的品质，</a:t>
            </a:r>
            <a:r>
              <a:rPr lang="en-US" altLang="zh-CN" sz="2400" b="1">
                <a:sym typeface="+mn-ea"/>
              </a:rPr>
              <a:t>C</a:t>
            </a:r>
            <a:r>
              <a:rPr sz="2400" b="1">
                <a:sym typeface="+mn-ea"/>
              </a:rPr>
              <a:t>太夸张，与</a:t>
            </a:r>
            <a:r>
              <a:rPr lang="en-US" altLang="zh-CN" sz="2400" b="1">
                <a:sym typeface="+mn-ea"/>
              </a:rPr>
              <a:t>“</a:t>
            </a:r>
            <a:r>
              <a:rPr sz="2400" b="1">
                <a:sym typeface="+mn-ea"/>
              </a:rPr>
              <a:t>同样稀缺</a:t>
            </a:r>
            <a:r>
              <a:rPr lang="en-US" altLang="zh-CN" sz="2400" b="1">
                <a:sym typeface="+mn-ea"/>
              </a:rPr>
              <a:t>”</a:t>
            </a:r>
            <a:r>
              <a:rPr sz="2400" b="1">
                <a:sym typeface="+mn-ea"/>
              </a:rPr>
              <a:t>语义相近的是</a:t>
            </a:r>
            <a:r>
              <a:rPr lang="en-US" altLang="zh-CN" sz="2400" b="1">
                <a:sym typeface="+mn-ea"/>
              </a:rPr>
              <a:t>B</a:t>
            </a:r>
            <a:r>
              <a:rPr sz="2400" b="1">
                <a:sym typeface="+mn-ea"/>
              </a:rPr>
              <a:t>，故选</a:t>
            </a:r>
            <a:r>
              <a:rPr lang="en-US" altLang="zh-CN" sz="2400" b="1">
                <a:sym typeface="+mn-ea"/>
              </a:rPr>
              <a:t>B</a:t>
            </a:r>
            <a:r>
              <a:rPr sz="2400" b="1">
                <a:sym typeface="+mn-ea"/>
              </a:rPr>
              <a:t>。</a:t>
            </a:r>
            <a:endParaRPr sz="2400" b="1">
              <a:sym typeface="+mn-ea"/>
            </a:endParaRPr>
          </a:p>
        </p:txBody>
      </p:sp>
    </p:spTree>
    <p:custDataLst>
      <p:tags r:id="rId1"/>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真题</a:t>
            </a:r>
            <a:r>
              <a:rPr lang="en-US" altLang="zh-CN"/>
              <a:t>3</a:t>
            </a:r>
            <a:endParaRPr lang="en-US" altLang="zh-CN"/>
          </a:p>
        </p:txBody>
      </p:sp>
      <p:sp>
        <p:nvSpPr>
          <p:cNvPr id="3" name="内容占位符 2"/>
          <p:cNvSpPr>
            <a:spLocks noGrp="1"/>
          </p:cNvSpPr>
          <p:nvPr>
            <p:ph idx="1"/>
          </p:nvPr>
        </p:nvSpPr>
        <p:spPr/>
        <p:txBody>
          <a:bodyPr/>
          <a:p>
            <a:r>
              <a:rPr sz="2400" b="1">
                <a:sym typeface="+mn-ea"/>
              </a:rPr>
              <a:t>（川</a:t>
            </a:r>
            <a:r>
              <a:rPr lang="en-US" altLang="zh-CN" sz="2400" b="1">
                <a:sym typeface="+mn-ea"/>
              </a:rPr>
              <a:t>2019</a:t>
            </a:r>
            <a:r>
              <a:rPr sz="2400" b="1">
                <a:sym typeface="+mn-ea"/>
              </a:rPr>
              <a:t>下</a:t>
            </a:r>
            <a:r>
              <a:rPr lang="en-US" altLang="zh-CN" sz="2400" b="1">
                <a:sym typeface="+mn-ea"/>
              </a:rPr>
              <a:t>-17</a:t>
            </a:r>
            <a:r>
              <a:rPr sz="2400" b="1">
                <a:sym typeface="+mn-ea"/>
              </a:rPr>
              <a:t>）经济学中</a:t>
            </a:r>
            <a:r>
              <a:rPr lang="en-US" altLang="zh-CN" sz="2400" b="1">
                <a:sym typeface="+mn-ea"/>
              </a:rPr>
              <a:t>“</a:t>
            </a:r>
            <a:r>
              <a:rPr sz="2400" b="1">
                <a:sym typeface="+mn-ea"/>
              </a:rPr>
              <a:t>搭便车</a:t>
            </a:r>
            <a:r>
              <a:rPr lang="en-US" altLang="zh-CN" sz="2400" b="1">
                <a:sym typeface="+mn-ea"/>
              </a:rPr>
              <a:t>”</a:t>
            </a:r>
            <a:r>
              <a:rPr sz="2400" b="1">
                <a:sym typeface="+mn-ea"/>
              </a:rPr>
              <a:t>的概念，大致是指有人未支付成本却获得了由他人支付成本所带来的收益，或者支付较少成本就获得了与自己支付成本不对称的更多收益，从而导致市场失灵。这种</a:t>
            </a:r>
            <a:r>
              <a:rPr lang="en-US" altLang="zh-CN" sz="2400" b="1">
                <a:sym typeface="+mn-ea"/>
              </a:rPr>
              <a:t>“</a:t>
            </a:r>
            <a:r>
              <a:rPr sz="2400" b="1">
                <a:sym typeface="+mn-ea"/>
              </a:rPr>
              <a:t>搭便车</a:t>
            </a:r>
            <a:r>
              <a:rPr lang="en-US" altLang="zh-CN" sz="2400" b="1">
                <a:sym typeface="+mn-ea"/>
              </a:rPr>
              <a:t>”</a:t>
            </a:r>
            <a:r>
              <a:rPr sz="2400" b="1">
                <a:sym typeface="+mn-ea"/>
              </a:rPr>
              <a:t>的现象可简单地理解为</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endParaRPr sz="2400" b="1">
              <a:sym typeface="+mn-ea"/>
            </a:endParaRPr>
          </a:p>
          <a:p>
            <a:r>
              <a:rPr sz="2400" b="1">
                <a:sym typeface="+mn-ea"/>
              </a:rPr>
              <a:t>填入画横线部分最恰当的一项是</a:t>
            </a:r>
            <a:r>
              <a:rPr sz="2400" b="1">
                <a:sym typeface="+mn-ea"/>
              </a:rPr>
              <a:t>（    ）</a:t>
            </a:r>
            <a:r>
              <a:rPr sz="2400" b="1">
                <a:sym typeface="+mn-ea"/>
              </a:rPr>
              <a:t>：</a:t>
            </a:r>
            <a:endParaRPr sz="2400" b="1">
              <a:sym typeface="+mn-ea"/>
            </a:endParaRPr>
          </a:p>
          <a:p>
            <a:r>
              <a:rPr lang="en-US" altLang="zh-CN" sz="2400" b="1">
                <a:sym typeface="+mn-ea"/>
              </a:rPr>
              <a:t>A.</a:t>
            </a:r>
            <a:r>
              <a:rPr sz="2400" b="1">
                <a:sym typeface="+mn-ea"/>
              </a:rPr>
              <a:t>坐享其成     </a:t>
            </a:r>
            <a:r>
              <a:rPr lang="en-US" altLang="zh-CN" sz="2400" b="1">
                <a:sym typeface="+mn-ea"/>
              </a:rPr>
              <a:t>B. </a:t>
            </a:r>
            <a:r>
              <a:rPr sz="2400" b="1">
                <a:sym typeface="+mn-ea"/>
              </a:rPr>
              <a:t>坐收渔利      </a:t>
            </a:r>
            <a:r>
              <a:rPr lang="en-US" altLang="zh-CN" sz="2400" b="1">
                <a:sym typeface="+mn-ea"/>
              </a:rPr>
              <a:t>C.</a:t>
            </a:r>
            <a:r>
              <a:rPr sz="2400" b="1">
                <a:sym typeface="+mn-ea"/>
              </a:rPr>
              <a:t>守株待兔        </a:t>
            </a:r>
            <a:r>
              <a:rPr lang="en-US" altLang="zh-CN" sz="2400" b="1">
                <a:sym typeface="+mn-ea"/>
              </a:rPr>
              <a:t>D.</a:t>
            </a:r>
            <a:r>
              <a:rPr sz="2400" b="1">
                <a:sym typeface="+mn-ea"/>
              </a:rPr>
              <a:t>以一奉百</a:t>
            </a:r>
            <a:endParaRPr sz="2400" b="1">
              <a:sym typeface="+mn-ea"/>
            </a:endParaRPr>
          </a:p>
        </p:txBody>
      </p:sp>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真题</a:t>
            </a:r>
            <a:r>
              <a:rPr lang="en-US" altLang="zh-CN"/>
              <a:t>3</a:t>
            </a:r>
            <a:r>
              <a:t>精讲</a:t>
            </a:r>
          </a:p>
        </p:txBody>
      </p:sp>
      <p:sp>
        <p:nvSpPr>
          <p:cNvPr id="3" name="内容占位符 2"/>
          <p:cNvSpPr>
            <a:spLocks noGrp="1"/>
          </p:cNvSpPr>
          <p:nvPr>
            <p:ph idx="1"/>
          </p:nvPr>
        </p:nvSpPr>
        <p:spPr/>
        <p:txBody>
          <a:bodyPr/>
          <a:p>
            <a:r>
              <a:rPr sz="2400" b="1">
                <a:sym typeface="+mn-ea"/>
              </a:rPr>
              <a:t>（</a:t>
            </a:r>
            <a:r>
              <a:rPr lang="en-US" altLang="zh-CN" sz="2400" b="1">
                <a:sym typeface="+mn-ea"/>
              </a:rPr>
              <a:t>2019</a:t>
            </a:r>
            <a:r>
              <a:rPr sz="2400" b="1">
                <a:sym typeface="+mn-ea"/>
              </a:rPr>
              <a:t>下</a:t>
            </a:r>
            <a:r>
              <a:rPr lang="en-US" altLang="zh-CN" sz="2400" b="1">
                <a:sym typeface="+mn-ea"/>
              </a:rPr>
              <a:t>-17</a:t>
            </a:r>
            <a:r>
              <a:rPr sz="2400" b="1">
                <a:sym typeface="+mn-ea"/>
              </a:rPr>
              <a:t>）经济学中</a:t>
            </a:r>
            <a:r>
              <a:rPr lang="en-US" altLang="zh-CN" sz="2400" b="1">
                <a:solidFill>
                  <a:srgbClr val="FF0000"/>
                </a:solidFill>
                <a:sym typeface="+mn-ea"/>
              </a:rPr>
              <a:t>“</a:t>
            </a:r>
            <a:r>
              <a:rPr sz="2400" b="1">
                <a:solidFill>
                  <a:srgbClr val="FF0000"/>
                </a:solidFill>
                <a:sym typeface="+mn-ea"/>
              </a:rPr>
              <a:t>搭便车</a:t>
            </a:r>
            <a:r>
              <a:rPr lang="en-US" altLang="zh-CN" sz="2400" b="1">
                <a:solidFill>
                  <a:srgbClr val="FF0000"/>
                </a:solidFill>
                <a:sym typeface="+mn-ea"/>
              </a:rPr>
              <a:t>”</a:t>
            </a:r>
            <a:r>
              <a:rPr sz="2400" b="1">
                <a:sym typeface="+mn-ea"/>
              </a:rPr>
              <a:t>的概念，</a:t>
            </a:r>
            <a:r>
              <a:rPr sz="2400" b="1">
                <a:solidFill>
                  <a:srgbClr val="FF0000"/>
                </a:solidFill>
                <a:sym typeface="+mn-ea"/>
              </a:rPr>
              <a:t>大致是指有人未支付成本却获得了由他人</a:t>
            </a:r>
            <a:r>
              <a:rPr sz="2400" b="1">
                <a:solidFill>
                  <a:srgbClr val="00B050"/>
                </a:solidFill>
                <a:sym typeface="+mn-ea"/>
              </a:rPr>
              <a:t>支付</a:t>
            </a:r>
            <a:r>
              <a:rPr sz="2400" b="1">
                <a:solidFill>
                  <a:srgbClr val="FF0000"/>
                </a:solidFill>
                <a:sym typeface="+mn-ea"/>
              </a:rPr>
              <a:t>成本所带来的收益，或者支付较少成本就</a:t>
            </a:r>
            <a:r>
              <a:rPr sz="2400" b="1">
                <a:solidFill>
                  <a:srgbClr val="00B050"/>
                </a:solidFill>
                <a:sym typeface="+mn-ea"/>
              </a:rPr>
              <a:t>获得</a:t>
            </a:r>
            <a:r>
              <a:rPr sz="2400" b="1">
                <a:solidFill>
                  <a:srgbClr val="FF0000"/>
                </a:solidFill>
                <a:sym typeface="+mn-ea"/>
              </a:rPr>
              <a:t>了与自己支付成本</a:t>
            </a:r>
            <a:r>
              <a:rPr sz="2400" b="1">
                <a:solidFill>
                  <a:srgbClr val="00B050"/>
                </a:solidFill>
                <a:sym typeface="+mn-ea"/>
              </a:rPr>
              <a:t>不对称</a:t>
            </a:r>
            <a:r>
              <a:rPr sz="2400" b="1">
                <a:solidFill>
                  <a:srgbClr val="FF0000"/>
                </a:solidFill>
                <a:sym typeface="+mn-ea"/>
              </a:rPr>
              <a:t>的更多收益</a:t>
            </a:r>
            <a:r>
              <a:rPr sz="2400" b="1">
                <a:sym typeface="+mn-ea"/>
              </a:rPr>
              <a:t>，从而导致市场失灵。这种</a:t>
            </a:r>
            <a:r>
              <a:rPr lang="en-US" altLang="zh-CN" sz="2400" b="1">
                <a:sym typeface="+mn-ea"/>
              </a:rPr>
              <a:t>“</a:t>
            </a:r>
            <a:r>
              <a:rPr sz="2400" b="1">
                <a:sym typeface="+mn-ea"/>
              </a:rPr>
              <a:t>搭便车</a:t>
            </a:r>
            <a:r>
              <a:rPr lang="en-US" altLang="zh-CN" sz="2400" b="1">
                <a:sym typeface="+mn-ea"/>
              </a:rPr>
              <a:t>”</a:t>
            </a:r>
            <a:r>
              <a:rPr sz="2400" b="1">
                <a:sym typeface="+mn-ea"/>
              </a:rPr>
              <a:t>的现象可简单地理解为</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endParaRPr sz="2400" b="1">
              <a:sym typeface="+mn-ea"/>
            </a:endParaRPr>
          </a:p>
          <a:p>
            <a:r>
              <a:rPr sz="2400" b="1">
                <a:sym typeface="+mn-ea"/>
              </a:rPr>
              <a:t>填入画横线部分最恰当的一项是</a:t>
            </a:r>
            <a:r>
              <a:rPr sz="2400" b="1">
                <a:sym typeface="+mn-ea"/>
              </a:rPr>
              <a:t>（    ）</a:t>
            </a:r>
            <a:r>
              <a:rPr sz="2400" b="1">
                <a:sym typeface="+mn-ea"/>
              </a:rPr>
              <a:t>：</a:t>
            </a:r>
            <a:endParaRPr sz="2400" b="1">
              <a:sym typeface="+mn-ea"/>
            </a:endParaRPr>
          </a:p>
          <a:p>
            <a:r>
              <a:rPr lang="en-US" altLang="zh-CN" sz="2400" b="1">
                <a:sym typeface="+mn-ea"/>
              </a:rPr>
              <a:t>A.</a:t>
            </a:r>
            <a:r>
              <a:rPr sz="2400" b="1">
                <a:sym typeface="+mn-ea"/>
              </a:rPr>
              <a:t>坐享其成     </a:t>
            </a:r>
            <a:r>
              <a:rPr lang="en-US" altLang="zh-CN" sz="2400" b="1">
                <a:sym typeface="+mn-ea"/>
              </a:rPr>
              <a:t>B. </a:t>
            </a:r>
            <a:r>
              <a:rPr sz="2400" b="1">
                <a:sym typeface="+mn-ea"/>
              </a:rPr>
              <a:t>坐收渔利      </a:t>
            </a:r>
            <a:r>
              <a:rPr lang="en-US" altLang="zh-CN" sz="2400" b="1">
                <a:sym typeface="+mn-ea"/>
              </a:rPr>
              <a:t>C.</a:t>
            </a:r>
            <a:r>
              <a:rPr sz="2400" b="1">
                <a:sym typeface="+mn-ea"/>
              </a:rPr>
              <a:t>守株待兔        </a:t>
            </a:r>
            <a:r>
              <a:rPr lang="en-US" altLang="zh-CN" sz="2400" b="1">
                <a:sym typeface="+mn-ea"/>
              </a:rPr>
              <a:t>D.</a:t>
            </a:r>
            <a:r>
              <a:rPr sz="2400" b="1">
                <a:sym typeface="+mn-ea"/>
              </a:rPr>
              <a:t>以一奉百</a:t>
            </a:r>
            <a:endParaRPr sz="2400" b="1">
              <a:sym typeface="+mn-ea"/>
            </a:endParaRPr>
          </a:p>
          <a:p>
            <a:r>
              <a:rPr sz="2400" b="1">
                <a:sym typeface="+mn-ea"/>
              </a:rPr>
              <a:t>分析：据绿色字可知所填词语应该体现</a:t>
            </a:r>
            <a:r>
              <a:rPr lang="en-US" altLang="zh-CN" sz="2400" b="1">
                <a:sym typeface="+mn-ea"/>
              </a:rPr>
              <a:t>“</a:t>
            </a:r>
            <a:r>
              <a:rPr sz="2400" b="1">
                <a:sym typeface="+mn-ea"/>
              </a:rPr>
              <a:t>支出与获利不对称</a:t>
            </a:r>
            <a:r>
              <a:rPr lang="en-US" altLang="zh-CN" sz="2400" b="1">
                <a:sym typeface="+mn-ea"/>
              </a:rPr>
              <a:t>”</a:t>
            </a:r>
            <a:r>
              <a:rPr sz="2400" b="1">
                <a:sym typeface="+mn-ea"/>
              </a:rPr>
              <a:t>，</a:t>
            </a:r>
            <a:r>
              <a:rPr lang="en-US" altLang="zh-CN" sz="2400" b="1">
                <a:sym typeface="+mn-ea"/>
              </a:rPr>
              <a:t>“</a:t>
            </a:r>
            <a:r>
              <a:rPr sz="2400" b="1">
                <a:sym typeface="+mn-ea"/>
              </a:rPr>
              <a:t>以一奉百</a:t>
            </a:r>
            <a:r>
              <a:rPr lang="en-US" altLang="zh-CN" sz="2400" b="1">
                <a:sym typeface="+mn-ea"/>
              </a:rPr>
              <a:t>”</a:t>
            </a:r>
            <a:r>
              <a:rPr sz="2400" b="1">
                <a:sym typeface="+mn-ea"/>
              </a:rPr>
              <a:t>中的</a:t>
            </a:r>
            <a:r>
              <a:rPr lang="en-US" altLang="zh-CN" sz="2400" b="1">
                <a:sym typeface="+mn-ea"/>
              </a:rPr>
              <a:t>“</a:t>
            </a:r>
            <a:r>
              <a:rPr sz="2400" b="1">
                <a:sym typeface="+mn-ea"/>
              </a:rPr>
              <a:t>奉</a:t>
            </a:r>
            <a:r>
              <a:rPr lang="en-US" altLang="zh-CN" sz="2400" b="1">
                <a:sym typeface="+mn-ea"/>
              </a:rPr>
              <a:t>”</a:t>
            </a:r>
            <a:r>
              <a:rPr sz="2400" b="1">
                <a:sym typeface="+mn-ea"/>
              </a:rPr>
              <a:t>是供养，干活的人少享受的人多，与文段内容无关排除</a:t>
            </a:r>
            <a:r>
              <a:rPr lang="en-US" altLang="zh-CN" sz="2400" b="1">
                <a:sym typeface="+mn-ea"/>
              </a:rPr>
              <a:t>D</a:t>
            </a:r>
            <a:r>
              <a:rPr sz="2400" b="1">
                <a:sym typeface="+mn-ea"/>
              </a:rPr>
              <a:t>。而</a:t>
            </a:r>
            <a:r>
              <a:rPr lang="en-US" altLang="zh-CN" sz="2400" b="1">
                <a:sym typeface="+mn-ea"/>
              </a:rPr>
              <a:t>B</a:t>
            </a:r>
            <a:r>
              <a:rPr sz="2400" b="1">
                <a:sym typeface="+mn-ea"/>
              </a:rPr>
              <a:t>来源于</a:t>
            </a:r>
            <a:r>
              <a:rPr lang="en-US" altLang="zh-CN" sz="2400" b="1">
                <a:sym typeface="+mn-ea"/>
              </a:rPr>
              <a:t>“</a:t>
            </a:r>
            <a:r>
              <a:rPr sz="2400" b="1">
                <a:sym typeface="+mn-ea"/>
              </a:rPr>
              <a:t>鹬蚌相争渔翁得利</a:t>
            </a:r>
            <a:r>
              <a:rPr lang="en-US" altLang="zh-CN" sz="2400" b="1">
                <a:sym typeface="+mn-ea"/>
              </a:rPr>
              <a:t>”</a:t>
            </a:r>
            <a:r>
              <a:rPr sz="2400" b="1">
                <a:sym typeface="+mn-ea"/>
              </a:rPr>
              <a:t>是指利用别人矛盾而获利，应该排除</a:t>
            </a:r>
            <a:r>
              <a:rPr lang="en-US" altLang="zh-CN" sz="2400" b="1">
                <a:sym typeface="+mn-ea"/>
              </a:rPr>
              <a:t>B</a:t>
            </a:r>
            <a:r>
              <a:rPr sz="2400" b="1">
                <a:sym typeface="+mn-ea"/>
              </a:rPr>
              <a:t>。</a:t>
            </a:r>
            <a:r>
              <a:rPr lang="en-US" altLang="zh-CN" sz="2400" b="1">
                <a:sym typeface="+mn-ea"/>
              </a:rPr>
              <a:t>“</a:t>
            </a:r>
            <a:r>
              <a:rPr sz="2400" b="1">
                <a:sym typeface="+mn-ea"/>
              </a:rPr>
              <a:t>守株待兔</a:t>
            </a:r>
            <a:r>
              <a:rPr lang="en-US" altLang="zh-CN" sz="2400" b="1">
                <a:sym typeface="+mn-ea"/>
              </a:rPr>
              <a:t>”</a:t>
            </a:r>
            <a:r>
              <a:rPr sz="2400" b="1">
                <a:sym typeface="+mn-ea"/>
              </a:rPr>
              <a:t>指心存侥幸，也比喻死守经验，不知变通，应该排除</a:t>
            </a:r>
            <a:r>
              <a:rPr lang="en-US" altLang="zh-CN" sz="2400" b="1">
                <a:sym typeface="+mn-ea"/>
              </a:rPr>
              <a:t>C</a:t>
            </a:r>
            <a:r>
              <a:rPr sz="2400" b="1">
                <a:sym typeface="+mn-ea"/>
              </a:rPr>
              <a:t>。所以选</a:t>
            </a:r>
            <a:r>
              <a:rPr lang="en-US" altLang="zh-CN" sz="2400" b="1">
                <a:sym typeface="+mn-ea"/>
              </a:rPr>
              <a:t>A</a:t>
            </a:r>
            <a:r>
              <a:rPr sz="2400" b="1">
                <a:sym typeface="+mn-ea"/>
              </a:rPr>
              <a:t>。</a:t>
            </a:r>
            <a:endParaRPr sz="2400" b="1">
              <a:sym typeface="+mn-ea"/>
            </a:endParaRPr>
          </a:p>
        </p:txBody>
      </p:sp>
    </p:spTree>
    <p:custDataLst>
      <p:tags r:id="rId1"/>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课堂练习：真题</a:t>
            </a:r>
            <a:r>
              <a:rPr lang="en-US" altLang="zh-CN"/>
              <a:t>4</a:t>
            </a:r>
            <a:r>
              <a:rPr>
                <a:sym typeface="+mn-ea"/>
              </a:rPr>
              <a:t>（</a:t>
            </a:r>
            <a:r>
              <a:rPr>
                <a:sym typeface="+mn-ea"/>
              </a:rPr>
              <a:t>川</a:t>
            </a:r>
            <a:r>
              <a:rPr lang="en-US" altLang="zh-CN">
                <a:sym typeface="+mn-ea"/>
              </a:rPr>
              <a:t>2019</a:t>
            </a:r>
            <a:r>
              <a:rPr>
                <a:sym typeface="+mn-ea"/>
              </a:rPr>
              <a:t>上</a:t>
            </a:r>
            <a:r>
              <a:rPr lang="en-US" altLang="zh-CN">
                <a:sym typeface="+mn-ea"/>
              </a:rPr>
              <a:t>-19</a:t>
            </a:r>
            <a:r>
              <a:rPr>
                <a:sym typeface="+mn-ea"/>
              </a:rPr>
              <a:t>）</a:t>
            </a:r>
            <a:endParaRPr lang="en-US" altLang="zh-CN"/>
          </a:p>
        </p:txBody>
      </p:sp>
      <p:sp>
        <p:nvSpPr>
          <p:cNvPr id="3" name="内容占位符 2"/>
          <p:cNvSpPr>
            <a:spLocks noGrp="1"/>
          </p:cNvSpPr>
          <p:nvPr>
            <p:ph idx="1"/>
          </p:nvPr>
        </p:nvSpPr>
        <p:spPr/>
        <p:txBody>
          <a:bodyPr/>
          <a:p>
            <a:r>
              <a:rPr lang="zh-CN" altLang="en-US" sz="2400" b="1"/>
              <a:t>如果初创企业一味盲目地追求产品开发和获取早期客户的速度，而忽略了产品质量的话，到时往往会</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。虽然表面看来产品是出来了，但是支撑产品的代码或硬件可能会变得难以维护和扩展。就算公司短期内看上去获得了成功，但产品里面的技术债务却积少成多，隐患也随之倍增，到时可能就会</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endParaRPr sz="2400" b="1">
              <a:sym typeface="+mn-ea"/>
            </a:endParaRPr>
          </a:p>
          <a:p>
            <a:r>
              <a:rPr sz="2400" b="1">
                <a:sym typeface="+mn-ea"/>
              </a:rPr>
              <a:t>填入画横线部分最恰当的一项是</a:t>
            </a:r>
            <a:r>
              <a:rPr sz="2400" b="1">
                <a:sym typeface="+mn-ea"/>
              </a:rPr>
              <a:t>（    ）</a:t>
            </a:r>
            <a:r>
              <a:rPr sz="2400" b="1">
                <a:sym typeface="+mn-ea"/>
              </a:rPr>
              <a:t>：</a:t>
            </a:r>
            <a:endParaRPr sz="2400" b="1">
              <a:sym typeface="+mn-ea"/>
            </a:endParaRPr>
          </a:p>
          <a:p>
            <a:r>
              <a:rPr lang="en-US" altLang="zh-CN" sz="2400" b="1"/>
              <a:t>A.</a:t>
            </a:r>
            <a:r>
              <a:rPr sz="2400" b="1"/>
              <a:t>过犹不及     功亏一篑         </a:t>
            </a:r>
            <a:r>
              <a:rPr lang="en-US" altLang="zh-CN" sz="2400" b="1"/>
              <a:t>B</a:t>
            </a:r>
            <a:r>
              <a:rPr lang="en-US" altLang="zh-CN" sz="2400" b="1">
                <a:solidFill>
                  <a:schemeClr val="tx1"/>
                </a:solidFill>
              </a:rPr>
              <a:t>. </a:t>
            </a:r>
            <a:r>
              <a:rPr sz="2400" b="1"/>
              <a:t>事与愿违   积重难返</a:t>
            </a:r>
            <a:endParaRPr lang="en-US" altLang="zh-CN" sz="2400" b="1"/>
          </a:p>
          <a:p>
            <a:r>
              <a:rPr lang="en-US" altLang="zh-CN" sz="2400" b="1"/>
              <a:t>C.</a:t>
            </a:r>
            <a:r>
              <a:rPr sz="2400" b="1"/>
              <a:t>同舟共济     作茧自缚         </a:t>
            </a:r>
            <a:r>
              <a:rPr lang="en-US" altLang="zh-CN" sz="2400" b="1"/>
              <a:t>D.</a:t>
            </a:r>
            <a:r>
              <a:rPr sz="2400" b="1"/>
              <a:t>得不偿失   于事无补</a:t>
            </a:r>
            <a:endParaRPr sz="2400" b="1"/>
          </a:p>
        </p:txBody>
      </p:sp>
    </p:spTree>
    <p:custDataLst>
      <p:tags r:id="rId1"/>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真题</a:t>
            </a:r>
            <a:r>
              <a:rPr lang="en-US" altLang="zh-CN"/>
              <a:t>5</a:t>
            </a:r>
            <a:r>
              <a:t>精讲</a:t>
            </a:r>
            <a:r>
              <a:rPr>
                <a:sym typeface="+mn-ea"/>
              </a:rPr>
              <a:t>（</a:t>
            </a:r>
            <a:r>
              <a:rPr>
                <a:sym typeface="+mn-ea"/>
              </a:rPr>
              <a:t>川</a:t>
            </a:r>
            <a:r>
              <a:rPr lang="en-US" altLang="zh-CN">
                <a:sym typeface="+mn-ea"/>
              </a:rPr>
              <a:t>2019</a:t>
            </a:r>
            <a:r>
              <a:rPr>
                <a:sym typeface="+mn-ea"/>
              </a:rPr>
              <a:t>上</a:t>
            </a:r>
            <a:r>
              <a:rPr lang="en-US" altLang="zh-CN">
                <a:sym typeface="+mn-ea"/>
              </a:rPr>
              <a:t>-19</a:t>
            </a:r>
            <a:r>
              <a:rPr>
                <a:sym typeface="+mn-ea"/>
              </a:rPr>
              <a:t>）</a:t>
            </a:r>
            <a:endParaRPr lang="en-US" altLang="zh-CN"/>
          </a:p>
        </p:txBody>
      </p:sp>
      <p:sp>
        <p:nvSpPr>
          <p:cNvPr id="3" name="内容占位符 2"/>
          <p:cNvSpPr>
            <a:spLocks noGrp="1"/>
          </p:cNvSpPr>
          <p:nvPr>
            <p:ph idx="1"/>
          </p:nvPr>
        </p:nvSpPr>
        <p:spPr>
          <a:xfrm>
            <a:off x="669925" y="1296035"/>
            <a:ext cx="10852150" cy="5229225"/>
          </a:xfrm>
        </p:spPr>
        <p:txBody>
          <a:bodyPr/>
          <a:p>
            <a:r>
              <a:rPr lang="zh-CN" altLang="en-US" sz="2400" b="1"/>
              <a:t>如果初创企业</a:t>
            </a:r>
            <a:r>
              <a:rPr lang="zh-CN" altLang="en-US" sz="2400" b="1">
                <a:solidFill>
                  <a:srgbClr val="FF0000"/>
                </a:solidFill>
              </a:rPr>
              <a:t>一味盲目地追求</a:t>
            </a:r>
            <a:r>
              <a:rPr lang="zh-CN" altLang="en-US" sz="2400" b="1"/>
              <a:t>产品开发和获取早期客户的速度，</a:t>
            </a:r>
            <a:r>
              <a:rPr lang="zh-CN" altLang="en-US" sz="2400" b="1">
                <a:solidFill>
                  <a:srgbClr val="FF0000"/>
                </a:solidFill>
              </a:rPr>
              <a:t>而</a:t>
            </a:r>
            <a:r>
              <a:rPr lang="zh-CN" altLang="en-US" sz="2400" b="1"/>
              <a:t>忽略了产品质量的话，到时往往会</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。虽然表面看来产品是出来了，但是支撑产品的代码或硬件可能会变得难以维护和扩展。就算公司短期内看上去获得了成功，但产品里面的技术债务却</a:t>
            </a:r>
            <a:r>
              <a:rPr sz="2400" b="1">
                <a:solidFill>
                  <a:srgbClr val="00B050"/>
                </a:solidFill>
                <a:sym typeface="+mn-ea"/>
              </a:rPr>
              <a:t>积少成多，隐患也随之倍增</a:t>
            </a:r>
            <a:r>
              <a:rPr sz="2400" b="1">
                <a:sym typeface="+mn-ea"/>
              </a:rPr>
              <a:t>，到时可能就会</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endParaRPr sz="2400" b="1">
              <a:sym typeface="+mn-ea"/>
            </a:endParaRPr>
          </a:p>
          <a:p>
            <a:r>
              <a:rPr sz="2400" b="1">
                <a:sym typeface="+mn-ea"/>
              </a:rPr>
              <a:t>填入画横线部分最恰当的一项是</a:t>
            </a:r>
            <a:r>
              <a:rPr sz="2400" b="1">
                <a:sym typeface="+mn-ea"/>
              </a:rPr>
              <a:t>（    ）</a:t>
            </a:r>
            <a:r>
              <a:rPr sz="2400" b="1">
                <a:sym typeface="+mn-ea"/>
              </a:rPr>
              <a:t>：</a:t>
            </a:r>
            <a:endParaRPr sz="2400" b="1">
              <a:sym typeface="+mn-ea"/>
            </a:endParaRPr>
          </a:p>
          <a:p>
            <a:r>
              <a:rPr lang="en-US" altLang="zh-CN" sz="2400" b="1"/>
              <a:t>A.</a:t>
            </a:r>
            <a:r>
              <a:rPr sz="2400" b="1"/>
              <a:t>过犹不及     功亏一篑         </a:t>
            </a:r>
            <a:r>
              <a:rPr lang="en-US" altLang="zh-CN" sz="2400" b="1"/>
              <a:t>B</a:t>
            </a:r>
            <a:r>
              <a:rPr lang="en-US" altLang="zh-CN" sz="2400" b="1">
                <a:solidFill>
                  <a:srgbClr val="FF0000"/>
                </a:solidFill>
              </a:rPr>
              <a:t>.</a:t>
            </a:r>
            <a:r>
              <a:rPr lang="en-US" altLang="zh-CN" sz="2400" b="1"/>
              <a:t> </a:t>
            </a:r>
            <a:r>
              <a:rPr sz="2400" b="1"/>
              <a:t>事与愿违   积重难返</a:t>
            </a:r>
            <a:endParaRPr lang="en-US" altLang="zh-CN" sz="2400" b="1"/>
          </a:p>
          <a:p>
            <a:r>
              <a:rPr lang="en-US" altLang="zh-CN" sz="2400" b="1"/>
              <a:t>C.</a:t>
            </a:r>
            <a:r>
              <a:rPr sz="2400" b="1"/>
              <a:t>同舟共济     作茧自缚         </a:t>
            </a:r>
            <a:r>
              <a:rPr lang="en-US" altLang="zh-CN" sz="2400" b="1"/>
              <a:t>D.</a:t>
            </a:r>
            <a:r>
              <a:rPr sz="2400" b="1"/>
              <a:t>得不偿失   于事无补</a:t>
            </a:r>
            <a:endParaRPr sz="2400" b="1"/>
          </a:p>
          <a:p>
            <a:r>
              <a:rPr sz="2400" b="1"/>
              <a:t>分析：</a:t>
            </a:r>
            <a:r>
              <a:rPr lang="en-US" altLang="zh-CN" sz="2400" b="1"/>
              <a:t>“</a:t>
            </a:r>
            <a:r>
              <a:rPr sz="2400" b="1"/>
              <a:t>而</a:t>
            </a:r>
            <a:r>
              <a:rPr lang="en-US" altLang="zh-CN" sz="2400" b="1"/>
              <a:t>”</a:t>
            </a:r>
            <a:r>
              <a:rPr sz="2400" b="1"/>
              <a:t>表示转折，根据红色字选</a:t>
            </a:r>
            <a:r>
              <a:rPr lang="en-US" altLang="zh-CN" sz="2400" b="1"/>
              <a:t>“</a:t>
            </a:r>
            <a:r>
              <a:rPr sz="2400" b="1">
                <a:sym typeface="+mn-ea"/>
              </a:rPr>
              <a:t>事与愿违</a:t>
            </a:r>
            <a:r>
              <a:rPr lang="en-US" altLang="zh-CN" sz="2400" b="1">
                <a:sym typeface="+mn-ea"/>
              </a:rPr>
              <a:t>”</a:t>
            </a:r>
            <a:r>
              <a:rPr sz="2400" b="1">
                <a:sym typeface="+mn-ea"/>
              </a:rPr>
              <a:t>，根据绿色字选</a:t>
            </a:r>
            <a:r>
              <a:rPr lang="en-US" altLang="zh-CN" sz="2400" b="1">
                <a:sym typeface="+mn-ea"/>
              </a:rPr>
              <a:t>“</a:t>
            </a:r>
            <a:r>
              <a:rPr sz="2400" b="1">
                <a:sym typeface="+mn-ea"/>
              </a:rPr>
              <a:t>积重难返</a:t>
            </a:r>
            <a:r>
              <a:rPr lang="en-US" altLang="zh-CN" sz="2400" b="1">
                <a:sym typeface="+mn-ea"/>
              </a:rPr>
              <a:t>”</a:t>
            </a:r>
            <a:r>
              <a:rPr sz="2400" b="1">
                <a:sym typeface="+mn-ea"/>
              </a:rPr>
              <a:t>。</a:t>
            </a:r>
            <a:endParaRPr lang="en-US" altLang="zh-CN" sz="2400" b="1"/>
          </a:p>
          <a:p>
            <a:endParaRPr lang="en-US" altLang="zh-CN" sz="2400" b="1">
              <a:sym typeface="+mn-ea"/>
            </a:endParaRPr>
          </a:p>
        </p:txBody>
      </p:sp>
    </p:spTree>
    <p:custDataLst>
      <p:tags r:id="rId1"/>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2.</a:t>
            </a:r>
            <a:r>
              <a:rPr>
                <a:sym typeface="+mn-ea"/>
              </a:rPr>
              <a:t>言语理解与表达中的反对关系</a:t>
            </a:r>
            <a:endParaRPr lang="zh-CN" altLang="en-US"/>
          </a:p>
        </p:txBody>
      </p:sp>
      <p:sp>
        <p:nvSpPr>
          <p:cNvPr id="3" name="内容占位符 2"/>
          <p:cNvSpPr>
            <a:spLocks noGrp="1"/>
          </p:cNvSpPr>
          <p:nvPr>
            <p:ph idx="1"/>
          </p:nvPr>
        </p:nvSpPr>
        <p:spPr>
          <a:xfrm>
            <a:off x="378460" y="1296035"/>
            <a:ext cx="11143615" cy="5041265"/>
          </a:xfrm>
        </p:spPr>
        <p:txBody>
          <a:bodyPr/>
          <a:p>
            <a:r>
              <a:rPr lang="zh-CN" altLang="en-US" sz="2400" b="1">
                <a:solidFill>
                  <a:srgbClr val="FF0000"/>
                </a:solidFill>
              </a:rPr>
              <a:t>反对关系指的是文段中的某些词句对空缺处所填词语的含义进行了反面提示</a:t>
            </a:r>
            <a:r>
              <a:rPr lang="zh-CN" altLang="en-US" sz="2400" b="1"/>
              <a:t>。</a:t>
            </a:r>
            <a:endParaRPr lang="zh-CN" altLang="en-US" sz="2400" b="1"/>
          </a:p>
          <a:p>
            <a:r>
              <a:rPr sz="2400" b="1">
                <a:sym typeface="+mn-ea"/>
              </a:rPr>
              <a:t>反对关系可通过以下思类提示词语以及前后语境进行识别：</a:t>
            </a:r>
            <a:endParaRPr sz="2400" b="1">
              <a:sym typeface="+mn-ea"/>
            </a:endParaRPr>
          </a:p>
          <a:p>
            <a:endParaRPr lang="zh-CN" altLang="en-US" sz="2400" b="1"/>
          </a:p>
          <a:p>
            <a:endParaRPr lang="zh-CN" altLang="en-US" sz="2400" b="1"/>
          </a:p>
        </p:txBody>
      </p:sp>
      <p:pic>
        <p:nvPicPr>
          <p:cNvPr id="9" name="图片 9"/>
          <p:cNvPicPr>
            <a:picLocks noChangeAspect="1"/>
          </p:cNvPicPr>
          <p:nvPr/>
        </p:nvPicPr>
        <p:blipFill>
          <a:blip r:embed="rId1">
            <a:lum contrast="66000"/>
          </a:blip>
          <a:stretch>
            <a:fillRect/>
          </a:stretch>
        </p:blipFill>
        <p:spPr>
          <a:xfrm>
            <a:off x="558165" y="2660650"/>
            <a:ext cx="10701655" cy="3608705"/>
          </a:xfrm>
          <a:prstGeom prst="rect">
            <a:avLst/>
          </a:prstGeom>
          <a:noFill/>
          <a:ln>
            <a:noFill/>
          </a:ln>
        </p:spPr>
      </p:pic>
    </p:spTree>
    <p:custDataLst>
      <p:tags r:id="rId2"/>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ym typeface="+mn-ea"/>
              </a:rPr>
              <a:t>概念间的关系：</a:t>
            </a:r>
            <a:r>
              <a:rPr>
                <a:sym typeface="+mn-ea"/>
              </a:rPr>
              <a:t>相容关系与不相容关系</a:t>
            </a:r>
            <a:endParaRPr lang="zh-CN" altLang="en-US"/>
          </a:p>
        </p:txBody>
      </p:sp>
      <p:sp>
        <p:nvSpPr>
          <p:cNvPr id="3" name="内容占位符 2"/>
          <p:cNvSpPr>
            <a:spLocks noGrp="1"/>
          </p:cNvSpPr>
          <p:nvPr>
            <p:ph idx="1"/>
          </p:nvPr>
        </p:nvSpPr>
        <p:spPr/>
        <p:txBody>
          <a:bodyPr/>
          <a:p>
            <a:r>
              <a:rPr sz="2400" b="1">
                <a:solidFill>
                  <a:schemeClr val="tx1"/>
                </a:solidFill>
                <a:sym typeface="+mn-ea"/>
              </a:rPr>
              <a:t>相容关系包括：</a:t>
            </a:r>
            <a:r>
              <a:rPr sz="2400" b="1">
                <a:solidFill>
                  <a:schemeClr val="tx1"/>
                </a:solidFill>
                <a:sym typeface="+mn-ea"/>
              </a:rPr>
              <a:t>全同关系、属种关系、交叉关系</a:t>
            </a:r>
            <a:endParaRPr lang="zh-CN" altLang="en-US" sz="2400" b="1">
              <a:solidFill>
                <a:schemeClr val="tx1"/>
              </a:solidFill>
            </a:endParaRPr>
          </a:p>
          <a:p>
            <a:r>
              <a:rPr sz="2400" b="1">
                <a:solidFill>
                  <a:schemeClr val="tx1"/>
                </a:solidFill>
                <a:sym typeface="+mn-ea"/>
              </a:rPr>
              <a:t>不相容关系包括：</a:t>
            </a:r>
            <a:r>
              <a:rPr sz="2400" b="1">
                <a:solidFill>
                  <a:schemeClr val="tx1"/>
                </a:solidFill>
                <a:latin typeface="Times New Roman" panose="02020603050405020304" charset="0"/>
                <a:sym typeface="+mn-ea"/>
              </a:rPr>
              <a:t>全异关系、</a:t>
            </a:r>
            <a:r>
              <a:rPr sz="2400" b="1">
                <a:solidFill>
                  <a:schemeClr val="tx1"/>
                </a:solidFill>
                <a:sym typeface="+mn-ea"/>
              </a:rPr>
              <a:t>矛盾关系、对立关系</a:t>
            </a:r>
            <a:endParaRPr sz="2400" b="1">
              <a:solidFill>
                <a:schemeClr val="tx1"/>
              </a:solidFill>
              <a:sym typeface="+mn-ea"/>
            </a:endParaRPr>
          </a:p>
          <a:p>
            <a:r>
              <a:rPr sz="2400" b="1">
                <a:solidFill>
                  <a:schemeClr val="tx1"/>
                </a:solidFill>
                <a:sym typeface="+mn-ea"/>
              </a:rPr>
              <a:t>全同关系：</a:t>
            </a:r>
            <a:r>
              <a:rPr sz="2400" b="1">
                <a:solidFill>
                  <a:schemeClr val="tx1"/>
                </a:solidFill>
                <a:latin typeface="Times New Roman" panose="02020603050405020304" charset="0"/>
                <a:sym typeface="+mn-ea"/>
              </a:rPr>
              <a:t>所有</a:t>
            </a:r>
            <a:r>
              <a:rPr lang="en-US" altLang="zh-CN" sz="2400" b="1">
                <a:solidFill>
                  <a:schemeClr val="tx1"/>
                </a:solidFill>
                <a:latin typeface="Times New Roman" panose="02020603050405020304" charset="0"/>
                <a:sym typeface="+mn-ea"/>
              </a:rPr>
              <a:t>S</a:t>
            </a:r>
            <a:r>
              <a:rPr sz="2400" b="1">
                <a:solidFill>
                  <a:schemeClr val="tx1"/>
                </a:solidFill>
                <a:latin typeface="Times New Roman" panose="02020603050405020304" charset="0"/>
                <a:sym typeface="+mn-ea"/>
              </a:rPr>
              <a:t>是</a:t>
            </a:r>
            <a:r>
              <a:rPr lang="en-US" altLang="zh-CN" sz="2400" b="1">
                <a:solidFill>
                  <a:schemeClr val="tx1"/>
                </a:solidFill>
                <a:latin typeface="Times New Roman" panose="02020603050405020304" charset="0"/>
                <a:sym typeface="+mn-ea"/>
              </a:rPr>
              <a:t>P</a:t>
            </a:r>
            <a:r>
              <a:rPr sz="2400" b="1">
                <a:solidFill>
                  <a:schemeClr val="tx1"/>
                </a:solidFill>
                <a:latin typeface="Times New Roman" panose="02020603050405020304" charset="0"/>
                <a:sym typeface="+mn-ea"/>
              </a:rPr>
              <a:t>，所有</a:t>
            </a:r>
            <a:r>
              <a:rPr lang="en-US" altLang="zh-CN" sz="2400" b="1">
                <a:solidFill>
                  <a:schemeClr val="tx1"/>
                </a:solidFill>
                <a:latin typeface="Times New Roman" panose="02020603050405020304" charset="0"/>
                <a:sym typeface="+mn-ea"/>
              </a:rPr>
              <a:t>P</a:t>
            </a:r>
            <a:r>
              <a:rPr sz="2400" b="1">
                <a:solidFill>
                  <a:schemeClr val="tx1"/>
                </a:solidFill>
                <a:latin typeface="Times New Roman" panose="02020603050405020304" charset="0"/>
                <a:sym typeface="+mn-ea"/>
              </a:rPr>
              <a:t>是</a:t>
            </a:r>
            <a:r>
              <a:rPr lang="en-US" altLang="zh-CN" sz="2400" b="1">
                <a:solidFill>
                  <a:schemeClr val="tx1"/>
                </a:solidFill>
                <a:latin typeface="Times New Roman" panose="02020603050405020304" charset="0"/>
                <a:sym typeface="+mn-ea"/>
              </a:rPr>
              <a:t>S</a:t>
            </a:r>
            <a:r>
              <a:rPr sz="2400" b="1">
                <a:solidFill>
                  <a:schemeClr val="tx1"/>
                </a:solidFill>
                <a:latin typeface="Times New Roman" panose="02020603050405020304" charset="0"/>
                <a:sym typeface="+mn-ea"/>
              </a:rPr>
              <a:t>；内涵不同，外延相同。</a:t>
            </a:r>
            <a:endParaRPr sz="2400" b="1">
              <a:solidFill>
                <a:schemeClr val="tx1"/>
              </a:solidFill>
              <a:latin typeface="Times New Roman" panose="02020603050405020304" charset="0"/>
              <a:sym typeface="+mn-ea"/>
            </a:endParaRPr>
          </a:p>
          <a:p>
            <a:pPr>
              <a:spcBef>
                <a:spcPct val="0"/>
              </a:spcBef>
              <a:buFont typeface="Wingdings" panose="05000000000000000000" pitchFamily="2" charset="2"/>
              <a:buNone/>
            </a:pPr>
            <a:r>
              <a:rPr lang="en-US" altLang="zh-CN" sz="2400" b="1">
                <a:latin typeface="Times New Roman" panose="02020603050405020304" charset="0"/>
                <a:sym typeface="+mn-ea"/>
              </a:rPr>
              <a:t>                     </a:t>
            </a:r>
            <a:endParaRPr lang="en-US" altLang="zh-CN" sz="2400" b="1">
              <a:latin typeface="Times New Roman" panose="02020603050405020304" charset="0"/>
              <a:sym typeface="+mn-ea"/>
            </a:endParaRPr>
          </a:p>
          <a:p>
            <a:pPr>
              <a:spcBef>
                <a:spcPct val="0"/>
              </a:spcBef>
              <a:buFont typeface="Wingdings" panose="05000000000000000000" pitchFamily="2" charset="2"/>
              <a:buNone/>
            </a:pPr>
            <a:endParaRPr lang="en-US" altLang="zh-CN" sz="2400" b="1">
              <a:latin typeface="Times New Roman" panose="02020603050405020304" charset="0"/>
            </a:endParaRPr>
          </a:p>
          <a:p>
            <a:endParaRPr lang="zh-CN" altLang="en-US" sz="2400"/>
          </a:p>
          <a:p>
            <a:r>
              <a:rPr lang="zh-CN" altLang="en-US" sz="2400"/>
              <a:t>                    </a:t>
            </a:r>
            <a:r>
              <a:rPr sz="2400" b="1">
                <a:solidFill>
                  <a:schemeClr val="tx1"/>
                </a:solidFill>
                <a:sym typeface="+mn-ea"/>
              </a:rPr>
              <a:t>全同关系欧拉图</a:t>
            </a:r>
            <a:r>
              <a:rPr lang="zh-CN" altLang="en-US" sz="2400"/>
              <a:t> </a:t>
            </a:r>
            <a:endParaRPr lang="zh-CN" altLang="en-US" sz="2400"/>
          </a:p>
          <a:p>
            <a:r>
              <a:rPr lang="zh-CN" altLang="en-US" sz="2400" b="1">
                <a:solidFill>
                  <a:schemeClr val="tx1"/>
                </a:solidFill>
              </a:rPr>
              <a:t>例如：等边三角形与等角三角形、犬与狗、母亲与妈妈</a:t>
            </a:r>
            <a:endParaRPr lang="zh-CN" altLang="en-US" sz="2400" b="1">
              <a:solidFill>
                <a:schemeClr val="tx1"/>
              </a:solidFill>
            </a:endParaRPr>
          </a:p>
        </p:txBody>
      </p:sp>
      <p:sp>
        <p:nvSpPr>
          <p:cNvPr id="21508" name="椭圆 21507"/>
          <p:cNvSpPr/>
          <p:nvPr/>
        </p:nvSpPr>
        <p:spPr>
          <a:xfrm>
            <a:off x="3279140" y="3379470"/>
            <a:ext cx="1653540" cy="1523365"/>
          </a:xfrm>
          <a:prstGeom prst="ellipse">
            <a:avLst/>
          </a:prstGeom>
          <a:noFill/>
          <a:ln w="50800" cap="flat" cmpd="sng">
            <a:solidFill>
              <a:srgbClr val="FF0000"/>
            </a:solidFill>
            <a:prstDash val="solid"/>
            <a:headEnd type="none" w="med" len="med"/>
            <a:tailEnd type="none" w="med" len="med"/>
          </a:ln>
        </p:spPr>
        <p:txBody>
          <a:bodyPr wrap="none" anchor="ctr"/>
          <a:p>
            <a:pPr algn="ctr"/>
            <a:r>
              <a:rPr lang="en-US" altLang="zh-CN" sz="4000" b="1">
                <a:latin typeface="Arial" panose="020B0604020202020204" pitchFamily="34" charset="0"/>
                <a:sym typeface="+mn-ea"/>
              </a:rPr>
              <a:t> S  P</a:t>
            </a:r>
            <a:endParaRPr lang="en-US" altLang="zh-CN" sz="4000" b="1">
              <a:latin typeface="Arial" panose="020B0604020202020204" pitchFamily="34" charset="0"/>
            </a:endParaRPr>
          </a:p>
        </p:txBody>
      </p:sp>
    </p:spTree>
    <p:custDataLst>
      <p:tags r:id="rId1"/>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latin typeface="Times New Roman" panose="02020603050405020304" charset="0"/>
                <a:sym typeface="+mn-ea"/>
              </a:rPr>
              <a:t>属种关系</a:t>
            </a:r>
            <a:endParaRPr lang="zh-CN" altLang="en-US"/>
          </a:p>
        </p:txBody>
      </p:sp>
      <p:sp>
        <p:nvSpPr>
          <p:cNvPr id="3" name="内容占位符 2"/>
          <p:cNvSpPr>
            <a:spLocks noGrp="1"/>
          </p:cNvSpPr>
          <p:nvPr>
            <p:ph idx="1"/>
          </p:nvPr>
        </p:nvSpPr>
        <p:spPr>
          <a:xfrm>
            <a:off x="669925" y="1296035"/>
            <a:ext cx="10852150" cy="5342255"/>
          </a:xfrm>
        </p:spPr>
        <p:txBody>
          <a:bodyPr/>
          <a:p>
            <a:r>
              <a:rPr sz="2400" b="1">
                <a:solidFill>
                  <a:schemeClr val="tx1"/>
                </a:solidFill>
                <a:latin typeface="Times New Roman" panose="02020603050405020304" charset="0"/>
                <a:sym typeface="+mn-ea"/>
              </a:rPr>
              <a:t>（</a:t>
            </a:r>
            <a:r>
              <a:rPr lang="en-US" altLang="zh-CN" sz="2400" b="1">
                <a:solidFill>
                  <a:schemeClr val="tx1"/>
                </a:solidFill>
                <a:latin typeface="Times New Roman" panose="02020603050405020304" charset="0"/>
                <a:sym typeface="+mn-ea"/>
              </a:rPr>
              <a:t>1</a:t>
            </a:r>
            <a:r>
              <a:rPr sz="2400" b="1">
                <a:solidFill>
                  <a:schemeClr val="tx1"/>
                </a:solidFill>
                <a:latin typeface="Times New Roman" panose="02020603050405020304" charset="0"/>
                <a:sym typeface="+mn-ea"/>
              </a:rPr>
              <a:t>）</a:t>
            </a:r>
            <a:r>
              <a:rPr lang="en-US" altLang="zh-CN" sz="2400" b="1">
                <a:solidFill>
                  <a:schemeClr val="tx1"/>
                </a:solidFill>
                <a:latin typeface="Times New Roman" panose="02020603050405020304" charset="0"/>
                <a:sym typeface="+mn-ea"/>
              </a:rPr>
              <a:t>P</a:t>
            </a:r>
            <a:r>
              <a:rPr sz="2400" b="1">
                <a:solidFill>
                  <a:schemeClr val="tx1"/>
                </a:solidFill>
                <a:latin typeface="Times New Roman" panose="02020603050405020304" charset="0"/>
                <a:sym typeface="+mn-ea"/>
              </a:rPr>
              <a:t>真包含于</a:t>
            </a:r>
            <a:r>
              <a:rPr lang="en-US" altLang="zh-CN" sz="2400" b="1">
                <a:solidFill>
                  <a:schemeClr val="tx1"/>
                </a:solidFill>
                <a:latin typeface="Times New Roman" panose="02020603050405020304" charset="0"/>
                <a:sym typeface="+mn-ea"/>
              </a:rPr>
              <a:t>S</a:t>
            </a:r>
            <a:r>
              <a:rPr sz="2400" b="1">
                <a:solidFill>
                  <a:schemeClr val="tx1"/>
                </a:solidFill>
                <a:latin typeface="Times New Roman" panose="02020603050405020304" charset="0"/>
                <a:sym typeface="+mn-ea"/>
              </a:rPr>
              <a:t>：所有</a:t>
            </a:r>
            <a:r>
              <a:rPr lang="en-US" altLang="zh-CN" sz="2400" b="1">
                <a:solidFill>
                  <a:schemeClr val="tx1"/>
                </a:solidFill>
                <a:latin typeface="Times New Roman" panose="02020603050405020304" charset="0"/>
                <a:sym typeface="+mn-ea"/>
              </a:rPr>
              <a:t>P</a:t>
            </a:r>
            <a:r>
              <a:rPr sz="2400" b="1">
                <a:solidFill>
                  <a:schemeClr val="tx1"/>
                </a:solidFill>
                <a:latin typeface="Times New Roman" panose="02020603050405020304" charset="0"/>
                <a:sym typeface="+mn-ea"/>
              </a:rPr>
              <a:t>是</a:t>
            </a:r>
            <a:r>
              <a:rPr lang="en-US" altLang="zh-CN" sz="2400" b="1">
                <a:solidFill>
                  <a:schemeClr val="tx1"/>
                </a:solidFill>
                <a:latin typeface="Times New Roman" panose="02020603050405020304" charset="0"/>
                <a:sym typeface="+mn-ea"/>
              </a:rPr>
              <a:t>S</a:t>
            </a:r>
            <a:r>
              <a:rPr sz="2400" b="1">
                <a:solidFill>
                  <a:schemeClr val="tx1"/>
                </a:solidFill>
                <a:latin typeface="Times New Roman" panose="02020603050405020304" charset="0"/>
                <a:sym typeface="+mn-ea"/>
              </a:rPr>
              <a:t>，有</a:t>
            </a:r>
            <a:r>
              <a:rPr lang="en-US" altLang="zh-CN" sz="2400" b="1">
                <a:solidFill>
                  <a:schemeClr val="tx1"/>
                </a:solidFill>
                <a:latin typeface="Times New Roman" panose="02020603050405020304" charset="0"/>
                <a:sym typeface="+mn-ea"/>
              </a:rPr>
              <a:t>S</a:t>
            </a:r>
            <a:r>
              <a:rPr sz="2400" b="1">
                <a:solidFill>
                  <a:schemeClr val="tx1"/>
                </a:solidFill>
                <a:latin typeface="Times New Roman" panose="02020603050405020304" charset="0"/>
                <a:sym typeface="+mn-ea"/>
              </a:rPr>
              <a:t>不是</a:t>
            </a:r>
            <a:r>
              <a:rPr lang="en-US" altLang="zh-CN" sz="2400" b="1">
                <a:solidFill>
                  <a:schemeClr val="tx1"/>
                </a:solidFill>
                <a:latin typeface="Times New Roman" panose="02020603050405020304" charset="0"/>
                <a:sym typeface="+mn-ea"/>
              </a:rPr>
              <a:t>P</a:t>
            </a:r>
            <a:r>
              <a:rPr sz="2400" b="1">
                <a:solidFill>
                  <a:schemeClr val="tx1"/>
                </a:solidFill>
                <a:latin typeface="Times New Roman" panose="02020603050405020304" charset="0"/>
                <a:sym typeface="+mn-ea"/>
              </a:rPr>
              <a:t>；</a:t>
            </a:r>
            <a:r>
              <a:rPr lang="en-US" altLang="zh-CN" sz="2400" b="1">
                <a:solidFill>
                  <a:schemeClr val="tx1"/>
                </a:solidFill>
                <a:latin typeface="Times New Roman" panose="02020603050405020304" charset="0"/>
                <a:sym typeface="+mn-ea"/>
              </a:rPr>
              <a:t>S</a:t>
            </a:r>
            <a:r>
              <a:rPr sz="2400" b="1">
                <a:solidFill>
                  <a:schemeClr val="tx1"/>
                </a:solidFill>
                <a:latin typeface="Times New Roman" panose="02020603050405020304" charset="0"/>
                <a:sym typeface="+mn-ea"/>
              </a:rPr>
              <a:t>是大类，</a:t>
            </a:r>
            <a:r>
              <a:rPr lang="en-US" altLang="zh-CN" sz="2400" b="1">
                <a:solidFill>
                  <a:schemeClr val="tx1"/>
                </a:solidFill>
                <a:latin typeface="Times New Roman" panose="02020603050405020304" charset="0"/>
                <a:sym typeface="+mn-ea"/>
              </a:rPr>
              <a:t>P</a:t>
            </a:r>
            <a:r>
              <a:rPr sz="2400" b="1">
                <a:solidFill>
                  <a:schemeClr val="tx1"/>
                </a:solidFill>
                <a:latin typeface="Times New Roman" panose="02020603050405020304" charset="0"/>
                <a:sym typeface="+mn-ea"/>
              </a:rPr>
              <a:t>是小类。</a:t>
            </a:r>
            <a:endParaRPr sz="2400" b="1">
              <a:solidFill>
                <a:schemeClr val="tx1"/>
              </a:solidFill>
              <a:latin typeface="Times New Roman" panose="02020603050405020304" charset="0"/>
              <a:sym typeface="+mn-ea"/>
            </a:endParaRPr>
          </a:p>
          <a:p>
            <a:pPr>
              <a:spcBef>
                <a:spcPct val="0"/>
              </a:spcBef>
              <a:buFont typeface="Wingdings" panose="05000000000000000000" pitchFamily="2" charset="2"/>
              <a:buNone/>
            </a:pPr>
            <a:r>
              <a:rPr sz="2400" b="1">
                <a:solidFill>
                  <a:schemeClr val="tx1"/>
                </a:solidFill>
                <a:latin typeface="Times New Roman" panose="02020603050405020304" charset="0"/>
                <a:sym typeface="+mn-ea"/>
              </a:rPr>
              <a:t>                 </a:t>
            </a:r>
            <a:r>
              <a:rPr lang="en-US" altLang="zh-CN" sz="2400" b="1">
                <a:latin typeface="Times New Roman" panose="02020603050405020304" charset="0"/>
                <a:sym typeface="+mn-ea"/>
              </a:rPr>
              <a:t>               </a:t>
            </a:r>
            <a:r>
              <a:rPr sz="2400" b="1">
                <a:latin typeface="Times New Roman" panose="02020603050405020304" charset="0"/>
                <a:sym typeface="+mn-ea"/>
              </a:rPr>
              <a:t>例如：英语书与书、台灯与灯    </a:t>
            </a:r>
            <a:r>
              <a:rPr sz="2400" b="1">
                <a:solidFill>
                  <a:srgbClr val="FF0000"/>
                </a:solidFill>
                <a:latin typeface="Times New Roman" panose="02020603050405020304" charset="0"/>
                <a:sym typeface="+mn-ea"/>
              </a:rPr>
              <a:t>（</a:t>
            </a:r>
            <a:r>
              <a:rPr sz="2400" b="1">
                <a:solidFill>
                  <a:srgbClr val="00B050"/>
                </a:solidFill>
                <a:latin typeface="Times New Roman" panose="02020603050405020304" charset="0"/>
                <a:sym typeface="+mn-ea"/>
              </a:rPr>
              <a:t>台灯</a:t>
            </a:r>
            <a:r>
              <a:rPr sz="2400" b="1">
                <a:solidFill>
                  <a:srgbClr val="FF0000"/>
                </a:solidFill>
                <a:latin typeface="Times New Roman" panose="02020603050405020304" charset="0"/>
                <a:sym typeface="+mn-ea"/>
              </a:rPr>
              <a:t>真包含于</a:t>
            </a:r>
            <a:r>
              <a:rPr sz="2400" b="1">
                <a:solidFill>
                  <a:srgbClr val="00B050"/>
                </a:solidFill>
                <a:latin typeface="Times New Roman" panose="02020603050405020304" charset="0"/>
                <a:sym typeface="+mn-ea"/>
              </a:rPr>
              <a:t>灯</a:t>
            </a:r>
            <a:r>
              <a:rPr sz="2400" b="1">
                <a:solidFill>
                  <a:srgbClr val="FF0000"/>
                </a:solidFill>
                <a:latin typeface="Times New Roman" panose="02020603050405020304" charset="0"/>
                <a:sym typeface="+mn-ea"/>
              </a:rPr>
              <a:t>）</a:t>
            </a:r>
            <a:endParaRPr sz="2400" b="1">
              <a:latin typeface="Times New Roman" panose="02020603050405020304" charset="0"/>
              <a:sym typeface="+mn-ea"/>
            </a:endParaRPr>
          </a:p>
          <a:p>
            <a:pPr>
              <a:spcBef>
                <a:spcPct val="0"/>
              </a:spcBef>
              <a:buFont typeface="Wingdings" panose="05000000000000000000" pitchFamily="2" charset="2"/>
              <a:buNone/>
            </a:pPr>
            <a:endParaRPr lang="en-US" altLang="zh-CN" sz="2400" b="1">
              <a:latin typeface="Times New Roman" panose="02020603050405020304" charset="0"/>
              <a:sym typeface="+mn-ea"/>
            </a:endParaRPr>
          </a:p>
          <a:p>
            <a:pPr>
              <a:spcBef>
                <a:spcPct val="0"/>
              </a:spcBef>
              <a:buFont typeface="Wingdings" panose="05000000000000000000" pitchFamily="2" charset="2"/>
              <a:buNone/>
            </a:pPr>
            <a:r>
              <a:rPr lang="en-US" altLang="zh-CN" sz="2400" b="1">
                <a:solidFill>
                  <a:schemeClr val="tx1"/>
                </a:solidFill>
                <a:latin typeface="Times New Roman" panose="02020603050405020304" charset="0"/>
                <a:sym typeface="+mn-ea"/>
              </a:rPr>
              <a:t>       </a:t>
            </a:r>
            <a:r>
              <a:rPr sz="2400" b="1">
                <a:latin typeface="Times New Roman" panose="02020603050405020304" charset="0"/>
                <a:sym typeface="+mn-ea"/>
              </a:rPr>
              <a:t>属种关系</a:t>
            </a:r>
            <a:r>
              <a:rPr lang="en-US" altLang="zh-CN" sz="2400" b="1">
                <a:solidFill>
                  <a:schemeClr val="tx1"/>
                </a:solidFill>
                <a:latin typeface="Times New Roman" panose="02020603050405020304" charset="0"/>
                <a:sym typeface="+mn-ea"/>
              </a:rPr>
              <a:t> “P</a:t>
            </a:r>
            <a:r>
              <a:rPr sz="2400" b="1">
                <a:solidFill>
                  <a:schemeClr val="tx1"/>
                </a:solidFill>
                <a:latin typeface="Times New Roman" panose="02020603050405020304" charset="0"/>
                <a:sym typeface="+mn-ea"/>
              </a:rPr>
              <a:t>真包含于</a:t>
            </a:r>
            <a:r>
              <a:rPr lang="en-US" altLang="zh-CN" sz="2400" b="1">
                <a:solidFill>
                  <a:schemeClr val="tx1"/>
                </a:solidFill>
                <a:latin typeface="Times New Roman" panose="02020603050405020304" charset="0"/>
                <a:sym typeface="+mn-ea"/>
              </a:rPr>
              <a:t>S”</a:t>
            </a:r>
            <a:r>
              <a:rPr sz="2400" b="1">
                <a:solidFill>
                  <a:schemeClr val="tx1"/>
                </a:solidFill>
                <a:latin typeface="Times New Roman" panose="02020603050405020304" charset="0"/>
                <a:sym typeface="+mn-ea"/>
              </a:rPr>
              <a:t>的欧拉图</a:t>
            </a:r>
            <a:endParaRPr sz="2400" b="1">
              <a:solidFill>
                <a:schemeClr val="tx1"/>
              </a:solidFill>
              <a:latin typeface="Times New Roman" panose="02020603050405020304" charset="0"/>
              <a:sym typeface="+mn-ea"/>
            </a:endParaRPr>
          </a:p>
          <a:p>
            <a:pPr>
              <a:spcBef>
                <a:spcPct val="0"/>
              </a:spcBef>
              <a:buFont typeface="Wingdings" panose="05000000000000000000" pitchFamily="2" charset="2"/>
              <a:buNone/>
            </a:pPr>
            <a:r>
              <a:rPr sz="2400" b="1">
                <a:solidFill>
                  <a:schemeClr val="tx1"/>
                </a:solidFill>
                <a:latin typeface="Times New Roman" panose="02020603050405020304" charset="0"/>
                <a:sym typeface="+mn-ea"/>
              </a:rPr>
              <a:t>（</a:t>
            </a:r>
            <a:r>
              <a:rPr lang="en-US" altLang="zh-CN" sz="2400" b="1">
                <a:solidFill>
                  <a:schemeClr val="tx1"/>
                </a:solidFill>
                <a:latin typeface="Times New Roman" panose="02020603050405020304" charset="0"/>
                <a:sym typeface="+mn-ea"/>
              </a:rPr>
              <a:t>2</a:t>
            </a:r>
            <a:r>
              <a:rPr sz="2400" b="1">
                <a:solidFill>
                  <a:schemeClr val="tx1"/>
                </a:solidFill>
                <a:latin typeface="Times New Roman" panose="02020603050405020304" charset="0"/>
                <a:sym typeface="+mn-ea"/>
              </a:rPr>
              <a:t>）</a:t>
            </a:r>
            <a:r>
              <a:rPr lang="en-US" altLang="zh-CN" sz="2400" b="1">
                <a:solidFill>
                  <a:schemeClr val="tx1"/>
                </a:solidFill>
                <a:latin typeface="Times New Roman" panose="02020603050405020304" charset="0"/>
                <a:sym typeface="+mn-ea"/>
              </a:rPr>
              <a:t>P</a:t>
            </a:r>
            <a:r>
              <a:rPr sz="2400" b="1">
                <a:solidFill>
                  <a:schemeClr val="tx1"/>
                </a:solidFill>
                <a:latin typeface="Times New Roman" panose="02020603050405020304" charset="0"/>
                <a:sym typeface="+mn-ea"/>
              </a:rPr>
              <a:t>真包含</a:t>
            </a:r>
            <a:r>
              <a:rPr lang="en-US" altLang="zh-CN" sz="2400" b="1">
                <a:solidFill>
                  <a:schemeClr val="tx1"/>
                </a:solidFill>
                <a:latin typeface="Times New Roman" panose="02020603050405020304" charset="0"/>
                <a:sym typeface="+mn-ea"/>
              </a:rPr>
              <a:t>S</a:t>
            </a:r>
            <a:r>
              <a:rPr sz="2400" b="1">
                <a:solidFill>
                  <a:schemeClr val="tx1"/>
                </a:solidFill>
                <a:latin typeface="Times New Roman" panose="02020603050405020304" charset="0"/>
                <a:sym typeface="+mn-ea"/>
              </a:rPr>
              <a:t>：所有</a:t>
            </a:r>
            <a:r>
              <a:rPr lang="en-US" altLang="zh-CN" sz="2400" b="1">
                <a:solidFill>
                  <a:schemeClr val="tx1"/>
                </a:solidFill>
                <a:latin typeface="Times New Roman" panose="02020603050405020304" charset="0"/>
                <a:sym typeface="+mn-ea"/>
              </a:rPr>
              <a:t>S</a:t>
            </a:r>
            <a:r>
              <a:rPr sz="2400" b="1">
                <a:solidFill>
                  <a:schemeClr val="tx1"/>
                </a:solidFill>
                <a:latin typeface="Times New Roman" panose="02020603050405020304" charset="0"/>
                <a:sym typeface="+mn-ea"/>
              </a:rPr>
              <a:t>是</a:t>
            </a:r>
            <a:r>
              <a:rPr lang="en-US" altLang="zh-CN" sz="2400" b="1">
                <a:solidFill>
                  <a:schemeClr val="tx1"/>
                </a:solidFill>
                <a:latin typeface="Times New Roman" panose="02020603050405020304" charset="0"/>
                <a:sym typeface="+mn-ea"/>
              </a:rPr>
              <a:t>P</a:t>
            </a:r>
            <a:r>
              <a:rPr sz="2400" b="1">
                <a:solidFill>
                  <a:schemeClr val="tx1"/>
                </a:solidFill>
                <a:latin typeface="Times New Roman" panose="02020603050405020304" charset="0"/>
                <a:sym typeface="+mn-ea"/>
              </a:rPr>
              <a:t>，有</a:t>
            </a:r>
            <a:r>
              <a:rPr lang="en-US" altLang="zh-CN" sz="2400" b="1">
                <a:solidFill>
                  <a:schemeClr val="tx1"/>
                </a:solidFill>
                <a:latin typeface="Times New Roman" panose="02020603050405020304" charset="0"/>
                <a:sym typeface="+mn-ea"/>
              </a:rPr>
              <a:t>P</a:t>
            </a:r>
            <a:r>
              <a:rPr sz="2400" b="1">
                <a:solidFill>
                  <a:schemeClr val="tx1"/>
                </a:solidFill>
                <a:latin typeface="Times New Roman" panose="02020603050405020304" charset="0"/>
                <a:sym typeface="+mn-ea"/>
              </a:rPr>
              <a:t>不是</a:t>
            </a:r>
            <a:r>
              <a:rPr lang="en-US" altLang="zh-CN" sz="2400" b="1">
                <a:solidFill>
                  <a:schemeClr val="tx1"/>
                </a:solidFill>
                <a:latin typeface="Times New Roman" panose="02020603050405020304" charset="0"/>
                <a:sym typeface="+mn-ea"/>
              </a:rPr>
              <a:t>S</a:t>
            </a:r>
            <a:r>
              <a:rPr sz="2400" b="1">
                <a:solidFill>
                  <a:schemeClr val="tx1"/>
                </a:solidFill>
                <a:latin typeface="Times New Roman" panose="02020603050405020304" charset="0"/>
                <a:sym typeface="+mn-ea"/>
              </a:rPr>
              <a:t>；</a:t>
            </a:r>
            <a:r>
              <a:rPr lang="en-US" altLang="zh-CN" sz="2400" b="1">
                <a:solidFill>
                  <a:schemeClr val="tx1"/>
                </a:solidFill>
                <a:latin typeface="Times New Roman" panose="02020603050405020304" charset="0"/>
                <a:sym typeface="+mn-ea"/>
              </a:rPr>
              <a:t>S</a:t>
            </a:r>
            <a:r>
              <a:rPr sz="2400" b="1">
                <a:solidFill>
                  <a:schemeClr val="tx1"/>
                </a:solidFill>
                <a:latin typeface="Times New Roman" panose="02020603050405020304" charset="0"/>
                <a:sym typeface="+mn-ea"/>
              </a:rPr>
              <a:t>是小类，</a:t>
            </a:r>
            <a:r>
              <a:rPr lang="en-US" altLang="zh-CN" sz="2400" b="1">
                <a:solidFill>
                  <a:schemeClr val="tx1"/>
                </a:solidFill>
                <a:latin typeface="Times New Roman" panose="02020603050405020304" charset="0"/>
                <a:sym typeface="+mn-ea"/>
              </a:rPr>
              <a:t>P</a:t>
            </a:r>
            <a:r>
              <a:rPr sz="2400" b="1">
                <a:solidFill>
                  <a:schemeClr val="tx1"/>
                </a:solidFill>
                <a:latin typeface="Times New Roman" panose="02020603050405020304" charset="0"/>
                <a:sym typeface="+mn-ea"/>
              </a:rPr>
              <a:t>是大类</a:t>
            </a:r>
            <a:endParaRPr sz="2400" b="1">
              <a:solidFill>
                <a:schemeClr val="tx1"/>
              </a:solidFill>
              <a:latin typeface="Times New Roman" panose="02020603050405020304" charset="0"/>
              <a:sym typeface="+mn-ea"/>
            </a:endParaRPr>
          </a:p>
          <a:p>
            <a:pPr>
              <a:spcBef>
                <a:spcPct val="0"/>
              </a:spcBef>
              <a:buFont typeface="Wingdings" panose="05000000000000000000" pitchFamily="2" charset="2"/>
              <a:buNone/>
            </a:pPr>
            <a:r>
              <a:rPr lang="en-US" altLang="zh-CN" sz="2400" b="1">
                <a:latin typeface="Times New Roman" panose="02020603050405020304" charset="0"/>
                <a:sym typeface="+mn-ea"/>
              </a:rPr>
              <a:t>                                </a:t>
            </a:r>
            <a:r>
              <a:rPr sz="2400" b="1">
                <a:latin typeface="Times New Roman" panose="02020603050405020304" charset="0"/>
                <a:sym typeface="+mn-ea"/>
              </a:rPr>
              <a:t>例如：书与英语书、灯与台灯    </a:t>
            </a:r>
            <a:r>
              <a:rPr sz="2400" b="1">
                <a:solidFill>
                  <a:srgbClr val="FF0000"/>
                </a:solidFill>
                <a:latin typeface="Times New Roman" panose="02020603050405020304" charset="0"/>
                <a:sym typeface="+mn-ea"/>
              </a:rPr>
              <a:t>（</a:t>
            </a:r>
            <a:r>
              <a:rPr sz="2400" b="1">
                <a:solidFill>
                  <a:srgbClr val="00B050"/>
                </a:solidFill>
                <a:latin typeface="Times New Roman" panose="02020603050405020304" charset="0"/>
                <a:sym typeface="+mn-ea"/>
              </a:rPr>
              <a:t>灯</a:t>
            </a:r>
            <a:r>
              <a:rPr sz="2400" b="1">
                <a:solidFill>
                  <a:srgbClr val="FF0000"/>
                </a:solidFill>
                <a:latin typeface="Times New Roman" panose="02020603050405020304" charset="0"/>
                <a:sym typeface="+mn-ea"/>
              </a:rPr>
              <a:t>真包含</a:t>
            </a:r>
            <a:r>
              <a:rPr sz="2400" b="1">
                <a:solidFill>
                  <a:srgbClr val="00B050"/>
                </a:solidFill>
                <a:latin typeface="Times New Roman" panose="02020603050405020304" charset="0"/>
                <a:sym typeface="+mn-ea"/>
              </a:rPr>
              <a:t>台灯</a:t>
            </a:r>
            <a:r>
              <a:rPr sz="2400" b="1">
                <a:solidFill>
                  <a:srgbClr val="FF0000"/>
                </a:solidFill>
                <a:latin typeface="Times New Roman" panose="02020603050405020304" charset="0"/>
                <a:sym typeface="+mn-ea"/>
              </a:rPr>
              <a:t>）</a:t>
            </a:r>
            <a:endParaRPr lang="en-US" altLang="zh-CN" sz="2400" b="1">
              <a:latin typeface="Times New Roman" panose="02020603050405020304" charset="0"/>
              <a:sym typeface="+mn-ea"/>
            </a:endParaRPr>
          </a:p>
          <a:p>
            <a:pPr>
              <a:spcBef>
                <a:spcPct val="0"/>
              </a:spcBef>
              <a:buFont typeface="Wingdings" panose="05000000000000000000" pitchFamily="2" charset="2"/>
              <a:buNone/>
            </a:pPr>
            <a:r>
              <a:rPr lang="en-US" altLang="zh-CN" sz="2400" b="1">
                <a:latin typeface="Times New Roman" panose="02020603050405020304" charset="0"/>
              </a:rPr>
              <a:t>                           </a:t>
            </a:r>
            <a:endParaRPr lang="en-US" altLang="zh-CN" sz="2400" b="1">
              <a:latin typeface="Times New Roman" panose="02020603050405020304" charset="0"/>
            </a:endParaRPr>
          </a:p>
          <a:p>
            <a:pPr>
              <a:spcBef>
                <a:spcPct val="0"/>
              </a:spcBef>
              <a:buFont typeface="Wingdings" panose="05000000000000000000" pitchFamily="2" charset="2"/>
              <a:buNone/>
            </a:pPr>
            <a:r>
              <a:rPr lang="en-US" altLang="zh-CN" sz="2400" b="1">
                <a:solidFill>
                  <a:schemeClr val="tx1"/>
                </a:solidFill>
                <a:latin typeface="Times New Roman" panose="02020603050405020304" charset="0"/>
                <a:sym typeface="+mn-ea"/>
              </a:rPr>
              <a:t>      </a:t>
            </a:r>
            <a:r>
              <a:rPr sz="2400" b="1">
                <a:latin typeface="Times New Roman" panose="02020603050405020304" charset="0"/>
                <a:sym typeface="+mn-ea"/>
              </a:rPr>
              <a:t>属种关系</a:t>
            </a:r>
            <a:r>
              <a:rPr lang="en-US" altLang="zh-CN" sz="2400" b="1">
                <a:solidFill>
                  <a:schemeClr val="tx1"/>
                </a:solidFill>
                <a:latin typeface="Times New Roman" panose="02020603050405020304" charset="0"/>
                <a:sym typeface="+mn-ea"/>
              </a:rPr>
              <a:t> “</a:t>
            </a:r>
            <a:r>
              <a:rPr lang="en-US" altLang="zh-CN" sz="2400" b="1">
                <a:solidFill>
                  <a:schemeClr val="tx1"/>
                </a:solidFill>
                <a:latin typeface="Times New Roman" panose="02020603050405020304" charset="0"/>
                <a:sym typeface="+mn-ea"/>
              </a:rPr>
              <a:t>P</a:t>
            </a:r>
            <a:r>
              <a:rPr sz="2400" b="1">
                <a:solidFill>
                  <a:schemeClr val="tx1"/>
                </a:solidFill>
                <a:latin typeface="Times New Roman" panose="02020603050405020304" charset="0"/>
                <a:sym typeface="+mn-ea"/>
              </a:rPr>
              <a:t>真包含</a:t>
            </a:r>
            <a:r>
              <a:rPr lang="en-US" altLang="zh-CN" sz="2400" b="1">
                <a:solidFill>
                  <a:schemeClr val="tx1"/>
                </a:solidFill>
                <a:latin typeface="Times New Roman" panose="02020603050405020304" charset="0"/>
                <a:sym typeface="+mn-ea"/>
              </a:rPr>
              <a:t>S”</a:t>
            </a:r>
            <a:r>
              <a:rPr sz="2400" b="1">
                <a:solidFill>
                  <a:schemeClr val="tx1"/>
                </a:solidFill>
                <a:latin typeface="Times New Roman" panose="02020603050405020304" charset="0"/>
                <a:sym typeface="+mn-ea"/>
              </a:rPr>
              <a:t>的欧拉图</a:t>
            </a:r>
            <a:endParaRPr sz="2400" b="1">
              <a:solidFill>
                <a:srgbClr val="FF0000"/>
              </a:solidFill>
              <a:latin typeface="Times New Roman" panose="02020603050405020304" charset="0"/>
            </a:endParaRPr>
          </a:p>
          <a:p>
            <a:pPr>
              <a:spcBef>
                <a:spcPct val="0"/>
              </a:spcBef>
              <a:buFont typeface="Wingdings" panose="05000000000000000000" pitchFamily="2" charset="2"/>
              <a:buNone/>
            </a:pPr>
            <a:r>
              <a:rPr sz="2400" b="1">
                <a:solidFill>
                  <a:srgbClr val="FF0000"/>
                </a:solidFill>
                <a:latin typeface="Times New Roman" panose="02020603050405020304" charset="0"/>
              </a:rPr>
              <a:t>在</a:t>
            </a:r>
            <a:r>
              <a:rPr sz="2400" b="1">
                <a:solidFill>
                  <a:srgbClr val="FF0000"/>
                </a:solidFill>
                <a:latin typeface="Times New Roman" panose="02020603050405020304" charset="0"/>
                <a:sym typeface="+mn-ea"/>
              </a:rPr>
              <a:t>属种关系中，大概念是属概念，小概念是种概念</a:t>
            </a:r>
            <a:endParaRPr lang="en-US" altLang="zh-CN" sz="2400" b="1">
              <a:solidFill>
                <a:srgbClr val="FF0000"/>
              </a:solidFill>
              <a:latin typeface="Times New Roman" panose="02020603050405020304" charset="0"/>
            </a:endParaRPr>
          </a:p>
          <a:p>
            <a:endParaRPr lang="en-US" altLang="zh-CN" sz="2400" b="1">
              <a:solidFill>
                <a:srgbClr val="FF0000"/>
              </a:solidFill>
              <a:latin typeface="Times New Roman" panose="02020603050405020304" charset="0"/>
            </a:endParaRPr>
          </a:p>
        </p:txBody>
      </p:sp>
      <p:sp>
        <p:nvSpPr>
          <p:cNvPr id="22532" name="椭圆 22531"/>
          <p:cNvSpPr/>
          <p:nvPr/>
        </p:nvSpPr>
        <p:spPr>
          <a:xfrm>
            <a:off x="1809115" y="4185285"/>
            <a:ext cx="1423035" cy="1368425"/>
          </a:xfrm>
          <a:prstGeom prst="ellipse">
            <a:avLst/>
          </a:prstGeom>
          <a:noFill/>
          <a:ln w="50800" cap="flat" cmpd="sng">
            <a:solidFill>
              <a:schemeClr val="tx1"/>
            </a:solidFill>
            <a:prstDash val="solid"/>
            <a:headEnd type="none" w="med" len="med"/>
            <a:tailEnd type="none" w="med" len="med"/>
          </a:ln>
        </p:spPr>
        <p:txBody>
          <a:bodyPr wrap="none" anchor="ctr"/>
          <a:p>
            <a:pPr algn="ctr"/>
            <a:r>
              <a:rPr lang="en-US" altLang="zh-CN" sz="2800" b="1">
                <a:latin typeface="Arial" panose="020B0604020202020204" pitchFamily="34" charset="0"/>
                <a:sym typeface="+mn-ea"/>
              </a:rPr>
              <a:t>P     S</a:t>
            </a:r>
            <a:endParaRPr lang="en-US" altLang="zh-CN" sz="2800" b="1">
              <a:latin typeface="Arial" panose="020B0604020202020204" pitchFamily="34" charset="0"/>
            </a:endParaRPr>
          </a:p>
        </p:txBody>
      </p:sp>
      <p:sp>
        <p:nvSpPr>
          <p:cNvPr id="22533" name="椭圆 22532"/>
          <p:cNvSpPr/>
          <p:nvPr/>
        </p:nvSpPr>
        <p:spPr>
          <a:xfrm>
            <a:off x="2646680" y="2111375"/>
            <a:ext cx="800100" cy="690245"/>
          </a:xfrm>
          <a:prstGeom prst="ellipse">
            <a:avLst/>
          </a:prstGeom>
          <a:noFill/>
          <a:ln w="50800" cap="flat" cmpd="sng">
            <a:solidFill>
              <a:srgbClr val="FF0000"/>
            </a:solidFill>
            <a:prstDash val="solid"/>
            <a:headEnd type="none" w="med" len="med"/>
            <a:tailEnd type="none" w="med" len="med"/>
          </a:ln>
        </p:spPr>
        <p:txBody>
          <a:bodyPr/>
          <a:p>
            <a:endParaRPr lang="zh-CN" altLang="en-US"/>
          </a:p>
        </p:txBody>
      </p:sp>
      <p:sp>
        <p:nvSpPr>
          <p:cNvPr id="4" name="椭圆 3"/>
          <p:cNvSpPr/>
          <p:nvPr/>
        </p:nvSpPr>
        <p:spPr>
          <a:xfrm>
            <a:off x="2091055" y="1772285"/>
            <a:ext cx="1423035" cy="1368425"/>
          </a:xfrm>
          <a:prstGeom prst="ellipse">
            <a:avLst/>
          </a:prstGeom>
          <a:noFill/>
          <a:ln w="50800" cap="flat" cmpd="sng">
            <a:solidFill>
              <a:schemeClr val="tx1"/>
            </a:solidFill>
            <a:prstDash val="solid"/>
            <a:headEnd type="none" w="med" len="med"/>
            <a:tailEnd type="none" w="med" len="med"/>
          </a:ln>
        </p:spPr>
        <p:txBody>
          <a:bodyPr wrap="none" anchor="ctr"/>
          <a:p>
            <a:pPr algn="ctr"/>
            <a:r>
              <a:rPr lang="en-US" altLang="zh-CN" sz="2800" b="1">
                <a:latin typeface="Arial" panose="020B0604020202020204" pitchFamily="34" charset="0"/>
                <a:sym typeface="+mn-ea"/>
              </a:rPr>
              <a:t>S     P</a:t>
            </a:r>
            <a:endParaRPr lang="en-US" altLang="zh-CN" sz="2800" b="1">
              <a:latin typeface="Arial" panose="020B0604020202020204" pitchFamily="34" charset="0"/>
            </a:endParaRPr>
          </a:p>
        </p:txBody>
      </p:sp>
      <p:sp>
        <p:nvSpPr>
          <p:cNvPr id="5" name="椭圆 4"/>
          <p:cNvSpPr/>
          <p:nvPr/>
        </p:nvSpPr>
        <p:spPr>
          <a:xfrm>
            <a:off x="2342515" y="4524375"/>
            <a:ext cx="800100" cy="690245"/>
          </a:xfrm>
          <a:prstGeom prst="ellipse">
            <a:avLst/>
          </a:prstGeom>
          <a:noFill/>
          <a:ln w="50800" cap="flat" cmpd="sng">
            <a:solidFill>
              <a:srgbClr val="FF0000"/>
            </a:solidFill>
            <a:prstDash val="solid"/>
            <a:headEnd type="none" w="med" len="med"/>
            <a:tailEnd type="none" w="med" len="med"/>
          </a:ln>
        </p:spPr>
        <p:txBody>
          <a:bodyPr/>
          <a:p>
            <a:endParaRPr lang="zh-CN" altLang="en-US"/>
          </a:p>
        </p:txBody>
      </p:sp>
    </p:spTree>
    <p:custDataLst>
      <p:tags r:id="rId1"/>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ym typeface="+mn-ea"/>
              </a:rPr>
              <a:t>交叉关系</a:t>
            </a:r>
            <a:endParaRPr lang="zh-CN" altLang="en-US"/>
          </a:p>
        </p:txBody>
      </p:sp>
      <p:sp>
        <p:nvSpPr>
          <p:cNvPr id="3" name="内容占位符 2"/>
          <p:cNvSpPr>
            <a:spLocks noGrp="1"/>
          </p:cNvSpPr>
          <p:nvPr>
            <p:ph idx="1"/>
          </p:nvPr>
        </p:nvSpPr>
        <p:spPr/>
        <p:txBody>
          <a:bodyPr/>
          <a:p>
            <a:r>
              <a:rPr sz="2400" b="1">
                <a:solidFill>
                  <a:schemeClr val="tx1"/>
                </a:solidFill>
                <a:sym typeface="+mn-ea"/>
              </a:rPr>
              <a:t>交叉关系：</a:t>
            </a:r>
            <a:r>
              <a:rPr sz="2400" b="1">
                <a:solidFill>
                  <a:schemeClr val="tx1"/>
                </a:solidFill>
                <a:latin typeface="Times New Roman" panose="02020603050405020304" charset="0"/>
                <a:sym typeface="+mn-ea"/>
              </a:rPr>
              <a:t>有</a:t>
            </a:r>
            <a:r>
              <a:rPr lang="en-US" altLang="zh-CN" sz="2400" b="1">
                <a:solidFill>
                  <a:schemeClr val="tx1"/>
                </a:solidFill>
                <a:latin typeface="Times New Roman" panose="02020603050405020304" charset="0"/>
                <a:sym typeface="+mn-ea"/>
              </a:rPr>
              <a:t>S</a:t>
            </a:r>
            <a:r>
              <a:rPr sz="2400" b="1">
                <a:solidFill>
                  <a:schemeClr val="tx1"/>
                </a:solidFill>
                <a:latin typeface="Times New Roman" panose="02020603050405020304" charset="0"/>
                <a:sym typeface="+mn-ea"/>
              </a:rPr>
              <a:t>是</a:t>
            </a:r>
            <a:r>
              <a:rPr lang="en-US" altLang="zh-CN" sz="2400" b="1">
                <a:solidFill>
                  <a:schemeClr val="tx1"/>
                </a:solidFill>
                <a:latin typeface="Times New Roman" panose="02020603050405020304" charset="0"/>
                <a:sym typeface="+mn-ea"/>
              </a:rPr>
              <a:t>P</a:t>
            </a:r>
            <a:r>
              <a:rPr sz="2400" b="1">
                <a:solidFill>
                  <a:schemeClr val="tx1"/>
                </a:solidFill>
                <a:latin typeface="Times New Roman" panose="02020603050405020304" charset="0"/>
                <a:sym typeface="+mn-ea"/>
              </a:rPr>
              <a:t>；有</a:t>
            </a:r>
            <a:r>
              <a:rPr lang="en-US" altLang="zh-CN" sz="2400" b="1">
                <a:solidFill>
                  <a:schemeClr val="tx1"/>
                </a:solidFill>
                <a:latin typeface="Times New Roman" panose="02020603050405020304" charset="0"/>
                <a:sym typeface="+mn-ea"/>
              </a:rPr>
              <a:t>S</a:t>
            </a:r>
            <a:r>
              <a:rPr sz="2400" b="1">
                <a:solidFill>
                  <a:schemeClr val="tx1"/>
                </a:solidFill>
                <a:latin typeface="Times New Roman" panose="02020603050405020304" charset="0"/>
                <a:sym typeface="+mn-ea"/>
              </a:rPr>
              <a:t>不是</a:t>
            </a:r>
            <a:r>
              <a:rPr lang="en-US" altLang="zh-CN" sz="2400" b="1">
                <a:solidFill>
                  <a:schemeClr val="tx1"/>
                </a:solidFill>
                <a:latin typeface="Times New Roman" panose="02020603050405020304" charset="0"/>
                <a:sym typeface="+mn-ea"/>
              </a:rPr>
              <a:t>P</a:t>
            </a:r>
            <a:r>
              <a:rPr sz="2400" b="1">
                <a:solidFill>
                  <a:schemeClr val="tx1"/>
                </a:solidFill>
                <a:latin typeface="Times New Roman" panose="02020603050405020304" charset="0"/>
                <a:sym typeface="+mn-ea"/>
              </a:rPr>
              <a:t>；有</a:t>
            </a:r>
            <a:r>
              <a:rPr lang="en-US" altLang="zh-CN" sz="2400" b="1">
                <a:solidFill>
                  <a:schemeClr val="tx1"/>
                </a:solidFill>
                <a:latin typeface="Times New Roman" panose="02020603050405020304" charset="0"/>
                <a:sym typeface="+mn-ea"/>
              </a:rPr>
              <a:t>P</a:t>
            </a:r>
            <a:r>
              <a:rPr sz="2400" b="1">
                <a:solidFill>
                  <a:schemeClr val="tx1"/>
                </a:solidFill>
                <a:latin typeface="Times New Roman" panose="02020603050405020304" charset="0"/>
                <a:sym typeface="+mn-ea"/>
              </a:rPr>
              <a:t>不是</a:t>
            </a:r>
            <a:r>
              <a:rPr lang="en-US" altLang="zh-CN" sz="2400" b="1">
                <a:solidFill>
                  <a:schemeClr val="tx1"/>
                </a:solidFill>
                <a:latin typeface="Times New Roman" panose="02020603050405020304" charset="0"/>
                <a:sym typeface="+mn-ea"/>
              </a:rPr>
              <a:t>S</a:t>
            </a:r>
            <a:endParaRPr lang="en-US" altLang="zh-CN" sz="2400" b="1">
              <a:solidFill>
                <a:schemeClr val="tx1"/>
              </a:solidFill>
              <a:latin typeface="Times New Roman" panose="02020603050405020304" charset="0"/>
              <a:sym typeface="+mn-ea"/>
            </a:endParaRPr>
          </a:p>
          <a:p>
            <a:endParaRPr lang="zh-CN" altLang="en-US" sz="2400"/>
          </a:p>
          <a:p>
            <a:r>
              <a:rPr lang="zh-CN" altLang="en-US" sz="2400"/>
              <a:t>     </a:t>
            </a:r>
            <a:r>
              <a:rPr lang="zh-CN" altLang="en-US" sz="2800" b="1"/>
              <a:t> </a:t>
            </a:r>
            <a:r>
              <a:rPr lang="en-US" altLang="zh-CN" sz="2800" b="1"/>
              <a:t>P</a:t>
            </a:r>
            <a:endParaRPr lang="zh-CN" altLang="en-US" sz="2800" b="1"/>
          </a:p>
          <a:p>
            <a:endParaRPr lang="zh-CN" altLang="en-US" sz="2400"/>
          </a:p>
          <a:p>
            <a:r>
              <a:rPr sz="2400" b="1">
                <a:solidFill>
                  <a:schemeClr val="tx1"/>
                </a:solidFill>
                <a:sym typeface="+mn-ea"/>
              </a:rPr>
              <a:t>  交叉关系欧拉图</a:t>
            </a:r>
            <a:endParaRPr sz="2400" b="1">
              <a:solidFill>
                <a:schemeClr val="tx1"/>
              </a:solidFill>
              <a:sym typeface="+mn-ea"/>
            </a:endParaRPr>
          </a:p>
          <a:p>
            <a:r>
              <a:rPr sz="2400" b="1">
                <a:solidFill>
                  <a:schemeClr val="tx1"/>
                </a:solidFill>
                <a:sym typeface="+mn-ea"/>
              </a:rPr>
              <a:t>例如：教师与党员       儿童与糖尿病患者</a:t>
            </a:r>
            <a:endParaRPr sz="2400" b="1">
              <a:solidFill>
                <a:schemeClr val="tx1"/>
              </a:solidFill>
              <a:sym typeface="+mn-ea"/>
            </a:endParaRPr>
          </a:p>
          <a:p>
            <a:r>
              <a:rPr sz="2400" b="1">
                <a:solidFill>
                  <a:schemeClr val="tx1"/>
                </a:solidFill>
                <a:sym typeface="+mn-ea"/>
              </a:rPr>
              <a:t>重要新闻与重要领导人新闻是交叉关系吗？</a:t>
            </a:r>
            <a:endParaRPr sz="2400" b="1">
              <a:solidFill>
                <a:schemeClr val="tx1"/>
              </a:solidFill>
              <a:sym typeface="+mn-ea"/>
            </a:endParaRPr>
          </a:p>
        </p:txBody>
      </p:sp>
      <p:sp>
        <p:nvSpPr>
          <p:cNvPr id="24581" name="椭圆 24580"/>
          <p:cNvSpPr/>
          <p:nvPr/>
        </p:nvSpPr>
        <p:spPr>
          <a:xfrm>
            <a:off x="1169670" y="1951990"/>
            <a:ext cx="1551940" cy="1597660"/>
          </a:xfrm>
          <a:prstGeom prst="ellipse">
            <a:avLst/>
          </a:prstGeom>
          <a:noFill/>
          <a:ln w="50800" cap="flat" cmpd="sng">
            <a:solidFill>
              <a:schemeClr val="tx1"/>
            </a:solidFill>
            <a:prstDash val="solid"/>
            <a:headEnd type="none" w="med" len="med"/>
            <a:tailEnd type="none" w="med" len="med"/>
          </a:ln>
        </p:spPr>
        <p:txBody>
          <a:bodyPr/>
          <a:p>
            <a:endParaRPr lang="zh-CN" altLang="en-US"/>
          </a:p>
        </p:txBody>
      </p:sp>
      <p:sp>
        <p:nvSpPr>
          <p:cNvPr id="24580" name="椭圆 24579"/>
          <p:cNvSpPr/>
          <p:nvPr/>
        </p:nvSpPr>
        <p:spPr>
          <a:xfrm>
            <a:off x="2288540" y="1989455"/>
            <a:ext cx="1598295" cy="1522095"/>
          </a:xfrm>
          <a:prstGeom prst="ellipse">
            <a:avLst/>
          </a:prstGeom>
          <a:noFill/>
          <a:ln w="50800" cap="flat" cmpd="sng">
            <a:solidFill>
              <a:srgbClr val="FF0000"/>
            </a:solidFill>
            <a:prstDash val="solid"/>
            <a:headEnd type="none" w="med" len="med"/>
            <a:tailEnd type="none" w="med" len="med"/>
          </a:ln>
        </p:spPr>
        <p:txBody>
          <a:bodyPr wrap="none" anchor="ctr"/>
          <a:p>
            <a:pPr algn="ctr"/>
            <a:r>
              <a:rPr lang="zh-CN" altLang="en-US" sz="4000" b="1" dirty="0">
                <a:latin typeface="Arial" panose="020B0604020202020204" pitchFamily="34" charset="0"/>
                <a:sym typeface="+mn-ea"/>
              </a:rPr>
              <a:t>  </a:t>
            </a:r>
            <a:r>
              <a:rPr lang="en-US" altLang="zh-CN" sz="2800" b="1">
                <a:latin typeface="Arial" panose="020B0604020202020204" pitchFamily="34" charset="0"/>
                <a:sym typeface="+mn-ea"/>
              </a:rPr>
              <a:t>S</a:t>
            </a:r>
            <a:endParaRPr lang="en-US" altLang="zh-CN" sz="2800" b="1">
              <a:latin typeface="Arial" panose="020B0604020202020204" pitchFamily="34" charset="0"/>
            </a:endParaRPr>
          </a:p>
        </p:txBody>
      </p:sp>
    </p:spTree>
    <p:custDataLst>
      <p:tags r:id="rId1"/>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latin typeface="Times New Roman" panose="02020603050405020304" charset="0"/>
                <a:sym typeface="+mn-ea"/>
              </a:rPr>
              <a:t>全异关系</a:t>
            </a:r>
            <a:endParaRPr lang="zh-CN" altLang="en-US"/>
          </a:p>
        </p:txBody>
      </p:sp>
      <p:sp>
        <p:nvSpPr>
          <p:cNvPr id="3" name="内容占位符 2"/>
          <p:cNvSpPr>
            <a:spLocks noGrp="1"/>
          </p:cNvSpPr>
          <p:nvPr>
            <p:ph idx="1"/>
          </p:nvPr>
        </p:nvSpPr>
        <p:spPr/>
        <p:txBody>
          <a:bodyPr/>
          <a:p>
            <a:pPr>
              <a:spcBef>
                <a:spcPct val="0"/>
              </a:spcBef>
              <a:buFont typeface="Wingdings" panose="05000000000000000000" pitchFamily="2" charset="2"/>
              <a:buNone/>
            </a:pPr>
            <a:r>
              <a:rPr sz="2400" b="1">
                <a:latin typeface="Times New Roman" panose="02020603050405020304" charset="0"/>
                <a:sym typeface="+mn-ea"/>
              </a:rPr>
              <a:t>全异关系：</a:t>
            </a:r>
            <a:r>
              <a:rPr sz="2400" b="1">
                <a:latin typeface="Times New Roman" panose="02020603050405020304" charset="0"/>
                <a:sym typeface="+mn-ea"/>
              </a:rPr>
              <a:t>所有</a:t>
            </a:r>
            <a:r>
              <a:rPr lang="en-US" altLang="zh-CN" sz="2400" b="1">
                <a:latin typeface="Times New Roman" panose="02020603050405020304" charset="0"/>
                <a:sym typeface="+mn-ea"/>
              </a:rPr>
              <a:t>S</a:t>
            </a:r>
            <a:r>
              <a:rPr sz="2400" b="1">
                <a:latin typeface="Times New Roman" panose="02020603050405020304" charset="0"/>
                <a:sym typeface="+mn-ea"/>
              </a:rPr>
              <a:t>不是</a:t>
            </a:r>
            <a:r>
              <a:rPr lang="en-US" altLang="zh-CN" sz="2400" b="1">
                <a:latin typeface="Times New Roman" panose="02020603050405020304" charset="0"/>
                <a:sym typeface="+mn-ea"/>
              </a:rPr>
              <a:t>P</a:t>
            </a:r>
            <a:r>
              <a:rPr sz="2400" b="1">
                <a:latin typeface="Times New Roman" panose="02020603050405020304" charset="0"/>
                <a:sym typeface="+mn-ea"/>
              </a:rPr>
              <a:t>；所有</a:t>
            </a:r>
            <a:r>
              <a:rPr lang="en-US" altLang="zh-CN" sz="2400" b="1">
                <a:latin typeface="Times New Roman" panose="02020603050405020304" charset="0"/>
                <a:sym typeface="+mn-ea"/>
              </a:rPr>
              <a:t>P</a:t>
            </a:r>
            <a:r>
              <a:rPr sz="2400" b="1">
                <a:latin typeface="Times New Roman" panose="02020603050405020304" charset="0"/>
                <a:sym typeface="+mn-ea"/>
              </a:rPr>
              <a:t>不是</a:t>
            </a:r>
            <a:r>
              <a:rPr lang="en-US" altLang="zh-CN" sz="2400" b="1">
                <a:latin typeface="Times New Roman" panose="02020603050405020304" charset="0"/>
                <a:sym typeface="+mn-ea"/>
              </a:rPr>
              <a:t>S</a:t>
            </a:r>
            <a:r>
              <a:rPr sz="2400" b="1">
                <a:latin typeface="Times New Roman" panose="02020603050405020304" charset="0"/>
                <a:sym typeface="+mn-ea"/>
              </a:rPr>
              <a:t>。</a:t>
            </a:r>
            <a:endParaRPr b="1">
              <a:latin typeface="Times New Roman" panose="02020603050405020304" charset="0"/>
              <a:sym typeface="+mn-ea"/>
            </a:endParaRPr>
          </a:p>
          <a:p>
            <a:pPr>
              <a:spcBef>
                <a:spcPct val="0"/>
              </a:spcBef>
              <a:buFont typeface="Wingdings" panose="05000000000000000000" pitchFamily="2" charset="2"/>
              <a:buNone/>
            </a:pPr>
            <a:endParaRPr b="1">
              <a:latin typeface="Times New Roman" panose="02020603050405020304" charset="0"/>
              <a:sym typeface="+mn-ea"/>
            </a:endParaRPr>
          </a:p>
          <a:p>
            <a:pPr>
              <a:spcBef>
                <a:spcPct val="0"/>
              </a:spcBef>
              <a:buFont typeface="Wingdings" panose="05000000000000000000" pitchFamily="2" charset="2"/>
              <a:buNone/>
            </a:pPr>
            <a:r>
              <a:rPr b="1">
                <a:latin typeface="Times New Roman" panose="02020603050405020304" charset="0"/>
                <a:sym typeface="+mn-ea"/>
              </a:rPr>
              <a:t>          </a:t>
            </a:r>
            <a:r>
              <a:rPr sz="2800">
                <a:latin typeface="+mj-lt"/>
                <a:ea typeface="+mj-ea"/>
                <a:cs typeface="+mj-lt"/>
                <a:sym typeface="+mn-ea"/>
              </a:rPr>
              <a:t> </a:t>
            </a:r>
            <a:r>
              <a:rPr lang="en-US" altLang="zh-CN" sz="2800" b="1">
                <a:latin typeface="+mj-lt"/>
                <a:ea typeface="+mj-ea"/>
                <a:cs typeface="+mj-lt"/>
                <a:sym typeface="+mn-ea"/>
              </a:rPr>
              <a:t>P</a:t>
            </a:r>
            <a:endParaRPr b="1">
              <a:latin typeface="Times New Roman" panose="02020603050405020304" charset="0"/>
              <a:sym typeface="+mn-ea"/>
            </a:endParaRPr>
          </a:p>
          <a:p>
            <a:pPr>
              <a:spcBef>
                <a:spcPct val="0"/>
              </a:spcBef>
              <a:buFont typeface="Wingdings" panose="05000000000000000000" pitchFamily="2" charset="2"/>
              <a:buNone/>
            </a:pPr>
            <a:endParaRPr b="1">
              <a:latin typeface="Times New Roman" panose="02020603050405020304" charset="0"/>
              <a:sym typeface="+mn-ea"/>
            </a:endParaRPr>
          </a:p>
          <a:p>
            <a:pPr>
              <a:spcBef>
                <a:spcPct val="0"/>
              </a:spcBef>
              <a:buFont typeface="Wingdings" panose="05000000000000000000" pitchFamily="2" charset="2"/>
              <a:buNone/>
            </a:pPr>
            <a:r>
              <a:rPr sz="2400" b="1">
                <a:latin typeface="Times New Roman" panose="02020603050405020304" charset="0"/>
                <a:sym typeface="+mn-ea"/>
              </a:rPr>
              <a:t>       全异关系的欧拉图</a:t>
            </a:r>
            <a:endParaRPr sz="2400" b="1">
              <a:latin typeface="Times New Roman" panose="02020603050405020304" charset="0"/>
              <a:sym typeface="+mn-ea"/>
            </a:endParaRPr>
          </a:p>
          <a:p>
            <a:pPr>
              <a:spcBef>
                <a:spcPct val="0"/>
              </a:spcBef>
              <a:buFont typeface="Wingdings" panose="05000000000000000000" pitchFamily="2" charset="2"/>
              <a:buNone/>
            </a:pPr>
            <a:r>
              <a:rPr sz="2400" b="1">
                <a:latin typeface="Times New Roman" panose="02020603050405020304" charset="0"/>
                <a:sym typeface="+mn-ea"/>
              </a:rPr>
              <a:t>例如：猪与狗、牛与马</a:t>
            </a:r>
            <a:endParaRPr sz="2400" b="1">
              <a:latin typeface="Times New Roman" panose="02020603050405020304" charset="0"/>
              <a:sym typeface="+mn-ea"/>
            </a:endParaRPr>
          </a:p>
          <a:p>
            <a:pPr>
              <a:spcBef>
                <a:spcPct val="0"/>
              </a:spcBef>
              <a:buFont typeface="Wingdings" panose="05000000000000000000" pitchFamily="2" charset="2"/>
              <a:buNone/>
            </a:pPr>
            <a:r>
              <a:rPr sz="2400" b="1">
                <a:latin typeface="Times New Roman" panose="02020603050405020304" charset="0"/>
                <a:sym typeface="+mn-ea"/>
              </a:rPr>
              <a:t>天才与疯子是</a:t>
            </a:r>
            <a:r>
              <a:rPr sz="2400" b="1">
                <a:latin typeface="Times New Roman" panose="02020603050405020304" charset="0"/>
                <a:sym typeface="+mn-ea"/>
              </a:rPr>
              <a:t>全异关系吗</a:t>
            </a:r>
            <a:r>
              <a:rPr sz="2400" b="1">
                <a:latin typeface="Times New Roman" panose="02020603050405020304" charset="0"/>
                <a:sym typeface="+mn-ea"/>
              </a:rPr>
              <a:t>？</a:t>
            </a:r>
            <a:endParaRPr sz="2400" b="1">
              <a:latin typeface="Times New Roman" panose="02020603050405020304" charset="0"/>
              <a:sym typeface="+mn-ea"/>
            </a:endParaRPr>
          </a:p>
        </p:txBody>
      </p:sp>
      <p:sp>
        <p:nvSpPr>
          <p:cNvPr id="24581" name="椭圆 24580"/>
          <p:cNvSpPr/>
          <p:nvPr/>
        </p:nvSpPr>
        <p:spPr>
          <a:xfrm>
            <a:off x="1101090" y="1831340"/>
            <a:ext cx="1551940" cy="1597660"/>
          </a:xfrm>
          <a:prstGeom prst="ellipse">
            <a:avLst/>
          </a:prstGeom>
          <a:noFill/>
          <a:ln w="50800" cap="flat" cmpd="sng">
            <a:solidFill>
              <a:schemeClr val="tx1"/>
            </a:solidFill>
            <a:prstDash val="solid"/>
            <a:headEnd type="none" w="med" len="med"/>
            <a:tailEnd type="none" w="med" len="med"/>
          </a:ln>
        </p:spPr>
        <p:txBody>
          <a:bodyPr/>
          <a:p>
            <a:endParaRPr lang="zh-CN" altLang="en-US"/>
          </a:p>
        </p:txBody>
      </p:sp>
      <p:sp>
        <p:nvSpPr>
          <p:cNvPr id="24580" name="椭圆 24579"/>
          <p:cNvSpPr/>
          <p:nvPr/>
        </p:nvSpPr>
        <p:spPr>
          <a:xfrm>
            <a:off x="2993390" y="1906905"/>
            <a:ext cx="1598295" cy="1522095"/>
          </a:xfrm>
          <a:prstGeom prst="ellipse">
            <a:avLst/>
          </a:prstGeom>
          <a:noFill/>
          <a:ln w="50800" cap="flat" cmpd="sng">
            <a:solidFill>
              <a:srgbClr val="FF0000"/>
            </a:solidFill>
            <a:prstDash val="solid"/>
            <a:headEnd type="none" w="med" len="med"/>
            <a:tailEnd type="none" w="med" len="med"/>
          </a:ln>
        </p:spPr>
        <p:txBody>
          <a:bodyPr wrap="none" anchor="ctr"/>
          <a:p>
            <a:pPr algn="ctr"/>
            <a:r>
              <a:rPr lang="zh-CN" altLang="en-US" sz="4000" b="1" dirty="0">
                <a:latin typeface="Arial" panose="020B0604020202020204" pitchFamily="34" charset="0"/>
                <a:sym typeface="+mn-ea"/>
              </a:rPr>
              <a:t>  </a:t>
            </a:r>
            <a:r>
              <a:rPr lang="en-US" altLang="zh-CN" sz="2800" b="1">
                <a:latin typeface="Arial" panose="020B0604020202020204" pitchFamily="34" charset="0"/>
                <a:sym typeface="+mn-ea"/>
              </a:rPr>
              <a:t>S</a:t>
            </a:r>
            <a:endParaRPr lang="en-US" altLang="zh-CN" sz="2800" b="1">
              <a:latin typeface="Arial" panose="020B0604020202020204" pitchFamily="34" charset="0"/>
            </a:endParaRPr>
          </a:p>
        </p:txBody>
      </p:sp>
    </p:spTree>
    <p:custDataLst>
      <p:tags r:id="rId1"/>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latin typeface="Times New Roman" panose="02020603050405020304" charset="0"/>
                <a:sym typeface="+mn-ea"/>
              </a:rPr>
              <a:t>矛盾关系</a:t>
            </a:r>
            <a:endParaRPr lang="zh-CN" altLang="en-US"/>
          </a:p>
        </p:txBody>
      </p:sp>
      <p:sp>
        <p:nvSpPr>
          <p:cNvPr id="3" name="内容占位符 2"/>
          <p:cNvSpPr>
            <a:spLocks noGrp="1"/>
          </p:cNvSpPr>
          <p:nvPr>
            <p:ph idx="1"/>
          </p:nvPr>
        </p:nvSpPr>
        <p:spPr/>
        <p:txBody>
          <a:bodyPr/>
          <a:p>
            <a:r>
              <a:rPr sz="2400" b="1">
                <a:latin typeface="Times New Roman" panose="02020603050405020304" charset="0"/>
                <a:sym typeface="+mn-ea"/>
              </a:rPr>
              <a:t>矛盾关系：所有</a:t>
            </a:r>
            <a:r>
              <a:rPr lang="en-US" altLang="zh-CN" sz="2400" b="1">
                <a:latin typeface="Times New Roman" panose="02020603050405020304" charset="0"/>
                <a:sym typeface="+mn-ea"/>
              </a:rPr>
              <a:t>S</a:t>
            </a:r>
            <a:r>
              <a:rPr sz="2400" b="1">
                <a:latin typeface="Times New Roman" panose="02020603050405020304" charset="0"/>
                <a:sym typeface="+mn-ea"/>
              </a:rPr>
              <a:t>都不是</a:t>
            </a:r>
            <a:r>
              <a:rPr lang="en-US" altLang="zh-CN" sz="2400" b="1">
                <a:latin typeface="Times New Roman" panose="02020603050405020304" charset="0"/>
                <a:sym typeface="+mn-ea"/>
              </a:rPr>
              <a:t>P</a:t>
            </a:r>
            <a:r>
              <a:rPr sz="2400" b="1">
                <a:latin typeface="Times New Roman" panose="02020603050405020304" charset="0"/>
                <a:sym typeface="+mn-ea"/>
              </a:rPr>
              <a:t>，</a:t>
            </a:r>
            <a:r>
              <a:rPr lang="en-US" altLang="zh-CN" sz="2400" b="1">
                <a:latin typeface="Times New Roman" panose="02020603050405020304" charset="0"/>
                <a:sym typeface="+mn-ea"/>
              </a:rPr>
              <a:t>S</a:t>
            </a:r>
            <a:r>
              <a:rPr sz="2400" b="1">
                <a:latin typeface="Times New Roman" panose="02020603050405020304" charset="0"/>
                <a:sym typeface="+mn-ea"/>
              </a:rPr>
              <a:t>与</a:t>
            </a:r>
            <a:r>
              <a:rPr lang="en-US" altLang="zh-CN" sz="2400" b="1">
                <a:latin typeface="Times New Roman" panose="02020603050405020304" charset="0"/>
                <a:sym typeface="+mn-ea"/>
              </a:rPr>
              <a:t>P</a:t>
            </a:r>
            <a:r>
              <a:rPr sz="2400" b="1">
                <a:latin typeface="Times New Roman" panose="02020603050405020304" charset="0"/>
                <a:sym typeface="+mn-ea"/>
              </a:rPr>
              <a:t>的外延之和</a:t>
            </a:r>
            <a:r>
              <a:rPr sz="2400" b="1">
                <a:solidFill>
                  <a:srgbClr val="FF0000"/>
                </a:solidFill>
                <a:latin typeface="Times New Roman" panose="02020603050405020304" charset="0"/>
                <a:sym typeface="+mn-ea"/>
              </a:rPr>
              <a:t>等于</a:t>
            </a:r>
            <a:r>
              <a:rPr sz="2400" b="1">
                <a:latin typeface="Times New Roman" panose="02020603050405020304" charset="0"/>
                <a:sym typeface="+mn-ea"/>
              </a:rPr>
              <a:t>其论域</a:t>
            </a:r>
            <a:r>
              <a:rPr lang="en-US" altLang="zh-CN" sz="2400" b="1">
                <a:latin typeface="Times New Roman" panose="02020603050405020304" charset="0"/>
                <a:sym typeface="+mn-ea"/>
              </a:rPr>
              <a:t>M</a:t>
            </a:r>
            <a:r>
              <a:rPr sz="2400" b="1">
                <a:latin typeface="Times New Roman" panose="02020603050405020304" charset="0"/>
                <a:sym typeface="+mn-ea"/>
              </a:rPr>
              <a:t>。</a:t>
            </a:r>
            <a:endParaRPr sz="2400" b="1">
              <a:latin typeface="Times New Roman" panose="02020603050405020304" charset="0"/>
              <a:sym typeface="+mn-ea"/>
            </a:endParaRPr>
          </a:p>
          <a:p>
            <a:r>
              <a:rPr sz="2400" b="1">
                <a:latin typeface="Times New Roman" panose="02020603050405020304" charset="0"/>
                <a:sym typeface="+mn-ea"/>
              </a:rPr>
              <a:t>对立关系：所有</a:t>
            </a:r>
            <a:r>
              <a:rPr lang="en-US" altLang="zh-CN" sz="2400" b="1">
                <a:latin typeface="Times New Roman" panose="02020603050405020304" charset="0"/>
                <a:sym typeface="+mn-ea"/>
              </a:rPr>
              <a:t>S</a:t>
            </a:r>
            <a:r>
              <a:rPr sz="2400" b="1">
                <a:latin typeface="Times New Roman" panose="02020603050405020304" charset="0"/>
                <a:sym typeface="+mn-ea"/>
              </a:rPr>
              <a:t>都不是</a:t>
            </a:r>
            <a:r>
              <a:rPr lang="en-US" altLang="zh-CN" sz="2400" b="1">
                <a:latin typeface="Times New Roman" panose="02020603050405020304" charset="0"/>
                <a:sym typeface="+mn-ea"/>
              </a:rPr>
              <a:t>P</a:t>
            </a:r>
            <a:r>
              <a:rPr sz="2400" b="1">
                <a:latin typeface="Times New Roman" panose="02020603050405020304" charset="0"/>
                <a:sym typeface="+mn-ea"/>
              </a:rPr>
              <a:t>，</a:t>
            </a:r>
            <a:r>
              <a:rPr lang="en-US" altLang="zh-CN" sz="2400" b="1">
                <a:latin typeface="Times New Roman" panose="02020603050405020304" charset="0"/>
                <a:sym typeface="+mn-ea"/>
              </a:rPr>
              <a:t>S</a:t>
            </a:r>
            <a:r>
              <a:rPr sz="2400" b="1">
                <a:latin typeface="Times New Roman" panose="02020603050405020304" charset="0"/>
                <a:sym typeface="+mn-ea"/>
              </a:rPr>
              <a:t>与</a:t>
            </a:r>
            <a:r>
              <a:rPr lang="en-US" altLang="zh-CN" sz="2400" b="1">
                <a:latin typeface="Times New Roman" panose="02020603050405020304" charset="0"/>
                <a:sym typeface="+mn-ea"/>
              </a:rPr>
              <a:t>P</a:t>
            </a:r>
            <a:r>
              <a:rPr sz="2400" b="1">
                <a:latin typeface="Times New Roman" panose="02020603050405020304" charset="0"/>
                <a:sym typeface="+mn-ea"/>
              </a:rPr>
              <a:t>的外延之和</a:t>
            </a:r>
            <a:r>
              <a:rPr sz="2400" b="1">
                <a:solidFill>
                  <a:srgbClr val="FF0000"/>
                </a:solidFill>
                <a:latin typeface="Times New Roman" panose="02020603050405020304" charset="0"/>
                <a:sym typeface="+mn-ea"/>
              </a:rPr>
              <a:t>小于</a:t>
            </a:r>
            <a:r>
              <a:rPr sz="2400" b="1">
                <a:latin typeface="Times New Roman" panose="02020603050405020304" charset="0"/>
                <a:sym typeface="+mn-ea"/>
              </a:rPr>
              <a:t>其论域</a:t>
            </a:r>
            <a:r>
              <a:rPr lang="en-US" altLang="zh-CN" sz="2400" b="1">
                <a:latin typeface="Times New Roman" panose="02020603050405020304" charset="0"/>
                <a:sym typeface="+mn-ea"/>
              </a:rPr>
              <a:t>M</a:t>
            </a:r>
            <a:r>
              <a:rPr sz="2400" b="1">
                <a:latin typeface="Times New Roman" panose="02020603050405020304" charset="0"/>
                <a:sym typeface="+mn-ea"/>
              </a:rPr>
              <a:t>。</a:t>
            </a:r>
            <a:endParaRPr lang="en-US" altLang="zh-CN" sz="2400" b="1">
              <a:latin typeface="Times New Roman" panose="02020603050405020304" charset="0"/>
              <a:sym typeface="+mn-ea"/>
            </a:endParaRPr>
          </a:p>
          <a:p>
            <a:r>
              <a:rPr lang="zh-CN" altLang="en-US" sz="2400" b="1"/>
              <a:t>                        </a:t>
            </a:r>
            <a:r>
              <a:rPr lang="en-US" altLang="zh-CN" sz="2400" b="1"/>
              <a:t>M</a:t>
            </a:r>
            <a:r>
              <a:rPr lang="zh-CN" altLang="en-US" sz="2400" b="1"/>
              <a:t>                                     </a:t>
            </a:r>
            <a:r>
              <a:rPr lang="en-US" altLang="zh-CN" sz="2400" b="1"/>
              <a:t>M</a:t>
            </a:r>
            <a:endParaRPr lang="zh-CN" altLang="en-US" sz="2400" b="1"/>
          </a:p>
          <a:p>
            <a:r>
              <a:rPr lang="zh-CN" altLang="en-US" sz="2400" b="1"/>
              <a:t>   </a:t>
            </a:r>
            <a:r>
              <a:rPr lang="en-US" altLang="zh-CN" sz="2400" b="1"/>
              <a:t>S       P</a:t>
            </a:r>
            <a:endParaRPr lang="zh-CN" altLang="en-US" sz="2400" b="1"/>
          </a:p>
          <a:p>
            <a:r>
              <a:rPr sz="2400" b="1">
                <a:latin typeface="Times New Roman" panose="02020603050405020304" charset="0"/>
                <a:sym typeface="+mn-ea"/>
              </a:rPr>
              <a:t> </a:t>
            </a:r>
            <a:endParaRPr sz="2400" b="1">
              <a:latin typeface="Times New Roman" panose="02020603050405020304" charset="0"/>
              <a:sym typeface="+mn-ea"/>
            </a:endParaRPr>
          </a:p>
          <a:p>
            <a:r>
              <a:rPr sz="2400" b="1">
                <a:latin typeface="Times New Roman" panose="02020603050405020304" charset="0"/>
                <a:sym typeface="+mn-ea"/>
              </a:rPr>
              <a:t>矛盾关系的欧拉图                 对立关系的欧拉图</a:t>
            </a:r>
            <a:endParaRPr sz="2400" b="1">
              <a:latin typeface="Times New Roman" panose="02020603050405020304" charset="0"/>
              <a:sym typeface="+mn-ea"/>
            </a:endParaRPr>
          </a:p>
          <a:p>
            <a:r>
              <a:rPr sz="2400" b="1">
                <a:latin typeface="Times New Roman" panose="02020603050405020304" charset="0"/>
                <a:sym typeface="+mn-ea"/>
              </a:rPr>
              <a:t>例如：马与非白马                 例如：马与黑马</a:t>
            </a:r>
            <a:endParaRPr sz="2400" b="1">
              <a:latin typeface="Times New Roman" panose="02020603050405020304" charset="0"/>
              <a:sym typeface="+mn-ea"/>
            </a:endParaRPr>
          </a:p>
          <a:p>
            <a:r>
              <a:rPr sz="2400" b="1">
                <a:solidFill>
                  <a:srgbClr val="FF0000"/>
                </a:solidFill>
                <a:latin typeface="Times New Roman" panose="02020603050405020304" charset="0"/>
                <a:sym typeface="+mn-ea"/>
              </a:rPr>
              <a:t>低调幽默</a:t>
            </a:r>
            <a:endParaRPr sz="2400" b="1">
              <a:solidFill>
                <a:srgbClr val="FF0000"/>
              </a:solidFill>
              <a:latin typeface="Times New Roman" panose="02020603050405020304" charset="0"/>
              <a:sym typeface="+mn-ea"/>
            </a:endParaRPr>
          </a:p>
          <a:p>
            <a:endParaRPr lang="en-US" altLang="zh-CN" sz="2400" b="1">
              <a:latin typeface="Times New Roman" panose="02020603050405020304" charset="0"/>
              <a:sym typeface="+mn-ea"/>
            </a:endParaRPr>
          </a:p>
          <a:p>
            <a:endParaRPr lang="en-US" altLang="zh-CN" sz="2400" b="1">
              <a:latin typeface="Times New Roman" panose="02020603050405020304" charset="0"/>
              <a:sym typeface="+mn-ea"/>
            </a:endParaRPr>
          </a:p>
        </p:txBody>
      </p:sp>
      <p:sp>
        <p:nvSpPr>
          <p:cNvPr id="24581" name="椭圆 24580"/>
          <p:cNvSpPr/>
          <p:nvPr/>
        </p:nvSpPr>
        <p:spPr>
          <a:xfrm>
            <a:off x="1019175" y="2630170"/>
            <a:ext cx="1551940" cy="1597660"/>
          </a:xfrm>
          <a:prstGeom prst="ellipse">
            <a:avLst/>
          </a:prstGeom>
          <a:noFill/>
          <a:ln w="50800" cap="flat" cmpd="sng">
            <a:solidFill>
              <a:schemeClr val="tx1"/>
            </a:solidFill>
            <a:prstDash val="solid"/>
            <a:headEnd type="none" w="med" len="med"/>
            <a:tailEnd type="none" w="med" len="med"/>
          </a:ln>
        </p:spPr>
        <p:txBody>
          <a:bodyPr/>
          <a:p>
            <a:endParaRPr lang="zh-CN" altLang="en-US"/>
          </a:p>
        </p:txBody>
      </p:sp>
      <p:sp>
        <p:nvSpPr>
          <p:cNvPr id="26630" name="直接连接符 26629"/>
          <p:cNvSpPr/>
          <p:nvPr/>
        </p:nvSpPr>
        <p:spPr>
          <a:xfrm>
            <a:off x="1790065" y="2630170"/>
            <a:ext cx="9525" cy="1597660"/>
          </a:xfrm>
          <a:prstGeom prst="line">
            <a:avLst/>
          </a:prstGeom>
          <a:ln w="50800" cap="flat" cmpd="sng">
            <a:solidFill>
              <a:srgbClr val="0000FF"/>
            </a:solidFill>
            <a:prstDash val="solid"/>
            <a:headEnd type="none" w="med" len="med"/>
            <a:tailEnd type="none" w="med" len="med"/>
          </a:ln>
        </p:spPr>
      </p:sp>
      <p:sp>
        <p:nvSpPr>
          <p:cNvPr id="26631" name="直接连接符 26630"/>
          <p:cNvSpPr/>
          <p:nvPr/>
        </p:nvSpPr>
        <p:spPr>
          <a:xfrm flipV="1">
            <a:off x="1853565" y="2629535"/>
            <a:ext cx="1534795" cy="635"/>
          </a:xfrm>
          <a:prstGeom prst="line">
            <a:avLst/>
          </a:prstGeom>
          <a:ln w="50800" cap="flat" cmpd="sng">
            <a:solidFill>
              <a:srgbClr val="008080"/>
            </a:solidFill>
            <a:prstDash val="solid"/>
            <a:headEnd type="none" w="med" len="med"/>
            <a:tailEnd type="none" w="med" len="med"/>
          </a:ln>
        </p:spPr>
      </p:sp>
      <p:sp>
        <p:nvSpPr>
          <p:cNvPr id="4" name="椭圆 3"/>
          <p:cNvSpPr/>
          <p:nvPr/>
        </p:nvSpPr>
        <p:spPr>
          <a:xfrm>
            <a:off x="5320030" y="2741930"/>
            <a:ext cx="1551940" cy="1597660"/>
          </a:xfrm>
          <a:prstGeom prst="ellipse">
            <a:avLst/>
          </a:prstGeom>
          <a:noFill/>
          <a:ln w="50800" cap="flat" cmpd="sng">
            <a:solidFill>
              <a:schemeClr val="tx1"/>
            </a:solidFill>
            <a:prstDash val="solid"/>
            <a:headEnd type="none" w="med" len="med"/>
            <a:tailEnd type="none" w="med" len="med"/>
          </a:ln>
        </p:spPr>
        <p:txBody>
          <a:bodyPr/>
          <a:p>
            <a:endParaRPr lang="zh-CN" altLang="en-US"/>
          </a:p>
        </p:txBody>
      </p:sp>
      <p:sp>
        <p:nvSpPr>
          <p:cNvPr id="6" name="直接连接符 5"/>
          <p:cNvSpPr/>
          <p:nvPr/>
        </p:nvSpPr>
        <p:spPr>
          <a:xfrm>
            <a:off x="5835650" y="2794000"/>
            <a:ext cx="17780" cy="1494155"/>
          </a:xfrm>
          <a:prstGeom prst="line">
            <a:avLst/>
          </a:prstGeom>
          <a:ln w="50800" cap="flat" cmpd="sng">
            <a:solidFill>
              <a:srgbClr val="0000FF"/>
            </a:solidFill>
            <a:prstDash val="solid"/>
            <a:headEnd type="none" w="med" len="med"/>
            <a:tailEnd type="none" w="med" len="med"/>
          </a:ln>
        </p:spPr>
      </p:sp>
      <p:sp>
        <p:nvSpPr>
          <p:cNvPr id="7" name="直接连接符 6"/>
          <p:cNvSpPr/>
          <p:nvPr/>
        </p:nvSpPr>
        <p:spPr>
          <a:xfrm>
            <a:off x="6305550" y="2793365"/>
            <a:ext cx="17780" cy="1494155"/>
          </a:xfrm>
          <a:prstGeom prst="line">
            <a:avLst/>
          </a:prstGeom>
          <a:ln w="50800" cap="flat" cmpd="sng">
            <a:solidFill>
              <a:srgbClr val="0000FF"/>
            </a:solidFill>
            <a:prstDash val="solid"/>
            <a:headEnd type="none" w="med" len="med"/>
            <a:tailEnd type="none" w="med" len="med"/>
          </a:ln>
        </p:spPr>
      </p:sp>
      <p:sp>
        <p:nvSpPr>
          <p:cNvPr id="8" name="直接连接符 7"/>
          <p:cNvSpPr/>
          <p:nvPr/>
        </p:nvSpPr>
        <p:spPr>
          <a:xfrm flipV="1">
            <a:off x="6061075" y="2741295"/>
            <a:ext cx="1534795" cy="635"/>
          </a:xfrm>
          <a:prstGeom prst="line">
            <a:avLst/>
          </a:prstGeom>
          <a:ln w="50800" cap="flat" cmpd="sng">
            <a:solidFill>
              <a:srgbClr val="008080"/>
            </a:solidFill>
            <a:prstDash val="solid"/>
            <a:headEnd type="none" w="med" len="med"/>
            <a:tailEnd type="none" w="med" len="med"/>
          </a:ln>
        </p:spPr>
      </p:sp>
    </p:spTree>
    <p:custDataLst>
      <p:tags r:id="rId1"/>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09557" y="251660"/>
            <a:ext cx="10852237" cy="648000"/>
          </a:xfrm>
        </p:spPr>
        <p:txBody>
          <a:bodyPr/>
          <a:p>
            <a:r>
              <a:rPr lang="zh-CN" altLang="en-US"/>
              <a:t>课堂练习</a:t>
            </a:r>
            <a:endParaRPr lang="zh-CN" altLang="en-US"/>
          </a:p>
        </p:txBody>
      </p:sp>
      <p:sp>
        <p:nvSpPr>
          <p:cNvPr id="3" name="内容占位符 2"/>
          <p:cNvSpPr>
            <a:spLocks noGrp="1"/>
          </p:cNvSpPr>
          <p:nvPr>
            <p:ph idx="1"/>
          </p:nvPr>
        </p:nvSpPr>
        <p:spPr>
          <a:xfrm>
            <a:off x="541020" y="1080770"/>
            <a:ext cx="10809605" cy="5385435"/>
          </a:xfrm>
        </p:spPr>
        <p:txBody>
          <a:bodyPr/>
          <a:p>
            <a:r>
              <a:rPr lang="en-US" altLang="zh-CN" sz="2400" b="1"/>
              <a:t>1. “</a:t>
            </a:r>
            <a:r>
              <a:rPr sz="2400" b="1"/>
              <a:t>不变资本</a:t>
            </a:r>
            <a:r>
              <a:rPr lang="en-US" altLang="zh-CN" sz="2400" b="1"/>
              <a:t>”</a:t>
            </a:r>
            <a:r>
              <a:rPr sz="2400" b="1"/>
              <a:t>与</a:t>
            </a:r>
            <a:r>
              <a:rPr lang="en-US" altLang="zh-CN" sz="2400" b="1"/>
              <a:t>“</a:t>
            </a:r>
            <a:r>
              <a:rPr sz="2400" b="1"/>
              <a:t>可变资本</a:t>
            </a:r>
            <a:r>
              <a:rPr lang="en-US" altLang="zh-CN" sz="2400" b="1"/>
              <a:t>”</a:t>
            </a:r>
            <a:r>
              <a:rPr sz="2400" b="1"/>
              <a:t>是</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endParaRPr sz="2400" b="1">
              <a:sym typeface="+mn-ea"/>
            </a:endParaRPr>
          </a:p>
          <a:p>
            <a:r>
              <a:rPr lang="en-US" altLang="zh-CN" sz="2400" b="1">
                <a:sym typeface="+mn-ea"/>
              </a:rPr>
              <a:t>A. </a:t>
            </a:r>
            <a:r>
              <a:rPr sz="2400" b="1">
                <a:sym typeface="+mn-ea"/>
              </a:rPr>
              <a:t>交叉关系      </a:t>
            </a:r>
            <a:r>
              <a:rPr lang="en-US" altLang="zh-CN" sz="2400" b="1">
                <a:sym typeface="+mn-ea"/>
              </a:rPr>
              <a:t>B. </a:t>
            </a:r>
            <a:r>
              <a:rPr sz="2400" b="1">
                <a:sym typeface="+mn-ea"/>
              </a:rPr>
              <a:t>属种关系    </a:t>
            </a:r>
            <a:r>
              <a:rPr lang="en-US" altLang="zh-CN" sz="2400" b="1">
                <a:sym typeface="+mn-ea"/>
              </a:rPr>
              <a:t>C. </a:t>
            </a:r>
            <a:r>
              <a:rPr sz="2400" b="1">
                <a:sym typeface="+mn-ea"/>
              </a:rPr>
              <a:t>矛盾关系    </a:t>
            </a:r>
            <a:endParaRPr sz="2400" b="1">
              <a:sym typeface="+mn-ea"/>
            </a:endParaRPr>
          </a:p>
          <a:p>
            <a:r>
              <a:rPr lang="en-US" altLang="zh-CN" sz="2400" b="1">
                <a:sym typeface="+mn-ea"/>
              </a:rPr>
              <a:t>D. </a:t>
            </a:r>
            <a:r>
              <a:rPr sz="2400" b="1">
                <a:sym typeface="+mn-ea"/>
              </a:rPr>
              <a:t>对立关系      </a:t>
            </a:r>
            <a:r>
              <a:rPr lang="en-US" altLang="zh-CN" sz="2400" b="1">
                <a:sym typeface="+mn-ea"/>
              </a:rPr>
              <a:t>E. </a:t>
            </a:r>
            <a:r>
              <a:rPr sz="2400" b="1">
                <a:sym typeface="+mn-ea"/>
              </a:rPr>
              <a:t>既非矛盾也非对立的不相容关系</a:t>
            </a:r>
            <a:endParaRPr sz="2400" b="1">
              <a:sym typeface="+mn-ea"/>
            </a:endParaRPr>
          </a:p>
          <a:p>
            <a:r>
              <a:rPr lang="en-US" altLang="zh-CN" sz="2400" b="1"/>
              <a:t>2. </a:t>
            </a:r>
            <a:r>
              <a:rPr sz="2400" b="1"/>
              <a:t>请用欧拉图表示以下四个概念之间的关系</a:t>
            </a:r>
            <a:endParaRPr sz="2400" b="1"/>
          </a:p>
          <a:p>
            <a:r>
              <a:rPr sz="2400" b="1"/>
              <a:t>毛泽东</a:t>
            </a:r>
            <a:r>
              <a:rPr lang="en-US" altLang="zh-CN" sz="2400" b="1"/>
              <a:t>(a)</a:t>
            </a:r>
            <a:r>
              <a:rPr sz="2400" b="1"/>
              <a:t>既是诗人</a:t>
            </a:r>
            <a:r>
              <a:rPr lang="en-US" altLang="zh-CN" sz="2400" b="1">
                <a:sym typeface="+mn-ea"/>
              </a:rPr>
              <a:t>(b)</a:t>
            </a:r>
            <a:r>
              <a:rPr sz="2400" b="1"/>
              <a:t>，又是革命家</a:t>
            </a:r>
            <a:r>
              <a:rPr lang="en-US" altLang="zh-CN" sz="2400" b="1"/>
              <a:t>(c)</a:t>
            </a:r>
            <a:r>
              <a:rPr sz="2400" b="1"/>
              <a:t>，彭德怀</a:t>
            </a:r>
            <a:r>
              <a:rPr lang="en-US" altLang="zh-CN" sz="2400" b="1"/>
              <a:t>(d)</a:t>
            </a:r>
            <a:r>
              <a:rPr sz="2400" b="1"/>
              <a:t>是革命家但不是诗人。</a:t>
            </a:r>
            <a:endParaRPr sz="2400" b="1"/>
          </a:p>
          <a:p>
            <a:endParaRPr sz="2400" b="1"/>
          </a:p>
          <a:p>
            <a:r>
              <a:rPr sz="2400" b="1"/>
              <a:t>     </a:t>
            </a:r>
            <a:r>
              <a:rPr lang="en-US" altLang="zh-CN" sz="2400" b="1"/>
              <a:t>a            b                  c                d</a:t>
            </a:r>
            <a:endParaRPr lang="en-US" altLang="zh-CN" sz="2400" b="1"/>
          </a:p>
        </p:txBody>
      </p:sp>
      <p:sp>
        <p:nvSpPr>
          <p:cNvPr id="24581" name="椭圆 24580"/>
          <p:cNvSpPr/>
          <p:nvPr/>
        </p:nvSpPr>
        <p:spPr>
          <a:xfrm>
            <a:off x="1222375" y="4693285"/>
            <a:ext cx="538480" cy="605790"/>
          </a:xfrm>
          <a:prstGeom prst="ellipse">
            <a:avLst/>
          </a:prstGeom>
          <a:noFill/>
          <a:ln w="50800" cap="flat" cmpd="sng">
            <a:solidFill>
              <a:schemeClr val="tx1"/>
            </a:solidFill>
            <a:prstDash val="solid"/>
            <a:headEnd type="none" w="med" len="med"/>
            <a:tailEnd type="none" w="med" len="med"/>
          </a:ln>
        </p:spPr>
        <p:txBody>
          <a:bodyPr/>
          <a:p>
            <a:endParaRPr lang="zh-CN" altLang="en-US"/>
          </a:p>
        </p:txBody>
      </p:sp>
      <p:sp>
        <p:nvSpPr>
          <p:cNvPr id="24580" name="椭圆 24579"/>
          <p:cNvSpPr/>
          <p:nvPr/>
        </p:nvSpPr>
        <p:spPr>
          <a:xfrm>
            <a:off x="6069965" y="4155440"/>
            <a:ext cx="1598295" cy="1522095"/>
          </a:xfrm>
          <a:prstGeom prst="ellipse">
            <a:avLst/>
          </a:prstGeom>
          <a:noFill/>
          <a:ln w="50800" cap="flat" cmpd="sng">
            <a:solidFill>
              <a:srgbClr val="FF0000"/>
            </a:solidFill>
            <a:prstDash val="solid"/>
            <a:headEnd type="none" w="med" len="med"/>
            <a:tailEnd type="none" w="med" len="med"/>
          </a:ln>
        </p:spPr>
        <p:txBody>
          <a:bodyPr wrap="none" anchor="ctr"/>
          <a:p>
            <a:pPr algn="ctr"/>
            <a:r>
              <a:rPr lang="zh-CN" altLang="en-US" sz="4000" b="1" dirty="0">
                <a:latin typeface="Arial" panose="020B0604020202020204" pitchFamily="34" charset="0"/>
              </a:rPr>
              <a:t>  </a:t>
            </a:r>
            <a:endParaRPr lang="en-US" altLang="zh-CN" sz="2800" b="1">
              <a:latin typeface="Arial" panose="020B0604020202020204" pitchFamily="34" charset="0"/>
            </a:endParaRPr>
          </a:p>
        </p:txBody>
      </p:sp>
      <p:sp>
        <p:nvSpPr>
          <p:cNvPr id="22533" name="椭圆 22532"/>
          <p:cNvSpPr/>
          <p:nvPr/>
        </p:nvSpPr>
        <p:spPr>
          <a:xfrm>
            <a:off x="4701540" y="4758690"/>
            <a:ext cx="550545" cy="475615"/>
          </a:xfrm>
          <a:prstGeom prst="ellipse">
            <a:avLst/>
          </a:prstGeom>
          <a:noFill/>
          <a:ln w="50800" cap="flat" cmpd="sng">
            <a:solidFill>
              <a:srgbClr val="FF0000"/>
            </a:solidFill>
            <a:prstDash val="solid"/>
            <a:headEnd type="none" w="med" len="med"/>
            <a:tailEnd type="none" w="med" len="med"/>
          </a:ln>
        </p:spPr>
        <p:txBody>
          <a:bodyPr/>
          <a:p>
            <a:endParaRPr lang="zh-CN" altLang="en-US"/>
          </a:p>
        </p:txBody>
      </p:sp>
      <p:sp>
        <p:nvSpPr>
          <p:cNvPr id="4" name="椭圆 3"/>
          <p:cNvSpPr/>
          <p:nvPr/>
        </p:nvSpPr>
        <p:spPr>
          <a:xfrm>
            <a:off x="2234565" y="4079875"/>
            <a:ext cx="1551940" cy="1597660"/>
          </a:xfrm>
          <a:prstGeom prst="ellipse">
            <a:avLst/>
          </a:prstGeom>
          <a:noFill/>
          <a:ln w="50800" cap="flat" cmpd="sng">
            <a:solidFill>
              <a:schemeClr val="tx1"/>
            </a:solidFill>
            <a:prstDash val="solid"/>
            <a:headEnd type="none" w="med" len="med"/>
            <a:tailEnd type="none" w="med" len="med"/>
          </a:ln>
        </p:spPr>
        <p:txBody>
          <a:bodyPr/>
          <a:p>
            <a:endParaRPr lang="zh-CN" altLang="en-US"/>
          </a:p>
        </p:txBody>
      </p:sp>
    </p:spTree>
    <p:custDataLst>
      <p:tags r:id="rId1"/>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00B050"/>
                </a:solidFill>
              </a:rPr>
              <a:t>真题</a:t>
            </a:r>
            <a:r>
              <a:rPr lang="en-US" altLang="zh-CN">
                <a:solidFill>
                  <a:srgbClr val="00B050"/>
                </a:solidFill>
              </a:rPr>
              <a:t>6</a:t>
            </a:r>
            <a:endParaRPr lang="en-US" altLang="zh-CN">
              <a:solidFill>
                <a:srgbClr val="00B050"/>
              </a:solidFill>
            </a:endParaRPr>
          </a:p>
        </p:txBody>
      </p:sp>
      <p:sp>
        <p:nvSpPr>
          <p:cNvPr id="3" name="内容占位符 2"/>
          <p:cNvSpPr>
            <a:spLocks noGrp="1"/>
          </p:cNvSpPr>
          <p:nvPr>
            <p:ph idx="1"/>
          </p:nvPr>
        </p:nvSpPr>
        <p:spPr/>
        <p:txBody>
          <a:bodyPr/>
          <a:p>
            <a:r>
              <a:rPr lang="zh-CN" altLang="en-US" sz="2400" b="1"/>
              <a:t>第二季《中国诗词大会》在春节期间播放，观众可以参与互动，实现合家欢的观赏效果。</a:t>
            </a:r>
            <a:r>
              <a:rPr sz="2400" b="1">
                <a:sym typeface="+mn-ea"/>
              </a:rPr>
              <a:t>《中国诗词大会》不是</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，而是采用了紧张刺激的追逐赛、争霸赛等多维度比赛形式，摆脱了说教意味，把各个年龄段的观众吸引到电视机前。</a:t>
            </a:r>
            <a:endParaRPr sz="2400" b="1">
              <a:sym typeface="+mn-ea"/>
            </a:endParaRPr>
          </a:p>
          <a:p>
            <a:r>
              <a:rPr sz="2400" b="1">
                <a:sym typeface="+mn-ea"/>
              </a:rPr>
              <a:t>填入画横线部分最恰当的一项是：</a:t>
            </a:r>
            <a:endParaRPr sz="2400" b="1">
              <a:sym typeface="+mn-ea"/>
            </a:endParaRPr>
          </a:p>
          <a:p>
            <a:r>
              <a:rPr lang="en-US" altLang="zh-CN" sz="2400" b="1"/>
              <a:t>A.</a:t>
            </a:r>
            <a:r>
              <a:rPr sz="2400" b="1"/>
              <a:t>徒托空言                 </a:t>
            </a:r>
            <a:r>
              <a:rPr lang="en-US" altLang="zh-CN" sz="2400" b="1"/>
              <a:t>B.</a:t>
            </a:r>
            <a:r>
              <a:rPr sz="2400" b="1"/>
              <a:t>坐而论道    </a:t>
            </a:r>
            <a:endParaRPr sz="2400" b="1"/>
          </a:p>
          <a:p>
            <a:r>
              <a:rPr lang="en-US" altLang="zh-CN" sz="2400" b="1"/>
              <a:t>C.</a:t>
            </a:r>
            <a:r>
              <a:rPr sz="2400" b="1"/>
              <a:t>纸上谈兵                 </a:t>
            </a:r>
            <a:r>
              <a:rPr lang="en-US" altLang="zh-CN" sz="2400" b="1"/>
              <a:t>D.</a:t>
            </a:r>
            <a:r>
              <a:rPr sz="2400" b="1"/>
              <a:t>夸夸其谈</a:t>
            </a:r>
            <a:endParaRPr sz="2400" b="1"/>
          </a:p>
        </p:txBody>
      </p:sp>
    </p:spTree>
    <p:custDataLst>
      <p:tags r:id="rId1"/>
    </p:custData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真题</a:t>
            </a:r>
            <a:r>
              <a:rPr lang="en-US" altLang="zh-CN"/>
              <a:t>6</a:t>
            </a:r>
            <a:r>
              <a:t>精讲：</a:t>
            </a:r>
          </a:p>
        </p:txBody>
      </p:sp>
      <p:sp>
        <p:nvSpPr>
          <p:cNvPr id="3" name="内容占位符 2"/>
          <p:cNvSpPr>
            <a:spLocks noGrp="1"/>
          </p:cNvSpPr>
          <p:nvPr>
            <p:ph idx="1"/>
          </p:nvPr>
        </p:nvSpPr>
        <p:spPr>
          <a:xfrm>
            <a:off x="669925" y="1296035"/>
            <a:ext cx="10852150" cy="5273675"/>
          </a:xfrm>
        </p:spPr>
        <p:txBody>
          <a:bodyPr/>
          <a:p>
            <a:r>
              <a:rPr lang="zh-CN" altLang="en-US" sz="2400" b="1"/>
              <a:t>第二季《中国诗词大会》在春节期间播放，观众可以参与互动，实现合家欢的观赏效果。</a:t>
            </a:r>
            <a:r>
              <a:rPr sz="2400" b="1">
                <a:sym typeface="+mn-ea"/>
              </a:rPr>
              <a:t>《中国诗词大会》</a:t>
            </a:r>
            <a:r>
              <a:rPr sz="2400" b="1">
                <a:solidFill>
                  <a:srgbClr val="FF0000"/>
                </a:solidFill>
                <a:sym typeface="+mn-ea"/>
              </a:rPr>
              <a:t>不是</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solidFill>
                  <a:srgbClr val="FF0000"/>
                </a:solidFill>
                <a:sym typeface="+mn-ea"/>
              </a:rPr>
              <a:t>而是</a:t>
            </a:r>
            <a:r>
              <a:rPr sz="2400" b="1">
                <a:solidFill>
                  <a:srgbClr val="00B050"/>
                </a:solidFill>
                <a:sym typeface="+mn-ea"/>
              </a:rPr>
              <a:t>采用了紧张刺激的追逐赛、争霸赛等多维度比赛形式，摆脱了说教意味</a:t>
            </a:r>
            <a:r>
              <a:rPr sz="2400" b="1">
                <a:sym typeface="+mn-ea"/>
              </a:rPr>
              <a:t>，把各个年龄段的观众吸引到电视机前。</a:t>
            </a:r>
            <a:endParaRPr sz="2400" b="1">
              <a:sym typeface="+mn-ea"/>
            </a:endParaRPr>
          </a:p>
          <a:p>
            <a:r>
              <a:rPr sz="2400" b="1">
                <a:sym typeface="+mn-ea"/>
              </a:rPr>
              <a:t>填入画横线部分最恰当的一项是</a:t>
            </a:r>
            <a:r>
              <a:rPr sz="2400" b="1">
                <a:sym typeface="+mn-ea"/>
              </a:rPr>
              <a:t>（    ）</a:t>
            </a:r>
            <a:r>
              <a:rPr sz="2400" b="1">
                <a:sym typeface="+mn-ea"/>
              </a:rPr>
              <a:t>：</a:t>
            </a:r>
            <a:endParaRPr sz="2400" b="1">
              <a:sym typeface="+mn-ea"/>
            </a:endParaRPr>
          </a:p>
          <a:p>
            <a:r>
              <a:rPr lang="en-US" altLang="zh-CN" sz="2400" b="1"/>
              <a:t>A.</a:t>
            </a:r>
            <a:r>
              <a:rPr sz="2400" b="1"/>
              <a:t>徒托空言                 </a:t>
            </a:r>
            <a:r>
              <a:rPr lang="en-US" altLang="zh-CN" sz="2400" b="1"/>
              <a:t>B.</a:t>
            </a:r>
            <a:r>
              <a:rPr sz="2400" b="1"/>
              <a:t>坐而论道    </a:t>
            </a:r>
            <a:endParaRPr sz="2400" b="1"/>
          </a:p>
          <a:p>
            <a:r>
              <a:rPr lang="en-US" altLang="zh-CN" sz="2400" b="1"/>
              <a:t>C.</a:t>
            </a:r>
            <a:r>
              <a:rPr sz="2400" b="1"/>
              <a:t>纸上谈兵                 </a:t>
            </a:r>
            <a:r>
              <a:rPr lang="en-US" altLang="zh-CN" sz="2400" b="1"/>
              <a:t>D.</a:t>
            </a:r>
            <a:r>
              <a:rPr sz="2400" b="1"/>
              <a:t>夸夸其谈</a:t>
            </a:r>
            <a:endParaRPr sz="2400" b="1"/>
          </a:p>
          <a:p>
            <a:r>
              <a:rPr sz="2400" b="1"/>
              <a:t>分析：根据</a:t>
            </a:r>
            <a:r>
              <a:rPr lang="en-US" altLang="zh-CN" sz="2400" b="1"/>
              <a:t>“</a:t>
            </a:r>
            <a:r>
              <a:rPr sz="2400" b="1">
                <a:solidFill>
                  <a:srgbClr val="FF0000"/>
                </a:solidFill>
                <a:sym typeface="+mn-ea"/>
              </a:rPr>
              <a:t>不是</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solidFill>
                  <a:srgbClr val="FF0000"/>
                </a:solidFill>
                <a:sym typeface="+mn-ea"/>
              </a:rPr>
              <a:t>而是</a:t>
            </a:r>
            <a:r>
              <a:rPr lang="en-US" altLang="zh-CN" sz="2400" b="1"/>
              <a:t>”</a:t>
            </a:r>
            <a:r>
              <a:rPr sz="2400" b="1"/>
              <a:t>可知，所填部分与绿色字部分构成反对关系。</a:t>
            </a:r>
            <a:r>
              <a:rPr lang="en-US" altLang="zh-CN" sz="2400" b="1"/>
              <a:t>“</a:t>
            </a:r>
            <a:r>
              <a:rPr sz="2400" b="1">
                <a:sym typeface="+mn-ea"/>
              </a:rPr>
              <a:t>徒托空言</a:t>
            </a:r>
            <a:r>
              <a:rPr lang="en-US" altLang="zh-CN" sz="2400" b="1"/>
              <a:t>”</a:t>
            </a:r>
            <a:r>
              <a:rPr sz="2400" b="1"/>
              <a:t>只说空话，不实行。</a:t>
            </a:r>
            <a:r>
              <a:rPr lang="en-US" altLang="zh-CN" sz="2400" b="1"/>
              <a:t>“</a:t>
            </a:r>
            <a:r>
              <a:rPr sz="2400" b="1">
                <a:sym typeface="+mn-ea"/>
              </a:rPr>
              <a:t>纸上谈兵</a:t>
            </a:r>
            <a:r>
              <a:rPr lang="en-US" altLang="zh-CN" sz="2400" b="1"/>
              <a:t>”</a:t>
            </a:r>
            <a:r>
              <a:rPr sz="2400" b="1"/>
              <a:t>不联系实际，空发议论。</a:t>
            </a:r>
            <a:r>
              <a:rPr lang="en-US" altLang="zh-CN" sz="2400" b="1"/>
              <a:t>“</a:t>
            </a:r>
            <a:r>
              <a:rPr sz="2400" b="1">
                <a:sym typeface="+mn-ea"/>
              </a:rPr>
              <a:t>夸夸其谈</a:t>
            </a:r>
            <a:r>
              <a:rPr lang="en-US" altLang="zh-CN" sz="2400" b="1"/>
              <a:t>”</a:t>
            </a:r>
            <a:r>
              <a:rPr sz="2400" b="1"/>
              <a:t>浮夸，不切实际。故选</a:t>
            </a:r>
            <a:r>
              <a:rPr lang="en-US" altLang="zh-CN" sz="2400" b="1"/>
              <a:t>B</a:t>
            </a:r>
            <a:endParaRPr lang="en-US" altLang="zh-CN" sz="2400" b="1"/>
          </a:p>
        </p:txBody>
      </p:sp>
    </p:spTree>
    <p:custDataLst>
      <p:tags r:id="rId1"/>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00B050"/>
                </a:solidFill>
              </a:rPr>
              <a:t>真题</a:t>
            </a:r>
            <a:r>
              <a:rPr lang="en-US" altLang="zh-CN">
                <a:solidFill>
                  <a:srgbClr val="00B050"/>
                </a:solidFill>
              </a:rPr>
              <a:t>7(</a:t>
            </a:r>
            <a:r>
              <a:rPr>
                <a:solidFill>
                  <a:srgbClr val="00B050"/>
                </a:solidFill>
                <a:sym typeface="+mn-ea"/>
              </a:rPr>
              <a:t>川</a:t>
            </a:r>
            <a:r>
              <a:rPr lang="en-US" altLang="zh-CN">
                <a:solidFill>
                  <a:srgbClr val="00B050"/>
                </a:solidFill>
              </a:rPr>
              <a:t>2019</a:t>
            </a:r>
            <a:r>
              <a:rPr>
                <a:solidFill>
                  <a:srgbClr val="00B050"/>
                </a:solidFill>
              </a:rPr>
              <a:t>下</a:t>
            </a:r>
            <a:r>
              <a:rPr lang="en-US" altLang="zh-CN">
                <a:solidFill>
                  <a:srgbClr val="00B050"/>
                </a:solidFill>
              </a:rPr>
              <a:t>-18</a:t>
            </a:r>
            <a:r>
              <a:rPr>
                <a:solidFill>
                  <a:srgbClr val="00B050"/>
                </a:solidFill>
              </a:rPr>
              <a:t>）</a:t>
            </a:r>
            <a:endParaRPr>
              <a:solidFill>
                <a:srgbClr val="00B050"/>
              </a:solidFill>
            </a:endParaRPr>
          </a:p>
        </p:txBody>
      </p:sp>
      <p:sp>
        <p:nvSpPr>
          <p:cNvPr id="3" name="内容占位符 2"/>
          <p:cNvSpPr>
            <a:spLocks noGrp="1"/>
          </p:cNvSpPr>
          <p:nvPr>
            <p:ph idx="1"/>
          </p:nvPr>
        </p:nvSpPr>
        <p:spPr/>
        <p:txBody>
          <a:bodyPr/>
          <a:p>
            <a:pPr marL="0" indent="0">
              <a:buNone/>
            </a:pPr>
            <a:r>
              <a:rPr sz="2400" b="1"/>
              <a:t>香樟树就像那些正直沉静的老实人，它们看似</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，内里却极为优雅，无论世道怎样杂乱，自身如何被</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被忽视，也没有放弃底线，只管静默生存，兀自风华，清冷而优美，沉静却光明。</a:t>
            </a:r>
            <a:endParaRPr sz="2400" b="1">
              <a:sym typeface="+mn-ea"/>
            </a:endParaRPr>
          </a:p>
          <a:p>
            <a:pPr marL="0" indent="0">
              <a:buNone/>
            </a:pPr>
            <a:r>
              <a:rPr sz="2400" b="1">
                <a:sym typeface="+mn-ea"/>
              </a:rPr>
              <a:t>填入画横线部分最恰当的一项是：</a:t>
            </a:r>
            <a:endParaRPr sz="2400" b="1">
              <a:sym typeface="+mn-ea"/>
            </a:endParaRPr>
          </a:p>
          <a:p>
            <a:pPr marL="0" indent="0">
              <a:buNone/>
            </a:pPr>
            <a:r>
              <a:rPr lang="en-US" altLang="zh-CN" sz="2400" b="1"/>
              <a:t>A.</a:t>
            </a:r>
            <a:r>
              <a:rPr sz="2400" b="1"/>
              <a:t>迟钝     排挤       </a:t>
            </a:r>
            <a:r>
              <a:rPr lang="en-US" altLang="zh-CN" sz="2400" b="1"/>
              <a:t>B.</a:t>
            </a:r>
            <a:r>
              <a:rPr sz="2400" b="1"/>
              <a:t>平庸     埋没</a:t>
            </a:r>
            <a:endParaRPr sz="2400" b="1"/>
          </a:p>
          <a:p>
            <a:pPr marL="0" indent="0">
              <a:buNone/>
            </a:pPr>
            <a:r>
              <a:rPr lang="en-US" altLang="zh-CN" sz="2400" b="1"/>
              <a:t>C.</a:t>
            </a:r>
            <a:r>
              <a:rPr sz="2400" b="1"/>
              <a:t>木讷     压抑       </a:t>
            </a:r>
            <a:r>
              <a:rPr lang="en-US" altLang="zh-CN" sz="2400" b="1"/>
              <a:t>D.</a:t>
            </a:r>
            <a:r>
              <a:rPr sz="2400" b="1"/>
              <a:t>沉闷     误解</a:t>
            </a:r>
            <a:endParaRPr sz="2400" b="1"/>
          </a:p>
        </p:txBody>
      </p:sp>
    </p:spTree>
    <p:custDataLst>
      <p:tags r:id="rId1"/>
    </p:custData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真题</a:t>
            </a:r>
            <a:r>
              <a:rPr lang="en-US" altLang="zh-CN"/>
              <a:t>7</a:t>
            </a:r>
            <a:r>
              <a:t>精讲</a:t>
            </a:r>
          </a:p>
        </p:txBody>
      </p:sp>
      <p:sp>
        <p:nvSpPr>
          <p:cNvPr id="3" name="内容占位符 2"/>
          <p:cNvSpPr>
            <a:spLocks noGrp="1"/>
          </p:cNvSpPr>
          <p:nvPr>
            <p:ph idx="1"/>
          </p:nvPr>
        </p:nvSpPr>
        <p:spPr/>
        <p:txBody>
          <a:bodyPr/>
          <a:p>
            <a:pPr marL="0" indent="0">
              <a:buNone/>
            </a:pPr>
            <a:r>
              <a:rPr sz="2400" b="1"/>
              <a:t>香樟树就像那些正直沉静的老实人，它们</a:t>
            </a:r>
            <a:r>
              <a:rPr sz="2400" b="1">
                <a:solidFill>
                  <a:srgbClr val="FF0000"/>
                </a:solidFill>
              </a:rPr>
              <a:t>看似</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，内里</a:t>
            </a:r>
            <a:r>
              <a:rPr sz="2400" b="1">
                <a:solidFill>
                  <a:srgbClr val="FF0000"/>
                </a:solidFill>
                <a:sym typeface="+mn-ea"/>
              </a:rPr>
              <a:t>却极为优雅</a:t>
            </a:r>
            <a:r>
              <a:rPr sz="2400" b="1">
                <a:sym typeface="+mn-ea"/>
              </a:rPr>
              <a:t>，无论世道怎样杂乱，自身如何</a:t>
            </a:r>
            <a:r>
              <a:rPr sz="2400" b="1">
                <a:solidFill>
                  <a:srgbClr val="00B050"/>
                </a:solidFill>
                <a:sym typeface="+mn-ea"/>
              </a:rPr>
              <a:t>被</a:t>
            </a:r>
            <a:r>
              <a:rPr sz="2400" b="1">
                <a:solidFill>
                  <a:srgbClr val="00B050"/>
                </a:solidFill>
                <a:latin typeface="Times New Roman" panose="02020603050405020304" charset="0"/>
                <a:cs typeface="Times New Roman" panose="02020603050405020304" charset="0"/>
                <a:sym typeface="+mn-ea"/>
              </a:rPr>
              <a:t>͟͟͟͟͟</a:t>
            </a:r>
            <a:r>
              <a:rPr sz="2400" b="1">
                <a:solidFill>
                  <a:srgbClr val="00B050"/>
                </a:solidFill>
                <a:sym typeface="+mn-ea"/>
              </a:rPr>
              <a:t> </a:t>
            </a:r>
            <a:r>
              <a:rPr sz="2400" b="1">
                <a:solidFill>
                  <a:srgbClr val="00B050"/>
                </a:solidFill>
                <a:latin typeface="Times New Roman" panose="02020603050405020304" charset="0"/>
                <a:cs typeface="Times New Roman" panose="02020603050405020304" charset="0"/>
                <a:sym typeface="+mn-ea"/>
              </a:rPr>
              <a:t>͟͟͟͟͟͟͟͟</a:t>
            </a:r>
            <a:r>
              <a:rPr sz="2400" b="1">
                <a:solidFill>
                  <a:srgbClr val="00B050"/>
                </a:solidFill>
                <a:sym typeface="+mn-ea"/>
              </a:rPr>
              <a:t> </a:t>
            </a:r>
            <a:r>
              <a:rPr sz="2400" b="1">
                <a:solidFill>
                  <a:srgbClr val="00B050"/>
                </a:solidFill>
                <a:latin typeface="Times New Roman" panose="02020603050405020304" charset="0"/>
                <a:cs typeface="Times New Roman" panose="02020603050405020304" charset="0"/>
                <a:sym typeface="+mn-ea"/>
              </a:rPr>
              <a:t>͟͟͟͟͟͟͟͟͟</a:t>
            </a:r>
            <a:r>
              <a:rPr sz="2400" b="1">
                <a:solidFill>
                  <a:srgbClr val="00B050"/>
                </a:solidFill>
                <a:sym typeface="+mn-ea"/>
              </a:rPr>
              <a:t>  被忽视</a:t>
            </a:r>
            <a:r>
              <a:rPr sz="2400" b="1">
                <a:sym typeface="+mn-ea"/>
              </a:rPr>
              <a:t>，也没有放弃底线，只管静默生存，兀自风华，清冷而优美，沉静却光明。</a:t>
            </a:r>
            <a:endParaRPr sz="2400" b="1">
              <a:sym typeface="+mn-ea"/>
            </a:endParaRPr>
          </a:p>
          <a:p>
            <a:pPr marL="0" indent="0">
              <a:buNone/>
            </a:pPr>
            <a:r>
              <a:rPr sz="2400" b="1">
                <a:sym typeface="+mn-ea"/>
              </a:rPr>
              <a:t>填入画横线部分最恰当的一项是</a:t>
            </a:r>
            <a:r>
              <a:rPr sz="2400" b="1">
                <a:sym typeface="+mn-ea"/>
              </a:rPr>
              <a:t>（    ）</a:t>
            </a:r>
            <a:r>
              <a:rPr sz="2400" b="1">
                <a:sym typeface="+mn-ea"/>
              </a:rPr>
              <a:t>：</a:t>
            </a:r>
            <a:endParaRPr sz="2400" b="1">
              <a:sym typeface="+mn-ea"/>
            </a:endParaRPr>
          </a:p>
          <a:p>
            <a:pPr marL="0" indent="0">
              <a:buNone/>
            </a:pPr>
            <a:r>
              <a:rPr lang="en-US" altLang="zh-CN" sz="2400" b="1"/>
              <a:t>A.</a:t>
            </a:r>
            <a:r>
              <a:rPr sz="2400" b="1"/>
              <a:t>迟钝     排挤       </a:t>
            </a:r>
            <a:r>
              <a:rPr lang="en-US" altLang="zh-CN" sz="2400" b="1"/>
              <a:t>B.</a:t>
            </a:r>
            <a:r>
              <a:rPr sz="2400" b="1"/>
              <a:t>平庸     埋没</a:t>
            </a:r>
            <a:endParaRPr sz="2400" b="1"/>
          </a:p>
          <a:p>
            <a:pPr marL="0" indent="0">
              <a:buNone/>
            </a:pPr>
            <a:r>
              <a:rPr lang="en-US" altLang="zh-CN" sz="2400" b="1"/>
              <a:t>C.</a:t>
            </a:r>
            <a:r>
              <a:rPr sz="2400" b="1"/>
              <a:t>木讷     压抑       </a:t>
            </a:r>
            <a:r>
              <a:rPr lang="en-US" altLang="zh-CN" sz="2400" b="1"/>
              <a:t>D.</a:t>
            </a:r>
            <a:r>
              <a:rPr sz="2400" b="1"/>
              <a:t>沉闷     误解</a:t>
            </a:r>
            <a:endParaRPr sz="2400" b="1"/>
          </a:p>
          <a:p>
            <a:pPr marL="0" indent="0">
              <a:buNone/>
            </a:pPr>
            <a:r>
              <a:rPr sz="2400" b="1"/>
              <a:t>分析：第一空与</a:t>
            </a:r>
            <a:r>
              <a:rPr lang="en-US" altLang="zh-CN" sz="2400" b="1"/>
              <a:t>“</a:t>
            </a:r>
            <a:r>
              <a:rPr sz="2400" b="1"/>
              <a:t>优雅</a:t>
            </a:r>
            <a:r>
              <a:rPr lang="en-US" altLang="zh-CN" sz="2400" b="1"/>
              <a:t>”</a:t>
            </a:r>
            <a:r>
              <a:rPr sz="2400" b="1"/>
              <a:t>是反对关系，排除</a:t>
            </a:r>
            <a:r>
              <a:rPr lang="en-US" altLang="zh-CN" sz="2400" b="1"/>
              <a:t>A</a:t>
            </a:r>
            <a:r>
              <a:rPr sz="2400" b="1"/>
              <a:t>与</a:t>
            </a:r>
            <a:r>
              <a:rPr lang="en-US" altLang="zh-CN" sz="2400" b="1"/>
              <a:t>C</a:t>
            </a:r>
            <a:r>
              <a:rPr sz="2400" b="1"/>
              <a:t>。第二空与</a:t>
            </a:r>
            <a:r>
              <a:rPr lang="en-US" altLang="zh-CN" sz="2400" b="1"/>
              <a:t>“</a:t>
            </a:r>
            <a:r>
              <a:rPr sz="2400" b="1"/>
              <a:t>忽视</a:t>
            </a:r>
            <a:r>
              <a:rPr lang="en-US" altLang="zh-CN" sz="2400" b="1"/>
              <a:t>”</a:t>
            </a:r>
            <a:r>
              <a:rPr sz="2400" b="1"/>
              <a:t>语义相近，排除</a:t>
            </a:r>
            <a:r>
              <a:rPr lang="en-US" altLang="zh-CN" sz="2400" b="1"/>
              <a:t>D</a:t>
            </a:r>
            <a:r>
              <a:rPr sz="2400" b="1"/>
              <a:t>，故选</a:t>
            </a:r>
            <a:r>
              <a:rPr lang="en-US" altLang="zh-CN" sz="2400" b="1"/>
              <a:t>B</a:t>
            </a:r>
            <a:endParaRPr lang="en-US" altLang="zh-CN" sz="2400" b="1"/>
          </a:p>
        </p:txBody>
      </p:sp>
    </p:spTree>
    <p:custDataLst>
      <p:tags r:id="rId1"/>
    </p:custData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olidFill>
                  <a:srgbClr val="00B050"/>
                </a:solidFill>
                <a:sym typeface="+mn-ea"/>
              </a:rPr>
              <a:t>真题</a:t>
            </a:r>
            <a:r>
              <a:rPr lang="en-US" altLang="zh-CN">
                <a:solidFill>
                  <a:srgbClr val="00B050"/>
                </a:solidFill>
                <a:sym typeface="+mn-ea"/>
              </a:rPr>
              <a:t>8(</a:t>
            </a:r>
            <a:r>
              <a:rPr>
                <a:solidFill>
                  <a:srgbClr val="00B050"/>
                </a:solidFill>
                <a:sym typeface="+mn-ea"/>
              </a:rPr>
              <a:t>川</a:t>
            </a:r>
            <a:r>
              <a:rPr lang="en-US" altLang="zh-CN">
                <a:solidFill>
                  <a:srgbClr val="00B050"/>
                </a:solidFill>
                <a:sym typeface="+mn-ea"/>
              </a:rPr>
              <a:t>2012</a:t>
            </a:r>
            <a:r>
              <a:rPr>
                <a:solidFill>
                  <a:srgbClr val="00B050"/>
                </a:solidFill>
                <a:sym typeface="+mn-ea"/>
              </a:rPr>
              <a:t>上</a:t>
            </a:r>
            <a:r>
              <a:rPr lang="en-US" altLang="zh-CN">
                <a:solidFill>
                  <a:srgbClr val="00B050"/>
                </a:solidFill>
                <a:sym typeface="+mn-ea"/>
              </a:rPr>
              <a:t>-23</a:t>
            </a:r>
            <a:r>
              <a:rPr>
                <a:solidFill>
                  <a:srgbClr val="00B050"/>
                </a:solidFill>
                <a:sym typeface="+mn-ea"/>
              </a:rPr>
              <a:t>）</a:t>
            </a:r>
            <a:endParaRPr lang="zh-CN" altLang="en-US">
              <a:solidFill>
                <a:srgbClr val="00B050"/>
              </a:solidFill>
              <a:sym typeface="+mn-ea"/>
            </a:endParaRPr>
          </a:p>
        </p:txBody>
      </p:sp>
      <p:sp>
        <p:nvSpPr>
          <p:cNvPr id="3" name="内容占位符 2"/>
          <p:cNvSpPr>
            <a:spLocks noGrp="1"/>
          </p:cNvSpPr>
          <p:nvPr>
            <p:ph idx="1"/>
          </p:nvPr>
        </p:nvSpPr>
        <p:spPr/>
        <p:txBody>
          <a:bodyPr/>
          <a:p>
            <a:r>
              <a:rPr lang="zh-CN" altLang="en-US" sz="2400" b="1"/>
              <a:t>许多种类的蝴蝶鱼在尾部前上方，与头部眼睛相对称位置有一黑色斑点，宛如鱼眼，而它的眼睛则</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lang="zh-CN" altLang="en-US" sz="2400" b="1"/>
              <a:t>在头部的黑斑中。平时，蝴蝶鱼在海中总是倒退游动。掠食者常受尾部黑斑的</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lang="zh-CN" altLang="en-US" sz="2400" b="1"/>
              <a:t>，误把鱼尾作鱼头。当掠食者猛扑向它时，蝴蝶鱼正好顺势向前飞速逃走。</a:t>
            </a:r>
            <a:endParaRPr lang="zh-CN" altLang="en-US" sz="2400" b="1"/>
          </a:p>
          <a:p>
            <a:r>
              <a:rPr lang="zh-CN" altLang="en-US" sz="2400" b="1"/>
              <a:t>依次填入划横线部分最恰当的一项是（    ）。</a:t>
            </a:r>
            <a:endParaRPr lang="zh-CN" altLang="en-US" sz="2400" b="1"/>
          </a:p>
          <a:p>
            <a:r>
              <a:rPr lang="zh-CN" altLang="en-US" sz="2400" b="1"/>
              <a:t>A. 深藏  诱惑                          B. 藏匿  诱骗</a:t>
            </a:r>
            <a:endParaRPr lang="zh-CN" altLang="en-US" sz="2400" b="1"/>
          </a:p>
          <a:p>
            <a:r>
              <a:rPr lang="zh-CN" altLang="en-US" sz="2400" b="1"/>
              <a:t>C. 隐匿  引诱                          D. 隐藏  迷惑</a:t>
            </a:r>
            <a:endParaRPr lang="zh-CN" altLang="en-US" sz="2400" b="1"/>
          </a:p>
        </p:txBody>
      </p:sp>
    </p:spTree>
    <p:custDataLst>
      <p:tags r:id="rId1"/>
    </p:custData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ym typeface="+mn-ea"/>
              </a:rPr>
              <a:t>真题</a:t>
            </a:r>
            <a:r>
              <a:rPr lang="en-US" altLang="zh-CN">
                <a:sym typeface="+mn-ea"/>
              </a:rPr>
              <a:t>8</a:t>
            </a:r>
            <a:r>
              <a:rPr>
                <a:sym typeface="+mn-ea"/>
              </a:rPr>
              <a:t>精讲</a:t>
            </a:r>
            <a:endParaRPr>
              <a:sym typeface="+mn-ea"/>
            </a:endParaRPr>
          </a:p>
        </p:txBody>
      </p:sp>
      <p:sp>
        <p:nvSpPr>
          <p:cNvPr id="3" name="内容占位符 2"/>
          <p:cNvSpPr>
            <a:spLocks noGrp="1"/>
          </p:cNvSpPr>
          <p:nvPr>
            <p:ph idx="1"/>
          </p:nvPr>
        </p:nvSpPr>
        <p:spPr>
          <a:xfrm>
            <a:off x="669925" y="1296035"/>
            <a:ext cx="10852150" cy="5161280"/>
          </a:xfrm>
        </p:spPr>
        <p:txBody>
          <a:bodyPr/>
          <a:p>
            <a:pPr>
              <a:spcAft>
                <a:spcPts val="800"/>
              </a:spcAft>
            </a:pPr>
            <a:r>
              <a:rPr lang="zh-CN" altLang="en-US" sz="2400" b="1"/>
              <a:t>许多种类的蝴蝶鱼在尾部前上方，</a:t>
            </a:r>
            <a:r>
              <a:rPr lang="zh-CN" altLang="en-US" sz="2400" b="1">
                <a:solidFill>
                  <a:srgbClr val="FF0000"/>
                </a:solidFill>
              </a:rPr>
              <a:t>与头部眼睛相对称位置</a:t>
            </a:r>
            <a:r>
              <a:rPr lang="zh-CN" altLang="en-US" sz="2400" b="1"/>
              <a:t>有一黑色斑点，宛如鱼眼，而它的眼睛则</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lang="zh-CN" altLang="en-US" sz="2400" b="1"/>
              <a:t>在头部的黑斑中。平时，蝴蝶鱼在海中总是倒退游动。掠食者常受尾部黑斑的</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lang="zh-CN" altLang="en-US" sz="2400" b="1"/>
              <a:t>，</a:t>
            </a:r>
            <a:r>
              <a:rPr lang="zh-CN" altLang="en-US" sz="2400" b="1">
                <a:solidFill>
                  <a:srgbClr val="00B050"/>
                </a:solidFill>
              </a:rPr>
              <a:t>误把鱼尾作鱼头</a:t>
            </a:r>
            <a:r>
              <a:rPr lang="zh-CN" altLang="en-US" sz="2400" b="1"/>
              <a:t>。当掠食者猛扑向它时，蝴蝶鱼正好顺势向前飞速逃走。</a:t>
            </a:r>
            <a:endParaRPr lang="zh-CN" altLang="en-US" sz="2400" b="1"/>
          </a:p>
          <a:p>
            <a:pPr>
              <a:spcAft>
                <a:spcPts val="800"/>
              </a:spcAft>
            </a:pPr>
            <a:r>
              <a:rPr lang="zh-CN" altLang="en-US" sz="2400" b="1"/>
              <a:t>依次填入划横线部分最恰当的一项是（    ）。</a:t>
            </a:r>
            <a:endParaRPr lang="zh-CN" altLang="en-US" sz="2400" b="1"/>
          </a:p>
          <a:p>
            <a:pPr>
              <a:spcAft>
                <a:spcPts val="800"/>
              </a:spcAft>
            </a:pPr>
            <a:r>
              <a:rPr lang="zh-CN" altLang="en-US" sz="2400" b="1"/>
              <a:t>A. 深藏  诱惑                          B. 藏匿  诱骗</a:t>
            </a:r>
            <a:endParaRPr lang="zh-CN" altLang="en-US" sz="2400" b="1"/>
          </a:p>
          <a:p>
            <a:pPr>
              <a:spcAft>
                <a:spcPts val="800"/>
              </a:spcAft>
            </a:pPr>
            <a:r>
              <a:rPr lang="zh-CN" altLang="en-US" sz="2400" b="1"/>
              <a:t>C. 隐匿  引诱                          D. 隐藏  迷惑</a:t>
            </a:r>
            <a:endParaRPr lang="zh-CN" altLang="en-US" sz="2400" b="1"/>
          </a:p>
          <a:p>
            <a:pPr>
              <a:spcAft>
                <a:spcPts val="800"/>
              </a:spcAft>
            </a:pPr>
            <a:r>
              <a:rPr lang="zh-CN" altLang="en-US" sz="2400" b="1"/>
              <a:t>分析：蝴蝶鱼的“伪眼”</a:t>
            </a:r>
            <a:r>
              <a:rPr lang="zh-CN" altLang="en-US" sz="2400" b="1">
                <a:sym typeface="Symbol" panose="05050102010706020507" charset="0"/>
              </a:rPr>
              <a:t></a:t>
            </a:r>
            <a:r>
              <a:rPr lang="zh-CN" altLang="en-US" sz="2400" b="1"/>
              <a:t>一个黑色的斑点，与头部的眼睛遥遥相对。先看第二空，“误把鱼尾作鱼头”只能是受到了“黑斑”的“迷惑”。</a:t>
            </a:r>
            <a:endParaRPr lang="zh-CN" altLang="en-US" sz="2400" b="1"/>
          </a:p>
        </p:txBody>
      </p:sp>
    </p:spTree>
    <p:custDataLst>
      <p:tags r:id="rId1"/>
    </p:custData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olidFill>
                  <a:srgbClr val="00B050"/>
                </a:solidFill>
                <a:sym typeface="+mn-ea"/>
              </a:rPr>
              <a:t>真题</a:t>
            </a:r>
            <a:r>
              <a:rPr lang="en-US" altLang="zh-CN">
                <a:solidFill>
                  <a:srgbClr val="00B050"/>
                </a:solidFill>
                <a:sym typeface="+mn-ea"/>
              </a:rPr>
              <a:t>9</a:t>
            </a:r>
            <a:r>
              <a:rPr>
                <a:solidFill>
                  <a:srgbClr val="00B050"/>
                </a:solidFill>
                <a:sym typeface="+mn-ea"/>
              </a:rPr>
              <a:t>精讲</a:t>
            </a:r>
            <a:endParaRPr>
              <a:solidFill>
                <a:srgbClr val="00B050"/>
              </a:solidFill>
              <a:sym typeface="+mn-ea"/>
            </a:endParaRPr>
          </a:p>
        </p:txBody>
      </p:sp>
      <p:sp>
        <p:nvSpPr>
          <p:cNvPr id="3" name="内容占位符 2"/>
          <p:cNvSpPr>
            <a:spLocks noGrp="1"/>
          </p:cNvSpPr>
          <p:nvPr>
            <p:ph idx="1"/>
          </p:nvPr>
        </p:nvSpPr>
        <p:spPr/>
        <p:txBody>
          <a:bodyPr/>
          <a:p>
            <a:r>
              <a:rPr lang="zh-CN" altLang="en-US" sz="2400" b="1"/>
              <a:t>名校办分校是近年来冒出来的新生事物，这项举措受到各方意见的</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lang="zh-CN" altLang="en-US" sz="2400" b="1"/>
              <a:t>：“名校连锁”是否</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lang="zh-CN" altLang="en-US" sz="2400" b="1"/>
              <a:t>，是否与义务教育均衡发展</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lang="zh-CN" altLang="en-US" sz="2400" b="1"/>
              <a:t>。</a:t>
            </a:r>
            <a:endParaRPr lang="zh-CN" altLang="en-US" sz="2400" b="1"/>
          </a:p>
          <a:p>
            <a:r>
              <a:rPr lang="zh-CN" altLang="en-US" sz="2400" b="1"/>
              <a:t>依次填入划横线部分最恰当的一项是（    ）。</a:t>
            </a:r>
            <a:endParaRPr lang="zh-CN" altLang="en-US" sz="2400" b="1"/>
          </a:p>
          <a:p>
            <a:r>
              <a:rPr lang="zh-CN" altLang="en-US" sz="2400" b="1"/>
              <a:t>A. 质疑  名存实亡  分道扬镳                 </a:t>
            </a:r>
            <a:endParaRPr lang="zh-CN" altLang="en-US" sz="2400" b="1"/>
          </a:p>
          <a:p>
            <a:r>
              <a:rPr lang="zh-CN" altLang="en-US" sz="2400" b="1"/>
              <a:t>B. 质询  名不副实  南辕北辙</a:t>
            </a:r>
            <a:endParaRPr lang="zh-CN" altLang="en-US" sz="2400" b="1"/>
          </a:p>
          <a:p>
            <a:r>
              <a:rPr lang="zh-CN" altLang="en-US" sz="2400" b="1"/>
              <a:t>C. 质疑  有名无实  背道而驰                </a:t>
            </a:r>
            <a:endParaRPr lang="zh-CN" altLang="en-US" sz="2400" b="1"/>
          </a:p>
          <a:p>
            <a:r>
              <a:rPr lang="zh-CN" altLang="en-US" sz="2400" b="1"/>
              <a:t>D. 质询  名实不符  不谋而合</a:t>
            </a:r>
            <a:endParaRPr lang="zh-CN" altLang="en-US" sz="2400" b="1"/>
          </a:p>
        </p:txBody>
      </p:sp>
    </p:spTree>
    <p:custDataLst>
      <p:tags r:id="rId1"/>
    </p:custData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olidFill>
                  <a:srgbClr val="00B050"/>
                </a:solidFill>
                <a:sym typeface="+mn-ea"/>
              </a:rPr>
              <a:t>真题</a:t>
            </a:r>
            <a:r>
              <a:rPr lang="en-US" altLang="zh-CN">
                <a:solidFill>
                  <a:srgbClr val="00B050"/>
                </a:solidFill>
                <a:sym typeface="+mn-ea"/>
              </a:rPr>
              <a:t>9(</a:t>
            </a:r>
            <a:r>
              <a:rPr>
                <a:sym typeface="+mn-ea"/>
              </a:rPr>
              <a:t>川</a:t>
            </a:r>
            <a:r>
              <a:rPr lang="en-US" altLang="zh-CN">
                <a:solidFill>
                  <a:srgbClr val="00B050"/>
                </a:solidFill>
                <a:sym typeface="+mn-ea"/>
              </a:rPr>
              <a:t>2012</a:t>
            </a:r>
            <a:r>
              <a:rPr>
                <a:solidFill>
                  <a:srgbClr val="00B050"/>
                </a:solidFill>
                <a:sym typeface="+mn-ea"/>
              </a:rPr>
              <a:t>上</a:t>
            </a:r>
            <a:r>
              <a:rPr lang="en-US" altLang="zh-CN">
                <a:solidFill>
                  <a:srgbClr val="00B050"/>
                </a:solidFill>
                <a:sym typeface="+mn-ea"/>
              </a:rPr>
              <a:t>-23</a:t>
            </a:r>
            <a:r>
              <a:rPr>
                <a:solidFill>
                  <a:srgbClr val="00B050"/>
                </a:solidFill>
                <a:sym typeface="+mn-ea"/>
              </a:rPr>
              <a:t>）</a:t>
            </a:r>
            <a:endParaRPr lang="zh-CN" altLang="en-US">
              <a:solidFill>
                <a:srgbClr val="00B050"/>
              </a:solidFill>
              <a:sym typeface="+mn-ea"/>
            </a:endParaRPr>
          </a:p>
        </p:txBody>
      </p:sp>
      <p:sp>
        <p:nvSpPr>
          <p:cNvPr id="3" name="内容占位符 2"/>
          <p:cNvSpPr>
            <a:spLocks noGrp="1"/>
          </p:cNvSpPr>
          <p:nvPr>
            <p:ph idx="1"/>
          </p:nvPr>
        </p:nvSpPr>
        <p:spPr/>
        <p:txBody>
          <a:bodyPr/>
          <a:p>
            <a:r>
              <a:rPr lang="zh-CN" altLang="en-US" sz="2400" b="1"/>
              <a:t>名校办分校是近年来冒出来的新生事物，这项举措受到各方意见的</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lang="zh-CN" altLang="en-US" sz="2400" b="1"/>
              <a:t>：“名校连锁”是否</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lang="zh-CN" altLang="en-US" sz="2400" b="1"/>
              <a:t>，是否与义务教育均衡发展</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lang="zh-CN" altLang="en-US" sz="2400" b="1"/>
              <a:t>。</a:t>
            </a:r>
            <a:endParaRPr lang="zh-CN" altLang="en-US" sz="2400" b="1"/>
          </a:p>
          <a:p>
            <a:r>
              <a:rPr lang="zh-CN" altLang="en-US" sz="2400" b="1"/>
              <a:t>依次填入划横线部分最恰当的一项是（    ）。</a:t>
            </a:r>
            <a:endParaRPr lang="zh-CN" altLang="en-US" sz="2400" b="1"/>
          </a:p>
          <a:p>
            <a:r>
              <a:rPr lang="zh-CN" altLang="en-US" sz="2400" b="1"/>
              <a:t>A. 质疑  名存实亡  分道扬镳                B. 质询  名不副实  南辕北辙</a:t>
            </a:r>
            <a:endParaRPr lang="zh-CN" altLang="en-US" sz="2400" b="1"/>
          </a:p>
          <a:p>
            <a:r>
              <a:rPr lang="zh-CN" altLang="en-US" sz="2400" b="1"/>
              <a:t>C. 质疑  有名无实  背道而驰                D. 质询  名实不符  不谋而合</a:t>
            </a:r>
            <a:endParaRPr lang="zh-CN" altLang="en-US" sz="2400" b="1"/>
          </a:p>
          <a:p>
            <a:r>
              <a:rPr lang="zh-CN" altLang="en-US" sz="2400" b="1"/>
              <a:t>分析：“质询”为“人大代表”的固定搭配，第一空排除B、D选项。“分道扬镳”比喻目标不同，各走各的路或各干各的事，主体通常为人，因此第三空可排除A选项。把</a:t>
            </a:r>
            <a:r>
              <a:rPr lang="en-US" altLang="zh-CN" sz="2400" b="1"/>
              <a:t>C</a:t>
            </a:r>
            <a:r>
              <a:rPr sz="2400" b="1"/>
              <a:t>中各词</a:t>
            </a:r>
            <a:r>
              <a:rPr sz="2400" b="1"/>
              <a:t>分别</a:t>
            </a:r>
            <a:r>
              <a:rPr sz="2400" b="1"/>
              <a:t>填入无误，</a:t>
            </a:r>
            <a:r>
              <a:rPr lang="zh-CN" altLang="en-US" sz="2400" b="1"/>
              <a:t>故正确答案为C选项。</a:t>
            </a:r>
            <a:endParaRPr lang="zh-CN" altLang="en-US" sz="2400" b="1"/>
          </a:p>
          <a:p>
            <a:endParaRPr lang="zh-CN" altLang="en-US" sz="2400" b="1"/>
          </a:p>
        </p:txBody>
      </p:sp>
    </p:spTree>
    <p:custDataLst>
      <p:tags r:id="rId1"/>
    </p:custData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总结</a:t>
            </a:r>
            <a:endParaRPr lang="zh-CN" altLang="en-US"/>
          </a:p>
        </p:txBody>
      </p:sp>
      <p:sp>
        <p:nvSpPr>
          <p:cNvPr id="3" name="内容占位符 2"/>
          <p:cNvSpPr>
            <a:spLocks noGrp="1"/>
          </p:cNvSpPr>
          <p:nvPr>
            <p:ph idx="1"/>
          </p:nvPr>
        </p:nvSpPr>
        <p:spPr/>
        <p:txBody>
          <a:bodyPr/>
          <a:p>
            <a:r>
              <a:rPr sz="2400" b="1"/>
              <a:t>言语理解与表达模块中的逻辑填空答题三部曲：</a:t>
            </a:r>
            <a:endParaRPr lang="en-US" altLang="zh-CN" sz="2400" b="1"/>
          </a:p>
          <a:p>
            <a:r>
              <a:rPr lang="en-US" altLang="zh-CN" sz="2400" b="1"/>
              <a:t>1. </a:t>
            </a:r>
            <a:r>
              <a:rPr sz="2400" b="1"/>
              <a:t>做题时抓住关键点或</a:t>
            </a:r>
            <a:r>
              <a:rPr sz="2400" b="1">
                <a:solidFill>
                  <a:srgbClr val="FF0000"/>
                </a:solidFill>
              </a:rPr>
              <a:t>突破口</a:t>
            </a:r>
            <a:endParaRPr sz="2400" b="1"/>
          </a:p>
          <a:p>
            <a:r>
              <a:rPr lang="en-US" altLang="zh-CN" sz="2400" b="1"/>
              <a:t>2. </a:t>
            </a:r>
            <a:r>
              <a:rPr sz="2400" b="1"/>
              <a:t>多</a:t>
            </a:r>
            <a:r>
              <a:rPr sz="2400" b="1"/>
              <a:t>使用</a:t>
            </a:r>
            <a:r>
              <a:rPr sz="2400" b="1">
                <a:solidFill>
                  <a:srgbClr val="FF0000"/>
                </a:solidFill>
              </a:rPr>
              <a:t>排除法</a:t>
            </a:r>
            <a:endParaRPr sz="2400" b="1"/>
          </a:p>
          <a:p>
            <a:r>
              <a:rPr lang="en-US" altLang="zh-CN" sz="2400" b="1"/>
              <a:t>3. </a:t>
            </a:r>
            <a:r>
              <a:rPr sz="2400" b="1"/>
              <a:t>最后把自己选择的答案填入空缺处，</a:t>
            </a:r>
            <a:r>
              <a:rPr sz="2400" b="1">
                <a:solidFill>
                  <a:srgbClr val="FF0000"/>
                </a:solidFill>
              </a:rPr>
              <a:t>再次核对</a:t>
            </a:r>
            <a:r>
              <a:rPr sz="2400" b="1"/>
              <a:t>，看看所填词语在语境中的语义是否有误</a:t>
            </a:r>
            <a:endParaRPr sz="2400" b="1"/>
          </a:p>
          <a:p>
            <a:endParaRPr sz="2400" b="1"/>
          </a:p>
        </p:txBody>
      </p:sp>
    </p:spTree>
    <p:custDataLst>
      <p:tags r:id="rId1"/>
    </p:custData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ym typeface="+mn-ea"/>
              </a:rPr>
              <a:t>逻辑知识总结</a:t>
            </a:r>
            <a:endParaRPr lang="zh-CN" altLang="en-US"/>
          </a:p>
        </p:txBody>
      </p:sp>
      <p:sp>
        <p:nvSpPr>
          <p:cNvPr id="3" name="内容占位符 2"/>
          <p:cNvSpPr>
            <a:spLocks noGrp="1"/>
          </p:cNvSpPr>
          <p:nvPr>
            <p:ph idx="1"/>
          </p:nvPr>
        </p:nvSpPr>
        <p:spPr/>
        <p:txBody>
          <a:bodyPr/>
          <a:p>
            <a:r>
              <a:rPr lang="en-US" altLang="zh-CN" sz="2400" b="1">
                <a:solidFill>
                  <a:schemeClr val="tx1"/>
                </a:solidFill>
                <a:sym typeface="+mn-ea"/>
              </a:rPr>
              <a:t>1. </a:t>
            </a:r>
            <a:r>
              <a:rPr sz="2400" b="1">
                <a:solidFill>
                  <a:schemeClr val="tx1"/>
                </a:solidFill>
                <a:sym typeface="+mn-ea"/>
              </a:rPr>
              <a:t>定义揭示的是概念的</a:t>
            </a:r>
            <a:r>
              <a:rPr sz="2400" b="1">
                <a:solidFill>
                  <a:srgbClr val="FF0000"/>
                </a:solidFill>
                <a:sym typeface="+mn-ea"/>
              </a:rPr>
              <a:t>本质属性</a:t>
            </a:r>
            <a:r>
              <a:rPr sz="2400" b="1">
                <a:solidFill>
                  <a:schemeClr val="tx1"/>
                </a:solidFill>
                <a:sym typeface="+mn-ea"/>
              </a:rPr>
              <a:t>。</a:t>
            </a:r>
            <a:endParaRPr sz="2400" b="1">
              <a:sym typeface="+mn-ea"/>
            </a:endParaRPr>
          </a:p>
          <a:p>
            <a:r>
              <a:rPr lang="en-US" altLang="zh-CN" sz="2400" b="1">
                <a:solidFill>
                  <a:schemeClr val="tx1"/>
                </a:solidFill>
                <a:latin typeface="+mj-ea"/>
                <a:ea typeface="+mj-ea"/>
                <a:cs typeface="+mj-ea"/>
                <a:sym typeface="+mn-ea"/>
              </a:rPr>
              <a:t>2. </a:t>
            </a:r>
            <a:r>
              <a:rPr sz="2400" b="1">
                <a:solidFill>
                  <a:schemeClr val="tx1"/>
                </a:solidFill>
                <a:latin typeface="+mj-ea"/>
                <a:ea typeface="+mj-ea"/>
                <a:cs typeface="+mj-ea"/>
                <a:sym typeface="+mn-ea"/>
              </a:rPr>
              <a:t>概念的</a:t>
            </a:r>
            <a:r>
              <a:rPr sz="2400" b="1">
                <a:solidFill>
                  <a:srgbClr val="FF0000"/>
                </a:solidFill>
                <a:latin typeface="+mj-ea"/>
                <a:ea typeface="+mj-ea"/>
                <a:cs typeface="+mj-ea"/>
                <a:sym typeface="+mn-ea"/>
              </a:rPr>
              <a:t>内涵</a:t>
            </a:r>
            <a:r>
              <a:rPr sz="2400" b="1">
                <a:solidFill>
                  <a:schemeClr val="tx1"/>
                </a:solidFill>
                <a:latin typeface="+mj-ea"/>
                <a:ea typeface="+mj-ea"/>
                <a:cs typeface="+mj-ea"/>
                <a:sym typeface="+mn-ea"/>
              </a:rPr>
              <a:t>就是反映在概念中的对象的</a:t>
            </a:r>
            <a:r>
              <a:rPr sz="2400" b="1">
                <a:solidFill>
                  <a:srgbClr val="FF0000"/>
                </a:solidFill>
                <a:latin typeface="+mj-ea"/>
                <a:ea typeface="+mj-ea"/>
                <a:cs typeface="+mj-ea"/>
                <a:sym typeface="+mn-ea"/>
              </a:rPr>
              <a:t>本质属性</a:t>
            </a:r>
            <a:r>
              <a:rPr sz="2400" b="1">
                <a:solidFill>
                  <a:schemeClr val="tx1"/>
                </a:solidFill>
                <a:latin typeface="+mj-ea"/>
                <a:ea typeface="+mj-ea"/>
                <a:cs typeface="+mj-ea"/>
                <a:sym typeface="+mn-ea"/>
              </a:rPr>
              <a:t>。</a:t>
            </a:r>
            <a:endParaRPr sz="2400" b="1">
              <a:solidFill>
                <a:schemeClr val="tx1"/>
              </a:solidFill>
              <a:latin typeface="+mj-ea"/>
              <a:ea typeface="+mj-ea"/>
              <a:cs typeface="+mj-ea"/>
              <a:sym typeface="+mn-ea"/>
            </a:endParaRPr>
          </a:p>
          <a:p>
            <a:r>
              <a:rPr lang="en-US" altLang="zh-CN" sz="2400" b="1">
                <a:solidFill>
                  <a:schemeClr val="tx1"/>
                </a:solidFill>
                <a:latin typeface="+mj-ea"/>
                <a:ea typeface="+mj-ea"/>
                <a:cs typeface="+mj-ea"/>
                <a:sym typeface="+mn-ea"/>
              </a:rPr>
              <a:t>3. </a:t>
            </a:r>
            <a:r>
              <a:rPr sz="2400" b="1">
                <a:solidFill>
                  <a:schemeClr val="tx1"/>
                </a:solidFill>
                <a:latin typeface="+mj-ea"/>
                <a:ea typeface="+mj-ea"/>
                <a:cs typeface="+mj-ea"/>
                <a:sym typeface="+mn-ea"/>
              </a:rPr>
              <a:t>概念的</a:t>
            </a:r>
            <a:r>
              <a:rPr sz="2400" b="1">
                <a:solidFill>
                  <a:srgbClr val="FF0000"/>
                </a:solidFill>
                <a:latin typeface="+mj-ea"/>
                <a:ea typeface="+mj-ea"/>
                <a:cs typeface="+mj-ea"/>
                <a:sym typeface="+mn-ea"/>
              </a:rPr>
              <a:t>外延</a:t>
            </a:r>
            <a:r>
              <a:rPr sz="2400" b="1">
                <a:solidFill>
                  <a:schemeClr val="tx1"/>
                </a:solidFill>
                <a:latin typeface="+mj-ea"/>
                <a:ea typeface="+mj-ea"/>
                <a:cs typeface="+mj-ea"/>
                <a:sym typeface="+mn-ea"/>
              </a:rPr>
              <a:t>就是具有概念所反映的本质属性的对象。</a:t>
            </a:r>
            <a:endParaRPr sz="2400" b="1">
              <a:solidFill>
                <a:schemeClr val="tx1"/>
              </a:solidFill>
              <a:latin typeface="+mj-ea"/>
              <a:ea typeface="+mj-ea"/>
              <a:cs typeface="+mj-ea"/>
              <a:sym typeface="+mn-ea"/>
            </a:endParaRPr>
          </a:p>
          <a:p>
            <a:r>
              <a:rPr lang="en-US" altLang="zh-CN" sz="2400" b="1">
                <a:solidFill>
                  <a:schemeClr val="tx1"/>
                </a:solidFill>
                <a:latin typeface="+mj-ea"/>
                <a:ea typeface="+mj-ea"/>
                <a:cs typeface="+mj-ea"/>
                <a:sym typeface="+mn-ea"/>
              </a:rPr>
              <a:t>4</a:t>
            </a:r>
            <a:r>
              <a:rPr lang="en-US" altLang="zh-CN" sz="2400" b="1">
                <a:solidFill>
                  <a:srgbClr val="00B050"/>
                </a:solidFill>
                <a:latin typeface="+mj-ea"/>
                <a:ea typeface="+mj-ea"/>
                <a:cs typeface="+mj-ea"/>
                <a:sym typeface="+mn-ea"/>
              </a:rPr>
              <a:t>.</a:t>
            </a:r>
            <a:r>
              <a:rPr sz="2400" b="1">
                <a:solidFill>
                  <a:srgbClr val="00B050"/>
                </a:solidFill>
                <a:latin typeface="+mj-ea"/>
                <a:ea typeface="+mj-ea"/>
                <a:cs typeface="+mj-ea"/>
                <a:sym typeface="+mn-ea"/>
              </a:rPr>
              <a:t>概念之间的关系包括：</a:t>
            </a:r>
            <a:r>
              <a:rPr sz="2400" b="1">
                <a:solidFill>
                  <a:srgbClr val="00B050"/>
                </a:solidFill>
                <a:sym typeface="+mn-ea"/>
              </a:rPr>
              <a:t>相容关系与不相容关系</a:t>
            </a:r>
            <a:endParaRPr sz="2400" b="1">
              <a:solidFill>
                <a:srgbClr val="00B050"/>
              </a:solidFill>
              <a:latin typeface="+mj-ea"/>
              <a:ea typeface="+mj-ea"/>
              <a:cs typeface="+mj-ea"/>
              <a:sym typeface="+mn-ea"/>
            </a:endParaRPr>
          </a:p>
          <a:p>
            <a:r>
              <a:rPr lang="en-US" altLang="zh-CN" sz="2400" b="1">
                <a:solidFill>
                  <a:schemeClr val="tx1"/>
                </a:solidFill>
                <a:sym typeface="+mn-ea"/>
              </a:rPr>
              <a:t>  1</a:t>
            </a:r>
            <a:r>
              <a:rPr sz="2400" b="1">
                <a:solidFill>
                  <a:schemeClr val="tx1"/>
                </a:solidFill>
                <a:sym typeface="+mn-ea"/>
              </a:rPr>
              <a:t>）相容关系包括：全同关系、属种关系、交叉关系</a:t>
            </a:r>
            <a:endParaRPr lang="zh-CN" altLang="en-US" sz="2400" b="1">
              <a:solidFill>
                <a:schemeClr val="tx1"/>
              </a:solidFill>
            </a:endParaRPr>
          </a:p>
          <a:p>
            <a:r>
              <a:rPr lang="en-US" altLang="zh-CN" sz="2400" b="1">
                <a:solidFill>
                  <a:schemeClr val="tx1"/>
                </a:solidFill>
                <a:sym typeface="+mn-ea"/>
              </a:rPr>
              <a:t>  2</a:t>
            </a:r>
            <a:r>
              <a:rPr sz="2400" b="1">
                <a:solidFill>
                  <a:schemeClr val="tx1"/>
                </a:solidFill>
                <a:sym typeface="+mn-ea"/>
              </a:rPr>
              <a:t>）不相容关系包括：</a:t>
            </a:r>
            <a:r>
              <a:rPr sz="2400" b="1">
                <a:solidFill>
                  <a:schemeClr val="tx1"/>
                </a:solidFill>
                <a:latin typeface="Times New Roman" panose="02020603050405020304" charset="0"/>
                <a:sym typeface="+mn-ea"/>
              </a:rPr>
              <a:t>全异关系、</a:t>
            </a:r>
            <a:r>
              <a:rPr sz="2400" b="1">
                <a:solidFill>
                  <a:schemeClr val="tx1"/>
                </a:solidFill>
                <a:sym typeface="+mn-ea"/>
              </a:rPr>
              <a:t>矛盾关系、对立关系</a:t>
            </a:r>
            <a:endParaRPr sz="2400" b="1">
              <a:solidFill>
                <a:schemeClr val="tx1"/>
              </a:solidFill>
              <a:sym typeface="+mn-ea"/>
            </a:endParaRPr>
          </a:p>
          <a:p>
            <a:endParaRPr lang="zh-CN" altLang="en-US" sz="2400" b="1"/>
          </a:p>
        </p:txBody>
      </p:sp>
    </p:spTree>
    <p:custDataLst>
      <p:tags r:id="rId1"/>
    </p:custData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20327" y="277060"/>
            <a:ext cx="10852237" cy="648000"/>
          </a:xfrm>
        </p:spPr>
        <p:txBody>
          <a:bodyPr/>
          <a:p>
            <a:r>
              <a:rPr lang="zh-CN" altLang="en-US"/>
              <a:t>作业</a:t>
            </a:r>
            <a:endParaRPr lang="zh-CN" altLang="en-US"/>
          </a:p>
        </p:txBody>
      </p:sp>
      <p:sp>
        <p:nvSpPr>
          <p:cNvPr id="3" name="内容占位符 2"/>
          <p:cNvSpPr>
            <a:spLocks noGrp="1"/>
          </p:cNvSpPr>
          <p:nvPr>
            <p:ph idx="1"/>
          </p:nvPr>
        </p:nvSpPr>
        <p:spPr>
          <a:xfrm>
            <a:off x="420370" y="995680"/>
            <a:ext cx="10852150" cy="5590540"/>
          </a:xfrm>
        </p:spPr>
        <p:txBody>
          <a:bodyPr/>
          <a:p>
            <a:pPr>
              <a:lnSpc>
                <a:spcPct val="125000"/>
              </a:lnSpc>
              <a:spcAft>
                <a:spcPts val="800"/>
              </a:spcAft>
            </a:pPr>
            <a:r>
              <a:rPr sz="2400" b="1">
                <a:solidFill>
                  <a:srgbClr val="00B050"/>
                </a:solidFill>
              </a:rPr>
              <a:t>真题</a:t>
            </a:r>
            <a:r>
              <a:rPr lang="en-US" altLang="zh-CN" sz="2400" b="1">
                <a:solidFill>
                  <a:srgbClr val="00B050"/>
                </a:solidFill>
              </a:rPr>
              <a:t>10</a:t>
            </a:r>
            <a:r>
              <a:rPr sz="2400" b="1"/>
              <a:t>（</a:t>
            </a:r>
            <a:r>
              <a:rPr sz="2400" b="1">
                <a:sym typeface="+mn-ea"/>
              </a:rPr>
              <a:t>川</a:t>
            </a:r>
            <a:r>
              <a:rPr lang="en-US" altLang="zh-CN" sz="2400" b="1"/>
              <a:t>2019</a:t>
            </a:r>
            <a:r>
              <a:rPr sz="2400" b="1"/>
              <a:t>上</a:t>
            </a:r>
            <a:r>
              <a:rPr lang="en-US" altLang="zh-CN" sz="2400" b="1"/>
              <a:t>-16</a:t>
            </a:r>
            <a:r>
              <a:rPr sz="2400" b="1"/>
              <a:t>）：资源稀缺会产生相应的认知机制，改变人们观察事物和做出决策的方式。长期的资源稀缺会形成稀缺心态，导致与稀缺资源有关的问题自动</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更多注意力，形成注意力</a:t>
            </a:r>
            <a:r>
              <a:rPr lang="en-US" altLang="zh-CN" sz="2400" b="1">
                <a:sym typeface="+mn-ea"/>
              </a:rPr>
              <a:t>“</a:t>
            </a:r>
            <a:r>
              <a:rPr sz="2400" b="1">
                <a:sym typeface="+mn-ea"/>
              </a:rPr>
              <a:t>聚焦</a:t>
            </a:r>
            <a:r>
              <a:rPr lang="en-US" altLang="zh-CN" sz="2400" b="1">
                <a:sym typeface="+mn-ea"/>
              </a:rPr>
              <a:t>”</a:t>
            </a:r>
            <a:r>
              <a:rPr sz="2400" b="1">
                <a:sym typeface="+mn-ea"/>
              </a:rPr>
              <a:t>。</a:t>
            </a:r>
            <a:endParaRPr sz="2400" b="1">
              <a:sym typeface="+mn-ea"/>
            </a:endParaRPr>
          </a:p>
          <a:p>
            <a:pPr>
              <a:lnSpc>
                <a:spcPct val="125000"/>
              </a:lnSpc>
              <a:spcAft>
                <a:spcPts val="800"/>
              </a:spcAft>
            </a:pPr>
            <a:r>
              <a:rPr sz="2400" b="1">
                <a:sym typeface="+mn-ea"/>
              </a:rPr>
              <a:t>填入画横线部分最恰当的一项是</a:t>
            </a:r>
            <a:r>
              <a:rPr sz="2400" b="1">
                <a:sym typeface="+mn-ea"/>
              </a:rPr>
              <a:t>（    ）</a:t>
            </a:r>
            <a:r>
              <a:rPr sz="2400" b="1">
                <a:sym typeface="+mn-ea"/>
              </a:rPr>
              <a:t>：</a:t>
            </a:r>
            <a:endParaRPr sz="2400" b="1">
              <a:sym typeface="+mn-ea"/>
            </a:endParaRPr>
          </a:p>
          <a:p>
            <a:pPr>
              <a:lnSpc>
                <a:spcPct val="125000"/>
              </a:lnSpc>
              <a:spcAft>
                <a:spcPts val="800"/>
              </a:spcAft>
            </a:pPr>
            <a:r>
              <a:rPr lang="en-US" altLang="zh-CN" sz="2400" b="1">
                <a:sym typeface="+mn-ea"/>
              </a:rPr>
              <a:t>A. </a:t>
            </a:r>
            <a:r>
              <a:rPr sz="2400" b="1">
                <a:sym typeface="+mn-ea"/>
              </a:rPr>
              <a:t>分散          </a:t>
            </a:r>
            <a:r>
              <a:rPr lang="en-US" altLang="zh-CN" sz="2400" b="1">
                <a:sym typeface="+mn-ea"/>
              </a:rPr>
              <a:t>B. </a:t>
            </a:r>
            <a:r>
              <a:rPr sz="2400" b="1">
                <a:sym typeface="+mn-ea"/>
              </a:rPr>
              <a:t>吸引          </a:t>
            </a:r>
            <a:r>
              <a:rPr lang="en-US" altLang="zh-CN" sz="2400" b="1">
                <a:sym typeface="+mn-ea"/>
              </a:rPr>
              <a:t>C. </a:t>
            </a:r>
            <a:r>
              <a:rPr sz="2400" b="1">
                <a:sym typeface="+mn-ea"/>
              </a:rPr>
              <a:t>集中        </a:t>
            </a:r>
            <a:r>
              <a:rPr lang="en-US" altLang="zh-CN" sz="2400" b="1">
                <a:sym typeface="+mn-ea"/>
              </a:rPr>
              <a:t>D. </a:t>
            </a:r>
            <a:r>
              <a:rPr sz="2400" b="1">
                <a:sym typeface="+mn-ea"/>
              </a:rPr>
              <a:t>分配</a:t>
            </a:r>
            <a:endParaRPr sz="2400" b="1">
              <a:sym typeface="+mn-ea"/>
            </a:endParaRPr>
          </a:p>
          <a:p>
            <a:pPr>
              <a:lnSpc>
                <a:spcPct val="125000"/>
              </a:lnSpc>
              <a:spcAft>
                <a:spcPts val="800"/>
              </a:spcAft>
            </a:pPr>
            <a:r>
              <a:rPr sz="2400" b="1">
                <a:solidFill>
                  <a:srgbClr val="00B050"/>
                </a:solidFill>
                <a:sym typeface="+mn-ea"/>
              </a:rPr>
              <a:t>真题</a:t>
            </a:r>
            <a:r>
              <a:rPr lang="en-US" altLang="zh-CN" sz="2400" b="1">
                <a:solidFill>
                  <a:srgbClr val="00B050"/>
                </a:solidFill>
                <a:sym typeface="+mn-ea"/>
              </a:rPr>
              <a:t>11</a:t>
            </a:r>
            <a:r>
              <a:rPr sz="2400" b="1">
                <a:sym typeface="+mn-ea"/>
              </a:rPr>
              <a:t>（</a:t>
            </a:r>
            <a:r>
              <a:rPr sz="2400" b="1">
                <a:sym typeface="+mn-ea"/>
              </a:rPr>
              <a:t>川</a:t>
            </a:r>
            <a:r>
              <a:rPr lang="en-US" altLang="zh-CN" sz="2400" b="1">
                <a:sym typeface="+mn-ea"/>
              </a:rPr>
              <a:t>2019</a:t>
            </a:r>
            <a:r>
              <a:rPr sz="2400" b="1">
                <a:sym typeface="+mn-ea"/>
              </a:rPr>
              <a:t>上</a:t>
            </a:r>
            <a:r>
              <a:rPr lang="en-US" altLang="zh-CN" sz="2400" b="1">
                <a:sym typeface="+mn-ea"/>
              </a:rPr>
              <a:t>-17</a:t>
            </a:r>
            <a:r>
              <a:rPr sz="2400" b="1">
                <a:sym typeface="+mn-ea"/>
              </a:rPr>
              <a:t>）：文旅地产从字面上看是</a:t>
            </a:r>
            <a:r>
              <a:rPr lang="en-US" altLang="zh-CN" sz="2400" b="1">
                <a:sym typeface="+mn-ea"/>
              </a:rPr>
              <a:t>“</a:t>
            </a:r>
            <a:r>
              <a:rPr sz="2400" b="1">
                <a:sym typeface="+mn-ea"/>
              </a:rPr>
              <a:t>文化</a:t>
            </a:r>
            <a:r>
              <a:rPr lang="en-US" altLang="zh-CN" sz="2400" b="1">
                <a:sym typeface="+mn-ea"/>
              </a:rPr>
              <a:t>+</a:t>
            </a:r>
            <a:r>
              <a:rPr sz="2400" b="1">
                <a:sym typeface="+mn-ea"/>
              </a:rPr>
              <a:t>旅游</a:t>
            </a:r>
            <a:r>
              <a:rPr lang="en-US" altLang="zh-CN" sz="2400" b="1">
                <a:sym typeface="+mn-ea"/>
              </a:rPr>
              <a:t>+</a:t>
            </a:r>
            <a:r>
              <a:rPr sz="2400" b="1">
                <a:sym typeface="+mn-ea"/>
              </a:rPr>
              <a:t>地产</a:t>
            </a:r>
            <a:r>
              <a:rPr lang="en-US" altLang="zh-CN" sz="2400" b="1">
                <a:sym typeface="+mn-ea"/>
              </a:rPr>
              <a:t>”</a:t>
            </a:r>
            <a:r>
              <a:rPr sz="2400" b="1">
                <a:sym typeface="+mn-ea"/>
              </a:rPr>
              <a:t>，但其本质和核心是</a:t>
            </a:r>
            <a:r>
              <a:rPr lang="en-US" altLang="zh-CN" sz="2400" b="1">
                <a:sym typeface="+mn-ea"/>
              </a:rPr>
              <a:t>“</a:t>
            </a:r>
            <a:r>
              <a:rPr sz="2400" b="1">
                <a:sym typeface="+mn-ea"/>
              </a:rPr>
              <a:t>文旅</a:t>
            </a:r>
            <a:r>
              <a:rPr lang="en-US" altLang="zh-CN" sz="2400" b="1">
                <a:sym typeface="+mn-ea"/>
              </a:rPr>
              <a:t>”</a:t>
            </a:r>
            <a:r>
              <a:rPr sz="2400" b="1">
                <a:sym typeface="+mn-ea"/>
              </a:rPr>
              <a:t>而非</a:t>
            </a:r>
            <a:r>
              <a:rPr lang="en-US" altLang="zh-CN" sz="2400" b="1">
                <a:sym typeface="+mn-ea"/>
              </a:rPr>
              <a:t>“</a:t>
            </a:r>
            <a:r>
              <a:rPr sz="2400" b="1">
                <a:sym typeface="+mn-ea"/>
              </a:rPr>
              <a:t>地产</a:t>
            </a:r>
            <a:r>
              <a:rPr lang="en-US" altLang="zh-CN" sz="2400" b="1">
                <a:sym typeface="+mn-ea"/>
              </a:rPr>
              <a:t>”</a:t>
            </a:r>
            <a:r>
              <a:rPr sz="2400" b="1">
                <a:sym typeface="+mn-ea"/>
              </a:rPr>
              <a:t>。文旅领域</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，如何通过差异化战略来获得竞争优势，如何达到旅游和地产的平衡，是开发商们须持续思考的问题。</a:t>
            </a:r>
            <a:endParaRPr sz="2400" b="1">
              <a:sym typeface="+mn-ea"/>
            </a:endParaRPr>
          </a:p>
          <a:p>
            <a:pPr>
              <a:lnSpc>
                <a:spcPct val="125000"/>
              </a:lnSpc>
              <a:spcAft>
                <a:spcPts val="800"/>
              </a:spcAft>
            </a:pPr>
            <a:r>
              <a:rPr sz="2400" b="1">
                <a:sym typeface="+mn-ea"/>
              </a:rPr>
              <a:t>填入画横线部分最恰当的一项是</a:t>
            </a:r>
            <a:r>
              <a:rPr sz="2400" b="1">
                <a:sym typeface="+mn-ea"/>
              </a:rPr>
              <a:t>（    ）</a:t>
            </a:r>
            <a:r>
              <a:rPr sz="2400" b="1">
                <a:sym typeface="+mn-ea"/>
              </a:rPr>
              <a:t>：</a:t>
            </a:r>
            <a:endParaRPr sz="2400" b="1">
              <a:sym typeface="+mn-ea"/>
            </a:endParaRPr>
          </a:p>
          <a:p>
            <a:pPr>
              <a:lnSpc>
                <a:spcPct val="125000"/>
              </a:lnSpc>
              <a:spcAft>
                <a:spcPts val="800"/>
              </a:spcAft>
            </a:pPr>
            <a:r>
              <a:rPr lang="en-US" altLang="zh-CN" sz="2400" b="1">
                <a:sym typeface="+mn-ea"/>
              </a:rPr>
              <a:t>A.</a:t>
            </a:r>
            <a:r>
              <a:rPr sz="2400" b="1">
                <a:sym typeface="+mn-ea"/>
              </a:rPr>
              <a:t>百花齐放     </a:t>
            </a:r>
            <a:r>
              <a:rPr lang="en-US" altLang="zh-CN" sz="2400" b="1">
                <a:sym typeface="+mn-ea"/>
              </a:rPr>
              <a:t>B.</a:t>
            </a:r>
            <a:r>
              <a:rPr sz="2400" b="1">
                <a:sym typeface="+mn-ea"/>
              </a:rPr>
              <a:t>如火如荼     </a:t>
            </a:r>
            <a:r>
              <a:rPr lang="en-US" altLang="zh-CN" sz="2400" b="1">
                <a:sym typeface="+mn-ea"/>
              </a:rPr>
              <a:t>C. </a:t>
            </a:r>
            <a:r>
              <a:rPr sz="2400" b="1">
                <a:sym typeface="+mn-ea"/>
              </a:rPr>
              <a:t>群雄逐鹿    </a:t>
            </a:r>
            <a:r>
              <a:rPr lang="en-US" altLang="zh-CN" sz="2400" b="1">
                <a:sym typeface="+mn-ea"/>
              </a:rPr>
              <a:t>D.</a:t>
            </a:r>
            <a:r>
              <a:rPr sz="2400" b="1">
                <a:sym typeface="+mn-ea"/>
              </a:rPr>
              <a:t>齐头并进</a:t>
            </a:r>
            <a:endParaRPr sz="2400" b="1">
              <a:sym typeface="+mn-ea"/>
            </a:endParaRPr>
          </a:p>
        </p:txBody>
      </p:sp>
    </p:spTree>
    <p:custDataLst>
      <p:tags r:id="rId1"/>
    </p:custData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18447" y="157045"/>
            <a:ext cx="10852237" cy="648000"/>
          </a:xfrm>
        </p:spPr>
        <p:txBody>
          <a:bodyPr/>
          <a:p>
            <a:r>
              <a:rPr lang="zh-CN" altLang="en-US"/>
              <a:t>作业（续</a:t>
            </a:r>
            <a:r>
              <a:rPr lang="en-US" altLang="zh-CN"/>
              <a:t>1</a:t>
            </a:r>
            <a:r>
              <a:rPr lang="zh-CN" altLang="en-US"/>
              <a:t>）</a:t>
            </a:r>
            <a:endParaRPr lang="zh-CN" altLang="en-US"/>
          </a:p>
        </p:txBody>
      </p:sp>
      <p:sp>
        <p:nvSpPr>
          <p:cNvPr id="3" name="内容占位符 2"/>
          <p:cNvSpPr>
            <a:spLocks noGrp="1"/>
          </p:cNvSpPr>
          <p:nvPr>
            <p:ph idx="1"/>
          </p:nvPr>
        </p:nvSpPr>
        <p:spPr>
          <a:xfrm>
            <a:off x="558165" y="908050"/>
            <a:ext cx="10852150" cy="5856605"/>
          </a:xfrm>
        </p:spPr>
        <p:txBody>
          <a:bodyPr/>
          <a:p>
            <a:pPr>
              <a:lnSpc>
                <a:spcPct val="130000"/>
              </a:lnSpc>
              <a:spcAft>
                <a:spcPts val="800"/>
              </a:spcAft>
            </a:pPr>
            <a:r>
              <a:rPr sz="2400" b="1">
                <a:solidFill>
                  <a:srgbClr val="00B050"/>
                </a:solidFill>
                <a:sym typeface="+mn-ea"/>
              </a:rPr>
              <a:t>真题</a:t>
            </a:r>
            <a:r>
              <a:rPr lang="en-US" altLang="zh-CN" sz="2400" b="1">
                <a:solidFill>
                  <a:srgbClr val="00B050"/>
                </a:solidFill>
                <a:sym typeface="+mn-ea"/>
              </a:rPr>
              <a:t>12</a:t>
            </a:r>
            <a:r>
              <a:rPr sz="2400" b="1">
                <a:sym typeface="+mn-ea"/>
              </a:rPr>
              <a:t>（</a:t>
            </a:r>
            <a:r>
              <a:rPr sz="2400" b="1">
                <a:sym typeface="+mn-ea"/>
              </a:rPr>
              <a:t>川</a:t>
            </a:r>
            <a:r>
              <a:rPr lang="en-US" altLang="zh-CN" sz="2400" b="1">
                <a:sym typeface="+mn-ea"/>
              </a:rPr>
              <a:t>2019</a:t>
            </a:r>
            <a:r>
              <a:rPr sz="2400" b="1">
                <a:sym typeface="+mn-ea"/>
              </a:rPr>
              <a:t>上</a:t>
            </a:r>
            <a:r>
              <a:rPr lang="en-US" altLang="zh-CN" sz="2400" b="1">
                <a:sym typeface="+mn-ea"/>
              </a:rPr>
              <a:t>-18</a:t>
            </a:r>
            <a:r>
              <a:rPr sz="2400" b="1">
                <a:sym typeface="+mn-ea"/>
              </a:rPr>
              <a:t>）：互联网新技术新应用对文化产业进行全方位、全角度、全产业链的改造，释放数字化对文化产业的放大、叠加和倍增作用，推动互联网、移动网和文化之间形成</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的新形态。</a:t>
            </a:r>
            <a:endParaRPr sz="2400" b="1">
              <a:sym typeface="+mn-ea"/>
            </a:endParaRPr>
          </a:p>
          <a:p>
            <a:pPr>
              <a:lnSpc>
                <a:spcPct val="130000"/>
              </a:lnSpc>
              <a:spcAft>
                <a:spcPts val="800"/>
              </a:spcAft>
            </a:pPr>
            <a:r>
              <a:rPr sz="2400" b="1">
                <a:sym typeface="+mn-ea"/>
              </a:rPr>
              <a:t>填入画横线部分最恰当的一项是</a:t>
            </a:r>
            <a:r>
              <a:rPr sz="2400" b="1">
                <a:sym typeface="+mn-ea"/>
              </a:rPr>
              <a:t>（    ）</a:t>
            </a:r>
            <a:r>
              <a:rPr sz="2400" b="1">
                <a:sym typeface="+mn-ea"/>
              </a:rPr>
              <a:t>：</a:t>
            </a:r>
            <a:endParaRPr sz="2400" b="1">
              <a:sym typeface="+mn-ea"/>
            </a:endParaRPr>
          </a:p>
          <a:p>
            <a:pPr>
              <a:lnSpc>
                <a:spcPct val="130000"/>
              </a:lnSpc>
              <a:spcAft>
                <a:spcPts val="800"/>
              </a:spcAft>
            </a:pPr>
            <a:r>
              <a:rPr lang="en-US" altLang="zh-CN" sz="2400" b="1"/>
              <a:t>A.</a:t>
            </a:r>
            <a:r>
              <a:rPr sz="2400" b="1"/>
              <a:t>唇齿相依        </a:t>
            </a:r>
            <a:r>
              <a:rPr lang="en-US" altLang="zh-CN" sz="2400" b="1"/>
              <a:t>B.</a:t>
            </a:r>
            <a:r>
              <a:rPr sz="2400" b="1"/>
              <a:t>休戚与共      </a:t>
            </a:r>
            <a:r>
              <a:rPr lang="en-US" altLang="zh-CN" sz="2400" b="1"/>
              <a:t>C. </a:t>
            </a:r>
            <a:r>
              <a:rPr sz="2400" b="1"/>
              <a:t>同舟共济     </a:t>
            </a:r>
            <a:r>
              <a:rPr lang="en-US" altLang="zh-CN" sz="2400" b="1"/>
              <a:t>D.</a:t>
            </a:r>
            <a:r>
              <a:rPr sz="2400" b="1"/>
              <a:t>水乳交融</a:t>
            </a:r>
            <a:endParaRPr sz="2400" b="1"/>
          </a:p>
          <a:p>
            <a:pPr>
              <a:lnSpc>
                <a:spcPct val="130000"/>
              </a:lnSpc>
              <a:spcAft>
                <a:spcPts val="800"/>
              </a:spcAft>
            </a:pPr>
            <a:r>
              <a:rPr sz="2400" b="1">
                <a:solidFill>
                  <a:srgbClr val="00B050"/>
                </a:solidFill>
              </a:rPr>
              <a:t>真题</a:t>
            </a:r>
            <a:r>
              <a:rPr lang="en-US" altLang="zh-CN" sz="2400" b="1">
                <a:solidFill>
                  <a:srgbClr val="00B050"/>
                </a:solidFill>
              </a:rPr>
              <a:t>13</a:t>
            </a:r>
            <a:r>
              <a:rPr sz="2400" b="1">
                <a:sym typeface="+mn-ea"/>
              </a:rPr>
              <a:t>（</a:t>
            </a:r>
            <a:r>
              <a:rPr sz="2400" b="1">
                <a:sym typeface="+mn-ea"/>
              </a:rPr>
              <a:t>川</a:t>
            </a:r>
            <a:r>
              <a:rPr lang="en-US" altLang="zh-CN" sz="2400" b="1">
                <a:sym typeface="+mn-ea"/>
              </a:rPr>
              <a:t>2019</a:t>
            </a:r>
            <a:r>
              <a:rPr sz="2400" b="1">
                <a:sym typeface="+mn-ea"/>
              </a:rPr>
              <a:t>下</a:t>
            </a:r>
            <a:r>
              <a:rPr lang="en-US" altLang="zh-CN" sz="2400" b="1">
                <a:sym typeface="+mn-ea"/>
              </a:rPr>
              <a:t>-20</a:t>
            </a:r>
            <a:r>
              <a:rPr sz="2400" b="1">
                <a:sym typeface="+mn-ea"/>
              </a:rPr>
              <a:t>）：接纳人工智能是今天社会发展、经济增长、人类演化的</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，更是人们社会的需求。其实，很多人每天离不开的智能手机就是低端人工智能的应用。更应当看到的现实是，人工智能的发展极具</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，未来谁在人工智能的研发和应用中落后，谁就会被淘汰。</a:t>
            </a:r>
            <a:endParaRPr sz="2400" b="1">
              <a:sym typeface="+mn-ea"/>
            </a:endParaRPr>
          </a:p>
          <a:p>
            <a:pPr>
              <a:lnSpc>
                <a:spcPct val="130000"/>
              </a:lnSpc>
              <a:spcAft>
                <a:spcPts val="800"/>
              </a:spcAft>
            </a:pPr>
            <a:r>
              <a:rPr sz="2400" b="1">
                <a:sym typeface="+mn-ea"/>
              </a:rPr>
              <a:t>填入画横线部分最恰当的一项是</a:t>
            </a:r>
            <a:r>
              <a:rPr sz="2400" b="1">
                <a:sym typeface="+mn-ea"/>
              </a:rPr>
              <a:t>（    ）</a:t>
            </a:r>
            <a:r>
              <a:rPr sz="2400" b="1">
                <a:sym typeface="+mn-ea"/>
              </a:rPr>
              <a:t>：</a:t>
            </a:r>
            <a:endParaRPr sz="2400" b="1">
              <a:sym typeface="+mn-ea"/>
            </a:endParaRPr>
          </a:p>
          <a:p>
            <a:pPr>
              <a:lnSpc>
                <a:spcPct val="130000"/>
              </a:lnSpc>
              <a:spcAft>
                <a:spcPts val="800"/>
              </a:spcAft>
            </a:pPr>
            <a:r>
              <a:rPr lang="en-US" altLang="zh-CN" sz="2400" b="1">
                <a:sym typeface="+mn-ea"/>
              </a:rPr>
              <a:t>A.</a:t>
            </a:r>
            <a:r>
              <a:rPr sz="2400" b="1">
                <a:sym typeface="+mn-ea"/>
              </a:rPr>
              <a:t>趋势    替代性    </a:t>
            </a:r>
            <a:r>
              <a:rPr lang="en-US" altLang="zh-CN" sz="2400" b="1">
                <a:sym typeface="+mn-ea"/>
              </a:rPr>
              <a:t>B.</a:t>
            </a:r>
            <a:r>
              <a:rPr sz="2400" b="1">
                <a:sym typeface="+mn-ea"/>
              </a:rPr>
              <a:t>必然    竞争性   </a:t>
            </a:r>
            <a:r>
              <a:rPr lang="en-US" altLang="zh-CN" sz="2400" b="1">
                <a:sym typeface="+mn-ea"/>
              </a:rPr>
              <a:t>C.</a:t>
            </a:r>
            <a:r>
              <a:rPr sz="2400" b="1">
                <a:sym typeface="+mn-ea"/>
              </a:rPr>
              <a:t>方向    优越性   </a:t>
            </a:r>
            <a:r>
              <a:rPr lang="en-US" altLang="zh-CN" sz="2400" b="1">
                <a:sym typeface="+mn-ea"/>
              </a:rPr>
              <a:t>D.</a:t>
            </a:r>
            <a:r>
              <a:rPr sz="2400" b="1">
                <a:sym typeface="+mn-ea"/>
              </a:rPr>
              <a:t>途径  倾向性</a:t>
            </a:r>
            <a:endParaRPr sz="2400" b="1">
              <a:sym typeface="+mn-ea"/>
            </a:endParaRPr>
          </a:p>
          <a:p>
            <a:pPr>
              <a:lnSpc>
                <a:spcPct val="130000"/>
              </a:lnSpc>
              <a:spcAft>
                <a:spcPts val="800"/>
              </a:spcAft>
            </a:pPr>
            <a:endParaRPr lang="en-US" altLang="zh-CN" sz="2400" b="1"/>
          </a:p>
        </p:txBody>
      </p:sp>
    </p:spTree>
    <p:custDataLst>
      <p:tags r:id="rId1"/>
    </p:custData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575267" y="131645"/>
            <a:ext cx="10852237" cy="648000"/>
          </a:xfrm>
        </p:spPr>
        <p:txBody>
          <a:bodyPr/>
          <a:p>
            <a:r>
              <a:rPr>
                <a:sym typeface="+mn-ea"/>
              </a:rPr>
              <a:t>作业（续</a:t>
            </a:r>
            <a:r>
              <a:rPr lang="en-US" altLang="zh-CN">
                <a:sym typeface="+mn-ea"/>
              </a:rPr>
              <a:t>2</a:t>
            </a:r>
            <a:r>
              <a:rPr>
                <a:sym typeface="+mn-ea"/>
              </a:rPr>
              <a:t>）</a:t>
            </a:r>
            <a:endParaRPr lang="zh-CN" altLang="en-US"/>
          </a:p>
        </p:txBody>
      </p:sp>
      <p:sp>
        <p:nvSpPr>
          <p:cNvPr id="3" name="内容占位符 2"/>
          <p:cNvSpPr>
            <a:spLocks noGrp="1"/>
          </p:cNvSpPr>
          <p:nvPr>
            <p:ph idx="1"/>
          </p:nvPr>
        </p:nvSpPr>
        <p:spPr>
          <a:xfrm>
            <a:off x="446405" y="779145"/>
            <a:ext cx="10852150" cy="5753735"/>
          </a:xfrm>
        </p:spPr>
        <p:txBody>
          <a:bodyPr/>
          <a:p>
            <a:pPr>
              <a:lnSpc>
                <a:spcPct val="110000"/>
              </a:lnSpc>
              <a:spcAft>
                <a:spcPts val="700"/>
              </a:spcAft>
            </a:pPr>
            <a:r>
              <a:rPr sz="2400" b="1">
                <a:solidFill>
                  <a:srgbClr val="00B050"/>
                </a:solidFill>
                <a:sym typeface="+mn-ea"/>
              </a:rPr>
              <a:t>真题</a:t>
            </a:r>
            <a:r>
              <a:rPr lang="en-US" altLang="zh-CN" sz="2400" b="1">
                <a:solidFill>
                  <a:srgbClr val="00B050"/>
                </a:solidFill>
                <a:sym typeface="+mn-ea"/>
              </a:rPr>
              <a:t>14</a:t>
            </a:r>
            <a:r>
              <a:rPr sz="2400" b="1">
                <a:sym typeface="+mn-ea"/>
              </a:rPr>
              <a:t>（</a:t>
            </a:r>
            <a:r>
              <a:rPr sz="2400" b="1">
                <a:sym typeface="+mn-ea"/>
              </a:rPr>
              <a:t>川</a:t>
            </a:r>
            <a:r>
              <a:rPr lang="en-US" altLang="zh-CN" sz="2400" b="1">
                <a:sym typeface="+mn-ea"/>
              </a:rPr>
              <a:t>2012</a:t>
            </a:r>
            <a:r>
              <a:rPr sz="2400" b="1">
                <a:sym typeface="+mn-ea"/>
              </a:rPr>
              <a:t>上</a:t>
            </a:r>
            <a:r>
              <a:rPr lang="en-US" altLang="zh-CN" sz="2400" b="1">
                <a:sym typeface="+mn-ea"/>
              </a:rPr>
              <a:t>-25</a:t>
            </a:r>
            <a:r>
              <a:rPr sz="2400" b="1">
                <a:sym typeface="+mn-ea"/>
              </a:rPr>
              <a:t>）</a:t>
            </a:r>
            <a:r>
              <a:rPr lang="zh-CN" altLang="en-US" sz="2400" b="1"/>
              <a:t>艺术必须拒绝融入现实，从而保持一种</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lang="zh-CN" altLang="en-US" sz="2400" b="1"/>
              <a:t>的姿态。艺术之美所包含的自由、欢悦与人性是日常现实所</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lang="zh-CN" altLang="en-US" sz="2400" b="1"/>
              <a:t>的，同时也不会为纷繁的日常现实所消蚀，所掩盖。</a:t>
            </a:r>
            <a:endParaRPr lang="zh-CN" altLang="en-US" sz="2400" b="1"/>
          </a:p>
          <a:p>
            <a:pPr>
              <a:lnSpc>
                <a:spcPct val="110000"/>
              </a:lnSpc>
              <a:spcAft>
                <a:spcPts val="700"/>
              </a:spcAft>
            </a:pPr>
            <a:r>
              <a:rPr lang="zh-CN" altLang="en-US" sz="2400" b="1"/>
              <a:t>依次填入划横线部分最恰当的一项是（    ）。</a:t>
            </a:r>
            <a:endParaRPr lang="zh-CN" altLang="en-US" sz="2400" b="1"/>
          </a:p>
          <a:p>
            <a:pPr>
              <a:lnSpc>
                <a:spcPct val="110000"/>
              </a:lnSpc>
              <a:spcAft>
                <a:spcPts val="700"/>
              </a:spcAft>
            </a:pPr>
            <a:r>
              <a:rPr lang="zh-CN" altLang="en-US" sz="2400" b="1"/>
              <a:t>A. 与众不同    缺乏                       B. 出类拔萃    缺少</a:t>
            </a:r>
            <a:endParaRPr lang="zh-CN" altLang="en-US" sz="2400" b="1"/>
          </a:p>
          <a:p>
            <a:pPr>
              <a:lnSpc>
                <a:spcPct val="110000"/>
              </a:lnSpc>
              <a:spcAft>
                <a:spcPts val="700"/>
              </a:spcAft>
            </a:pPr>
            <a:r>
              <a:rPr lang="zh-CN" altLang="en-US" sz="2400" b="1"/>
              <a:t>C. 鹤立鸡群    匮缺                       D. 卓尔不群    匮乏</a:t>
            </a:r>
            <a:endParaRPr lang="zh-CN" altLang="en-US" sz="2400" b="1"/>
          </a:p>
          <a:p>
            <a:pPr>
              <a:lnSpc>
                <a:spcPct val="110000"/>
              </a:lnSpc>
              <a:spcAft>
                <a:spcPts val="700"/>
              </a:spcAft>
            </a:pPr>
            <a:r>
              <a:rPr sz="2400" b="1">
                <a:solidFill>
                  <a:srgbClr val="00B050"/>
                </a:solidFill>
                <a:sym typeface="+mn-ea"/>
              </a:rPr>
              <a:t>真题</a:t>
            </a:r>
            <a:r>
              <a:rPr lang="en-US" altLang="zh-CN" sz="2400" b="1">
                <a:solidFill>
                  <a:srgbClr val="00B050"/>
                </a:solidFill>
                <a:sym typeface="+mn-ea"/>
              </a:rPr>
              <a:t>15</a:t>
            </a:r>
            <a:r>
              <a:rPr sz="2400" b="1">
                <a:sym typeface="+mn-ea"/>
              </a:rPr>
              <a:t>（</a:t>
            </a:r>
            <a:r>
              <a:rPr sz="2400" b="1">
                <a:sym typeface="+mn-ea"/>
              </a:rPr>
              <a:t>川</a:t>
            </a:r>
            <a:r>
              <a:rPr lang="en-US" altLang="zh-CN" sz="2400" b="1">
                <a:sym typeface="+mn-ea"/>
              </a:rPr>
              <a:t>2012</a:t>
            </a:r>
            <a:r>
              <a:rPr sz="2400" b="1">
                <a:sym typeface="+mn-ea"/>
              </a:rPr>
              <a:t>上</a:t>
            </a:r>
            <a:r>
              <a:rPr lang="en-US" altLang="zh-CN" sz="2400" b="1">
                <a:sym typeface="+mn-ea"/>
              </a:rPr>
              <a:t>-26</a:t>
            </a:r>
            <a:r>
              <a:rPr sz="2400" b="1">
                <a:sym typeface="+mn-ea"/>
              </a:rPr>
              <a:t>）</a:t>
            </a:r>
            <a:r>
              <a:rPr lang="zh-CN" altLang="en-US" sz="2400" b="1"/>
              <a:t>26.城市的人居环境和城市发展要坚持发展和保护双赢、坚持当前发展和长远规划相结合；离开经济搞环境是</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lang="zh-CN" altLang="en-US" sz="2400" b="1"/>
              <a:t>而脱离环境搞发展则是</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sz="2400" b="1">
                <a:latin typeface="Times New Roman" panose="02020603050405020304" charset="0"/>
                <a:cs typeface="Times New Roman" panose="02020603050405020304" charset="0"/>
                <a:sym typeface="+mn-ea"/>
              </a:rPr>
              <a:t>͟͟͟͟͟͟͟͟͟</a:t>
            </a:r>
            <a:r>
              <a:rPr sz="2400" b="1">
                <a:sym typeface="+mn-ea"/>
              </a:rPr>
              <a:t>  </a:t>
            </a:r>
            <a:r>
              <a:rPr lang="zh-CN" altLang="en-US" sz="2400" b="1"/>
              <a:t>。</a:t>
            </a:r>
            <a:endParaRPr lang="zh-CN" altLang="en-US" sz="2400" b="1"/>
          </a:p>
          <a:p>
            <a:pPr>
              <a:lnSpc>
                <a:spcPct val="110000"/>
              </a:lnSpc>
              <a:spcAft>
                <a:spcPts val="700"/>
              </a:spcAft>
            </a:pPr>
            <a:r>
              <a:rPr lang="zh-CN" altLang="en-US" sz="2400" b="1"/>
              <a:t>依次填入划横线部分最恰当的一项是（    ）。</a:t>
            </a:r>
            <a:endParaRPr lang="zh-CN" altLang="en-US" sz="2400" b="1"/>
          </a:p>
          <a:p>
            <a:pPr>
              <a:lnSpc>
                <a:spcPct val="110000"/>
              </a:lnSpc>
              <a:spcAft>
                <a:spcPts val="700"/>
              </a:spcAft>
            </a:pPr>
            <a:r>
              <a:rPr lang="zh-CN" altLang="en-US" sz="2400" b="1"/>
              <a:t>A. 刻舟求剑      杀鸡取卵               B. 缘木求鱼      竭泽而渔</a:t>
            </a:r>
            <a:endParaRPr lang="zh-CN" altLang="en-US" sz="2400" b="1"/>
          </a:p>
          <a:p>
            <a:pPr>
              <a:lnSpc>
                <a:spcPct val="110000"/>
              </a:lnSpc>
              <a:spcAft>
                <a:spcPts val="700"/>
              </a:spcAft>
            </a:pPr>
            <a:r>
              <a:rPr lang="zh-CN" altLang="en-US" sz="2400" b="1"/>
              <a:t>C. 升山采珠      饮鸩止渴               D. 南辕北辙      从长计议</a:t>
            </a:r>
            <a:endParaRPr lang="zh-CN" altLang="en-US" sz="2400" b="1"/>
          </a:p>
        </p:txBody>
      </p:sp>
    </p:spTree>
    <p:custDataLst>
      <p:tags r:id="rId1"/>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TEMPLATE_THUMBS_INDEX" val="1"/>
  <p:tag name="KSO_WM_TEMPLATE_SUBCATEGORY" val="0"/>
  <p:tag name="KSO_WM_TAG_VERSION" val="1.0"/>
  <p:tag name="KSO_WM_BEAUTIFY_FLAG" val="#wm#"/>
  <p:tag name="KSO_WM_TEMPLATE_CATEGORY" val="custom"/>
  <p:tag name="KSO_WM_TEMPLATE_INDEX" val="20187308"/>
</p:tagLst>
</file>

<file path=ppt/tags/tag62.xml><?xml version="1.0" encoding="utf-8"?>
<p:tagLst xmlns:p="http://schemas.openxmlformats.org/presentationml/2006/main">
  <p:tag name="KSO_WM_UNIT_ISCONTENTSTITLE" val="0"/>
  <p:tag name="KSO_WM_UNIT_PRESET_TEXT" val="空白演示"/>
  <p:tag name="KSO_WM_UNIT_NOCLEAR" val="0"/>
  <p:tag name="KSO_WM_UNIT_VALUE" val="13"/>
  <p:tag name="KSO_WM_UNIT_HIGHLIGHT" val="0"/>
  <p:tag name="KSO_WM_UNIT_COMPATIBLE" val="0"/>
  <p:tag name="KSO_WM_UNIT_DIAGRAM_ISNUMVISUAL" val="0"/>
  <p:tag name="KSO_WM_UNIT_DIAGRAM_ISREFERUNIT" val="0"/>
  <p:tag name="KSO_WM_UNIT_TYPE" val="a"/>
  <p:tag name="KSO_WM_UNIT_INDEX" val="1"/>
  <p:tag name="KSO_WM_UNIT_ID" val="custom20187308_1*a*1"/>
  <p:tag name="KSO_WM_TEMPLATE_CATEGORY" val="custom"/>
  <p:tag name="KSO_WM_TEMPLATE_INDEX" val="20187308"/>
  <p:tag name="KSO_WM_UNIT_LAYERLEVEL" val="1"/>
  <p:tag name="KSO_WM_TAG_VERSION" val="1.0"/>
  <p:tag name="KSO_WM_BEAUTIFY_FLAG" val="#wm#"/>
</p:tagLst>
</file>

<file path=ppt/tags/tag63.xml><?xml version="1.0" encoding="utf-8"?>
<p:tagLst xmlns:p="http://schemas.openxmlformats.org/presentationml/2006/main">
  <p:tag name="KSO_WM_UNIT_ISCONTENTSTITLE" val="0"/>
  <p:tag name="KSO_WM_UNIT_PRESET_TEXT" val="在此输入您的封面副标题"/>
  <p:tag name="KSO_WM_UNIT_NOCLEAR" val="0"/>
  <p:tag name="KSO_WM_UNIT_VALUE" val="156"/>
  <p:tag name="KSO_WM_UNIT_HIGHLIGHT" val="0"/>
  <p:tag name="KSO_WM_UNIT_COMPATIBLE" val="0"/>
  <p:tag name="KSO_WM_UNIT_DIAGRAM_ISNUMVISUAL" val="0"/>
  <p:tag name="KSO_WM_UNIT_DIAGRAM_ISREFERUNIT" val="0"/>
  <p:tag name="KSO_WM_UNIT_TYPE" val="b"/>
  <p:tag name="KSO_WM_UNIT_INDEX" val="1"/>
  <p:tag name="KSO_WM_UNIT_ID" val="custom20187308_1*b*1"/>
  <p:tag name="KSO_WM_TEMPLATE_CATEGORY" val="custom"/>
  <p:tag name="KSO_WM_TEMPLATE_INDEX" val="20187308"/>
  <p:tag name="KSO_WM_UNIT_LAYERLEVEL" val="1"/>
  <p:tag name="KSO_WM_TAG_VERSION" val="1.0"/>
  <p:tag name="KSO_WM_BEAUTIFY_FLAG" val="#wm#"/>
</p:tagLst>
</file>

<file path=ppt/tags/tag64.xml><?xml version="1.0" encoding="utf-8"?>
<p:tagLst xmlns:p="http://schemas.openxmlformats.org/presentationml/2006/main">
  <p:tag name="KSO_WM_TEMPLATE_THUMBS_INDEX" val="1"/>
  <p:tag name="KSO_WM_SLIDE_ID" val="custom20187308_1"/>
  <p:tag name="KSO_WM_TEMPLATE_SUBCATEGORY" val="0"/>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187308"/>
  <p:tag name="KSO_WM_SLIDE_LAYOUT" val="a_b"/>
  <p:tag name="KSO_WM_SLIDE_LAYOUT_CNT" val="1_1"/>
</p:tagLst>
</file>

<file path=ppt/tags/tag65.xml><?xml version="1.0" encoding="utf-8"?>
<p:tagLst xmlns:p="http://schemas.openxmlformats.org/presentationml/2006/main">
  <p:tag name="KSO_WM_BEAUTIFY_FLAG" val="#wm#"/>
  <p:tag name="KSO_WM_TEMPLATE_CATEGORY" val="custom"/>
  <p:tag name="KSO_WM_TEMPLATE_INDEX" val="20187308"/>
</p:tagLst>
</file>

<file path=ppt/tags/tag66.xml><?xml version="1.0" encoding="utf-8"?>
<p:tagLst xmlns:p="http://schemas.openxmlformats.org/presentationml/2006/main">
  <p:tag name="KSO_WM_BEAUTIFY_FLAG" val="#wm#"/>
  <p:tag name="KSO_WM_TEMPLATE_CATEGORY" val="custom"/>
  <p:tag name="KSO_WM_TEMPLATE_INDEX" val="20187308"/>
</p:tagLst>
</file>

<file path=ppt/tags/tag67.xml><?xml version="1.0" encoding="utf-8"?>
<p:tagLst xmlns:p="http://schemas.openxmlformats.org/presentationml/2006/main">
  <p:tag name="KSO_WM_BEAUTIFY_FLAG" val="#wm#"/>
  <p:tag name="KSO_WM_TEMPLATE_CATEGORY" val="custom"/>
  <p:tag name="KSO_WM_TEMPLATE_INDEX" val="20187308"/>
</p:tagLst>
</file>

<file path=ppt/tags/tag68.xml><?xml version="1.0" encoding="utf-8"?>
<p:tagLst xmlns:p="http://schemas.openxmlformats.org/presentationml/2006/main">
  <p:tag name="KSO_WM_BEAUTIFY_FLAG" val="#wm#"/>
  <p:tag name="KSO_WM_TEMPLATE_CATEGORY" val="custom"/>
  <p:tag name="KSO_WM_TEMPLATE_INDEX" val="20187308"/>
</p:tagLst>
</file>

<file path=ppt/tags/tag69.xml><?xml version="1.0" encoding="utf-8"?>
<p:tagLst xmlns:p="http://schemas.openxmlformats.org/presentationml/2006/main">
  <p:tag name="KSO_WM_BEAUTIFY_FLAG" val="#wm#"/>
  <p:tag name="KSO_WM_TEMPLATE_CATEGORY" val="custom"/>
  <p:tag name="KSO_WM_TEMPLATE_INDEX" val="20187308"/>
</p:tagLst>
</file>

<file path=ppt/tags/tag70.xml><?xml version="1.0" encoding="utf-8"?>
<p:tagLst xmlns:p="http://schemas.openxmlformats.org/presentationml/2006/main">
  <p:tag name="KSO_WM_BEAUTIFY_FLAG" val="#wm#"/>
  <p:tag name="KSO_WM_TEMPLATE_CATEGORY" val="custom"/>
  <p:tag name="KSO_WM_TEMPLATE_INDEX" val="20187308"/>
</p:tagLst>
</file>

<file path=ppt/tags/tag71.xml><?xml version="1.0" encoding="utf-8"?>
<p:tagLst xmlns:p="http://schemas.openxmlformats.org/presentationml/2006/main">
  <p:tag name="KSO_WM_BEAUTIFY_FLAG" val="#wm#"/>
  <p:tag name="KSO_WM_TEMPLATE_CATEGORY" val="custom"/>
  <p:tag name="KSO_WM_TEMPLATE_INDEX" val="20187308"/>
</p:tagLst>
</file>

<file path=ppt/tags/tag72.xml><?xml version="1.0" encoding="utf-8"?>
<p:tagLst xmlns:p="http://schemas.openxmlformats.org/presentationml/2006/main">
  <p:tag name="KSO_WM_BEAUTIFY_FLAG" val="#wm#"/>
  <p:tag name="KSO_WM_TEMPLATE_CATEGORY" val="custom"/>
  <p:tag name="KSO_WM_TEMPLATE_INDEX" val="20187308"/>
</p:tagLst>
</file>

<file path=ppt/tags/tag73.xml><?xml version="1.0" encoding="utf-8"?>
<p:tagLst xmlns:p="http://schemas.openxmlformats.org/presentationml/2006/main">
  <p:tag name="KSO_WM_BEAUTIFY_FLAG" val="#wm#"/>
  <p:tag name="KSO_WM_TEMPLATE_CATEGORY" val="custom"/>
  <p:tag name="KSO_WM_TEMPLATE_INDEX" val="20187308"/>
</p:tagLst>
</file>

<file path=ppt/tags/tag74.xml><?xml version="1.0" encoding="utf-8"?>
<p:tagLst xmlns:p="http://schemas.openxmlformats.org/presentationml/2006/main">
  <p:tag name="KSO_WM_BEAUTIFY_FLAG" val="#wm#"/>
  <p:tag name="KSO_WM_TEMPLATE_CATEGORY" val="custom"/>
  <p:tag name="KSO_WM_TEMPLATE_INDEX" val="20187308"/>
</p:tagLst>
</file>

<file path=ppt/tags/tag75.xml><?xml version="1.0" encoding="utf-8"?>
<p:tagLst xmlns:p="http://schemas.openxmlformats.org/presentationml/2006/main">
  <p:tag name="KSO_WM_BEAUTIFY_FLAG" val="#wm#"/>
  <p:tag name="KSO_WM_TEMPLATE_CATEGORY" val="custom"/>
  <p:tag name="KSO_WM_TEMPLATE_INDEX" val="20187308"/>
</p:tagLst>
</file>

<file path=ppt/tags/tag76.xml><?xml version="1.0" encoding="utf-8"?>
<p:tagLst xmlns:p="http://schemas.openxmlformats.org/presentationml/2006/main">
  <p:tag name="KSO_WM_BEAUTIFY_FLAG" val="#wm#"/>
  <p:tag name="KSO_WM_TEMPLATE_CATEGORY" val="custom"/>
  <p:tag name="KSO_WM_TEMPLATE_INDEX" val="20187308"/>
</p:tagLst>
</file>

<file path=ppt/tags/tag77.xml><?xml version="1.0" encoding="utf-8"?>
<p:tagLst xmlns:p="http://schemas.openxmlformats.org/presentationml/2006/main">
  <p:tag name="KSO_WM_BEAUTIFY_FLAG" val="#wm#"/>
  <p:tag name="KSO_WM_TEMPLATE_CATEGORY" val="custom"/>
  <p:tag name="KSO_WM_TEMPLATE_INDEX" val="20187308"/>
</p:tagLst>
</file>

<file path=ppt/tags/tag78.xml><?xml version="1.0" encoding="utf-8"?>
<p:tagLst xmlns:p="http://schemas.openxmlformats.org/presentationml/2006/main">
  <p:tag name="KSO_WM_BEAUTIFY_FLAG" val="#wm#"/>
  <p:tag name="KSO_WM_TEMPLATE_CATEGORY" val="custom"/>
  <p:tag name="KSO_WM_TEMPLATE_INDEX" val="20187308"/>
</p:tagLst>
</file>

<file path=ppt/tags/tag79.xml><?xml version="1.0" encoding="utf-8"?>
<p:tagLst xmlns:p="http://schemas.openxmlformats.org/presentationml/2006/main">
  <p:tag name="KSO_WM_BEAUTIFY_FLAG" val="#wm#"/>
  <p:tag name="KSO_WM_TEMPLATE_CATEGORY" val="custom"/>
  <p:tag name="KSO_WM_TEMPLATE_INDEX" val="20187308"/>
</p:tagLst>
</file>

<file path=ppt/tags/tag80.xml><?xml version="1.0" encoding="utf-8"?>
<p:tagLst xmlns:p="http://schemas.openxmlformats.org/presentationml/2006/main">
  <p:tag name="KSO_WM_BEAUTIFY_FLAG" val="#wm#"/>
  <p:tag name="KSO_WM_TEMPLATE_CATEGORY" val="custom"/>
  <p:tag name="KSO_WM_TEMPLATE_INDEX" val="20187308"/>
</p:tagLst>
</file>

<file path=ppt/tags/tag81.xml><?xml version="1.0" encoding="utf-8"?>
<p:tagLst xmlns:p="http://schemas.openxmlformats.org/presentationml/2006/main">
  <p:tag name="KSO_WM_BEAUTIFY_FLAG" val="#wm#"/>
  <p:tag name="KSO_WM_TEMPLATE_CATEGORY" val="custom"/>
  <p:tag name="KSO_WM_TEMPLATE_INDEX" val="20187308"/>
</p:tagLst>
</file>

<file path=ppt/tags/tag82.xml><?xml version="1.0" encoding="utf-8"?>
<p:tagLst xmlns:p="http://schemas.openxmlformats.org/presentationml/2006/main">
  <p:tag name="KSO_WM_BEAUTIFY_FLAG" val="#wm#"/>
  <p:tag name="KSO_WM_TEMPLATE_CATEGORY" val="custom"/>
  <p:tag name="KSO_WM_TEMPLATE_INDEX" val="20187308"/>
</p:tagLst>
</file>

<file path=ppt/tags/tag83.xml><?xml version="1.0" encoding="utf-8"?>
<p:tagLst xmlns:p="http://schemas.openxmlformats.org/presentationml/2006/main">
  <p:tag name="KSO_WM_UNIT_PLACING_PICTURE_USER_VIEWPORT" val="{&quot;height&quot;:7939,&quot;width&quot;:10585}"/>
</p:tagLst>
</file>

<file path=ppt/tags/tag84.xml><?xml version="1.0" encoding="utf-8"?>
<p:tagLst xmlns:p="http://schemas.openxmlformats.org/presentationml/2006/main">
  <p:tag name="KSO_WM_BEAUTIFY_FLAG" val="#wm#"/>
  <p:tag name="KSO_WM_TEMPLATE_CATEGORY" val="custom"/>
  <p:tag name="KSO_WM_TEMPLATE_INDEX" val="20187308"/>
</p:tagLst>
</file>

<file path=ppt/tags/tag85.xml><?xml version="1.0" encoding="utf-8"?>
<p:tagLst xmlns:p="http://schemas.openxmlformats.org/presentationml/2006/main">
  <p:tag name="KSO_WM_BEAUTIFY_FLAG" val="#wm#"/>
  <p:tag name="KSO_WM_TEMPLATE_CATEGORY" val="custom"/>
  <p:tag name="KSO_WM_TEMPLATE_INDEX" val="20187308"/>
</p:tagLst>
</file>

<file path=ppt/tags/tag86.xml><?xml version="1.0" encoding="utf-8"?>
<p:tagLst xmlns:p="http://schemas.openxmlformats.org/presentationml/2006/main">
  <p:tag name="KSO_WM_BEAUTIFY_FLAG" val="#wm#"/>
  <p:tag name="KSO_WM_TEMPLATE_CATEGORY" val="custom"/>
  <p:tag name="KSO_WM_TEMPLATE_INDEX" val="20187308"/>
</p:tagLst>
</file>

<file path=ppt/tags/tag87.xml><?xml version="1.0" encoding="utf-8"?>
<p:tagLst xmlns:p="http://schemas.openxmlformats.org/presentationml/2006/main">
  <p:tag name="KSO_WM_BEAUTIFY_FLAG" val="#wm#"/>
  <p:tag name="KSO_WM_TEMPLATE_CATEGORY" val="custom"/>
  <p:tag name="KSO_WM_TEMPLATE_INDEX" val="20187308"/>
</p:tagLst>
</file>

<file path=ppt/tags/tag88.xml><?xml version="1.0" encoding="utf-8"?>
<p:tagLst xmlns:p="http://schemas.openxmlformats.org/presentationml/2006/main">
  <p:tag name="KSO_WM_BEAUTIFY_FLAG" val="#wm#"/>
  <p:tag name="KSO_WM_TEMPLATE_CATEGORY" val="custom"/>
  <p:tag name="KSO_WM_TEMPLATE_INDEX" val="20187308"/>
</p:tagLst>
</file>

<file path=ppt/tags/tag89.xml><?xml version="1.0" encoding="utf-8"?>
<p:tagLst xmlns:p="http://schemas.openxmlformats.org/presentationml/2006/main">
  <p:tag name="KSO_WM_BEAUTIFY_FLAG" val="#wm#"/>
  <p:tag name="KSO_WM_TEMPLATE_CATEGORY" val="custom"/>
  <p:tag name="KSO_WM_TEMPLATE_INDEX" val="20187308"/>
</p:tagLst>
</file>

<file path=ppt/tags/tag90.xml><?xml version="1.0" encoding="utf-8"?>
<p:tagLst xmlns:p="http://schemas.openxmlformats.org/presentationml/2006/main">
  <p:tag name="KSO_WM_BEAUTIFY_FLAG" val="#wm#"/>
  <p:tag name="KSO_WM_TEMPLATE_CATEGORY" val="custom"/>
  <p:tag name="KSO_WM_TEMPLATE_INDEX" val="20187308"/>
</p:tagLst>
</file>

<file path=ppt/tags/tag91.xml><?xml version="1.0" encoding="utf-8"?>
<p:tagLst xmlns:p="http://schemas.openxmlformats.org/presentationml/2006/main">
  <p:tag name="KSO_WM_BEAUTIFY_FLAG" val="#wm#"/>
  <p:tag name="KSO_WM_TEMPLATE_CATEGORY" val="custom"/>
  <p:tag name="KSO_WM_TEMPLATE_INDEX" val="20187308"/>
</p:tagLst>
</file>

<file path=ppt/tags/tag92.xml><?xml version="1.0" encoding="utf-8"?>
<p:tagLst xmlns:p="http://schemas.openxmlformats.org/presentationml/2006/main">
  <p:tag name="KSO_WM_BEAUTIFY_FLAG" val="#wm#"/>
  <p:tag name="KSO_WM_TEMPLATE_CATEGORY" val="custom"/>
  <p:tag name="KSO_WM_TEMPLATE_INDEX" val="20187308"/>
</p:tagLst>
</file>

<file path=ppt/tags/tag93.xml><?xml version="1.0" encoding="utf-8"?>
<p:tagLst xmlns:p="http://schemas.openxmlformats.org/presentationml/2006/main">
  <p:tag name="KSO_WM_BEAUTIFY_FLAG" val="#wm#"/>
  <p:tag name="KSO_WM_TEMPLATE_CATEGORY" val="custom"/>
  <p:tag name="KSO_WM_TEMPLATE_INDEX" val="20187308"/>
</p:tagLst>
</file>

<file path=ppt/tags/tag94.xml><?xml version="1.0" encoding="utf-8"?>
<p:tagLst xmlns:p="http://schemas.openxmlformats.org/presentationml/2006/main">
  <p:tag name="KSO_WM_BEAUTIFY_FLAG" val="#wm#"/>
  <p:tag name="KSO_WM_TEMPLATE_CATEGORY" val="custom"/>
  <p:tag name="KSO_WM_TEMPLATE_INDEX" val="20187308"/>
</p:tagLst>
</file>

<file path=ppt/tags/tag95.xml><?xml version="1.0" encoding="utf-8"?>
<p:tagLst xmlns:p="http://schemas.openxmlformats.org/presentationml/2006/main">
  <p:tag name="KSO_WM_BEAUTIFY_FLAG" val="#wm#"/>
  <p:tag name="KSO_WM_TEMPLATE_CATEGORY" val="custom"/>
  <p:tag name="KSO_WM_TEMPLATE_INDEX" val="20187308"/>
</p:tagLst>
</file>

<file path=ppt/tags/tag96.xml><?xml version="1.0" encoding="utf-8"?>
<p:tagLst xmlns:p="http://schemas.openxmlformats.org/presentationml/2006/main">
  <p:tag name="KSO_WM_BEAUTIFY_FLAG" val="#wm#"/>
  <p:tag name="KSO_WM_TEMPLATE_CATEGORY" val="custom"/>
  <p:tag name="KSO_WM_TEMPLATE_INDEX" val="20187308"/>
</p:tagLst>
</file>

<file path=ppt/tags/tag97.xml><?xml version="1.0" encoding="utf-8"?>
<p:tagLst xmlns:p="http://schemas.openxmlformats.org/presentationml/2006/main">
  <p:tag name="KSO_WM_BEAUTIFY_FLAG" val="#wm#"/>
  <p:tag name="KSO_WM_TEMPLATE_CATEGORY" val="custom"/>
  <p:tag name="KSO_WM_TEMPLATE_INDEX" val="20187308"/>
</p:tagLst>
</file>

<file path=ppt/tags/tag98.xml><?xml version="1.0" encoding="utf-8"?>
<p:tagLst xmlns:p="http://schemas.openxmlformats.org/presentationml/2006/main">
  <p:tag name="KSO_WM_BEAUTIFY_FLAG" val="#wm#"/>
  <p:tag name="KSO_WM_TEMPLATE_CATEGORY" val="custom"/>
  <p:tag name="KSO_WM_TEMPLATE_INDEX" val="20187308"/>
</p:tagLst>
</file>

<file path=ppt/tags/tag99.xml><?xml version="1.0" encoding="utf-8"?>
<p:tagLst xmlns:p="http://schemas.openxmlformats.org/presentationml/2006/main">
  <p:tag name="KSO_WM_BEAUTIFY_FLAG" val="#wm#"/>
  <p:tag name="KSO_WM_TEMPLATE_CATEGORY" val="custom"/>
  <p:tag name="KSO_WM_TEMPLATE_INDEX" val="20187308"/>
</p:tagLst>
</file>

<file path=ppt/tags/tag100.xml><?xml version="1.0" encoding="utf-8"?>
<p:tagLst xmlns:p="http://schemas.openxmlformats.org/presentationml/2006/main">
  <p:tag name="KSO_WM_BEAUTIFY_FLAG" val="#wm#"/>
  <p:tag name="KSO_WM_TEMPLATE_CATEGORY" val="custom"/>
  <p:tag name="KSO_WM_TEMPLATE_INDEX" val="20187308"/>
</p:tagLst>
</file>

<file path=ppt/tags/tag101.xml><?xml version="1.0" encoding="utf-8"?>
<p:tagLst xmlns:p="http://schemas.openxmlformats.org/presentationml/2006/main">
  <p:tag name="KSO_WM_BEAUTIFY_FLAG" val="#wm#"/>
  <p:tag name="KSO_WM_TEMPLATE_CATEGORY" val="custom"/>
  <p:tag name="KSO_WM_TEMPLATE_INDEX" val="20187308"/>
</p:tagLst>
</file>

<file path=ppt/tags/tag102.xml><?xml version="1.0" encoding="utf-8"?>
<p:tagLst xmlns:p="http://schemas.openxmlformats.org/presentationml/2006/main">
  <p:tag name="KSO_WM_BEAUTIFY_FLAG" val="#wm#"/>
  <p:tag name="KSO_WM_TEMPLATE_CATEGORY" val="custom"/>
  <p:tag name="KSO_WM_TEMPLATE_INDEX" val="20187308"/>
</p:tagLst>
</file>

<file path=ppt/tags/tag103.xml><?xml version="1.0" encoding="utf-8"?>
<p:tagLst xmlns:p="http://schemas.openxmlformats.org/presentationml/2006/main">
  <p:tag name="KSO_WM_BEAUTIFY_FLAG" val="#wm#"/>
  <p:tag name="KSO_WM_TEMPLATE_CATEGORY" val="custom"/>
  <p:tag name="KSO_WM_TEMPLATE_INDEX" val="20187308"/>
</p:tagLst>
</file>

<file path=ppt/tags/tag104.xml><?xml version="1.0" encoding="utf-8"?>
<p:tagLst xmlns:p="http://schemas.openxmlformats.org/presentationml/2006/main">
  <p:tag name="KSO_WM_BEAUTIFY_FLAG" val="#wm#"/>
  <p:tag name="KSO_WM_TEMPLATE_CATEGORY" val="custom"/>
  <p:tag name="KSO_WM_TEMPLATE_INDEX" val="20187308"/>
</p:tagLst>
</file>

<file path=ppt/tags/tag105.xml><?xml version="1.0" encoding="utf-8"?>
<p:tagLst xmlns:p="http://schemas.openxmlformats.org/presentationml/2006/main">
  <p:tag name="KSO_WM_BEAUTIFY_FLAG" val="#wm#"/>
  <p:tag name="KSO_WM_TEMPLATE_CATEGORY" val="custom"/>
  <p:tag name="KSO_WM_TEMPLATE_INDEX" val="20187308"/>
</p:tagLst>
</file>

<file path=ppt/tags/tag106.xml><?xml version="1.0" encoding="utf-8"?>
<p:tagLst xmlns:p="http://schemas.openxmlformats.org/presentationml/2006/main">
  <p:tag name="KSO_WM_BEAUTIFY_FLAG" val="#wm#"/>
  <p:tag name="KSO_WM_TEMPLATE_CATEGORY" val="custom"/>
  <p:tag name="KSO_WM_TEMPLATE_INDEX" val="20187308"/>
</p:tagLst>
</file>

<file path=ppt/tags/tag107.xml><?xml version="1.0" encoding="utf-8"?>
<p:tagLst xmlns:p="http://schemas.openxmlformats.org/presentationml/2006/main">
  <p:tag name="KSO_WM_BEAUTIFY_FLAG" val="#wm#"/>
  <p:tag name="KSO_WM_TEMPLATE_CATEGORY" val="custom"/>
  <p:tag name="KSO_WM_TEMPLATE_INDEX" val="20187308"/>
</p:tagLst>
</file>

<file path=ppt/tags/tag108.xml><?xml version="1.0" encoding="utf-8"?>
<p:tagLst xmlns:p="http://schemas.openxmlformats.org/presentationml/2006/main">
  <p:tag name="KSO_WM_BEAUTIFY_FLAG" val="#wm#"/>
  <p:tag name="KSO_WM_TEMPLATE_CATEGORY" val="custom"/>
  <p:tag name="KSO_WM_TEMPLATE_INDEX" val="20187308"/>
</p:tagLst>
</file>

<file path=ppt/tags/tag109.xml><?xml version="1.0" encoding="utf-8"?>
<p:tagLst xmlns:p="http://schemas.openxmlformats.org/presentationml/2006/main">
  <p:tag name="KSO_WM_BEAUTIFY_FLAG" val="#wm#"/>
  <p:tag name="KSO_WM_TEMPLATE_CATEGORY" val="custom"/>
  <p:tag name="KSO_WM_TEMPLATE_INDEX" val="20187308"/>
</p:tagLst>
</file>

<file path=ppt/tags/tag110.xml><?xml version="1.0" encoding="utf-8"?>
<p:tagLst xmlns:p="http://schemas.openxmlformats.org/presentationml/2006/main">
  <p:tag name="KSO_WM_BEAUTIFY_FLAG" val="#wm#"/>
  <p:tag name="KSO_WM_TEMPLATE_CATEGORY" val="custom"/>
  <p:tag name="KSO_WM_TEMPLATE_INDEX" val="20187308"/>
</p:tagLst>
</file>

<file path=ppt/tags/tag111.xml><?xml version="1.0" encoding="utf-8"?>
<p:tagLst xmlns:p="http://schemas.openxmlformats.org/presentationml/2006/main">
  <p:tag name="KSO_WM_BEAUTIFY_FLAG" val="#wm#"/>
  <p:tag name="KSO_WM_TEMPLATE_CATEGORY" val="custom"/>
  <p:tag name="KSO_WM_TEMPLATE_INDEX" val="20187308"/>
</p:tagLst>
</file>

<file path=ppt/tags/tag112.xml><?xml version="1.0" encoding="utf-8"?>
<p:tagLst xmlns:p="http://schemas.openxmlformats.org/presentationml/2006/main">
  <p:tag name="KSO_WM_BEAUTIFY_FLAG" val="#wm#"/>
  <p:tag name="KSO_WM_TEMPLATE_CATEGORY" val="custom"/>
  <p:tag name="KSO_WM_TEMPLATE_INDEX" val="20187308"/>
</p:tagLst>
</file>

<file path=ppt/tags/tag113.xml><?xml version="1.0" encoding="utf-8"?>
<p:tagLst xmlns:p="http://schemas.openxmlformats.org/presentationml/2006/main">
  <p:tag name="KSO_WM_BEAUTIFY_FLAG" val="#wm#"/>
  <p:tag name="KSO_WM_TEMPLATE_CATEGORY" val="custom"/>
  <p:tag name="KSO_WM_TEMPLATE_INDEX" val="20187308"/>
</p:tagLst>
</file>

<file path=ppt/tags/tag114.xml><?xml version="1.0" encoding="utf-8"?>
<p:tagLst xmlns:p="http://schemas.openxmlformats.org/presentationml/2006/main">
  <p:tag name="KSO_WM_BEAUTIFY_FLAG" val="#wm#"/>
  <p:tag name="KSO_WM_TEMPLATE_CATEGORY" val="custom"/>
  <p:tag name="KSO_WM_TEMPLATE_INDEX" val="20187308"/>
</p:tagLst>
</file>

<file path=ppt/tags/tag115.xml><?xml version="1.0" encoding="utf-8"?>
<p:tagLst xmlns:p="http://schemas.openxmlformats.org/presentationml/2006/main">
  <p:tag name="KSO_WM_BEAUTIFY_FLAG" val="#wm#"/>
  <p:tag name="KSO_WM_TEMPLATE_CATEGORY" val="custom"/>
  <p:tag name="KSO_WM_TEMPLATE_INDEX" val="20187308"/>
</p:tagLst>
</file>

<file path=ppt/tags/tag116.xml><?xml version="1.0" encoding="utf-8"?>
<p:tagLst xmlns:p="http://schemas.openxmlformats.org/presentationml/2006/main">
  <p:tag name="KSO_WM_BEAUTIFY_FLAG" val="#wm#"/>
  <p:tag name="KSO_WM_TEMPLATE_CATEGORY" val="custom"/>
  <p:tag name="KSO_WM_TEMPLATE_INDEX" val="20187308"/>
</p:tagLst>
</file>

<file path=ppt/tags/tag117.xml><?xml version="1.0" encoding="utf-8"?>
<p:tagLst xmlns:p="http://schemas.openxmlformats.org/presentationml/2006/main">
  <p:tag name="KSO_WM_BEAUTIFY_FLAG" val="#wm#"/>
  <p:tag name="KSO_WM_TEMPLATE_CATEGORY" val="custom"/>
  <p:tag name="KSO_WM_TEMPLATE_INDEX" val="20187308"/>
</p:tagLst>
</file>

<file path=ppt/tags/tag118.xml><?xml version="1.0" encoding="utf-8"?>
<p:tagLst xmlns:p="http://schemas.openxmlformats.org/presentationml/2006/main">
  <p:tag name="KSO_WM_BEAUTIFY_FLAG" val="#wm#"/>
  <p:tag name="KSO_WM_TEMPLATE_CATEGORY" val="custom"/>
  <p:tag name="KSO_WM_TEMPLATE_INDEX" val="20187308"/>
</p:tagLst>
</file>

<file path=ppt/tags/tag119.xml><?xml version="1.0" encoding="utf-8"?>
<p:tagLst xmlns:p="http://schemas.openxmlformats.org/presentationml/2006/main">
  <p:tag name="KSO_WM_BEAUTIFY_FLAG" val="#wm#"/>
  <p:tag name="KSO_WM_TEMPLATE_CATEGORY" val="custom"/>
  <p:tag name="KSO_WM_TEMPLATE_INDEX" val="20187308"/>
</p:tagLst>
</file>

<file path=ppt/tags/tag120.xml><?xml version="1.0" encoding="utf-8"?>
<p:tagLst xmlns:p="http://schemas.openxmlformats.org/presentationml/2006/main">
  <p:tag name="KSO_WM_BEAUTIFY_FLAG" val="#wm#"/>
  <p:tag name="KSO_WM_TEMPLATE_CATEGORY" val="custom"/>
  <p:tag name="KSO_WM_TEMPLATE_INDEX" val="20187308"/>
</p:tagLst>
</file>

<file path=ppt/tags/tag121.xml><?xml version="1.0" encoding="utf-8"?>
<p:tagLst xmlns:p="http://schemas.openxmlformats.org/presentationml/2006/main">
  <p:tag name="KSO_WM_BEAUTIFY_FLAG" val="#wm#"/>
  <p:tag name="KSO_WM_TEMPLATE_CATEGORY" val="custom"/>
  <p:tag name="KSO_WM_TEMPLATE_INDEX" val="20187308"/>
</p:tagLst>
</file>

<file path=ppt/tags/tag122.xml><?xml version="1.0" encoding="utf-8"?>
<p:tagLst xmlns:p="http://schemas.openxmlformats.org/presentationml/2006/main">
  <p:tag name="KSO_WM_BEAUTIFY_FLAG" val="#wm#"/>
  <p:tag name="KSO_WM_TEMPLATE_CATEGORY" val="custom"/>
  <p:tag name="KSO_WM_TEMPLATE_INDEX" val="20187308"/>
</p:tagLst>
</file>

<file path=ppt/tags/tag123.xml><?xml version="1.0" encoding="utf-8"?>
<p:tagLst xmlns:p="http://schemas.openxmlformats.org/presentationml/2006/main">
  <p:tag name="KSO_WM_BEAUTIFY_FLAG" val="#wm#"/>
  <p:tag name="KSO_WM_TEMPLATE_CATEGORY" val="custom"/>
  <p:tag name="KSO_WM_TEMPLATE_INDEX" val="20187308"/>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12612</Words>
  <Application>WPS 演示</Application>
  <PresentationFormat>宽屏</PresentationFormat>
  <Paragraphs>507</Paragraphs>
  <Slides>59</Slides>
  <Notes>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59</vt:i4>
      </vt:variant>
    </vt:vector>
  </HeadingPairs>
  <TitlesOfParts>
    <vt:vector size="69" baseType="lpstr">
      <vt:lpstr>Arial</vt:lpstr>
      <vt:lpstr>宋体</vt:lpstr>
      <vt:lpstr>Wingdings</vt:lpstr>
      <vt:lpstr>微软雅黑</vt:lpstr>
      <vt:lpstr>Arial Unicode MS</vt:lpstr>
      <vt:lpstr>Symbol</vt:lpstr>
      <vt:lpstr>Times New Roman</vt:lpstr>
      <vt:lpstr>楷体_GB2312</vt:lpstr>
      <vt:lpstr>新宋体</vt:lpstr>
      <vt:lpstr>Office 主题​​</vt:lpstr>
      <vt:lpstr>公务员考试中的逻辑学</vt:lpstr>
      <vt:lpstr>教师简介：        （电话：18180684058    QQ: 591551032）</vt:lpstr>
      <vt:lpstr>公务员考试科目</vt:lpstr>
      <vt:lpstr>2019年上半年四川《申论》第1题</vt:lpstr>
      <vt:lpstr>2019年上半年四川《申论》第2题-3题</vt:lpstr>
      <vt:lpstr>试题分析1</vt:lpstr>
      <vt:lpstr>试题分析2</vt:lpstr>
      <vt:lpstr>2018年下半年四川公务员考试</vt:lpstr>
      <vt:lpstr>2012年上--2019年下共14次四川申论每次共3个题</vt:lpstr>
      <vt:lpstr>参加申论考试建议</vt:lpstr>
      <vt:lpstr>《行政职业能力测验》（简称《行测》）考题5大板块</vt:lpstr>
      <vt:lpstr>四川卷2016下-2019下6套《行政职业能力测验》</vt:lpstr>
      <vt:lpstr>行测题量分布：言语理解与表达和判断推理是行测重中之重</vt:lpstr>
      <vt:lpstr>为什么要学逻辑学？</vt:lpstr>
      <vt:lpstr>逻辑学的基础地位</vt:lpstr>
      <vt:lpstr>人工智能逻辑</vt:lpstr>
      <vt:lpstr>良好的逻辑思维：胸怀苍生，面向世界</vt:lpstr>
      <vt:lpstr>逻辑学是智慧之学</vt:lpstr>
      <vt:lpstr>学习普通逻辑的意义</vt:lpstr>
      <vt:lpstr>教材1：中国人民大学哲学院逻辑室主编《逻辑学（第3版）》，           中国人民大学出版社，2014。    疫情过后可以选择购买</vt:lpstr>
      <vt:lpstr>教材2：李永新主编《行政职业能力测验（第十四版）》，           西南财经大学出版社，2019。 疫情过后可以选择购买</vt:lpstr>
      <vt:lpstr>本课程讲解重点与建议</vt:lpstr>
      <vt:lpstr>第二讲：言语理解与表达中的逻辑填空</vt:lpstr>
      <vt:lpstr>言语理解与表达模块中的逻辑填空占比（地级市）</vt:lpstr>
      <vt:lpstr>言语理解与表达模块中的逻辑填空占比（副省级）</vt:lpstr>
      <vt:lpstr>第二讲：言语理解与表达中的逻辑填空</vt:lpstr>
      <vt:lpstr>一、把握对应关系</vt:lpstr>
      <vt:lpstr>1.言语理解与表达模块中的解释关系</vt:lpstr>
      <vt:lpstr>真题1：</vt:lpstr>
      <vt:lpstr>基本知识1：概念</vt:lpstr>
      <vt:lpstr>基本知识2：定义</vt:lpstr>
      <vt:lpstr>真题1</vt:lpstr>
      <vt:lpstr>真题1精讲</vt:lpstr>
      <vt:lpstr>真题2 </vt:lpstr>
      <vt:lpstr>真题2精讲 </vt:lpstr>
      <vt:lpstr>真题3</vt:lpstr>
      <vt:lpstr>真题3精讲</vt:lpstr>
      <vt:lpstr>课堂练习：真题4（川2019上-19）</vt:lpstr>
      <vt:lpstr>真题5精讲（川2019上-19）</vt:lpstr>
      <vt:lpstr>2.言语理解与表达中的反对关系</vt:lpstr>
      <vt:lpstr>概念间的关系：相容关系与不相容关系</vt:lpstr>
      <vt:lpstr>属种关系</vt:lpstr>
      <vt:lpstr>交叉关系</vt:lpstr>
      <vt:lpstr>全异关系</vt:lpstr>
      <vt:lpstr>矛盾关系</vt:lpstr>
      <vt:lpstr>课堂练习</vt:lpstr>
      <vt:lpstr>真题6</vt:lpstr>
      <vt:lpstr>真题6精讲：</vt:lpstr>
      <vt:lpstr>真题7(川2019下-18）</vt:lpstr>
      <vt:lpstr>真题7精讲</vt:lpstr>
      <vt:lpstr>真题8(川2012上-23）</vt:lpstr>
      <vt:lpstr>真题8精讲</vt:lpstr>
      <vt:lpstr>真题9精讲</vt:lpstr>
      <vt:lpstr>真题9(川2012上-23）</vt:lpstr>
      <vt:lpstr>总结</vt:lpstr>
      <vt:lpstr>逻辑知识总结</vt:lpstr>
      <vt:lpstr>作业</vt:lpstr>
      <vt:lpstr>作业（续1）</vt:lpstr>
      <vt:lpstr>作业（续2）</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Administrator</cp:lastModifiedBy>
  <cp:revision>82</cp:revision>
  <dcterms:created xsi:type="dcterms:W3CDTF">2019-06-19T02:08:00Z</dcterms:created>
  <dcterms:modified xsi:type="dcterms:W3CDTF">2020-05-08T08:17:12Z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2052-11.1.0.9662</vt:lpwstr>
  </property>
</Properties>
</file>