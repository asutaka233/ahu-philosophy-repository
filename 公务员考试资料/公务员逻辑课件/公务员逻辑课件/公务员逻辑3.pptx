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1"/>
  </p:handoutMasterIdLst>
  <p:sldIdLst>
    <p:sldId id="256" r:id="rId3"/>
    <p:sldId id="257" r:id="rId5"/>
    <p:sldId id="274" r:id="rId6"/>
    <p:sldId id="258" r:id="rId7"/>
    <p:sldId id="271" r:id="rId8"/>
    <p:sldId id="259" r:id="rId9"/>
    <p:sldId id="272" r:id="rId10"/>
    <p:sldId id="260" r:id="rId11"/>
    <p:sldId id="261" r:id="rId12"/>
    <p:sldId id="290" r:id="rId13"/>
    <p:sldId id="262" r:id="rId14"/>
    <p:sldId id="291" r:id="rId15"/>
    <p:sldId id="263" r:id="rId16"/>
    <p:sldId id="265" r:id="rId17"/>
    <p:sldId id="266" r:id="rId18"/>
    <p:sldId id="303" r:id="rId19"/>
    <p:sldId id="301" r:id="rId20"/>
    <p:sldId id="304" r:id="rId21"/>
    <p:sldId id="302" r:id="rId22"/>
    <p:sldId id="305" r:id="rId23"/>
    <p:sldId id="315" r:id="rId24"/>
    <p:sldId id="267" r:id="rId25"/>
    <p:sldId id="268" r:id="rId26"/>
    <p:sldId id="269" r:id="rId27"/>
    <p:sldId id="270" r:id="rId28"/>
    <p:sldId id="312" r:id="rId29"/>
    <p:sldId id="313"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第三讲：</a:t>
            </a:r>
            <a:r>
              <a:rPr lang="zh-CN" altLang="en-US" sz="4000" b="1">
                <a:sym typeface="+mn-ea"/>
              </a:rPr>
              <a:t>言语理解与表达中的逻辑填空</a:t>
            </a:r>
            <a:r>
              <a:rPr lang="en-US" altLang="zh-CN" sz="4000" b="1">
                <a:sym typeface="+mn-ea"/>
              </a:rPr>
              <a:t>3</a:t>
            </a:r>
            <a:endParaRPr lang="en-US" altLang="zh-CN" sz="4000" b="1">
              <a:sym typeface="+mn-ea"/>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作业讲评</a:t>
            </a:r>
            <a:r>
              <a:rPr lang="en-US" altLang="zh-CN"/>
              <a:t>1</a:t>
            </a:r>
            <a:endParaRPr lang="en-US" altLang="zh-CN"/>
          </a:p>
        </p:txBody>
      </p:sp>
      <p:sp>
        <p:nvSpPr>
          <p:cNvPr id="3" name="内容占位符 2"/>
          <p:cNvSpPr>
            <a:spLocks noGrp="1"/>
          </p:cNvSpPr>
          <p:nvPr>
            <p:ph idx="1"/>
          </p:nvPr>
        </p:nvSpPr>
        <p:spPr/>
        <p:txBody>
          <a:bodyPr/>
          <a:p>
            <a:pPr>
              <a:lnSpc>
                <a:spcPct val="120000"/>
              </a:lnSpc>
              <a:spcAft>
                <a:spcPts val="80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38</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下</a:t>
            </a:r>
            <a:r>
              <a:rPr lang="en-US" altLang="zh-CN" sz="2400" b="1">
                <a:solidFill>
                  <a:schemeClr val="tx1"/>
                </a:solidFill>
                <a:latin typeface="+mn-ea"/>
                <a:cs typeface="+mn-ea"/>
                <a:sym typeface="+mn-ea"/>
              </a:rPr>
              <a:t>-22</a:t>
            </a:r>
            <a:r>
              <a:rPr sz="2400" b="1">
                <a:solidFill>
                  <a:schemeClr val="tx1"/>
                </a:solidFill>
                <a:latin typeface="+mn-ea"/>
                <a:cs typeface="+mn-ea"/>
                <a:sym typeface="+mn-ea"/>
              </a:rPr>
              <a:t>）：我们喜欢向他人分享目标，好像在寻求某种认可和鼓励。然而分享会给人一种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mn-ea"/>
                <a:cs typeface="+mn-ea"/>
                <a:sym typeface="+mn-ea"/>
              </a:rPr>
              <a:t>的满足感，</a:t>
            </a:r>
            <a:r>
              <a:rPr sz="2400" b="1">
                <a:solidFill>
                  <a:srgbClr val="FF0000"/>
                </a:solidFill>
                <a:latin typeface="+mn-ea"/>
                <a:cs typeface="+mn-ea"/>
                <a:sym typeface="+mn-ea"/>
              </a:rPr>
              <a:t>将空谈错认为</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mn-ea"/>
                <a:cs typeface="+mn-ea"/>
                <a:sym typeface="+mn-ea"/>
              </a:rPr>
              <a:t>。记下你的目标，制订可行计划，才更可能成功。</a:t>
            </a:r>
            <a:endParaRPr lang="zh-CN" altLang="en-US" sz="2400" b="1">
              <a:solidFill>
                <a:schemeClr val="tx1"/>
              </a:solidFill>
              <a:latin typeface="+mn-ea"/>
              <a:cs typeface="+mn-ea"/>
            </a:endParaRPr>
          </a:p>
          <a:p>
            <a:pPr>
              <a:lnSpc>
                <a:spcPct val="120000"/>
              </a:lnSpc>
              <a:spcAft>
                <a:spcPts val="800"/>
              </a:spcAft>
            </a:pPr>
            <a:r>
              <a:rPr sz="2400" b="1">
                <a:solidFill>
                  <a:schemeClr val="tx1"/>
                </a:solidFill>
                <a:latin typeface="+mn-ea"/>
                <a:cs typeface="+mn-ea"/>
                <a:sym typeface="+mn-ea"/>
              </a:rPr>
              <a:t>A.想象    目的            B.即时    结果</a:t>
            </a:r>
            <a:endParaRPr lang="zh-CN" altLang="en-US" sz="2400" b="1">
              <a:solidFill>
                <a:schemeClr val="tx1"/>
              </a:solidFill>
              <a:latin typeface="+mn-ea"/>
              <a:cs typeface="+mn-ea"/>
            </a:endParaRPr>
          </a:p>
          <a:p>
            <a:pPr>
              <a:lnSpc>
                <a:spcPct val="120000"/>
              </a:lnSpc>
              <a:spcAft>
                <a:spcPts val="800"/>
              </a:spcAft>
            </a:pPr>
            <a:r>
              <a:rPr lang="en-US" altLang="zh-CN" sz="2400" b="1">
                <a:solidFill>
                  <a:schemeClr val="tx1"/>
                </a:solidFill>
                <a:latin typeface="+mn-ea"/>
                <a:cs typeface="+mn-ea"/>
                <a:sym typeface="+mn-ea"/>
              </a:rPr>
              <a:t>C.</a:t>
            </a:r>
            <a:r>
              <a:rPr sz="2400" b="1">
                <a:solidFill>
                  <a:schemeClr val="tx1"/>
                </a:solidFill>
                <a:latin typeface="+mn-ea"/>
                <a:cs typeface="+mn-ea"/>
                <a:sym typeface="+mn-ea"/>
              </a:rPr>
              <a:t>暂时    事实            D.虚假    实践</a:t>
            </a:r>
            <a:endParaRPr lang="zh-CN" altLang="en-US" sz="2400" b="1">
              <a:solidFill>
                <a:schemeClr val="tx1"/>
              </a:solidFill>
              <a:latin typeface="+mn-ea"/>
              <a:cs typeface="+mn-ea"/>
            </a:endParaRPr>
          </a:p>
          <a:p>
            <a:r>
              <a:rPr lang="zh-CN" altLang="en-US" sz="2400" b="1">
                <a:solidFill>
                  <a:schemeClr val="tx1"/>
                </a:solidFill>
              </a:rPr>
              <a:t>分析：先看第二空，根据</a:t>
            </a:r>
            <a:r>
              <a:rPr lang="en-US" altLang="zh-CN" sz="2400" b="1">
                <a:solidFill>
                  <a:schemeClr val="tx1"/>
                </a:solidFill>
              </a:rPr>
              <a:t>“</a:t>
            </a:r>
            <a:r>
              <a:rPr sz="2400" b="1">
                <a:solidFill>
                  <a:srgbClr val="FF0000"/>
                </a:solidFill>
                <a:latin typeface="+mn-ea"/>
                <a:cs typeface="+mn-ea"/>
                <a:sym typeface="+mn-ea"/>
              </a:rPr>
              <a:t>将空谈错认为</a:t>
            </a:r>
            <a:r>
              <a:rPr lang="en-US" altLang="zh-CN" sz="2400" b="1">
                <a:solidFill>
                  <a:schemeClr val="tx1"/>
                </a:solidFill>
              </a:rPr>
              <a:t>”</a:t>
            </a:r>
            <a:r>
              <a:rPr sz="2400" b="1">
                <a:solidFill>
                  <a:schemeClr val="tx1"/>
                </a:solidFill>
              </a:rPr>
              <a:t>排除</a:t>
            </a:r>
            <a:r>
              <a:rPr lang="en-US" altLang="zh-CN" sz="2400" b="1">
                <a:solidFill>
                  <a:schemeClr val="tx1"/>
                </a:solidFill>
              </a:rPr>
              <a:t>“</a:t>
            </a:r>
            <a:r>
              <a:rPr sz="2400" b="1">
                <a:solidFill>
                  <a:schemeClr val="tx1"/>
                </a:solidFill>
              </a:rPr>
              <a:t>目的</a:t>
            </a:r>
            <a:r>
              <a:rPr lang="en-US" altLang="zh-CN" sz="2400" b="1">
                <a:solidFill>
                  <a:schemeClr val="tx1"/>
                </a:solidFill>
              </a:rPr>
              <a:t>”“</a:t>
            </a:r>
            <a:r>
              <a:rPr sz="2400" b="1">
                <a:solidFill>
                  <a:schemeClr val="tx1"/>
                </a:solidFill>
              </a:rPr>
              <a:t>结果</a:t>
            </a:r>
            <a:r>
              <a:rPr lang="en-US" altLang="zh-CN" sz="2400" b="1">
                <a:solidFill>
                  <a:schemeClr val="tx1"/>
                </a:solidFill>
              </a:rPr>
              <a:t>”</a:t>
            </a:r>
            <a:r>
              <a:rPr sz="2400" b="1">
                <a:solidFill>
                  <a:schemeClr val="tx1"/>
                </a:solidFill>
              </a:rPr>
              <a:t>，句意表达分享会带来不真实的满足感，填入</a:t>
            </a:r>
            <a:r>
              <a:rPr lang="en-US" altLang="zh-CN" sz="2400" b="1">
                <a:solidFill>
                  <a:schemeClr val="tx1"/>
                </a:solidFill>
              </a:rPr>
              <a:t>“</a:t>
            </a:r>
            <a:r>
              <a:rPr sz="2400" b="1">
                <a:solidFill>
                  <a:schemeClr val="tx1"/>
                </a:solidFill>
              </a:rPr>
              <a:t>虚假</a:t>
            </a:r>
            <a:r>
              <a:rPr lang="en-US" altLang="zh-CN" sz="2400" b="1">
                <a:solidFill>
                  <a:schemeClr val="tx1"/>
                </a:solidFill>
              </a:rPr>
              <a:t>”</a:t>
            </a:r>
            <a:r>
              <a:rPr sz="2400" b="1">
                <a:solidFill>
                  <a:schemeClr val="tx1"/>
                </a:solidFill>
              </a:rPr>
              <a:t>恰当，故选</a:t>
            </a:r>
            <a:r>
              <a:rPr lang="en-US" altLang="zh-CN" sz="2400" b="1">
                <a:solidFill>
                  <a:schemeClr val="tx1"/>
                </a:solidFill>
              </a:rPr>
              <a:t>D</a:t>
            </a:r>
            <a:r>
              <a:rPr sz="2400" b="1">
                <a:solidFill>
                  <a:schemeClr val="tx1"/>
                </a:solidFill>
              </a:rPr>
              <a:t>。</a:t>
            </a:r>
            <a:endParaRPr sz="2400" b="1">
              <a:solidFill>
                <a:schemeClr val="tx1"/>
              </a:solidFil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作业讲评</a:t>
            </a:r>
            <a:r>
              <a:rPr lang="en-US" altLang="zh-CN">
                <a:sym typeface="+mn-ea"/>
              </a:rPr>
              <a:t>2</a:t>
            </a:r>
            <a:endParaRPr lang="en-US" altLang="zh-CN">
              <a:sym typeface="+mn-ea"/>
            </a:endParaRPr>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39</a:t>
            </a:r>
            <a:r>
              <a:rPr sz="2400" b="1">
                <a:solidFill>
                  <a:srgbClr val="00B050"/>
                </a:solidFill>
                <a:latin typeface="+mn-ea"/>
                <a:cs typeface="+mn-ea"/>
                <a:sym typeface="+mn-ea"/>
              </a:rPr>
              <a:t>（川</a:t>
            </a:r>
            <a:r>
              <a:rPr lang="en-US" altLang="zh-CN" sz="2400" b="1">
                <a:solidFill>
                  <a:srgbClr val="00B050"/>
                </a:solidFill>
                <a:latin typeface="+mn-ea"/>
                <a:cs typeface="+mn-ea"/>
                <a:sym typeface="+mn-ea"/>
              </a:rPr>
              <a:t>2019</a:t>
            </a:r>
            <a:r>
              <a:rPr sz="2400" b="1">
                <a:solidFill>
                  <a:srgbClr val="00B050"/>
                </a:solidFill>
                <a:latin typeface="+mn-ea"/>
                <a:cs typeface="+mn-ea"/>
                <a:sym typeface="+mn-ea"/>
              </a:rPr>
              <a:t>上</a:t>
            </a:r>
            <a:r>
              <a:rPr lang="en-US" altLang="zh-CN" sz="2400" b="1">
                <a:solidFill>
                  <a:srgbClr val="00B050"/>
                </a:solidFill>
                <a:latin typeface="+mn-ea"/>
                <a:cs typeface="+mn-ea"/>
                <a:sym typeface="+mn-ea"/>
              </a:rPr>
              <a:t>-29</a:t>
            </a:r>
            <a:r>
              <a:rPr sz="2400" b="1">
                <a:solidFill>
                  <a:srgbClr val="00B050"/>
                </a:solidFill>
                <a:latin typeface="+mn-ea"/>
                <a:cs typeface="+mn-ea"/>
                <a:sym typeface="+mn-ea"/>
              </a:rPr>
              <a:t>）：</a:t>
            </a:r>
            <a:r>
              <a:rPr lang="zh-CN" altLang="en-US" sz="2400" b="1"/>
              <a:t>即便是比较严肃的史学著作，</a:t>
            </a:r>
            <a:r>
              <a:rPr lang="zh-CN" altLang="en-US" sz="2400" b="1">
                <a:solidFill>
                  <a:srgbClr val="FF0000"/>
                </a:solidFill>
              </a:rPr>
              <a:t>在习惯了一种写作和思维路径后，也很难有别的考察和分析视角</a:t>
            </a:r>
            <a:r>
              <a:rPr lang="zh-CN" altLang="en-US" sz="2400" b="1"/>
              <a:t>。这样一来，人们读到的史书就难免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t> ，在一定程度上使读者</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t>     </a:t>
            </a:r>
            <a:endParaRPr lang="zh-CN" altLang="en-US" sz="2400" b="1"/>
          </a:p>
          <a:p>
            <a:r>
              <a:rPr lang="zh-CN" altLang="en-US" sz="2400" b="1"/>
              <a:t>A.如出一辙    心不在焉        B.人云亦云    不求甚解</a:t>
            </a:r>
            <a:endParaRPr lang="zh-CN" altLang="en-US" sz="2400" b="1"/>
          </a:p>
          <a:p>
            <a:r>
              <a:rPr lang="zh-CN" altLang="en-US" sz="2400" b="1"/>
              <a:t>C.众口一词    味同嚼蜡         D.大同小异    兴味索然</a:t>
            </a:r>
            <a:endParaRPr lang="zh-CN" altLang="en-US" sz="2400" b="1"/>
          </a:p>
          <a:p>
            <a:r>
              <a:rPr lang="zh-CN" altLang="en-US" sz="2400" b="1"/>
              <a:t>分析一：因为史书都大同小异，很难让读者产生兴趣，直接选</a:t>
            </a:r>
            <a:r>
              <a:rPr lang="en-US" altLang="zh-CN" sz="2400" b="1"/>
              <a:t>D</a:t>
            </a:r>
            <a:r>
              <a:rPr sz="2400" b="1"/>
              <a:t>。</a:t>
            </a:r>
            <a:endParaRPr lang="zh-CN" altLang="en-US" sz="2400" b="1"/>
          </a:p>
          <a:p>
            <a:r>
              <a:rPr lang="zh-CN" altLang="en-US" sz="2400" b="1"/>
              <a:t>分析二：根据红色字第一空形容史书内容大致相同。</a:t>
            </a:r>
            <a:r>
              <a:rPr lang="en-US" altLang="zh-CN" sz="2400" b="1"/>
              <a:t>“</a:t>
            </a:r>
            <a:r>
              <a:rPr sz="2400" b="1">
                <a:sym typeface="+mn-ea"/>
              </a:rPr>
              <a:t>人云亦云</a:t>
            </a:r>
            <a:r>
              <a:rPr lang="en-US" altLang="zh-CN" sz="2400" b="1"/>
              <a:t>”</a:t>
            </a:r>
            <a:r>
              <a:rPr sz="2400" b="1"/>
              <a:t>没有主见，只会随声附和，多形容人，排除</a:t>
            </a:r>
            <a:r>
              <a:rPr lang="en-US" altLang="zh-CN" sz="2400" b="1"/>
              <a:t>B</a:t>
            </a:r>
            <a:r>
              <a:rPr sz="2400" b="1"/>
              <a:t>。</a:t>
            </a:r>
            <a:r>
              <a:rPr lang="en-US" altLang="zh-CN" sz="2400" b="1"/>
              <a:t>“</a:t>
            </a:r>
            <a:r>
              <a:rPr sz="2400" b="1">
                <a:sym typeface="+mn-ea"/>
              </a:rPr>
              <a:t>众口一词</a:t>
            </a:r>
            <a:r>
              <a:rPr lang="en-US" altLang="zh-CN" sz="2400" b="1"/>
              <a:t>”</a:t>
            </a:r>
            <a:r>
              <a:rPr sz="2400" b="1"/>
              <a:t>所有人说同样的话，不合题意，排除</a:t>
            </a:r>
            <a:r>
              <a:rPr lang="en-US" altLang="zh-CN" sz="2400" b="1"/>
              <a:t>C</a:t>
            </a:r>
            <a:r>
              <a:rPr sz="2400" b="1"/>
              <a:t>。</a:t>
            </a:r>
            <a:r>
              <a:rPr lang="en-US" altLang="zh-CN" sz="2400" b="1"/>
              <a:t>“</a:t>
            </a:r>
            <a:r>
              <a:rPr sz="2400" b="1">
                <a:sym typeface="+mn-ea"/>
              </a:rPr>
              <a:t>心不在焉</a:t>
            </a:r>
            <a:r>
              <a:rPr lang="en-US" altLang="zh-CN" sz="2400" b="1"/>
              <a:t>”</a:t>
            </a:r>
            <a:r>
              <a:rPr sz="2400" b="1"/>
              <a:t>心思不在这里，思想不集中，与文意无关。</a:t>
            </a:r>
            <a:r>
              <a:rPr lang="en-US" altLang="zh-CN" sz="2400" b="1"/>
              <a:t>“</a:t>
            </a:r>
            <a:r>
              <a:rPr sz="2400" b="1">
                <a:sym typeface="+mn-ea"/>
              </a:rPr>
              <a:t>兴味索然</a:t>
            </a:r>
            <a:r>
              <a:rPr lang="en-US" altLang="zh-CN" sz="2400" b="1"/>
              <a:t>”</a:t>
            </a:r>
            <a:r>
              <a:rPr sz="2400" b="1"/>
              <a:t>一点儿兴趣都没有，符合文意。故选</a:t>
            </a:r>
            <a:r>
              <a:rPr lang="en-US" altLang="zh-CN" sz="2400" b="1"/>
              <a:t>D</a:t>
            </a:r>
            <a:r>
              <a:rPr sz="2400" b="1"/>
              <a:t>。</a:t>
            </a:r>
            <a:endParaRPr sz="2400" b="1"/>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作业讲评</a:t>
            </a:r>
            <a:r>
              <a:rPr lang="en-US" altLang="zh-CN"/>
              <a:t>3</a:t>
            </a:r>
            <a:endParaRPr lang="en-US" altLang="zh-CN"/>
          </a:p>
        </p:txBody>
      </p:sp>
      <p:sp>
        <p:nvSpPr>
          <p:cNvPr id="3" name="内容占位符 2"/>
          <p:cNvSpPr>
            <a:spLocks noGrp="1"/>
          </p:cNvSpPr>
          <p:nvPr>
            <p:ph idx="1"/>
          </p:nvPr>
        </p:nvSpPr>
        <p:spPr/>
        <p:txBody>
          <a:bodyPr/>
          <a:p>
            <a:pPr>
              <a:lnSpc>
                <a:spcPct val="120000"/>
              </a:lnSpc>
              <a:spcAft>
                <a:spcPts val="800"/>
              </a:spcAft>
            </a:pPr>
            <a:r>
              <a:rPr sz="2400" b="1">
                <a:solidFill>
                  <a:srgbClr val="00B050"/>
                </a:solidFill>
                <a:latin typeface="+mn-ea"/>
                <a:cs typeface="+mn-ea"/>
                <a:sym typeface="+mn-ea"/>
              </a:rPr>
              <a:t>真题</a:t>
            </a:r>
            <a:r>
              <a:rPr lang="en-US" altLang="zh-CN" sz="2400" b="1">
                <a:solidFill>
                  <a:srgbClr val="00B050"/>
                </a:solidFill>
                <a:latin typeface="+mn-ea"/>
                <a:cs typeface="+mn-ea"/>
                <a:sym typeface="+mn-ea"/>
              </a:rPr>
              <a:t>40</a:t>
            </a:r>
            <a:r>
              <a:rPr sz="2400" b="1">
                <a:solidFill>
                  <a:schemeClr val="tx1"/>
                </a:solidFill>
                <a:latin typeface="+mn-ea"/>
                <a:cs typeface="+mn-ea"/>
                <a:sym typeface="+mn-ea"/>
              </a:rPr>
              <a:t>（川</a:t>
            </a:r>
            <a:r>
              <a:rPr lang="en-US" altLang="zh-CN" sz="2400" b="1">
                <a:solidFill>
                  <a:schemeClr val="tx1"/>
                </a:solidFill>
                <a:latin typeface="+mn-ea"/>
                <a:cs typeface="+mn-ea"/>
                <a:sym typeface="+mn-ea"/>
              </a:rPr>
              <a:t>2019</a:t>
            </a:r>
            <a:r>
              <a:rPr sz="2400" b="1">
                <a:solidFill>
                  <a:schemeClr val="tx1"/>
                </a:solidFill>
                <a:latin typeface="+mn-ea"/>
                <a:cs typeface="+mn-ea"/>
                <a:sym typeface="+mn-ea"/>
              </a:rPr>
              <a:t>上</a:t>
            </a:r>
            <a:r>
              <a:rPr lang="en-US" altLang="zh-CN" sz="2400" b="1">
                <a:solidFill>
                  <a:schemeClr val="tx1"/>
                </a:solidFill>
                <a:latin typeface="+mn-ea"/>
                <a:cs typeface="+mn-ea"/>
                <a:sym typeface="+mn-ea"/>
              </a:rPr>
              <a:t>-20</a:t>
            </a:r>
            <a:r>
              <a:rPr sz="2400" b="1">
                <a:solidFill>
                  <a:schemeClr val="tx1"/>
                </a:solidFill>
                <a:latin typeface="+mn-ea"/>
                <a:cs typeface="+mn-ea"/>
                <a:sym typeface="+mn-ea"/>
              </a:rPr>
              <a:t>）：</a:t>
            </a:r>
            <a:r>
              <a:rPr sz="2400" b="1">
                <a:solidFill>
                  <a:schemeClr val="tx1"/>
                </a:solidFill>
                <a:latin typeface="+mn-ea"/>
                <a:cs typeface="+mn-ea"/>
                <a:sym typeface="+mn-ea"/>
              </a:rPr>
              <a:t>面对异质文化间的交流，特别是走出国门的艺术展示，我们常会想当然地选择</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mn-ea"/>
                <a:cs typeface="+mn-ea"/>
                <a:sym typeface="+mn-ea"/>
              </a:rPr>
              <a:t>受众，在艺术观念与表现形式上</a:t>
            </a:r>
            <a:r>
              <a:rPr sz="2400" b="1">
                <a:solidFill>
                  <a:srgbClr val="FF0000"/>
                </a:solidFill>
                <a:latin typeface="+mn-ea"/>
                <a:cs typeface="+mn-ea"/>
                <a:sym typeface="+mn-ea"/>
              </a:rPr>
              <a:t>有意融合甚至直接“迎合”</a:t>
            </a:r>
            <a:r>
              <a:rPr sz="2400" b="1">
                <a:solidFill>
                  <a:schemeClr val="tx1"/>
                </a:solidFill>
                <a:latin typeface="+mn-ea"/>
                <a:cs typeface="+mn-ea"/>
                <a:sym typeface="+mn-ea"/>
              </a:rPr>
              <a:t>，而这样做的结果往往得不到理想的效果。艺术风格的坚持、纯化与适度包容，更有利于我们向世界更好地展现中国艺术的精华，同时接受当地受众的文化</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mn-ea"/>
                <a:cs typeface="+mn-ea"/>
                <a:sym typeface="+mn-ea"/>
              </a:rPr>
              <a:t>    </a:t>
            </a:r>
            <a:endParaRPr lang="zh-CN" altLang="en-US" sz="2400" b="1">
              <a:solidFill>
                <a:schemeClr val="tx1"/>
              </a:solidFill>
              <a:latin typeface="+mn-ea"/>
              <a:cs typeface="+mn-ea"/>
            </a:endParaRPr>
          </a:p>
          <a:p>
            <a:pPr>
              <a:lnSpc>
                <a:spcPct val="120000"/>
              </a:lnSpc>
              <a:spcAft>
                <a:spcPts val="800"/>
              </a:spcAft>
            </a:pPr>
            <a:r>
              <a:rPr sz="2400" b="1">
                <a:solidFill>
                  <a:schemeClr val="tx1"/>
                </a:solidFill>
                <a:latin typeface="+mn-ea"/>
                <a:cs typeface="+mn-ea"/>
                <a:sym typeface="+mn-ea"/>
              </a:rPr>
              <a:t>A.尊重    评论         B.迁就    反馈  </a:t>
            </a:r>
            <a:endParaRPr lang="zh-CN" altLang="en-US" sz="2400" b="1">
              <a:solidFill>
                <a:schemeClr val="tx1"/>
              </a:solidFill>
              <a:latin typeface="+mn-ea"/>
              <a:cs typeface="+mn-ea"/>
            </a:endParaRPr>
          </a:p>
          <a:p>
            <a:pPr>
              <a:lnSpc>
                <a:spcPct val="120000"/>
              </a:lnSpc>
              <a:spcAft>
                <a:spcPts val="800"/>
              </a:spcAft>
            </a:pPr>
            <a:r>
              <a:rPr sz="2400" b="1">
                <a:solidFill>
                  <a:schemeClr val="tx1"/>
                </a:solidFill>
                <a:latin typeface="+mn-ea"/>
                <a:cs typeface="+mn-ea"/>
                <a:sym typeface="+mn-ea"/>
              </a:rPr>
              <a:t>C.考虑    主张         D.顾及    观念</a:t>
            </a:r>
            <a:endParaRPr sz="2400" b="1">
              <a:solidFill>
                <a:schemeClr val="tx1"/>
              </a:solidFill>
              <a:latin typeface="+mn-ea"/>
              <a:cs typeface="+mn-ea"/>
              <a:sym typeface="+mn-ea"/>
            </a:endParaRPr>
          </a:p>
          <a:p>
            <a:pPr>
              <a:lnSpc>
                <a:spcPct val="120000"/>
              </a:lnSpc>
              <a:spcAft>
                <a:spcPts val="800"/>
              </a:spcAft>
            </a:pPr>
            <a:r>
              <a:rPr sz="2400" b="1">
                <a:solidFill>
                  <a:schemeClr val="tx1"/>
                </a:solidFill>
                <a:latin typeface="+mn-ea"/>
                <a:cs typeface="+mn-ea"/>
                <a:sym typeface="+mn-ea"/>
              </a:rPr>
              <a:t>分析：</a:t>
            </a:r>
            <a:r>
              <a:rPr lang="en-US" altLang="zh-CN" sz="2400" b="1">
                <a:solidFill>
                  <a:schemeClr val="tx1"/>
                </a:solidFill>
                <a:latin typeface="+mn-ea"/>
                <a:cs typeface="+mn-ea"/>
                <a:sym typeface="+mn-ea"/>
              </a:rPr>
              <a:t>“</a:t>
            </a:r>
            <a:r>
              <a:rPr sz="2400" b="1">
                <a:solidFill>
                  <a:schemeClr val="tx1"/>
                </a:solidFill>
                <a:latin typeface="+mn-ea"/>
                <a:cs typeface="+mn-ea"/>
                <a:sym typeface="+mn-ea"/>
              </a:rPr>
              <a:t>尊重</a:t>
            </a:r>
            <a:r>
              <a:rPr lang="en-US" altLang="zh-CN" sz="2400" b="1">
                <a:solidFill>
                  <a:schemeClr val="tx1"/>
                </a:solidFill>
                <a:latin typeface="+mn-ea"/>
                <a:cs typeface="+mn-ea"/>
                <a:sym typeface="+mn-ea"/>
              </a:rPr>
              <a:t>”“</a:t>
            </a:r>
            <a:r>
              <a:rPr sz="2400" b="1">
                <a:solidFill>
                  <a:schemeClr val="tx1"/>
                </a:solidFill>
                <a:latin typeface="+mn-ea"/>
                <a:cs typeface="+mn-ea"/>
                <a:sym typeface="+mn-ea"/>
              </a:rPr>
              <a:t>考虑</a:t>
            </a:r>
            <a:r>
              <a:rPr lang="en-US" altLang="zh-CN" sz="2400" b="1">
                <a:solidFill>
                  <a:schemeClr val="tx1"/>
                </a:solidFill>
                <a:latin typeface="+mn-ea"/>
                <a:cs typeface="+mn-ea"/>
                <a:sym typeface="+mn-ea"/>
              </a:rPr>
              <a:t>”“</a:t>
            </a:r>
            <a:r>
              <a:rPr sz="2400" b="1">
                <a:solidFill>
                  <a:schemeClr val="tx1"/>
                </a:solidFill>
                <a:latin typeface="+mn-ea"/>
                <a:cs typeface="+mn-ea"/>
                <a:sym typeface="+mn-ea"/>
              </a:rPr>
              <a:t>顾及</a:t>
            </a:r>
            <a:r>
              <a:rPr lang="en-US" altLang="zh-CN" sz="2400" b="1">
                <a:solidFill>
                  <a:schemeClr val="tx1"/>
                </a:solidFill>
                <a:latin typeface="+mn-ea"/>
                <a:cs typeface="+mn-ea"/>
                <a:sym typeface="+mn-ea"/>
              </a:rPr>
              <a:t>”</a:t>
            </a:r>
            <a:r>
              <a:rPr sz="2400" b="1">
                <a:solidFill>
                  <a:schemeClr val="tx1"/>
                </a:solidFill>
                <a:latin typeface="+mn-ea"/>
                <a:cs typeface="+mn-ea"/>
                <a:sym typeface="+mn-ea"/>
              </a:rPr>
              <a:t>都是合理适度地对待受众，无法表达</a:t>
            </a:r>
            <a:r>
              <a:rPr lang="en-US" altLang="zh-CN" sz="2400" b="1">
                <a:solidFill>
                  <a:schemeClr val="tx1"/>
                </a:solidFill>
                <a:latin typeface="+mn-ea"/>
                <a:cs typeface="+mn-ea"/>
                <a:sym typeface="+mn-ea"/>
              </a:rPr>
              <a:t>“</a:t>
            </a:r>
            <a:r>
              <a:rPr sz="2400" b="1">
                <a:solidFill>
                  <a:srgbClr val="FF0000"/>
                </a:solidFill>
                <a:latin typeface="+mn-ea"/>
                <a:cs typeface="+mn-ea"/>
                <a:sym typeface="+mn-ea"/>
              </a:rPr>
              <a:t>有意融合甚至直接“迎合”</a:t>
            </a:r>
            <a:r>
              <a:rPr lang="en-US" altLang="zh-CN" sz="2400" b="1">
                <a:solidFill>
                  <a:schemeClr val="tx1"/>
                </a:solidFill>
                <a:latin typeface="+mn-ea"/>
                <a:cs typeface="+mn-ea"/>
                <a:sym typeface="+mn-ea"/>
              </a:rPr>
              <a:t>”</a:t>
            </a:r>
            <a:r>
              <a:rPr sz="2400" b="1">
                <a:solidFill>
                  <a:schemeClr val="tx1"/>
                </a:solidFill>
                <a:latin typeface="+mn-ea"/>
                <a:cs typeface="+mn-ea"/>
                <a:sym typeface="+mn-ea"/>
              </a:rPr>
              <a:t>，故选</a:t>
            </a:r>
            <a:r>
              <a:rPr lang="en-US" altLang="zh-CN" sz="2400" b="1">
                <a:solidFill>
                  <a:schemeClr val="tx1"/>
                </a:solidFill>
                <a:latin typeface="+mn-ea"/>
                <a:cs typeface="+mn-ea"/>
                <a:sym typeface="+mn-ea"/>
              </a:rPr>
              <a:t>B</a:t>
            </a:r>
            <a:r>
              <a:rPr sz="2400" b="1">
                <a:solidFill>
                  <a:schemeClr val="tx1"/>
                </a:solidFill>
                <a:latin typeface="+mn-ea"/>
                <a:cs typeface="+mn-ea"/>
                <a:sym typeface="+mn-ea"/>
              </a:rPr>
              <a:t>。</a:t>
            </a:r>
            <a:endParaRPr lang="zh-CN" altLang="en-US" sz="2400" b="1">
              <a:solidFill>
                <a:schemeClr val="tx1"/>
              </a:solidFill>
              <a:latin typeface="+mn-ea"/>
              <a:cs typeface="+mn-ea"/>
            </a:endParaRPr>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作业讲评</a:t>
            </a:r>
            <a:r>
              <a:rPr lang="en-US" altLang="zh-CN"/>
              <a:t>4</a:t>
            </a:r>
            <a:endParaRPr lang="en-US" altLang="zh-CN"/>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41</a:t>
            </a:r>
            <a:r>
              <a:rPr sz="2400" b="1">
                <a:solidFill>
                  <a:srgbClr val="00B050"/>
                </a:solidFill>
                <a:latin typeface="+mn-ea"/>
                <a:cs typeface="+mn-ea"/>
                <a:sym typeface="+mn-ea"/>
              </a:rPr>
              <a:t>：</a:t>
            </a:r>
            <a:r>
              <a:rPr lang="zh-CN" altLang="en-US" sz="2400" b="1">
                <a:solidFill>
                  <a:srgbClr val="7030A0"/>
                </a:solidFill>
              </a:rPr>
              <a:t>随着改革的深入</a:t>
            </a:r>
            <a:r>
              <a:rPr lang="zh-CN" altLang="en-US" sz="2400" b="1">
                <a:solidFill>
                  <a:schemeClr val="tx1"/>
                </a:solidFill>
              </a:rPr>
              <a:t>，军工企业逐步建立起适应市场经济的现代企业制度。</a:t>
            </a:r>
            <a:r>
              <a:rPr lang="zh-CN" altLang="en-US" sz="2400" b="1">
                <a:solidFill>
                  <a:srgbClr val="7030A0"/>
                </a:solidFill>
              </a:rPr>
              <a:t>但</a:t>
            </a:r>
            <a:r>
              <a:rPr lang="zh-CN" altLang="en-US" sz="2400" b="1">
                <a:solidFill>
                  <a:schemeClr val="tx1"/>
                </a:solidFill>
              </a:rPr>
              <a:t>军工集团改制并不</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a:t>
            </a:r>
            <a:r>
              <a:rPr lang="zh-CN" altLang="en-US" sz="2400" b="1">
                <a:solidFill>
                  <a:srgbClr val="FF0000"/>
                </a:solidFill>
              </a:rPr>
              <a:t>一方面</a:t>
            </a:r>
            <a:r>
              <a:rPr lang="zh-CN" altLang="en-US" sz="2400" b="1">
                <a:solidFill>
                  <a:schemeClr val="tx1"/>
                </a:solidFill>
              </a:rPr>
              <a:t>，从事生产经营的军工企业基本完成了公司制改造，成立了股份制公司；</a:t>
            </a:r>
            <a:r>
              <a:rPr lang="zh-CN" altLang="en-US" sz="2400" b="1">
                <a:solidFill>
                  <a:srgbClr val="FF0000"/>
                </a:solidFill>
              </a:rPr>
              <a:t>另一方面</a:t>
            </a:r>
            <a:r>
              <a:rPr lang="zh-CN" altLang="en-US" sz="2400" b="1">
                <a:solidFill>
                  <a:schemeClr val="tx1"/>
                </a:solidFill>
              </a:rPr>
              <a:t>，多数军工院所依然在事业单位体制内，独立于市场经济之外。产研</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solidFill>
                  <a:schemeClr val="tx1"/>
                </a:solidFill>
              </a:rPr>
              <a:t>    </a:t>
            </a:r>
            <a:r>
              <a:rPr lang="zh-CN" altLang="en-US" sz="2400" b="1">
                <a:solidFill>
                  <a:srgbClr val="FF0000"/>
                </a:solidFill>
              </a:rPr>
              <a:t>一定程度导致了科技成果市场化程度低，技术成果社会转换利用率不高的问题</a:t>
            </a:r>
            <a:r>
              <a:rPr lang="zh-CN" altLang="en-US" sz="2400" b="1">
                <a:solidFill>
                  <a:schemeClr val="tx1"/>
                </a:solidFill>
              </a:rPr>
              <a:t>。</a:t>
            </a:r>
            <a:endParaRPr lang="zh-CN" altLang="en-US" sz="2400" b="1">
              <a:solidFill>
                <a:schemeClr val="tx1"/>
              </a:solidFill>
            </a:endParaRPr>
          </a:p>
          <a:p>
            <a:r>
              <a:rPr lang="zh-CN" altLang="en-US" sz="2400" b="1">
                <a:solidFill>
                  <a:schemeClr val="tx1"/>
                </a:solidFill>
              </a:rPr>
              <a:t>A.彻底    分离        B.系统     互促  </a:t>
            </a:r>
            <a:endParaRPr lang="zh-CN" altLang="en-US" sz="2400" b="1">
              <a:solidFill>
                <a:schemeClr val="tx1"/>
              </a:solidFill>
            </a:endParaRPr>
          </a:p>
          <a:p>
            <a:r>
              <a:rPr lang="zh-CN" altLang="en-US" sz="2400" b="1">
                <a:solidFill>
                  <a:schemeClr val="tx1"/>
                </a:solidFill>
              </a:rPr>
              <a:t>C.完善    共建        D.全面     脱节</a:t>
            </a:r>
            <a:endParaRPr lang="zh-CN" altLang="en-US" sz="2400" b="1">
              <a:solidFill>
                <a:schemeClr val="tx1"/>
              </a:solidFill>
            </a:endParaRPr>
          </a:p>
          <a:p>
            <a:r>
              <a:rPr lang="zh-CN" altLang="en-US" sz="2400" b="1">
                <a:solidFill>
                  <a:schemeClr val="tx1"/>
                </a:solidFill>
              </a:rPr>
              <a:t>分析：根据红色字排除</a:t>
            </a:r>
            <a:r>
              <a:rPr lang="en-US" altLang="zh-CN" sz="2400" b="1">
                <a:solidFill>
                  <a:schemeClr val="tx1"/>
                </a:solidFill>
              </a:rPr>
              <a:t>“</a:t>
            </a:r>
            <a:r>
              <a:rPr sz="2400" b="1">
                <a:solidFill>
                  <a:schemeClr val="tx1"/>
                </a:solidFill>
                <a:sym typeface="+mn-ea"/>
              </a:rPr>
              <a:t>互促</a:t>
            </a:r>
            <a:r>
              <a:rPr lang="en-US" altLang="zh-CN" sz="2400" b="1">
                <a:solidFill>
                  <a:schemeClr val="tx1"/>
                </a:solidFill>
              </a:rPr>
              <a:t>”“</a:t>
            </a:r>
            <a:r>
              <a:rPr sz="2400" b="1">
                <a:solidFill>
                  <a:schemeClr val="tx1"/>
                </a:solidFill>
                <a:sym typeface="+mn-ea"/>
              </a:rPr>
              <a:t>共建</a:t>
            </a:r>
            <a:r>
              <a:rPr lang="en-US" altLang="zh-CN" sz="2400" b="1">
                <a:solidFill>
                  <a:schemeClr val="tx1"/>
                </a:solidFill>
              </a:rPr>
              <a:t>”</a:t>
            </a:r>
            <a:r>
              <a:rPr sz="2400" b="1">
                <a:solidFill>
                  <a:schemeClr val="tx1"/>
                </a:solidFill>
              </a:rPr>
              <a:t>。根据</a:t>
            </a:r>
            <a:r>
              <a:rPr lang="en-US" altLang="zh-CN" sz="2400" b="1">
                <a:solidFill>
                  <a:schemeClr val="tx1"/>
                </a:solidFill>
              </a:rPr>
              <a:t>“</a:t>
            </a:r>
            <a:r>
              <a:rPr sz="2400" b="1">
                <a:solidFill>
                  <a:srgbClr val="7030A0"/>
                </a:solidFill>
                <a:sym typeface="+mn-ea"/>
              </a:rPr>
              <a:t>随着改革的深入</a:t>
            </a:r>
            <a:r>
              <a:rPr lang="en-US" altLang="zh-CN" sz="2400" b="1">
                <a:solidFill>
                  <a:schemeClr val="tx1"/>
                </a:solidFill>
              </a:rPr>
              <a:t>”“</a:t>
            </a:r>
            <a:r>
              <a:rPr sz="2400" b="1">
                <a:solidFill>
                  <a:srgbClr val="7030A0"/>
                </a:solidFill>
              </a:rPr>
              <a:t>但</a:t>
            </a:r>
            <a:r>
              <a:rPr lang="en-US" altLang="zh-CN" sz="2400" b="1">
                <a:solidFill>
                  <a:schemeClr val="tx1"/>
                </a:solidFill>
              </a:rPr>
              <a:t>”</a:t>
            </a:r>
            <a:r>
              <a:rPr sz="2400" b="1">
                <a:solidFill>
                  <a:schemeClr val="tx1"/>
                </a:solidFill>
              </a:rPr>
              <a:t>可知</a:t>
            </a:r>
            <a:r>
              <a:rPr sz="2400" b="1">
                <a:solidFill>
                  <a:schemeClr val="tx1"/>
                </a:solidFill>
                <a:sym typeface="+mn-ea"/>
              </a:rPr>
              <a:t>军工集团改制不深入，填入</a:t>
            </a:r>
            <a:r>
              <a:rPr lang="en-US" altLang="zh-CN" sz="2400" b="1">
                <a:solidFill>
                  <a:schemeClr val="tx1"/>
                </a:solidFill>
                <a:sym typeface="+mn-ea"/>
              </a:rPr>
              <a:t>“</a:t>
            </a:r>
            <a:r>
              <a:rPr sz="2400" b="1">
                <a:solidFill>
                  <a:schemeClr val="tx1"/>
                </a:solidFill>
                <a:sym typeface="+mn-ea"/>
              </a:rPr>
              <a:t>彻底</a:t>
            </a:r>
            <a:r>
              <a:rPr lang="en-US" altLang="zh-CN" sz="2400" b="1">
                <a:solidFill>
                  <a:schemeClr val="tx1"/>
                </a:solidFill>
                <a:sym typeface="+mn-ea"/>
              </a:rPr>
              <a:t>”</a:t>
            </a:r>
            <a:r>
              <a:rPr sz="2400" b="1">
                <a:solidFill>
                  <a:schemeClr val="tx1"/>
                </a:solidFill>
                <a:sym typeface="+mn-ea"/>
              </a:rPr>
              <a:t>更恰当。故选</a:t>
            </a:r>
            <a:r>
              <a:rPr lang="en-US" altLang="zh-CN" sz="2400" b="1">
                <a:solidFill>
                  <a:schemeClr val="tx1"/>
                </a:solidFill>
                <a:sym typeface="+mn-ea"/>
              </a:rPr>
              <a:t>A</a:t>
            </a:r>
            <a:r>
              <a:rPr sz="2400" b="1">
                <a:solidFill>
                  <a:schemeClr val="tx1"/>
                </a:solidFill>
                <a:sym typeface="+mn-ea"/>
              </a:rPr>
              <a:t>。</a:t>
            </a:r>
            <a:endParaRPr sz="2400" b="1">
              <a:solidFill>
                <a:schemeClr val="tx1"/>
              </a:solidFill>
              <a:sym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作业讲评</a:t>
            </a:r>
            <a:r>
              <a:rPr lang="en-US" altLang="zh-CN"/>
              <a:t>5</a:t>
            </a:r>
            <a:endParaRPr lang="en-US" altLang="zh-CN"/>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42</a:t>
            </a:r>
            <a:r>
              <a:rPr sz="2400" b="1">
                <a:solidFill>
                  <a:srgbClr val="00B050"/>
                </a:solidFill>
                <a:latin typeface="+mn-ea"/>
                <a:cs typeface="+mn-ea"/>
                <a:sym typeface="+mn-ea"/>
              </a:rPr>
              <a:t>（川</a:t>
            </a:r>
            <a:r>
              <a:rPr lang="en-US" altLang="zh-CN" sz="2400" b="1">
                <a:solidFill>
                  <a:srgbClr val="00B050"/>
                </a:solidFill>
                <a:latin typeface="+mn-ea"/>
                <a:cs typeface="+mn-ea"/>
                <a:sym typeface="+mn-ea"/>
              </a:rPr>
              <a:t>2019</a:t>
            </a:r>
            <a:r>
              <a:rPr sz="2400" b="1">
                <a:solidFill>
                  <a:srgbClr val="00B050"/>
                </a:solidFill>
                <a:latin typeface="+mn-ea"/>
                <a:cs typeface="+mn-ea"/>
                <a:sym typeface="+mn-ea"/>
              </a:rPr>
              <a:t>上</a:t>
            </a:r>
            <a:r>
              <a:rPr lang="en-US" altLang="zh-CN" sz="2400" b="1">
                <a:solidFill>
                  <a:srgbClr val="00B050"/>
                </a:solidFill>
                <a:latin typeface="+mn-ea"/>
                <a:cs typeface="+mn-ea"/>
                <a:sym typeface="+mn-ea"/>
              </a:rPr>
              <a:t>-26</a:t>
            </a:r>
            <a:r>
              <a:rPr sz="2400" b="1">
                <a:solidFill>
                  <a:srgbClr val="00B050"/>
                </a:solidFill>
                <a:latin typeface="+mn-ea"/>
                <a:cs typeface="+mn-ea"/>
                <a:sym typeface="+mn-ea"/>
              </a:rPr>
              <a:t>）：</a:t>
            </a:r>
            <a:r>
              <a:rPr sz="2400" b="1">
                <a:solidFill>
                  <a:schemeClr val="tx1"/>
                </a:solidFill>
                <a:sym typeface="+mn-ea"/>
              </a:rPr>
              <a:t>20多年过去，原始创新，集成创新，引进消化吸收再创新，中国迅速缩短了同发达国家在信息领域的差距，成为拥有网民最多的网络大国。</a:t>
            </a:r>
            <a:r>
              <a:rPr sz="2400" b="1">
                <a:solidFill>
                  <a:srgbClr val="FF0000"/>
                </a:solidFill>
                <a:sym typeface="+mn-ea"/>
              </a:rPr>
              <a:t>一大批颇具竞争力的网信企业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sym typeface="+mn-ea"/>
              </a:rPr>
              <a:t> ，一大批市场需求旺盛的新应用</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sym typeface="+mn-ea"/>
              </a:rPr>
              <a:t>，引领着经济的转型升级，也倒逼着治理体系体制机制的改革创新。</a:t>
            </a:r>
            <a:endParaRPr lang="zh-CN" altLang="en-US" sz="2400" b="1">
              <a:solidFill>
                <a:schemeClr val="tx1"/>
              </a:solidFill>
            </a:endParaRPr>
          </a:p>
          <a:p>
            <a:r>
              <a:rPr sz="2400" b="1">
                <a:solidFill>
                  <a:schemeClr val="tx1"/>
                </a:solidFill>
                <a:sym typeface="+mn-ea"/>
              </a:rPr>
              <a:t>A.如鱼得水    屡见不鲜         B.异军突起    层出不穷</a:t>
            </a:r>
            <a:endParaRPr lang="zh-CN" altLang="en-US" sz="2400" b="1">
              <a:solidFill>
                <a:schemeClr val="tx1"/>
              </a:solidFill>
            </a:endParaRPr>
          </a:p>
          <a:p>
            <a:r>
              <a:rPr sz="2400" b="1">
                <a:solidFill>
                  <a:schemeClr val="tx1"/>
                </a:solidFill>
                <a:sym typeface="+mn-ea"/>
              </a:rPr>
              <a:t>B.崭露头角    比比皆是         D.雨后春笋    数不胜数</a:t>
            </a:r>
            <a:endParaRPr sz="2400" b="1">
              <a:solidFill>
                <a:schemeClr val="tx1"/>
              </a:solidFill>
              <a:sym typeface="+mn-ea"/>
            </a:endParaRPr>
          </a:p>
          <a:p>
            <a:r>
              <a:rPr sz="2400" b="1">
                <a:solidFill>
                  <a:schemeClr val="tx1"/>
                </a:solidFill>
                <a:sym typeface="+mn-ea"/>
              </a:rPr>
              <a:t>分析：句意是</a:t>
            </a:r>
            <a:r>
              <a:rPr lang="en-US" altLang="zh-CN" sz="2400" b="1">
                <a:solidFill>
                  <a:schemeClr val="tx1"/>
                </a:solidFill>
                <a:sym typeface="+mn-ea"/>
              </a:rPr>
              <a:t>“</a:t>
            </a:r>
            <a:r>
              <a:rPr sz="2400" b="1">
                <a:solidFill>
                  <a:srgbClr val="FF0000"/>
                </a:solidFill>
                <a:sym typeface="+mn-ea"/>
              </a:rPr>
              <a:t>一大批颇具竞争力的网信企业</a:t>
            </a:r>
            <a:r>
              <a:rPr lang="en-US" altLang="zh-CN" sz="2400" b="1">
                <a:solidFill>
                  <a:schemeClr val="tx1"/>
                </a:solidFill>
                <a:sym typeface="+mn-ea"/>
              </a:rPr>
              <a:t>”</a:t>
            </a:r>
            <a:r>
              <a:rPr sz="2400" b="1">
                <a:solidFill>
                  <a:schemeClr val="tx1"/>
                </a:solidFill>
                <a:sym typeface="+mn-ea"/>
              </a:rPr>
              <a:t>脱颖而出，</a:t>
            </a:r>
            <a:r>
              <a:rPr lang="en-US" altLang="zh-CN" sz="2400" b="1">
                <a:solidFill>
                  <a:schemeClr val="tx1"/>
                </a:solidFill>
                <a:sym typeface="+mn-ea"/>
              </a:rPr>
              <a:t>“</a:t>
            </a:r>
            <a:r>
              <a:rPr sz="2400" b="1">
                <a:solidFill>
                  <a:schemeClr val="tx1"/>
                </a:solidFill>
                <a:sym typeface="+mn-ea"/>
              </a:rPr>
              <a:t>如鱼得水</a:t>
            </a:r>
            <a:r>
              <a:rPr lang="en-US" altLang="zh-CN" sz="2400" b="1">
                <a:solidFill>
                  <a:schemeClr val="tx1"/>
                </a:solidFill>
                <a:sym typeface="+mn-ea"/>
              </a:rPr>
              <a:t>”</a:t>
            </a:r>
            <a:r>
              <a:rPr sz="2400" b="1">
                <a:solidFill>
                  <a:schemeClr val="tx1"/>
                </a:solidFill>
                <a:sym typeface="+mn-ea"/>
              </a:rPr>
              <a:t>不能表达出现之意。</a:t>
            </a:r>
            <a:r>
              <a:rPr lang="en-US" altLang="zh-CN" sz="2400" b="1">
                <a:solidFill>
                  <a:schemeClr val="tx1"/>
                </a:solidFill>
                <a:sym typeface="+mn-ea"/>
              </a:rPr>
              <a:t>“</a:t>
            </a:r>
            <a:r>
              <a:rPr sz="2400" b="1">
                <a:solidFill>
                  <a:schemeClr val="tx1"/>
                </a:solidFill>
                <a:sym typeface="+mn-ea"/>
              </a:rPr>
              <a:t>雨后春笋</a:t>
            </a:r>
            <a:r>
              <a:rPr lang="en-US" altLang="zh-CN" sz="2400" b="1">
                <a:solidFill>
                  <a:schemeClr val="tx1"/>
                </a:solidFill>
                <a:sym typeface="+mn-ea"/>
              </a:rPr>
              <a:t>”</a:t>
            </a:r>
            <a:r>
              <a:rPr sz="2400" b="1">
                <a:solidFill>
                  <a:schemeClr val="tx1"/>
                </a:solidFill>
                <a:sym typeface="+mn-ea"/>
              </a:rPr>
              <a:t>不能直接做谓语。</a:t>
            </a:r>
            <a:r>
              <a:rPr lang="en-US" altLang="zh-CN" sz="2400" b="1">
                <a:solidFill>
                  <a:schemeClr val="tx1"/>
                </a:solidFill>
                <a:sym typeface="+mn-ea"/>
              </a:rPr>
              <a:t>“</a:t>
            </a:r>
            <a:r>
              <a:rPr sz="2400" b="1">
                <a:solidFill>
                  <a:schemeClr val="tx1"/>
                </a:solidFill>
                <a:sym typeface="+mn-ea"/>
              </a:rPr>
              <a:t>崭露头角</a:t>
            </a:r>
            <a:r>
              <a:rPr lang="en-US" altLang="zh-CN" sz="2400" b="1">
                <a:solidFill>
                  <a:schemeClr val="tx1"/>
                </a:solidFill>
                <a:sym typeface="+mn-ea"/>
              </a:rPr>
              <a:t>”</a:t>
            </a:r>
            <a:r>
              <a:rPr sz="2400" b="1">
                <a:solidFill>
                  <a:schemeClr val="tx1"/>
                </a:solidFill>
                <a:sym typeface="+mn-ea"/>
              </a:rPr>
              <a:t>多指青少年。故选</a:t>
            </a:r>
            <a:r>
              <a:rPr lang="en-US" altLang="zh-CN" sz="2400" b="1">
                <a:solidFill>
                  <a:schemeClr val="tx1"/>
                </a:solidFill>
                <a:sym typeface="+mn-ea"/>
              </a:rPr>
              <a:t>B</a:t>
            </a:r>
            <a:r>
              <a:rPr sz="2400" b="1">
                <a:solidFill>
                  <a:schemeClr val="tx1"/>
                </a:solidFill>
                <a:sym typeface="+mn-ea"/>
              </a:rPr>
              <a:t>。</a:t>
            </a:r>
            <a:endParaRPr lang="zh-CN" altLang="en-US" sz="2400" b="1">
              <a:solidFill>
                <a:schemeClr val="tx1"/>
              </a:solidFill>
            </a:endParaRPr>
          </a:p>
          <a:p>
            <a:endParaRPr lang="zh-CN" altLang="en-US" sz="2400"/>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21292" y="115770"/>
            <a:ext cx="10852237" cy="648000"/>
          </a:xfrm>
        </p:spPr>
        <p:txBody>
          <a:bodyPr/>
          <a:p>
            <a:r>
              <a:rPr>
                <a:sym typeface="+mn-ea"/>
              </a:rPr>
              <a:t>作业讲评</a:t>
            </a:r>
            <a:r>
              <a:rPr lang="en-US" altLang="zh-CN">
                <a:sym typeface="+mn-ea"/>
              </a:rPr>
              <a:t>6</a:t>
            </a:r>
            <a:endParaRPr lang="en-US" altLang="zh-CN">
              <a:sym typeface="+mn-ea"/>
            </a:endParaRPr>
          </a:p>
        </p:txBody>
      </p:sp>
      <p:sp>
        <p:nvSpPr>
          <p:cNvPr id="3" name="内容占位符 2"/>
          <p:cNvSpPr>
            <a:spLocks noGrp="1"/>
          </p:cNvSpPr>
          <p:nvPr>
            <p:ph idx="1"/>
          </p:nvPr>
        </p:nvSpPr>
        <p:spPr>
          <a:xfrm>
            <a:off x="669925" y="908050"/>
            <a:ext cx="10852150" cy="5801995"/>
          </a:xfrm>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43</a:t>
            </a:r>
            <a:r>
              <a:rPr sz="2400" b="1">
                <a:solidFill>
                  <a:srgbClr val="00B050"/>
                </a:solidFill>
                <a:latin typeface="+mn-ea"/>
                <a:cs typeface="+mn-ea"/>
                <a:sym typeface="+mn-ea"/>
              </a:rPr>
              <a:t>（川</a:t>
            </a:r>
            <a:r>
              <a:rPr lang="en-US" altLang="zh-CN" sz="2400" b="1">
                <a:solidFill>
                  <a:srgbClr val="00B050"/>
                </a:solidFill>
                <a:latin typeface="+mn-ea"/>
                <a:cs typeface="+mn-ea"/>
                <a:sym typeface="+mn-ea"/>
              </a:rPr>
              <a:t>2019</a:t>
            </a:r>
            <a:r>
              <a:rPr sz="2400" b="1">
                <a:solidFill>
                  <a:srgbClr val="00B050"/>
                </a:solidFill>
                <a:latin typeface="+mn-ea"/>
                <a:cs typeface="+mn-ea"/>
                <a:sym typeface="+mn-ea"/>
              </a:rPr>
              <a:t>上</a:t>
            </a:r>
            <a:r>
              <a:rPr lang="en-US" altLang="zh-CN" sz="2400" b="1">
                <a:solidFill>
                  <a:srgbClr val="00B050"/>
                </a:solidFill>
                <a:latin typeface="+mn-ea"/>
                <a:cs typeface="+mn-ea"/>
                <a:sym typeface="+mn-ea"/>
              </a:rPr>
              <a:t>-27</a:t>
            </a:r>
            <a:r>
              <a:rPr sz="2400" b="1">
                <a:solidFill>
                  <a:srgbClr val="00B050"/>
                </a:solidFill>
                <a:latin typeface="+mn-ea"/>
                <a:cs typeface="+mn-ea"/>
                <a:sym typeface="+mn-ea"/>
              </a:rPr>
              <a:t>）：</a:t>
            </a:r>
            <a:r>
              <a:rPr lang="zh-CN" altLang="en-US" sz="2400" b="1"/>
              <a:t>在产品广告和自媒体营销号中，我们经常看到对“防癌食品”“抗癌保健品”的</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t> 。许多营销文案还能列出一篇篇的科学文献</a:t>
            </a:r>
            <a:r>
              <a:rPr lang="zh-CN" altLang="en-US" sz="2400" b="1">
                <a:solidFill>
                  <a:srgbClr val="FF0000"/>
                </a:solidFill>
              </a:rPr>
              <a:t>，动不动就说“某著名大学发现”“某权威医学期刊证实”等，显得“很有科学依据”</a:t>
            </a:r>
            <a:r>
              <a:rPr lang="zh-CN" altLang="en-US" sz="2400" b="1"/>
              <a:t>。其实，科学领域说的“致癌”和“防癌”，跟广大公众心中所想的“致癌”“防癌”</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lang="zh-CN" altLang="en-US" sz="2400" b="1"/>
              <a:t>    </a:t>
            </a:r>
            <a:endParaRPr lang="zh-CN" altLang="en-US" sz="2400" b="1"/>
          </a:p>
          <a:p>
            <a:r>
              <a:rPr lang="zh-CN" altLang="en-US" sz="2400" b="1"/>
              <a:t>A.鼓吹    相距甚远            B. 宣传     毫不相干</a:t>
            </a:r>
            <a:endParaRPr lang="zh-CN" altLang="en-US" sz="2400" b="1"/>
          </a:p>
          <a:p>
            <a:r>
              <a:rPr lang="zh-CN" altLang="en-US" sz="2400" b="1"/>
              <a:t>C.炒作    南辕北辙            D. 正名     判若云泥</a:t>
            </a:r>
            <a:endParaRPr lang="zh-CN" altLang="en-US" sz="2400" b="1"/>
          </a:p>
          <a:p>
            <a:r>
              <a:rPr lang="zh-CN" altLang="en-US" sz="2400" b="1"/>
              <a:t>分析：根据红色字，作者不认可这些宣传，第一空应该填带有贬义的词语，排除</a:t>
            </a:r>
            <a:r>
              <a:rPr lang="en-US" altLang="zh-CN" sz="2400" b="1"/>
              <a:t>BD</a:t>
            </a:r>
            <a:r>
              <a:rPr sz="2400" b="1"/>
              <a:t>。</a:t>
            </a:r>
            <a:r>
              <a:rPr lang="en-US" altLang="zh-CN" sz="2400" b="1"/>
              <a:t>“</a:t>
            </a:r>
            <a:r>
              <a:rPr sz="2400" b="1">
                <a:sym typeface="+mn-ea"/>
              </a:rPr>
              <a:t>南辕北辙</a:t>
            </a:r>
            <a:r>
              <a:rPr lang="en-US" altLang="zh-CN" sz="2400" b="1"/>
              <a:t>”</a:t>
            </a:r>
            <a:r>
              <a:rPr sz="2400" b="1"/>
              <a:t>比喻行动与目的相抵触，文意是说二者有差距、不一致，排除</a:t>
            </a:r>
            <a:r>
              <a:rPr lang="en-US" altLang="zh-CN" sz="2400" b="1"/>
              <a:t>C</a:t>
            </a:r>
            <a:r>
              <a:rPr sz="2400" b="1"/>
              <a:t>。故选</a:t>
            </a:r>
            <a:r>
              <a:rPr lang="en-US" altLang="zh-CN" sz="2400" b="1"/>
              <a:t>A</a:t>
            </a:r>
            <a:r>
              <a:rPr sz="2400" b="1"/>
              <a:t>。</a:t>
            </a:r>
            <a:endParaRPr sz="2400" b="1"/>
          </a:p>
          <a:p>
            <a:r>
              <a:rPr lang="en-US" altLang="zh-CN" sz="2400" b="1"/>
              <a:t>“</a:t>
            </a:r>
            <a:r>
              <a:rPr sz="2400" b="1">
                <a:sym typeface="+mn-ea"/>
              </a:rPr>
              <a:t>判若云泥</a:t>
            </a:r>
            <a:r>
              <a:rPr lang="en-US" altLang="zh-CN" sz="2400" b="1"/>
              <a:t>”</a:t>
            </a:r>
            <a:r>
              <a:rPr sz="2400" b="1"/>
              <a:t>：</a:t>
            </a:r>
            <a:r>
              <a:rPr lang="zh-CN" altLang="en-US" sz="2400" b="1"/>
              <a:t>高低差别就像天上的云彩和地下的泥土那样悬殊。</a:t>
            </a:r>
            <a:endParaRPr lang="zh-CN" altLang="en-US" sz="2400" b="1"/>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17457" y="174190"/>
            <a:ext cx="10852237" cy="648000"/>
          </a:xfrm>
        </p:spPr>
        <p:txBody>
          <a:bodyPr/>
          <a:p>
            <a:r>
              <a:rPr>
                <a:sym typeface="+mn-ea"/>
              </a:rPr>
              <a:t>四、言语理解与表达逻辑填空中常考关联词</a:t>
            </a:r>
            <a:endParaRPr lang="zh-CN" altLang="en-US"/>
          </a:p>
        </p:txBody>
      </p:sp>
      <p:sp>
        <p:nvSpPr>
          <p:cNvPr id="3" name="内容占位符 2"/>
          <p:cNvSpPr>
            <a:spLocks noGrp="1"/>
          </p:cNvSpPr>
          <p:nvPr>
            <p:ph idx="1"/>
          </p:nvPr>
        </p:nvSpPr>
        <p:spPr>
          <a:xfrm>
            <a:off x="669925" y="1021715"/>
            <a:ext cx="10852150" cy="5315585"/>
          </a:xfrm>
        </p:spPr>
        <p:txBody>
          <a:bodyPr/>
          <a:p>
            <a:r>
              <a:rPr lang="zh-CN" altLang="en-US" sz="2400" b="1"/>
              <a:t>（</a:t>
            </a:r>
            <a:r>
              <a:rPr lang="en-US" altLang="zh-CN" sz="2400" b="1"/>
              <a:t>1</a:t>
            </a:r>
            <a:r>
              <a:rPr sz="2400" b="1"/>
              <a:t>）常见复句关系及关联词</a:t>
            </a:r>
            <a:endParaRPr sz="2400" b="1"/>
          </a:p>
          <a:p>
            <a:r>
              <a:rPr sz="2400" b="1">
                <a:solidFill>
                  <a:srgbClr val="FF0000"/>
                </a:solidFill>
                <a:sym typeface="+mn-ea"/>
              </a:rPr>
              <a:t>并列关系</a:t>
            </a:r>
            <a:r>
              <a:rPr sz="2400" b="1">
                <a:sym typeface="+mn-ea"/>
              </a:rPr>
              <a:t>：既</a:t>
            </a:r>
            <a:r>
              <a:rPr sz="2400" b="1">
                <a:latin typeface="宋体" panose="02010600030101010101" pitchFamily="2" charset="-122"/>
                <a:ea typeface="宋体" panose="02010600030101010101" pitchFamily="2" charset="-122"/>
                <a:sym typeface="+mn-ea"/>
              </a:rPr>
              <a:t>……</a:t>
            </a:r>
            <a:r>
              <a:rPr sz="2400" b="1">
                <a:sym typeface="+mn-ea"/>
              </a:rPr>
              <a:t>又</a:t>
            </a:r>
            <a:r>
              <a:rPr sz="2400" b="1">
                <a:latin typeface="宋体" panose="02010600030101010101" pitchFamily="2" charset="-122"/>
                <a:ea typeface="宋体" panose="02010600030101010101" pitchFamily="2" charset="-122"/>
                <a:sym typeface="+mn-ea"/>
              </a:rPr>
              <a:t>……、</a:t>
            </a:r>
            <a:r>
              <a:rPr sz="2400" b="1">
                <a:sym typeface="+mn-ea"/>
              </a:rPr>
              <a:t>不是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而是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不是</a:t>
            </a:r>
            <a:r>
              <a:rPr sz="2400" b="1">
                <a:latin typeface="宋体" panose="02010600030101010101" pitchFamily="2" charset="-122"/>
                <a:ea typeface="宋体" panose="02010600030101010101" pitchFamily="2" charset="-122"/>
                <a:sym typeface="+mn-ea"/>
              </a:rPr>
              <a:t>……</a:t>
            </a:r>
            <a:endParaRPr sz="2400" b="1">
              <a:sym typeface="+mn-ea"/>
            </a:endParaRPr>
          </a:p>
          <a:p>
            <a:r>
              <a:rPr sz="2400" b="1">
                <a:sym typeface="+mn-ea"/>
              </a:rPr>
              <a:t>承接关系：于是、然后、接着、继而</a:t>
            </a:r>
            <a:endParaRPr sz="2400" b="1">
              <a:sym typeface="+mn-ea"/>
            </a:endParaRPr>
          </a:p>
          <a:p>
            <a:r>
              <a:rPr sz="2400" b="1">
                <a:solidFill>
                  <a:srgbClr val="FF0000"/>
                </a:solidFill>
                <a:sym typeface="+mn-ea"/>
              </a:rPr>
              <a:t>递进关系</a:t>
            </a:r>
            <a:r>
              <a:rPr sz="2400" b="1">
                <a:sym typeface="+mn-ea"/>
              </a:rPr>
              <a:t>：不但</a:t>
            </a:r>
            <a:r>
              <a:rPr sz="2400" b="1">
                <a:latin typeface="宋体" panose="02010600030101010101" pitchFamily="2" charset="-122"/>
                <a:ea typeface="宋体" panose="02010600030101010101" pitchFamily="2" charset="-122"/>
                <a:sym typeface="+mn-ea"/>
              </a:rPr>
              <a:t>……</a:t>
            </a:r>
            <a:r>
              <a:rPr sz="2400" b="1">
                <a:sym typeface="+mn-ea"/>
              </a:rPr>
              <a:t>而且</a:t>
            </a:r>
            <a:r>
              <a:rPr sz="2400" b="1">
                <a:latin typeface="宋体" panose="02010600030101010101" pitchFamily="2" charset="-122"/>
                <a:ea typeface="宋体" panose="02010600030101010101" pitchFamily="2" charset="-122"/>
                <a:sym typeface="+mn-ea"/>
              </a:rPr>
              <a:t>……</a:t>
            </a:r>
            <a:r>
              <a:rPr sz="2400" b="1">
                <a:sym typeface="+mn-ea"/>
              </a:rPr>
              <a:t>、尚且</a:t>
            </a:r>
            <a:r>
              <a:rPr sz="2400" b="1">
                <a:latin typeface="宋体" panose="02010600030101010101" pitchFamily="2" charset="-122"/>
                <a:ea typeface="宋体" panose="02010600030101010101" pitchFamily="2" charset="-122"/>
                <a:sym typeface="+mn-ea"/>
              </a:rPr>
              <a:t>……</a:t>
            </a:r>
            <a:r>
              <a:rPr sz="2400" b="1">
                <a:sym typeface="+mn-ea"/>
              </a:rPr>
              <a:t>何况</a:t>
            </a:r>
            <a:r>
              <a:rPr sz="2400" b="1">
                <a:latin typeface="宋体" panose="02010600030101010101" pitchFamily="2" charset="-122"/>
                <a:ea typeface="宋体" panose="02010600030101010101" pitchFamily="2" charset="-122"/>
                <a:sym typeface="+mn-ea"/>
              </a:rPr>
              <a:t>……、</a:t>
            </a:r>
            <a:r>
              <a:rPr sz="2400" b="1">
                <a:sym typeface="+mn-ea"/>
              </a:rPr>
              <a:t>尤其、甚至</a:t>
            </a:r>
            <a:endParaRPr sz="2400" b="1">
              <a:sym typeface="+mn-ea"/>
            </a:endParaRPr>
          </a:p>
          <a:p>
            <a:r>
              <a:rPr sz="2400" b="1">
                <a:sym typeface="+mn-ea"/>
              </a:rPr>
              <a:t>选择关系：不是</a:t>
            </a:r>
            <a:r>
              <a:rPr sz="2400" b="1">
                <a:latin typeface="宋体" panose="02010600030101010101" pitchFamily="2" charset="-122"/>
                <a:ea typeface="宋体" panose="02010600030101010101" pitchFamily="2" charset="-122"/>
                <a:sym typeface="+mn-ea"/>
              </a:rPr>
              <a:t>…</a:t>
            </a:r>
            <a:r>
              <a:rPr sz="2400" b="1">
                <a:sym typeface="+mn-ea"/>
              </a:rPr>
              <a:t>就是</a:t>
            </a:r>
            <a:r>
              <a:rPr sz="2400" b="1">
                <a:latin typeface="宋体" panose="02010600030101010101" pitchFamily="2" charset="-122"/>
                <a:ea typeface="宋体" panose="02010600030101010101" pitchFamily="2" charset="-122"/>
                <a:sym typeface="+mn-ea"/>
              </a:rPr>
              <a:t>…</a:t>
            </a:r>
            <a:r>
              <a:rPr sz="2400" b="1">
                <a:sym typeface="+mn-ea"/>
              </a:rPr>
              <a:t>、是</a:t>
            </a:r>
            <a:r>
              <a:rPr sz="2400" b="1">
                <a:latin typeface="宋体" panose="02010600030101010101" pitchFamily="2" charset="-122"/>
                <a:ea typeface="宋体" panose="02010600030101010101" pitchFamily="2" charset="-122"/>
                <a:sym typeface="+mn-ea"/>
              </a:rPr>
              <a:t>…</a:t>
            </a:r>
            <a:r>
              <a:rPr sz="2400" b="1">
                <a:sym typeface="+mn-ea"/>
              </a:rPr>
              <a:t>还是</a:t>
            </a:r>
            <a:r>
              <a:rPr sz="2400" b="1">
                <a:latin typeface="宋体" panose="02010600030101010101" pitchFamily="2" charset="-122"/>
                <a:ea typeface="宋体" panose="02010600030101010101" pitchFamily="2" charset="-122"/>
                <a:sym typeface="+mn-ea"/>
              </a:rPr>
              <a:t>…</a:t>
            </a:r>
            <a:r>
              <a:rPr sz="2400" b="1">
                <a:sym typeface="+mn-ea"/>
              </a:rPr>
              <a:t>、与其</a:t>
            </a:r>
            <a:r>
              <a:rPr sz="2400" b="1">
                <a:latin typeface="宋体" panose="02010600030101010101" pitchFamily="2" charset="-122"/>
                <a:ea typeface="宋体" panose="02010600030101010101" pitchFamily="2" charset="-122"/>
                <a:sym typeface="+mn-ea"/>
              </a:rPr>
              <a:t>…</a:t>
            </a:r>
            <a:r>
              <a:rPr sz="2400" b="1">
                <a:sym typeface="+mn-ea"/>
              </a:rPr>
              <a:t>不如</a:t>
            </a:r>
            <a:r>
              <a:rPr sz="2400" b="1">
                <a:latin typeface="宋体" panose="02010600030101010101" pitchFamily="2" charset="-122"/>
                <a:ea typeface="宋体" panose="02010600030101010101" pitchFamily="2" charset="-122"/>
                <a:sym typeface="+mn-ea"/>
              </a:rPr>
              <a:t>…</a:t>
            </a:r>
            <a:r>
              <a:rPr sz="2400" b="1">
                <a:sym typeface="+mn-ea"/>
              </a:rPr>
              <a:t>、宁可</a:t>
            </a:r>
            <a:r>
              <a:rPr sz="2400" b="1">
                <a:latin typeface="宋体" panose="02010600030101010101" pitchFamily="2" charset="-122"/>
                <a:ea typeface="宋体" panose="02010600030101010101" pitchFamily="2" charset="-122"/>
                <a:sym typeface="+mn-ea"/>
              </a:rPr>
              <a:t>…</a:t>
            </a:r>
            <a:r>
              <a:rPr sz="2400" b="1">
                <a:sym typeface="+mn-ea"/>
              </a:rPr>
              <a:t>也不</a:t>
            </a:r>
            <a:r>
              <a:rPr sz="2400" b="1">
                <a:latin typeface="宋体" panose="02010600030101010101" pitchFamily="2" charset="-122"/>
                <a:ea typeface="宋体" panose="02010600030101010101" pitchFamily="2" charset="-122"/>
                <a:sym typeface="+mn-ea"/>
              </a:rPr>
              <a:t>…</a:t>
            </a:r>
            <a:endParaRPr sz="2400" b="1">
              <a:sym typeface="+mn-ea"/>
            </a:endParaRPr>
          </a:p>
          <a:p>
            <a:r>
              <a:rPr lang="zh-CN" altLang="en-US" sz="2400" b="1">
                <a:solidFill>
                  <a:srgbClr val="FF0000"/>
                </a:solidFill>
              </a:rPr>
              <a:t>转折关系</a:t>
            </a:r>
            <a:r>
              <a:rPr lang="zh-CN" altLang="en-US" sz="2400" b="1"/>
              <a:t>：虽然</a:t>
            </a:r>
            <a:r>
              <a:rPr sz="2400" b="1">
                <a:latin typeface="宋体" panose="02010600030101010101" pitchFamily="2" charset="-122"/>
                <a:ea typeface="宋体" panose="02010600030101010101" pitchFamily="2" charset="-122"/>
                <a:sym typeface="+mn-ea"/>
              </a:rPr>
              <a:t>……</a:t>
            </a:r>
            <a:r>
              <a:rPr lang="zh-CN" altLang="en-US" sz="2400" b="1"/>
              <a:t>但是</a:t>
            </a:r>
            <a:r>
              <a:rPr sz="2400" b="1">
                <a:latin typeface="宋体" panose="02010600030101010101" pitchFamily="2" charset="-122"/>
                <a:ea typeface="宋体" panose="02010600030101010101" pitchFamily="2" charset="-122"/>
                <a:sym typeface="+mn-ea"/>
              </a:rPr>
              <a:t>……</a:t>
            </a:r>
            <a:r>
              <a:rPr lang="zh-CN" altLang="en-US" sz="2400" b="1"/>
              <a:t>、但是、然而、只是、不过</a:t>
            </a:r>
            <a:endParaRPr lang="zh-CN" altLang="en-US" sz="2400" b="1"/>
          </a:p>
          <a:p>
            <a:r>
              <a:rPr lang="zh-CN" altLang="en-US" sz="2400" b="1"/>
              <a:t>假设关系：如果</a:t>
            </a:r>
            <a:r>
              <a:rPr sz="2400" b="1">
                <a:latin typeface="宋体" panose="02010600030101010101" pitchFamily="2" charset="-122"/>
                <a:ea typeface="宋体" panose="02010600030101010101" pitchFamily="2" charset="-122"/>
                <a:sym typeface="+mn-ea"/>
              </a:rPr>
              <a:t>……</a:t>
            </a:r>
            <a:r>
              <a:rPr lang="zh-CN" altLang="en-US" sz="2400" b="1"/>
              <a:t>那么</a:t>
            </a:r>
            <a:r>
              <a:rPr sz="2400" b="1">
                <a:latin typeface="宋体" panose="02010600030101010101" pitchFamily="2" charset="-122"/>
                <a:ea typeface="宋体" panose="02010600030101010101" pitchFamily="2" charset="-122"/>
                <a:sym typeface="+mn-ea"/>
              </a:rPr>
              <a:t>……</a:t>
            </a:r>
            <a:r>
              <a:rPr lang="zh-CN" altLang="en-US" sz="2400" b="1"/>
              <a:t>、即使</a:t>
            </a:r>
            <a:r>
              <a:rPr sz="2400" b="1">
                <a:latin typeface="宋体" panose="02010600030101010101" pitchFamily="2" charset="-122"/>
                <a:ea typeface="宋体" panose="02010600030101010101" pitchFamily="2" charset="-122"/>
                <a:sym typeface="+mn-ea"/>
              </a:rPr>
              <a:t>……</a:t>
            </a:r>
            <a:r>
              <a:rPr lang="zh-CN" altLang="en-US" sz="2400" b="1"/>
              <a:t>也</a:t>
            </a:r>
            <a:r>
              <a:rPr sz="2400" b="1">
                <a:latin typeface="宋体" panose="02010600030101010101" pitchFamily="2" charset="-122"/>
                <a:ea typeface="宋体" panose="02010600030101010101" pitchFamily="2" charset="-122"/>
                <a:sym typeface="+mn-ea"/>
              </a:rPr>
              <a:t>……</a:t>
            </a:r>
            <a:endParaRPr lang="zh-CN" altLang="en-US" sz="2400" b="1"/>
          </a:p>
          <a:p>
            <a:r>
              <a:rPr lang="zh-CN" altLang="en-US" sz="2400" b="1">
                <a:solidFill>
                  <a:srgbClr val="FF0000"/>
                </a:solidFill>
              </a:rPr>
              <a:t>条件关系</a:t>
            </a:r>
            <a:r>
              <a:rPr lang="zh-CN" altLang="en-US" sz="2400" b="1"/>
              <a:t>：只要</a:t>
            </a:r>
            <a:r>
              <a:rPr sz="2400" b="1">
                <a:latin typeface="宋体" panose="02010600030101010101" pitchFamily="2" charset="-122"/>
                <a:ea typeface="宋体" panose="02010600030101010101" pitchFamily="2" charset="-122"/>
                <a:sym typeface="+mn-ea"/>
              </a:rPr>
              <a:t>……</a:t>
            </a:r>
            <a:r>
              <a:rPr lang="zh-CN" altLang="en-US" sz="2400" b="1"/>
              <a:t>就</a:t>
            </a:r>
            <a:r>
              <a:rPr sz="2400" b="1">
                <a:latin typeface="宋体" panose="02010600030101010101" pitchFamily="2" charset="-122"/>
                <a:ea typeface="宋体" panose="02010600030101010101" pitchFamily="2" charset="-122"/>
                <a:sym typeface="+mn-ea"/>
              </a:rPr>
              <a:t>……</a:t>
            </a:r>
            <a:r>
              <a:rPr lang="zh-CN" altLang="en-US" sz="2400" b="1"/>
              <a:t>、只要</a:t>
            </a:r>
            <a:r>
              <a:rPr sz="2400" b="1">
                <a:latin typeface="宋体" panose="02010600030101010101" pitchFamily="2" charset="-122"/>
                <a:ea typeface="宋体" panose="02010600030101010101" pitchFamily="2" charset="-122"/>
                <a:sym typeface="+mn-ea"/>
              </a:rPr>
              <a:t>……</a:t>
            </a:r>
            <a:r>
              <a:rPr lang="zh-CN" altLang="en-US" sz="2400" b="1"/>
              <a:t>才</a:t>
            </a:r>
            <a:r>
              <a:rPr sz="2400" b="1">
                <a:latin typeface="宋体" panose="02010600030101010101" pitchFamily="2" charset="-122"/>
                <a:ea typeface="宋体" panose="02010600030101010101" pitchFamily="2" charset="-122"/>
                <a:sym typeface="+mn-ea"/>
              </a:rPr>
              <a:t>……</a:t>
            </a:r>
            <a:r>
              <a:rPr lang="zh-CN" altLang="en-US" sz="2400" b="1"/>
              <a:t>、无论（不论）</a:t>
            </a:r>
            <a:r>
              <a:rPr sz="2400" b="1">
                <a:latin typeface="宋体" panose="02010600030101010101" pitchFamily="2" charset="-122"/>
                <a:ea typeface="宋体" panose="02010600030101010101" pitchFamily="2" charset="-122"/>
                <a:sym typeface="+mn-ea"/>
              </a:rPr>
              <a:t>……</a:t>
            </a:r>
            <a:r>
              <a:rPr lang="zh-CN" altLang="en-US" sz="2400" b="1"/>
              <a:t>都</a:t>
            </a:r>
            <a:r>
              <a:rPr sz="2400" b="1">
                <a:latin typeface="宋体" panose="02010600030101010101" pitchFamily="2" charset="-122"/>
                <a:ea typeface="宋体" panose="02010600030101010101" pitchFamily="2" charset="-122"/>
                <a:sym typeface="+mn-ea"/>
              </a:rPr>
              <a:t>……</a:t>
            </a:r>
            <a:endParaRPr lang="zh-CN" altLang="en-US" sz="2400" b="1"/>
          </a:p>
          <a:p>
            <a:r>
              <a:rPr lang="zh-CN" altLang="en-US" sz="2400" b="1"/>
              <a:t>因果关系：因为</a:t>
            </a:r>
            <a:r>
              <a:rPr sz="2400" b="1">
                <a:latin typeface="宋体" panose="02010600030101010101" pitchFamily="2" charset="-122"/>
                <a:ea typeface="宋体" panose="02010600030101010101" pitchFamily="2" charset="-122"/>
                <a:sym typeface="+mn-ea"/>
              </a:rPr>
              <a:t>……</a:t>
            </a:r>
            <a:r>
              <a:rPr lang="zh-CN" altLang="en-US" sz="2400" b="1"/>
              <a:t>所以</a:t>
            </a:r>
            <a:r>
              <a:rPr sz="2400" b="1">
                <a:latin typeface="宋体" panose="02010600030101010101" pitchFamily="2" charset="-122"/>
                <a:ea typeface="宋体" panose="02010600030101010101" pitchFamily="2" charset="-122"/>
                <a:sym typeface="+mn-ea"/>
              </a:rPr>
              <a:t>……</a:t>
            </a:r>
            <a:r>
              <a:rPr lang="zh-CN" altLang="en-US" sz="2400" b="1"/>
              <a:t>、之所以</a:t>
            </a:r>
            <a:r>
              <a:rPr sz="2400" b="1">
                <a:latin typeface="宋体" panose="02010600030101010101" pitchFamily="2" charset="-122"/>
                <a:ea typeface="宋体" panose="02010600030101010101" pitchFamily="2" charset="-122"/>
                <a:sym typeface="+mn-ea"/>
              </a:rPr>
              <a:t>……</a:t>
            </a:r>
            <a:r>
              <a:rPr lang="zh-CN" altLang="en-US" sz="2400" b="1"/>
              <a:t>是因为</a:t>
            </a:r>
            <a:r>
              <a:rPr sz="2400" b="1">
                <a:latin typeface="宋体" panose="02010600030101010101" pitchFamily="2" charset="-122"/>
                <a:ea typeface="宋体" panose="02010600030101010101" pitchFamily="2" charset="-122"/>
                <a:sym typeface="+mn-ea"/>
              </a:rPr>
              <a:t>……</a:t>
            </a:r>
            <a:r>
              <a:rPr lang="zh-CN" altLang="en-US" sz="2400" b="1"/>
              <a:t>、既然</a:t>
            </a:r>
            <a:r>
              <a:rPr sz="2400" b="1">
                <a:latin typeface="宋体" panose="02010600030101010101" pitchFamily="2" charset="-122"/>
                <a:ea typeface="宋体" panose="02010600030101010101" pitchFamily="2" charset="-122"/>
                <a:sym typeface="+mn-ea"/>
              </a:rPr>
              <a:t>……</a:t>
            </a:r>
            <a:r>
              <a:rPr lang="zh-CN" altLang="en-US" sz="2400" b="1"/>
              <a:t>就</a:t>
            </a:r>
            <a:r>
              <a:rPr sz="2400" b="1">
                <a:latin typeface="宋体" panose="02010600030101010101" pitchFamily="2" charset="-122"/>
                <a:ea typeface="宋体" panose="02010600030101010101" pitchFamily="2" charset="-122"/>
                <a:sym typeface="+mn-ea"/>
              </a:rPr>
              <a:t>……</a:t>
            </a:r>
            <a:endParaRPr lang="zh-CN" altLang="en-US" sz="2400" b="1"/>
          </a:p>
          <a:p>
            <a:endParaRPr lang="zh-CN" altLang="en-US" sz="2400" b="1"/>
          </a:p>
          <a:p>
            <a:endParaRPr lang="zh-CN" altLang="en-US" sz="2400" b="1"/>
          </a:p>
          <a:p>
            <a:endParaRPr lang="zh-CN" altLang="en-US" sz="2400" b="1"/>
          </a:p>
          <a:p>
            <a:endParaRPr lang="zh-CN" altLang="en-US" sz="2400" b="1"/>
          </a:p>
          <a:p>
            <a:endParaRPr lang="zh-CN" altLang="en-US" sz="2400" b="1"/>
          </a:p>
          <a:p>
            <a:endParaRPr lang="zh-CN" altLang="en-US" sz="2400" b="1"/>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7030A0"/>
                </a:solidFill>
              </a:rPr>
              <a:t>真题</a:t>
            </a:r>
            <a:r>
              <a:rPr lang="en-US" altLang="zh-CN">
                <a:solidFill>
                  <a:srgbClr val="7030A0"/>
                </a:solidFill>
              </a:rPr>
              <a:t>44</a:t>
            </a:r>
            <a:endParaRPr lang="en-US" altLang="zh-CN">
              <a:solidFill>
                <a:srgbClr val="7030A0"/>
              </a:solidFill>
            </a:endParaRPr>
          </a:p>
        </p:txBody>
      </p:sp>
      <p:sp>
        <p:nvSpPr>
          <p:cNvPr id="3" name="内容占位符 2"/>
          <p:cNvSpPr>
            <a:spLocks noGrp="1"/>
          </p:cNvSpPr>
          <p:nvPr>
            <p:ph idx="1"/>
          </p:nvPr>
        </p:nvSpPr>
        <p:spPr/>
        <p:txBody>
          <a:bodyPr/>
          <a:p>
            <a:r>
              <a:rPr lang="zh-CN" altLang="en-US" sz="2400" b="1"/>
              <a:t> 只要微观主体都具有创新活力，国家就能迸发出巨大的创新活力。</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大部分创新创业者来说，与杰出科学家和知名企业家相比，他们的创新创业成果微不足道。</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，这些看上去微小的成果，组合在一起能够发挥强大的“长尾效应”。</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，对微观主体来说，只要有心，创新不需要付出太大的成本。在平时工作中注重改进方法，在经验积累的基础上做出改变，就能够让创新成为一种习惯。</a:t>
            </a:r>
            <a:endParaRPr lang="zh-CN" altLang="en-US" sz="2400" b="1"/>
          </a:p>
          <a:p>
            <a:r>
              <a:rPr lang="zh-CN" altLang="en-US" sz="2400" b="1"/>
              <a:t>依次填入画横线部分最恰当的一项是：</a:t>
            </a:r>
            <a:endParaRPr lang="zh-CN" altLang="en-US" sz="2400" b="1"/>
          </a:p>
          <a:p>
            <a:r>
              <a:rPr lang="zh-CN" altLang="en-US" sz="2400" b="1"/>
              <a:t>A.因为    所以    但是                    B.也许    当然    因为</a:t>
            </a:r>
            <a:endParaRPr lang="zh-CN" altLang="en-US" sz="2400" b="1"/>
          </a:p>
          <a:p>
            <a:r>
              <a:rPr lang="zh-CN" altLang="en-US" sz="2400" b="1"/>
              <a:t>C.可能    然而    更何况                 D.但是    虽然    当然</a:t>
            </a:r>
            <a:endParaRPr lang="zh-CN" altLang="en-US" sz="2400" b="1"/>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428625"/>
            <a:ext cx="10852150" cy="5908675"/>
          </a:xfrm>
        </p:spPr>
        <p:txBody>
          <a:bodyPr/>
          <a:p>
            <a:r>
              <a:rPr lang="zh-CN" altLang="en-US" sz="2400" b="1"/>
              <a:t> 只要微观主体都具有创新活力，国家就能迸发出巨大的创新活力。</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大部分创新创业者来说，与杰出科学家和知名企业家相比，他们的创新创业</a:t>
            </a:r>
            <a:r>
              <a:rPr lang="zh-CN" altLang="en-US" sz="2400" b="1">
                <a:solidFill>
                  <a:srgbClr val="FF0000"/>
                </a:solidFill>
              </a:rPr>
              <a:t>成果微不足道</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，这些看上去微小的成果，</a:t>
            </a:r>
            <a:r>
              <a:rPr lang="zh-CN" altLang="en-US" sz="2400" b="1">
                <a:solidFill>
                  <a:srgbClr val="FF0000"/>
                </a:solidFill>
              </a:rPr>
              <a:t>组合在一起能够发挥强大的“长尾效应</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，对微观主体来说，只要有心，创新不需要付出太大的成本。在平时工作中注重改进方法，在经验积累的基础上做出改变，就能够让创新成为一种习惯。</a:t>
            </a:r>
            <a:endParaRPr lang="zh-CN" altLang="en-US" sz="2400" b="1"/>
          </a:p>
          <a:p>
            <a:r>
              <a:rPr lang="zh-CN" altLang="en-US" sz="2400" b="1"/>
              <a:t>依次填入画横线部分最恰当的一项是：</a:t>
            </a:r>
            <a:endParaRPr lang="zh-CN" altLang="en-US" sz="2400" b="1"/>
          </a:p>
          <a:p>
            <a:r>
              <a:rPr lang="zh-CN" altLang="en-US" sz="2400" b="1"/>
              <a:t>A.因为    所以    但是                    B.也许    当然    因为</a:t>
            </a:r>
            <a:endParaRPr lang="zh-CN" altLang="en-US" sz="2400" b="1"/>
          </a:p>
          <a:p>
            <a:r>
              <a:rPr lang="zh-CN" altLang="en-US" sz="2400" b="1"/>
              <a:t>C.可能    然而    更何况                 D.但是    虽然    当然</a:t>
            </a:r>
            <a:endParaRPr lang="zh-CN" altLang="en-US" sz="2400" b="1"/>
          </a:p>
          <a:p>
            <a:r>
              <a:rPr lang="zh-CN" altLang="en-US" sz="2400" b="1"/>
              <a:t>分析：根据红色字可知：第二空是转折关系，故选</a:t>
            </a:r>
            <a:r>
              <a:rPr lang="en-US" altLang="zh-CN" sz="2400" b="1"/>
              <a:t>“</a:t>
            </a:r>
            <a:r>
              <a:rPr sz="2400" b="1"/>
              <a:t>然而</a:t>
            </a:r>
            <a:r>
              <a:rPr lang="en-US" altLang="zh-CN" sz="2400" b="1"/>
              <a:t>”</a:t>
            </a:r>
            <a:r>
              <a:rPr sz="2400" b="1"/>
              <a:t>。验证</a:t>
            </a:r>
            <a:r>
              <a:rPr lang="en-US" altLang="zh-CN" sz="2400" b="1"/>
              <a:t>C</a:t>
            </a:r>
            <a:r>
              <a:rPr sz="2400" b="1"/>
              <a:t>。故选</a:t>
            </a:r>
            <a:r>
              <a:rPr lang="en-US" altLang="zh-CN" sz="2400" b="1"/>
              <a:t>C</a:t>
            </a:r>
            <a:r>
              <a:rPr sz="2400" b="1"/>
              <a:t>。</a:t>
            </a:r>
            <a:endParaRPr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7030A0"/>
                </a:solidFill>
              </a:rPr>
              <a:t>真题</a:t>
            </a:r>
            <a:r>
              <a:rPr lang="en-US" altLang="zh-CN">
                <a:solidFill>
                  <a:srgbClr val="7030A0"/>
                </a:solidFill>
              </a:rPr>
              <a:t>45</a:t>
            </a:r>
            <a:r>
              <a:rPr>
                <a:solidFill>
                  <a:srgbClr val="7030A0"/>
                </a:solidFill>
              </a:rPr>
              <a:t>分析</a:t>
            </a:r>
            <a:endParaRPr>
              <a:solidFill>
                <a:srgbClr val="7030A0"/>
              </a:solidFill>
            </a:endParaRPr>
          </a:p>
        </p:txBody>
      </p:sp>
      <p:sp>
        <p:nvSpPr>
          <p:cNvPr id="3" name="内容占位符 2"/>
          <p:cNvSpPr>
            <a:spLocks noGrp="1"/>
          </p:cNvSpPr>
          <p:nvPr>
            <p:ph idx="1"/>
          </p:nvPr>
        </p:nvSpPr>
        <p:spPr/>
        <p:txBody>
          <a:bodyPr/>
          <a:p>
            <a:r>
              <a:rPr lang="zh-CN" altLang="en-US" sz="2400" b="1"/>
              <a:t>人活在世界上有多少幸福就有多少苦难。生活不能等待别人来安排，要自己去争取和奋斗。而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其结果是喜是悲，可以慰藉的是你总不枉在这世界上活了一场。有了这样的认识，你就会珍重生活，</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不会玩世不恭，</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也会给人自身注入一种强大的内在力量。</a:t>
            </a:r>
            <a:endParaRPr lang="zh-CN" altLang="en-US" sz="2400" b="1"/>
          </a:p>
          <a:p>
            <a:r>
              <a:rPr lang="zh-CN" altLang="en-US" sz="2400" b="1"/>
              <a:t>填入画横线部分最恰当的一项是：</a:t>
            </a:r>
            <a:endParaRPr lang="zh-CN" altLang="en-US" sz="2400" b="1"/>
          </a:p>
          <a:p>
            <a:r>
              <a:rPr lang="zh-CN" altLang="en-US" sz="2400" b="1"/>
              <a:t>A.不论    却    此外                     B.尽管    而    同时</a:t>
            </a:r>
            <a:endParaRPr lang="zh-CN" altLang="en-US" sz="2400" b="1"/>
          </a:p>
          <a:p>
            <a:r>
              <a:rPr lang="zh-CN" altLang="en-US" sz="2400" b="1"/>
              <a:t>C.不论    而    同时                     D.尽管    却    此外</a:t>
            </a:r>
            <a:endParaRPr lang="zh-CN" altLang="en-US" sz="2400"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7472" y="191335"/>
            <a:ext cx="10852237" cy="648000"/>
          </a:xfrm>
        </p:spPr>
        <p:txBody>
          <a:bodyPr/>
          <a:p>
            <a:r>
              <a:rPr>
                <a:solidFill>
                  <a:srgbClr val="7030A0"/>
                </a:solidFill>
              </a:rPr>
              <a:t>真题</a:t>
            </a:r>
            <a:r>
              <a:rPr lang="en-US" altLang="zh-CN">
                <a:solidFill>
                  <a:srgbClr val="7030A0"/>
                </a:solidFill>
              </a:rPr>
              <a:t>45</a:t>
            </a:r>
            <a:r>
              <a:rPr>
                <a:solidFill>
                  <a:srgbClr val="7030A0"/>
                </a:solidFill>
              </a:rPr>
              <a:t>分析</a:t>
            </a:r>
            <a:endParaRPr>
              <a:solidFill>
                <a:srgbClr val="7030A0"/>
              </a:solidFill>
            </a:endParaRPr>
          </a:p>
        </p:txBody>
      </p:sp>
      <p:sp>
        <p:nvSpPr>
          <p:cNvPr id="3" name="内容占位符 2"/>
          <p:cNvSpPr>
            <a:spLocks noGrp="1"/>
          </p:cNvSpPr>
          <p:nvPr>
            <p:ph idx="1"/>
          </p:nvPr>
        </p:nvSpPr>
        <p:spPr>
          <a:xfrm>
            <a:off x="377825" y="908685"/>
            <a:ext cx="10852150" cy="5445125"/>
          </a:xfrm>
        </p:spPr>
        <p:txBody>
          <a:bodyPr/>
          <a:p>
            <a:r>
              <a:rPr lang="zh-CN" altLang="en-US" sz="2400" b="1"/>
              <a:t>人活在世界上有多少幸福就有多少苦难。生活不能等待别人来安排，要自己去争取和奋斗。而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solidFill>
                  <a:srgbClr val="FF0000"/>
                </a:solidFill>
              </a:rPr>
              <a:t>其结果是喜是悲</a:t>
            </a:r>
            <a:r>
              <a:rPr lang="zh-CN" altLang="en-US" sz="2400" b="1"/>
              <a:t>，可以慰藉的是你总不枉在这世界上活了一场。有了这样的认识，</a:t>
            </a:r>
            <a:r>
              <a:rPr lang="zh-CN" altLang="en-US" sz="2400" b="1">
                <a:solidFill>
                  <a:srgbClr val="00B050"/>
                </a:solidFill>
              </a:rPr>
              <a:t>你就会珍重生活</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solidFill>
                  <a:srgbClr val="00B050"/>
                </a:solidFill>
              </a:rPr>
              <a:t>不会玩世不恭</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也会给人自身注入一种强大的内在力量。</a:t>
            </a:r>
            <a:endParaRPr lang="zh-CN" altLang="en-US" sz="2400" b="1"/>
          </a:p>
          <a:p>
            <a:r>
              <a:rPr lang="zh-CN" altLang="en-US" sz="2400" b="1"/>
              <a:t>填入画横线部分最恰当的一项是：</a:t>
            </a:r>
            <a:endParaRPr lang="zh-CN" altLang="en-US" sz="2400" b="1"/>
          </a:p>
          <a:p>
            <a:r>
              <a:rPr sz="2400" b="1">
                <a:sym typeface="+mn-ea"/>
              </a:rPr>
              <a:t>A.不论    却    此外                     B.尽管    而    同时</a:t>
            </a:r>
            <a:endParaRPr lang="zh-CN" altLang="en-US" sz="2400" b="1"/>
          </a:p>
          <a:p>
            <a:r>
              <a:rPr sz="2400" b="1">
                <a:sym typeface="+mn-ea"/>
              </a:rPr>
              <a:t>C.不论    而    同时                     D.尽管    却    此外</a:t>
            </a:r>
            <a:endParaRPr lang="zh-CN" altLang="en-US" sz="2400" b="1"/>
          </a:p>
          <a:p>
            <a:r>
              <a:rPr lang="zh-CN" altLang="en-US" sz="2400" b="1"/>
              <a:t>分析：</a:t>
            </a:r>
            <a:r>
              <a:rPr lang="en-US" altLang="zh-CN" sz="2400" b="1"/>
              <a:t>“</a:t>
            </a:r>
            <a:r>
              <a:rPr sz="2400" b="1"/>
              <a:t>尽管</a:t>
            </a:r>
            <a:r>
              <a:rPr lang="en-US" altLang="zh-CN" sz="2400" b="1"/>
              <a:t>”</a:t>
            </a:r>
            <a:r>
              <a:rPr sz="2400" b="1"/>
              <a:t>只涉及一种情况，</a:t>
            </a:r>
            <a:r>
              <a:rPr lang="en-US" altLang="zh-CN" sz="2400" b="1"/>
              <a:t>“</a:t>
            </a:r>
            <a:r>
              <a:rPr sz="2400" b="1">
                <a:solidFill>
                  <a:srgbClr val="FF0000"/>
                </a:solidFill>
                <a:sym typeface="+mn-ea"/>
              </a:rPr>
              <a:t>是喜是悲</a:t>
            </a:r>
            <a:r>
              <a:rPr lang="en-US" altLang="zh-CN" sz="2400" b="1"/>
              <a:t>”</a:t>
            </a:r>
            <a:r>
              <a:rPr sz="2400" b="1"/>
              <a:t>涉及两种情况，</a:t>
            </a:r>
            <a:r>
              <a:rPr sz="2400" b="1"/>
              <a:t>排除</a:t>
            </a:r>
            <a:r>
              <a:rPr lang="en-US" altLang="zh-CN" sz="2400" b="1"/>
              <a:t>BD</a:t>
            </a:r>
            <a:r>
              <a:rPr sz="2400" b="1"/>
              <a:t>。</a:t>
            </a:r>
            <a:r>
              <a:rPr lang="en-US" altLang="zh-CN" sz="2400" b="1"/>
              <a:t>“</a:t>
            </a:r>
            <a:r>
              <a:rPr sz="2400" b="1">
                <a:solidFill>
                  <a:srgbClr val="00B050"/>
                </a:solidFill>
                <a:sym typeface="+mn-ea"/>
              </a:rPr>
              <a:t>你就会珍重生活</a:t>
            </a:r>
            <a:r>
              <a:rPr sz="2400" b="1">
                <a:sym typeface="+mn-ea"/>
              </a:rPr>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olidFill>
                  <a:srgbClr val="00B050"/>
                </a:solidFill>
                <a:sym typeface="+mn-ea"/>
              </a:rPr>
              <a:t>不会玩世不恭</a:t>
            </a:r>
            <a:r>
              <a:rPr lang="en-US" altLang="zh-CN" sz="2400" b="1"/>
              <a:t>”</a:t>
            </a:r>
            <a:r>
              <a:rPr sz="2400" b="1"/>
              <a:t>是并列关系，不是转折，</a:t>
            </a:r>
            <a:r>
              <a:rPr lang="en-US" altLang="zh-CN" sz="2400" b="1"/>
              <a:t>“</a:t>
            </a:r>
            <a:r>
              <a:rPr sz="2400" b="1"/>
              <a:t>却</a:t>
            </a:r>
            <a:r>
              <a:rPr lang="en-US" altLang="zh-CN" sz="2400" b="1"/>
              <a:t>”</a:t>
            </a:r>
            <a:r>
              <a:rPr sz="2400" b="1"/>
              <a:t>表示转折，故选</a:t>
            </a:r>
            <a:r>
              <a:rPr lang="en-US" altLang="zh-CN" sz="2400" b="1"/>
              <a:t>C</a:t>
            </a:r>
            <a:r>
              <a:rPr sz="2400" b="1"/>
              <a:t>。</a:t>
            </a:r>
            <a:endParaRPr sz="2400" b="1"/>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63550" y="165100"/>
            <a:ext cx="10852150" cy="982980"/>
          </a:xfrm>
        </p:spPr>
        <p:txBody>
          <a:bodyPr/>
          <a:p>
            <a:pPr>
              <a:lnSpc>
                <a:spcPct val="150000"/>
              </a:lnSpc>
            </a:pPr>
            <a:r>
              <a:rPr lang="zh-CN" altLang="en-US"/>
              <a:t>（二）易混关联词的区别</a:t>
            </a:r>
            <a:r>
              <a:rPr lang="en-US" altLang="zh-CN"/>
              <a:t>:</a:t>
            </a:r>
            <a:br>
              <a:rPr lang="en-US" altLang="zh-CN"/>
            </a:br>
            <a:r>
              <a:rPr sz="2400">
                <a:solidFill>
                  <a:srgbClr val="FF0000"/>
                </a:solidFill>
                <a:latin typeface="+mn-ea"/>
                <a:cs typeface="+mn-ea"/>
                <a:sym typeface="+mn-ea"/>
              </a:rPr>
              <a:t>需要根据语境，认真分析前后分句之间的关系</a:t>
            </a:r>
            <a:endParaRPr lang="en-US" altLang="zh-CN" sz="2400">
              <a:solidFill>
                <a:srgbClr val="FF0000"/>
              </a:solidFill>
              <a:latin typeface="+mn-ea"/>
              <a:cs typeface="+mn-ea"/>
              <a:sym typeface="+mn-ea"/>
            </a:endParaRPr>
          </a:p>
        </p:txBody>
      </p:sp>
      <p:sp>
        <p:nvSpPr>
          <p:cNvPr id="3" name="内容占位符 2"/>
          <p:cNvSpPr>
            <a:spLocks noGrp="1"/>
          </p:cNvSpPr>
          <p:nvPr>
            <p:ph idx="1"/>
          </p:nvPr>
        </p:nvSpPr>
        <p:spPr/>
        <p:txBody>
          <a:bodyPr/>
          <a:p>
            <a:r>
              <a:rPr lang="en-US" altLang="zh-CN" sz="2400" b="1">
                <a:latin typeface="+mn-ea"/>
                <a:cs typeface="+mn-ea"/>
              </a:rPr>
              <a:t>1.</a:t>
            </a:r>
            <a:r>
              <a:rPr sz="2400" b="1">
                <a:solidFill>
                  <a:srgbClr val="00B050"/>
                </a:solidFill>
                <a:latin typeface="+mn-ea"/>
                <a:cs typeface="+mn-ea"/>
              </a:rPr>
              <a:t>区分并列关系与递进关系</a:t>
            </a:r>
            <a:r>
              <a:rPr sz="2400" b="1">
                <a:latin typeface="+mn-ea"/>
                <a:cs typeface="+mn-ea"/>
              </a:rPr>
              <a:t>：</a:t>
            </a:r>
            <a:r>
              <a:rPr sz="2400" b="1">
                <a:latin typeface="+mn-ea"/>
                <a:cs typeface="+mn-ea"/>
                <a:sym typeface="+mn-ea"/>
              </a:rPr>
              <a:t>既……又……  </a:t>
            </a:r>
            <a:r>
              <a:rPr lang="en-US" altLang="zh-CN" sz="2400" b="1">
                <a:solidFill>
                  <a:srgbClr val="00B050"/>
                </a:solidFill>
                <a:latin typeface="+mn-ea"/>
                <a:cs typeface="+mn-ea"/>
                <a:sym typeface="+mn-ea"/>
              </a:rPr>
              <a:t>VS</a:t>
            </a:r>
            <a:r>
              <a:rPr lang="en-US" altLang="zh-CN" sz="2400" b="1">
                <a:solidFill>
                  <a:srgbClr val="FF0000"/>
                </a:solidFill>
                <a:latin typeface="+mn-ea"/>
                <a:cs typeface="+mn-ea"/>
                <a:sym typeface="+mn-ea"/>
              </a:rPr>
              <a:t> </a:t>
            </a:r>
            <a:r>
              <a:rPr sz="2400" b="1">
                <a:latin typeface="+mn-ea"/>
                <a:cs typeface="+mn-ea"/>
                <a:sym typeface="+mn-ea"/>
              </a:rPr>
              <a:t>不但……而且……</a:t>
            </a:r>
            <a:endParaRPr sz="2400" b="1">
              <a:latin typeface="+mn-ea"/>
              <a:cs typeface="+mn-ea"/>
            </a:endParaRPr>
          </a:p>
          <a:p>
            <a:r>
              <a:rPr sz="2400" b="1">
                <a:sym typeface="+mn-ea"/>
              </a:rPr>
              <a:t>真题</a:t>
            </a:r>
            <a:r>
              <a:rPr lang="en-US" altLang="zh-CN" sz="2400" b="1">
                <a:sym typeface="+mn-ea"/>
              </a:rPr>
              <a:t>46</a:t>
            </a:r>
            <a:r>
              <a:rPr sz="2400" b="1">
                <a:sym typeface="+mn-ea"/>
              </a:rPr>
              <a:t>：</a:t>
            </a:r>
            <a:r>
              <a:rPr sz="2400" b="1">
                <a:sym typeface="+mn-ea"/>
              </a:rPr>
              <a:t>有许多论文所引证的论述能够兼顾历史和科学前沿，</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包括该领域中古老又权威的论断、方法和数据，</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包括了最新研究成果及理论或实际需求，反映出作者的理论眼界。一位优秀的科学家    与当今学者的研究成果互相联系，且兼顾经典，</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在研究其论文时不仅得到论点、论据，</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能获得进一步探讨的方法和空间。</a:t>
            </a:r>
            <a:endParaRPr lang="zh-CN" altLang="en-US" sz="2400" b="1"/>
          </a:p>
          <a:p>
            <a:r>
              <a:rPr sz="2400" b="1">
                <a:sym typeface="+mn-ea"/>
              </a:rPr>
              <a:t>依次填入画横线部分最恰当的一项是：</a:t>
            </a:r>
            <a:endParaRPr lang="zh-CN" altLang="en-US" sz="2400" b="1"/>
          </a:p>
          <a:p>
            <a:r>
              <a:rPr sz="2400" b="1">
                <a:sym typeface="+mn-ea"/>
              </a:rPr>
              <a:t>A.既   又   不仅   因而   所以           B.不但   而且   不仅   因而   而且</a:t>
            </a:r>
            <a:endParaRPr lang="zh-CN" altLang="en-US" sz="2400" b="1"/>
          </a:p>
          <a:p>
            <a:r>
              <a:rPr sz="2400" b="1">
                <a:sym typeface="+mn-ea"/>
              </a:rPr>
              <a:t>C.既   又   总是   从而   而且           D.不但   而且   总是   从而   所以</a:t>
            </a:r>
            <a:endParaRPr lang="zh-CN" altLang="en-US" sz="2400" b="1"/>
          </a:p>
          <a:p>
            <a:endParaRPr sz="2400" b="1">
              <a:latin typeface="+mn-ea"/>
              <a:cs typeface="+mn-ea"/>
              <a:sym typeface="+mn-ea"/>
            </a:endParaRPr>
          </a:p>
          <a:p>
            <a:endParaRPr lang="en-US" altLang="zh-CN" b="1">
              <a:latin typeface="+mn-ea"/>
              <a:cs typeface="+mn-ea"/>
              <a:sym typeface="+mn-ea"/>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18447" y="217370"/>
            <a:ext cx="10852237" cy="648000"/>
          </a:xfrm>
        </p:spPr>
        <p:txBody>
          <a:bodyPr/>
          <a:p>
            <a:r>
              <a:rPr lang="zh-CN" altLang="en-US"/>
              <a:t>真题</a:t>
            </a:r>
            <a:r>
              <a:rPr lang="en-US" altLang="zh-CN"/>
              <a:t>46</a:t>
            </a:r>
            <a:r>
              <a:t>分析</a:t>
            </a:r>
          </a:p>
        </p:txBody>
      </p:sp>
      <p:sp>
        <p:nvSpPr>
          <p:cNvPr id="3" name="内容占位符 2"/>
          <p:cNvSpPr>
            <a:spLocks noGrp="1"/>
          </p:cNvSpPr>
          <p:nvPr>
            <p:ph idx="1"/>
          </p:nvPr>
        </p:nvSpPr>
        <p:spPr>
          <a:xfrm>
            <a:off x="523875" y="961390"/>
            <a:ext cx="11057890" cy="5410200"/>
          </a:xfrm>
        </p:spPr>
        <p:txBody>
          <a:bodyPr/>
          <a:p>
            <a:r>
              <a:rPr sz="2400" b="1">
                <a:sym typeface="+mn-ea"/>
              </a:rPr>
              <a:t>有许多论文所引证的论述能够</a:t>
            </a:r>
            <a:r>
              <a:rPr sz="2400" b="1">
                <a:solidFill>
                  <a:srgbClr val="FF0000"/>
                </a:solidFill>
                <a:sym typeface="+mn-ea"/>
              </a:rPr>
              <a:t>兼顾</a:t>
            </a:r>
            <a:r>
              <a:rPr sz="2400" b="1">
                <a:sym typeface="+mn-ea"/>
              </a:rPr>
              <a:t>历史和科学前沿，</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olidFill>
                  <a:srgbClr val="FF0000"/>
                </a:solidFill>
                <a:sym typeface="+mn-ea"/>
              </a:rPr>
              <a:t>包括</a:t>
            </a:r>
            <a:r>
              <a:rPr sz="2400" b="1">
                <a:sym typeface="+mn-ea"/>
              </a:rPr>
              <a:t>该领域中古老又权威的论断、方法和数据，</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olidFill>
                  <a:srgbClr val="FF0000"/>
                </a:solidFill>
                <a:sym typeface="+mn-ea"/>
              </a:rPr>
              <a:t>包括</a:t>
            </a:r>
            <a:r>
              <a:rPr sz="2400" b="1">
                <a:sym typeface="+mn-ea"/>
              </a:rPr>
              <a:t>了最新研究成果及理论或实际需求，反映出作者的理论眼界。一位优秀的科学家</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与当今学者的研究成果互相联系，且兼顾经典，</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在研究其论文时</a:t>
            </a:r>
            <a:r>
              <a:rPr sz="2400" b="1">
                <a:solidFill>
                  <a:srgbClr val="00B050"/>
                </a:solidFill>
                <a:sym typeface="+mn-ea"/>
              </a:rPr>
              <a:t>不仅</a:t>
            </a:r>
            <a:r>
              <a:rPr sz="2400" b="1">
                <a:sym typeface="+mn-ea"/>
              </a:rPr>
              <a:t>得到论点、论据，</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能获得进一步探讨的方法和空间。</a:t>
            </a:r>
            <a:endParaRPr lang="zh-CN" altLang="en-US" sz="2400" b="1"/>
          </a:p>
          <a:p>
            <a:r>
              <a:rPr sz="2400" b="1">
                <a:sym typeface="+mn-ea"/>
              </a:rPr>
              <a:t>依次填入画横线部分最恰当的一项是：</a:t>
            </a:r>
            <a:endParaRPr lang="zh-CN" altLang="en-US" sz="2400" b="1"/>
          </a:p>
          <a:p>
            <a:r>
              <a:rPr sz="2400" b="1">
                <a:sym typeface="+mn-ea"/>
              </a:rPr>
              <a:t>A.既   又   不仅   因而   所以           B.不但   而且   不仅   因而   而且</a:t>
            </a:r>
            <a:endParaRPr lang="zh-CN" altLang="en-US" sz="2400" b="1"/>
          </a:p>
          <a:p>
            <a:r>
              <a:rPr sz="2400" b="1">
                <a:sym typeface="+mn-ea"/>
              </a:rPr>
              <a:t>C.既   又   总是   从而   而且           D.不但   而且   总是   从而   所以</a:t>
            </a:r>
            <a:endParaRPr lang="zh-CN" altLang="en-US" sz="2400" b="1"/>
          </a:p>
          <a:p>
            <a:r>
              <a:rPr sz="2400" b="1">
                <a:sym typeface="+mn-ea"/>
              </a:rPr>
              <a:t>分析：根据红色字可知，第一空与第二空是并列关系，排除</a:t>
            </a:r>
            <a:r>
              <a:rPr lang="en-US" altLang="zh-CN" sz="2400" b="1">
                <a:sym typeface="+mn-ea"/>
              </a:rPr>
              <a:t>BD</a:t>
            </a:r>
            <a:r>
              <a:rPr sz="2400" b="1">
                <a:sym typeface="+mn-ea"/>
              </a:rPr>
              <a:t>。最后一空与</a:t>
            </a:r>
            <a:r>
              <a:rPr lang="en-US" altLang="zh-CN" sz="2400" b="1">
                <a:sym typeface="+mn-ea"/>
              </a:rPr>
              <a:t>“</a:t>
            </a:r>
            <a:r>
              <a:rPr sz="2400" b="1">
                <a:sym typeface="+mn-ea"/>
              </a:rPr>
              <a:t>不仅</a:t>
            </a:r>
            <a:r>
              <a:rPr lang="en-US" altLang="zh-CN" sz="2400" b="1">
                <a:sym typeface="+mn-ea"/>
              </a:rPr>
              <a:t>”</a:t>
            </a:r>
            <a:r>
              <a:rPr sz="2400" b="1">
                <a:sym typeface="+mn-ea"/>
              </a:rPr>
              <a:t>搭配，故选</a:t>
            </a:r>
            <a:r>
              <a:rPr lang="en-US" altLang="zh-CN" sz="2400" b="1">
                <a:sym typeface="+mn-ea"/>
              </a:rPr>
              <a:t>C</a:t>
            </a:r>
            <a:r>
              <a:rPr sz="2400" b="1">
                <a:sym typeface="+mn-ea"/>
              </a:rPr>
              <a:t>。</a:t>
            </a:r>
            <a:endParaRPr sz="2400" b="1"/>
          </a:p>
          <a:p>
            <a:endParaRPr lang="zh-CN" altLang="en-US" sz="24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78940"/>
            <a:ext cx="10852237" cy="648000"/>
          </a:xfrm>
        </p:spPr>
        <p:txBody>
          <a:bodyPr/>
          <a:p>
            <a:r>
              <a:rPr lang="en-US" altLang="zh-CN" sz="2400">
                <a:latin typeface="+mn-ea"/>
                <a:cs typeface="+mn-ea"/>
                <a:sym typeface="+mn-ea"/>
              </a:rPr>
              <a:t>2.</a:t>
            </a:r>
            <a:r>
              <a:rPr sz="2400">
                <a:solidFill>
                  <a:srgbClr val="00B050"/>
                </a:solidFill>
                <a:latin typeface="+mn-ea"/>
                <a:cs typeface="+mn-ea"/>
                <a:sym typeface="+mn-ea"/>
              </a:rPr>
              <a:t>区分并列关系与选择关系</a:t>
            </a:r>
            <a:r>
              <a:rPr sz="2400">
                <a:latin typeface="+mn-ea"/>
                <a:cs typeface="+mn-ea"/>
                <a:sym typeface="+mn-ea"/>
              </a:rPr>
              <a:t>：</a:t>
            </a:r>
            <a:endParaRPr lang="zh-CN" altLang="en-US" sz="2400"/>
          </a:p>
        </p:txBody>
      </p:sp>
      <p:sp>
        <p:nvSpPr>
          <p:cNvPr id="3" name="内容占位符 2"/>
          <p:cNvSpPr>
            <a:spLocks noGrp="1"/>
          </p:cNvSpPr>
          <p:nvPr>
            <p:ph idx="1"/>
          </p:nvPr>
        </p:nvSpPr>
        <p:spPr>
          <a:xfrm>
            <a:off x="334645" y="1038225"/>
            <a:ext cx="11410315" cy="5299075"/>
          </a:xfrm>
        </p:spPr>
        <p:txBody>
          <a:bodyPr/>
          <a:p>
            <a:r>
              <a:rPr sz="2400" b="1">
                <a:latin typeface="+mn-ea"/>
                <a:cs typeface="+mn-ea"/>
                <a:sym typeface="+mn-ea"/>
              </a:rPr>
              <a:t>不是……而是……</a:t>
            </a:r>
            <a:r>
              <a:rPr lang="en-US" altLang="zh-CN" sz="2400" b="1">
                <a:solidFill>
                  <a:srgbClr val="00B050"/>
                </a:solidFill>
                <a:latin typeface="+mn-ea"/>
                <a:cs typeface="+mn-ea"/>
                <a:sym typeface="+mn-ea"/>
              </a:rPr>
              <a:t>VS</a:t>
            </a:r>
            <a:r>
              <a:rPr lang="en-US" altLang="zh-CN" sz="2400" b="1">
                <a:solidFill>
                  <a:srgbClr val="FF0000"/>
                </a:solidFill>
                <a:latin typeface="+mn-ea"/>
                <a:cs typeface="+mn-ea"/>
                <a:sym typeface="+mn-ea"/>
              </a:rPr>
              <a:t> </a:t>
            </a:r>
            <a:r>
              <a:rPr sz="2400" b="1">
                <a:latin typeface="+mn-ea"/>
                <a:cs typeface="+mn-ea"/>
                <a:sym typeface="+mn-ea"/>
              </a:rPr>
              <a:t>不是……就是……</a:t>
            </a:r>
            <a:r>
              <a:rPr sz="2400" b="1">
                <a:latin typeface="+mn-ea"/>
                <a:cs typeface="+mn-ea"/>
                <a:sym typeface="+mn-ea"/>
              </a:rPr>
              <a:t>，</a:t>
            </a:r>
            <a:r>
              <a:rPr sz="2400" b="1">
                <a:solidFill>
                  <a:srgbClr val="FF0000"/>
                </a:solidFill>
                <a:latin typeface="+mn-ea"/>
                <a:cs typeface="+mn-ea"/>
                <a:sym typeface="+mn-ea"/>
              </a:rPr>
              <a:t>前者是并列关系，后者是选择关系</a:t>
            </a:r>
            <a:endParaRPr lang="zh-CN" altLang="en-US" sz="2400" b="1">
              <a:solidFill>
                <a:srgbClr val="00B050"/>
              </a:solidFill>
            </a:endParaRPr>
          </a:p>
          <a:p>
            <a:r>
              <a:rPr lang="zh-CN" altLang="en-US" sz="2400" b="1">
                <a:solidFill>
                  <a:srgbClr val="00B050"/>
                </a:solidFill>
              </a:rPr>
              <a:t>真题</a:t>
            </a:r>
            <a:r>
              <a:rPr lang="en-US" altLang="zh-CN" sz="2400" b="1">
                <a:solidFill>
                  <a:srgbClr val="00B050"/>
                </a:solidFill>
              </a:rPr>
              <a:t>47</a:t>
            </a:r>
            <a:r>
              <a:rPr sz="2400" b="1"/>
              <a:t>：</a:t>
            </a:r>
            <a:r>
              <a:rPr lang="zh-CN" altLang="en-US" sz="2400" b="1"/>
              <a:t>你说想去征服高山，但是当我问你登山者应该带些什么东西时，你却答不上来。现在让我告诉你吧！如果是攀登路径不熟的高山，即使原定一日往返，除了必备的指南针，你的行囊中也应该带上一把小刀、一打绳索、一盒用塑料袋包好的火柴、一点盐巴、一块折起来不大的透明塑料布或雨衣，还有一个哨子。这些东西大多数都</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为你的进路而准备的，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预备你的退路。</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是登山的旅途，或在你的人生的旅途上，“有退路”</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寻取进路的必要条件。</a:t>
            </a:r>
            <a:endParaRPr lang="zh-CN" altLang="en-US" sz="2400" b="1"/>
          </a:p>
          <a:p>
            <a:r>
              <a:rPr lang="zh-CN" altLang="en-US" sz="2400" b="1"/>
              <a:t>A.不但   还   不管   还是                B.要么   要么   或者   都是</a:t>
            </a:r>
            <a:endParaRPr lang="zh-CN" altLang="en-US" sz="2400" b="1"/>
          </a:p>
          <a:p>
            <a:r>
              <a:rPr lang="zh-CN" altLang="en-US" sz="2400" b="1"/>
              <a:t>C.不是   就是   不管   还是             D.不是   而是   不论   都是</a:t>
            </a:r>
            <a:endParaRPr lang="zh-CN" altLang="en-US" sz="2400" b="1"/>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55905"/>
            <a:ext cx="10852150" cy="6081395"/>
          </a:xfrm>
        </p:spPr>
        <p:txBody>
          <a:bodyPr/>
          <a:p>
            <a:r>
              <a:rPr lang="zh-CN" altLang="en-US" sz="2400" b="1"/>
              <a:t>你说想去征服高山，但是当我问你登山者应该带些什么东西时，你却答不上来。现在让我告诉你吧！如果是攀登路径不熟的高山，即使原定一日往返，除了必备的指南针，你的行囊中也应该带上一把小刀、一打绳索、一盒用塑料袋包好的火柴、一点盐巴、一块折起来不大的透明塑料布或雨衣，还有一个哨子。这些东西</a:t>
            </a:r>
            <a:r>
              <a:rPr lang="zh-CN" altLang="en-US" sz="2400" b="1">
                <a:solidFill>
                  <a:srgbClr val="FF0000"/>
                </a:solidFill>
              </a:rPr>
              <a:t>大多数都</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solidFill>
                  <a:srgbClr val="FF0000"/>
                </a:solidFill>
              </a:rPr>
              <a:t>为你的进路而准备的</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solidFill>
                  <a:srgbClr val="FF0000"/>
                </a:solidFill>
              </a:rPr>
              <a:t>预备你的退路</a:t>
            </a:r>
            <a:r>
              <a:rPr lang="zh-CN" altLang="en-US"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是登山的旅途，或在你的人生的旅途上，“有退路”</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寻取进路的必要条件。</a:t>
            </a:r>
            <a:endParaRPr lang="zh-CN" altLang="en-US" sz="2400" b="1"/>
          </a:p>
          <a:p>
            <a:r>
              <a:rPr lang="zh-CN" altLang="en-US" sz="2400" b="1"/>
              <a:t>A.不但   还   不管   还是                B.要么   要么   或者   都是</a:t>
            </a:r>
            <a:endParaRPr lang="zh-CN" altLang="en-US" sz="2400" b="1"/>
          </a:p>
          <a:p>
            <a:r>
              <a:rPr lang="zh-CN" altLang="en-US" sz="2400" b="1"/>
              <a:t>C.不是   就是   不管   还是             D.不是   而是   不论   都是</a:t>
            </a:r>
            <a:endParaRPr lang="zh-CN" altLang="en-US" sz="2400" b="1"/>
          </a:p>
          <a:p>
            <a:r>
              <a:rPr lang="zh-CN" altLang="en-US" sz="2400" b="1"/>
              <a:t>分析：根据红色字可知第一二空</a:t>
            </a:r>
            <a:r>
              <a:rPr sz="2400" b="1"/>
              <a:t>并列关系，</a:t>
            </a:r>
            <a:r>
              <a:rPr lang="en-US" altLang="zh-CN" sz="2400" b="1"/>
              <a:t>A</a:t>
            </a:r>
            <a:r>
              <a:rPr sz="2400" b="1"/>
              <a:t>前两项表递进，</a:t>
            </a:r>
            <a:r>
              <a:rPr lang="en-US" altLang="zh-CN" sz="2400" b="1"/>
              <a:t>BC</a:t>
            </a:r>
            <a:r>
              <a:rPr sz="2400" b="1"/>
              <a:t>前两项表选择，</a:t>
            </a:r>
            <a:r>
              <a:rPr lang="en-US" altLang="zh-CN" sz="2400" b="1"/>
              <a:t>B</a:t>
            </a:r>
            <a:r>
              <a:rPr sz="2400" b="1"/>
              <a:t>前两项表并列，排除</a:t>
            </a:r>
            <a:r>
              <a:rPr lang="en-US" altLang="zh-CN" sz="2400" b="1"/>
              <a:t>ABC</a:t>
            </a:r>
            <a:r>
              <a:rPr sz="2400" b="1"/>
              <a:t>。</a:t>
            </a:r>
            <a:r>
              <a:rPr lang="en-US" altLang="zh-CN" sz="2400" b="1"/>
              <a:t>“</a:t>
            </a:r>
            <a:r>
              <a:rPr sz="2400" b="1"/>
              <a:t>不论</a:t>
            </a:r>
            <a:r>
              <a:rPr sz="2400">
                <a:latin typeface="+mn-ea"/>
                <a:cs typeface="+mn-ea"/>
                <a:sym typeface="+mn-ea"/>
              </a:rPr>
              <a:t>……</a:t>
            </a:r>
            <a:r>
              <a:rPr sz="2400" b="1"/>
              <a:t>都是</a:t>
            </a:r>
            <a:r>
              <a:rPr sz="2400">
                <a:latin typeface="+mn-ea"/>
                <a:cs typeface="+mn-ea"/>
                <a:sym typeface="+mn-ea"/>
              </a:rPr>
              <a:t>……</a:t>
            </a:r>
            <a:r>
              <a:rPr lang="en-US" altLang="zh-CN" sz="2400" b="1"/>
              <a:t>”</a:t>
            </a:r>
            <a:r>
              <a:rPr sz="2400" b="1"/>
              <a:t>表示无条件。故选</a:t>
            </a:r>
            <a:r>
              <a:rPr lang="en-US" altLang="zh-CN" sz="2400" b="1"/>
              <a:t>D</a:t>
            </a:r>
            <a:r>
              <a:rPr sz="2400" b="1"/>
              <a:t>。</a:t>
            </a:r>
            <a:endParaRPr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mn-ea"/>
                <a:cs typeface="+mn-ea"/>
                <a:sym typeface="+mn-ea"/>
              </a:rPr>
              <a:t>3.</a:t>
            </a:r>
            <a:r>
              <a:rPr>
                <a:solidFill>
                  <a:srgbClr val="00B050"/>
                </a:solidFill>
                <a:latin typeface="+mn-ea"/>
                <a:cs typeface="+mn-ea"/>
                <a:sym typeface="+mn-ea"/>
              </a:rPr>
              <a:t>区分假设关系与转折关系</a:t>
            </a:r>
            <a:endParaRPr lang="zh-CN" altLang="en-US"/>
          </a:p>
        </p:txBody>
      </p:sp>
      <p:sp>
        <p:nvSpPr>
          <p:cNvPr id="3" name="内容占位符 2"/>
          <p:cNvSpPr>
            <a:spLocks noGrp="1"/>
          </p:cNvSpPr>
          <p:nvPr>
            <p:ph idx="1"/>
          </p:nvPr>
        </p:nvSpPr>
        <p:spPr/>
        <p:txBody>
          <a:bodyPr/>
          <a:p>
            <a:r>
              <a:rPr sz="2400" b="1">
                <a:latin typeface="+mn-ea"/>
                <a:cs typeface="+mn-ea"/>
                <a:sym typeface="+mn-ea"/>
              </a:rPr>
              <a:t>即使……也……  </a:t>
            </a:r>
            <a:r>
              <a:rPr lang="en-US" altLang="zh-CN" sz="2400" b="1">
                <a:solidFill>
                  <a:srgbClr val="00B050"/>
                </a:solidFill>
                <a:latin typeface="+mn-ea"/>
                <a:cs typeface="+mn-ea"/>
                <a:sym typeface="+mn-ea"/>
              </a:rPr>
              <a:t>VS</a:t>
            </a:r>
            <a:r>
              <a:rPr lang="en-US" altLang="zh-CN" sz="2400" b="1">
                <a:solidFill>
                  <a:schemeClr val="tx1"/>
                </a:solidFill>
                <a:latin typeface="+mn-ea"/>
                <a:cs typeface="+mn-ea"/>
                <a:sym typeface="+mn-ea"/>
              </a:rPr>
              <a:t> </a:t>
            </a:r>
            <a:r>
              <a:rPr sz="2400" b="1">
                <a:solidFill>
                  <a:schemeClr val="tx1"/>
                </a:solidFill>
                <a:latin typeface="+mn-ea"/>
                <a:cs typeface="+mn-ea"/>
                <a:sym typeface="+mn-ea"/>
              </a:rPr>
              <a:t>尽管……但</a:t>
            </a:r>
            <a:r>
              <a:rPr sz="2400" b="1">
                <a:latin typeface="+mn-ea"/>
                <a:cs typeface="+mn-ea"/>
                <a:sym typeface="+mn-ea"/>
              </a:rPr>
              <a:t>……，</a:t>
            </a:r>
            <a:r>
              <a:rPr sz="2400" b="1">
                <a:solidFill>
                  <a:srgbClr val="FF0000"/>
                </a:solidFill>
                <a:latin typeface="+mn-ea"/>
                <a:cs typeface="+mn-ea"/>
                <a:sym typeface="+mn-ea"/>
              </a:rPr>
              <a:t>前者是假设关系，后者是转折关系</a:t>
            </a:r>
            <a:endParaRPr sz="2400" b="1">
              <a:latin typeface="+mn-ea"/>
              <a:cs typeface="+mn-ea"/>
              <a:sym typeface="+mn-ea"/>
            </a:endParaRPr>
          </a:p>
          <a:p>
            <a:r>
              <a:rPr lang="zh-CN" altLang="en-US" sz="2400" b="1"/>
              <a:t>真题</a:t>
            </a:r>
            <a:r>
              <a:rPr lang="en-US" altLang="zh-CN" sz="2400" b="1"/>
              <a:t>48</a:t>
            </a:r>
            <a:r>
              <a:rPr sz="2400" b="1"/>
              <a:t>：</a:t>
            </a:r>
            <a:r>
              <a:rPr lang="zh-CN" altLang="en-US" sz="2400" b="1"/>
              <a:t>如果一个文化产品缺乏应有的社会效益，那么它的经济效益就失去了存在的依据，就会沦为不折不扣的文化糟粕。这样的糟粕</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能赢得一时的“青睐”，最终</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会为人所唾弃。</a:t>
            </a:r>
            <a:endParaRPr lang="zh-CN" altLang="en-US" sz="2400" b="1"/>
          </a:p>
          <a:p>
            <a:r>
              <a:rPr lang="zh-CN" altLang="en-US" sz="2400" b="1"/>
              <a:t>填入画横线部分最恰当的一项是：</a:t>
            </a:r>
            <a:endParaRPr lang="zh-CN" altLang="en-US" sz="2400" b="1"/>
          </a:p>
          <a:p>
            <a:r>
              <a:rPr lang="zh-CN" altLang="en-US" sz="2400" b="1"/>
              <a:t>A.尽管  还                           B.虽然  都</a:t>
            </a:r>
            <a:endParaRPr lang="zh-CN" altLang="en-US" sz="2400" b="1"/>
          </a:p>
          <a:p>
            <a:r>
              <a:rPr lang="zh-CN" altLang="en-US" sz="2400" b="1"/>
              <a:t>C.即使  也                           D.固然  也</a:t>
            </a:r>
            <a:endParaRPr lang="zh-CN" altLang="en-US" sz="2400" b="1"/>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48</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lang="zh-CN" altLang="en-US" sz="2400" b="1"/>
              <a:t>如果一个文化产品缺乏应有的社会效益，那么它的经济效益就失去了存在的依据，就会沦为不折不扣的文化糟粕</a:t>
            </a:r>
            <a:r>
              <a:rPr lang="zh-CN" altLang="en-US" sz="2400" b="1">
                <a:solidFill>
                  <a:srgbClr val="FF0000"/>
                </a:solidFill>
              </a:rPr>
              <a:t>。这样的糟粕</a:t>
            </a:r>
            <a:r>
              <a:rPr sz="2400" b="1">
                <a:solidFill>
                  <a:srgbClr val="FF0000"/>
                </a:solidFill>
                <a:latin typeface="Times New Roman" panose="02020603050405020304" charset="0"/>
                <a:cs typeface="Times New Roman" panose="02020603050405020304" charset="0"/>
                <a:sym typeface="+mn-ea"/>
              </a:rPr>
              <a:t>͟͟͟͟͟͟͟͟</a:t>
            </a:r>
            <a:r>
              <a:rPr sz="2400" b="1">
                <a:solidFill>
                  <a:srgbClr val="FF0000"/>
                </a:solidFill>
                <a:sym typeface="+mn-ea"/>
              </a:rPr>
              <a:t> </a:t>
            </a:r>
            <a:r>
              <a:rPr sz="2400" b="1">
                <a:solidFill>
                  <a:srgbClr val="FF0000"/>
                </a:solidFill>
                <a:latin typeface="Times New Roman" panose="02020603050405020304" charset="0"/>
                <a:cs typeface="Times New Roman" panose="02020603050405020304" charset="0"/>
                <a:sym typeface="+mn-ea"/>
              </a:rPr>
              <a:t>͟͟͟͟͟͟͟͟͟</a:t>
            </a:r>
            <a:r>
              <a:rPr sz="2400" b="1">
                <a:solidFill>
                  <a:srgbClr val="FF0000"/>
                </a:solidFill>
                <a:sym typeface="+mn-ea"/>
              </a:rPr>
              <a:t>  </a:t>
            </a:r>
            <a:r>
              <a:rPr lang="zh-CN" altLang="en-US" sz="2400" b="1">
                <a:solidFill>
                  <a:srgbClr val="FF0000"/>
                </a:solidFill>
              </a:rPr>
              <a:t>能赢得一时的</a:t>
            </a:r>
            <a:r>
              <a:rPr lang="zh-CN" altLang="en-US" sz="2400" b="1">
                <a:solidFill>
                  <a:srgbClr val="00B050"/>
                </a:solidFill>
              </a:rPr>
              <a:t>“青睐”</a:t>
            </a:r>
            <a:r>
              <a:rPr lang="zh-CN" altLang="en-US" sz="2400" b="1"/>
              <a:t>，最终</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会为人所唾弃。</a:t>
            </a:r>
            <a:endParaRPr lang="zh-CN" altLang="en-US" sz="2400" b="1"/>
          </a:p>
          <a:p>
            <a:r>
              <a:rPr lang="zh-CN" altLang="en-US" sz="2400" b="1"/>
              <a:t>填入画横线部分最恰当的一项是：</a:t>
            </a:r>
            <a:endParaRPr lang="zh-CN" altLang="en-US" sz="2400" b="1"/>
          </a:p>
          <a:p>
            <a:r>
              <a:rPr lang="zh-CN" altLang="en-US" sz="2400" b="1"/>
              <a:t>A.尽管  还                           B.虽然  都</a:t>
            </a:r>
            <a:endParaRPr lang="zh-CN" altLang="en-US" sz="2400" b="1"/>
          </a:p>
          <a:p>
            <a:r>
              <a:rPr lang="zh-CN" altLang="en-US" sz="2400" b="1"/>
              <a:t>C.即使  也                           D.固然  也</a:t>
            </a:r>
            <a:endParaRPr lang="zh-CN" altLang="en-US" sz="2400" b="1"/>
          </a:p>
          <a:p>
            <a:r>
              <a:rPr lang="zh-CN" altLang="en-US" sz="2400" b="1"/>
              <a:t>分析：根据文意是两空所在分句是假设关系，</a:t>
            </a:r>
            <a:r>
              <a:rPr lang="en-US" altLang="zh-CN" sz="2400" b="1"/>
              <a:t>ABC</a:t>
            </a:r>
            <a:r>
              <a:rPr sz="2400" b="1"/>
              <a:t>都不是转折，其后跟的是既成事实。故选</a:t>
            </a:r>
            <a:r>
              <a:rPr lang="en-US" altLang="zh-CN" sz="2400" b="1"/>
              <a:t>C</a:t>
            </a:r>
            <a:r>
              <a:rPr sz="2400" b="1"/>
              <a:t>。</a:t>
            </a:r>
            <a:endParaRPr sz="2400" b="1"/>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mn-ea"/>
                <a:cs typeface="+mn-ea"/>
                <a:sym typeface="+mn-ea"/>
              </a:rPr>
              <a:t>4.</a:t>
            </a:r>
            <a:r>
              <a:rPr>
                <a:solidFill>
                  <a:srgbClr val="00B050"/>
                </a:solidFill>
                <a:latin typeface="+mn-ea"/>
                <a:cs typeface="+mn-ea"/>
                <a:sym typeface="+mn-ea"/>
              </a:rPr>
              <a:t>区分充分条件与必要条件</a:t>
            </a:r>
            <a:endParaRPr lang="zh-CN" altLang="en-US"/>
          </a:p>
        </p:txBody>
      </p:sp>
      <p:sp>
        <p:nvSpPr>
          <p:cNvPr id="3" name="内容占位符 2"/>
          <p:cNvSpPr>
            <a:spLocks noGrp="1"/>
          </p:cNvSpPr>
          <p:nvPr>
            <p:ph idx="1"/>
          </p:nvPr>
        </p:nvSpPr>
        <p:spPr/>
        <p:txBody>
          <a:bodyPr/>
          <a:p>
            <a:r>
              <a:rPr sz="2400" b="1">
                <a:latin typeface="+mn-ea"/>
                <a:cs typeface="+mn-ea"/>
                <a:sym typeface="+mn-ea"/>
              </a:rPr>
              <a:t>只要……就……</a:t>
            </a:r>
            <a:r>
              <a:rPr lang="en-US" altLang="zh-CN" sz="2400" b="1">
                <a:solidFill>
                  <a:srgbClr val="00B050"/>
                </a:solidFill>
                <a:latin typeface="+mn-ea"/>
                <a:cs typeface="+mn-ea"/>
                <a:sym typeface="+mn-ea"/>
              </a:rPr>
              <a:t>VS</a:t>
            </a:r>
            <a:r>
              <a:rPr lang="en-US" altLang="zh-CN" sz="2400" b="1">
                <a:solidFill>
                  <a:schemeClr val="tx1"/>
                </a:solidFill>
                <a:latin typeface="+mn-ea"/>
                <a:cs typeface="+mn-ea"/>
                <a:sym typeface="+mn-ea"/>
              </a:rPr>
              <a:t> </a:t>
            </a:r>
            <a:r>
              <a:rPr sz="2400" b="1">
                <a:solidFill>
                  <a:schemeClr val="tx1"/>
                </a:solidFill>
                <a:latin typeface="+mn-ea"/>
                <a:cs typeface="+mn-ea"/>
                <a:sym typeface="+mn-ea"/>
              </a:rPr>
              <a:t>只有</a:t>
            </a:r>
            <a:r>
              <a:rPr sz="2400" b="1">
                <a:latin typeface="+mn-ea"/>
                <a:cs typeface="+mn-ea"/>
                <a:sym typeface="+mn-ea"/>
              </a:rPr>
              <a:t>……才……</a:t>
            </a:r>
            <a:r>
              <a:rPr sz="2400" b="1">
                <a:latin typeface="+mn-ea"/>
                <a:cs typeface="+mn-ea"/>
                <a:sym typeface="+mn-ea"/>
              </a:rPr>
              <a:t>，</a:t>
            </a:r>
            <a:r>
              <a:rPr sz="2400" b="1">
                <a:solidFill>
                  <a:srgbClr val="FF0000"/>
                </a:solidFill>
                <a:latin typeface="+mn-ea"/>
                <a:cs typeface="+mn-ea"/>
                <a:sym typeface="+mn-ea"/>
              </a:rPr>
              <a:t>前者是充分条件，后者是必要条件</a:t>
            </a:r>
            <a:endParaRPr sz="2400">
              <a:solidFill>
                <a:srgbClr val="00B050"/>
              </a:solidFill>
              <a:latin typeface="+mn-ea"/>
              <a:cs typeface="+mn-ea"/>
              <a:sym typeface="+mn-ea"/>
            </a:endParaRPr>
          </a:p>
          <a:p>
            <a:r>
              <a:rPr lang="zh-CN" altLang="en-US" sz="2400" b="1">
                <a:solidFill>
                  <a:srgbClr val="00B050"/>
                </a:solidFill>
              </a:rPr>
              <a:t>真题</a:t>
            </a:r>
            <a:r>
              <a:rPr lang="en-US" altLang="zh-CN" sz="2400" b="1">
                <a:solidFill>
                  <a:srgbClr val="00B050"/>
                </a:solidFill>
              </a:rPr>
              <a:t>49</a:t>
            </a:r>
            <a:r>
              <a:rPr sz="2400" b="1"/>
              <a:t>：</a:t>
            </a:r>
            <a:r>
              <a:rPr lang="zh-CN" altLang="en-US" sz="2400" b="1"/>
              <a:t>所谓民族文化的积淀，对艺术家而言表现为“书卷气”。书法家更应该具有这种“气”。书法是一门抽象的艺术，它以文字为基础、为载体。因此，</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洞明文字生成中所蕴自然山川之地脉、宇宙变幻之天象，深谙文字之文化含量，执笔时才有底气，才能生发出意象、意念、意蕴、意境。否则</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到达深郁而豪放、凝重而飘逸之化境。</a:t>
            </a:r>
            <a:endParaRPr lang="zh-CN" altLang="en-US" sz="2400" b="1"/>
          </a:p>
          <a:p>
            <a:r>
              <a:rPr lang="zh-CN" altLang="en-US" sz="2400" b="1"/>
              <a:t>填入画横线部分最恰当的一项是：</a:t>
            </a:r>
            <a:endParaRPr lang="zh-CN" altLang="en-US" sz="2400" b="1"/>
          </a:p>
          <a:p>
            <a:r>
              <a:rPr lang="zh-CN" altLang="en-US" sz="2400" b="1"/>
              <a:t>A.一旦    无以             B.若        难以      </a:t>
            </a:r>
            <a:endParaRPr lang="zh-CN" altLang="en-US" sz="2400" b="1"/>
          </a:p>
          <a:p>
            <a:r>
              <a:rPr lang="zh-CN" altLang="en-US" sz="2400" b="1"/>
              <a:t>C.唯       无以             D.只要     无法</a:t>
            </a:r>
            <a:endParaRPr lang="zh-CN" altLang="en-US" sz="2400" b="1"/>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6362" y="122755"/>
            <a:ext cx="10852237" cy="648000"/>
          </a:xfrm>
        </p:spPr>
        <p:txBody>
          <a:bodyPr/>
          <a:p>
            <a:r>
              <a:rPr>
                <a:solidFill>
                  <a:srgbClr val="00B050"/>
                </a:solidFill>
                <a:sym typeface="+mn-ea"/>
              </a:rPr>
              <a:t>真题</a:t>
            </a:r>
            <a:r>
              <a:rPr lang="en-US" altLang="zh-CN">
                <a:solidFill>
                  <a:srgbClr val="00B050"/>
                </a:solidFill>
                <a:sym typeface="+mn-ea"/>
              </a:rPr>
              <a:t>49</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a:xfrm>
            <a:off x="549910" y="822960"/>
            <a:ext cx="10852150" cy="5702300"/>
          </a:xfrm>
        </p:spPr>
        <p:txBody>
          <a:bodyPr/>
          <a:p>
            <a:r>
              <a:rPr lang="zh-CN" altLang="en-US" sz="2400" b="1"/>
              <a:t>所谓民族文化的积淀，对艺术家而言表现为“书卷气”。书法家更应该具有这种“气”。书法是一门抽象的艺术，它以文字为基础、为载体。因此，</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洞明文字生成中所蕴自然山川之地脉、宇宙变幻之天象，深谙文字之文化含量，执笔时才有底气，</a:t>
            </a:r>
            <a:r>
              <a:rPr lang="zh-CN" altLang="en-US" sz="2400" b="1">
                <a:solidFill>
                  <a:srgbClr val="FF0000"/>
                </a:solidFill>
              </a:rPr>
              <a:t>才能</a:t>
            </a:r>
            <a:r>
              <a:rPr lang="zh-CN" altLang="en-US" sz="2400" b="1"/>
              <a:t>生发出意象、意念、意蕴、意境。否则</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到达深郁而豪放、凝重而飘逸之化境。</a:t>
            </a:r>
            <a:endParaRPr lang="zh-CN" altLang="en-US" sz="2400" b="1"/>
          </a:p>
          <a:p>
            <a:r>
              <a:rPr lang="zh-CN" altLang="en-US" sz="2400" b="1"/>
              <a:t>A.一旦    无以             B.若        难以      </a:t>
            </a:r>
            <a:endParaRPr lang="zh-CN" altLang="en-US" sz="2400" b="1"/>
          </a:p>
          <a:p>
            <a:r>
              <a:rPr lang="zh-CN" altLang="en-US" sz="2400" b="1"/>
              <a:t>C.唯       无以             D.只要     无法</a:t>
            </a:r>
            <a:endParaRPr lang="zh-CN" altLang="en-US" sz="2400" b="1"/>
          </a:p>
          <a:p>
            <a:r>
              <a:rPr lang="zh-CN" altLang="en-US" sz="2400" b="1"/>
              <a:t>分析：第一空与</a:t>
            </a:r>
            <a:r>
              <a:rPr lang="en-US" altLang="zh-CN" sz="2400" b="1"/>
              <a:t>“</a:t>
            </a:r>
            <a:r>
              <a:rPr sz="2400" b="1"/>
              <a:t>才能</a:t>
            </a:r>
            <a:r>
              <a:rPr lang="en-US" altLang="zh-CN" sz="2400" b="1"/>
              <a:t>”</a:t>
            </a:r>
            <a:r>
              <a:rPr sz="2400" b="1"/>
              <a:t>搭配，表示必要条件。</a:t>
            </a:r>
            <a:r>
              <a:rPr lang="en-US" altLang="zh-CN" sz="2400" b="1"/>
              <a:t>“</a:t>
            </a:r>
            <a:r>
              <a:rPr sz="2400" b="1"/>
              <a:t>一旦</a:t>
            </a:r>
            <a:r>
              <a:rPr lang="en-US" altLang="zh-CN" sz="2400" b="1"/>
              <a:t>”“</a:t>
            </a:r>
            <a:r>
              <a:rPr sz="2400" b="1"/>
              <a:t>若</a:t>
            </a:r>
            <a:r>
              <a:rPr lang="en-US" altLang="zh-CN" sz="2400" b="1"/>
              <a:t>”</a:t>
            </a:r>
            <a:r>
              <a:rPr sz="2400" b="1"/>
              <a:t>与</a:t>
            </a:r>
            <a:r>
              <a:rPr lang="en-US" altLang="zh-CN" sz="2400" b="1"/>
              <a:t>“</a:t>
            </a:r>
            <a:r>
              <a:rPr sz="2400" b="1"/>
              <a:t>就</a:t>
            </a:r>
            <a:r>
              <a:rPr lang="en-US" altLang="zh-CN" sz="2400" b="1"/>
              <a:t>”</a:t>
            </a:r>
            <a:r>
              <a:rPr sz="2400" b="1"/>
              <a:t>搭配，表示充分条件。只有</a:t>
            </a:r>
            <a:r>
              <a:rPr lang="en-US" altLang="zh-CN" sz="2400" b="1"/>
              <a:t>“</a:t>
            </a:r>
            <a:r>
              <a:rPr sz="2400" b="1"/>
              <a:t>唯</a:t>
            </a:r>
            <a:r>
              <a:rPr lang="en-US" altLang="zh-CN" sz="2400" b="1"/>
              <a:t>”</a:t>
            </a:r>
            <a:r>
              <a:rPr sz="2400" b="1"/>
              <a:t>含</a:t>
            </a:r>
            <a:r>
              <a:rPr lang="en-US" altLang="zh-CN" sz="2400" b="1"/>
              <a:t>“</a:t>
            </a:r>
            <a:r>
              <a:rPr sz="2400" b="1"/>
              <a:t>只有</a:t>
            </a:r>
            <a:r>
              <a:rPr lang="en-US" altLang="zh-CN" sz="2400" b="1"/>
              <a:t>”</a:t>
            </a:r>
            <a:r>
              <a:rPr sz="2400" b="1"/>
              <a:t>义，能够与</a:t>
            </a:r>
            <a:r>
              <a:rPr lang="en-US" altLang="zh-CN" sz="2400" b="1"/>
              <a:t>“</a:t>
            </a:r>
            <a:r>
              <a:rPr sz="2400" b="1"/>
              <a:t>才能</a:t>
            </a:r>
            <a:r>
              <a:rPr lang="en-US" altLang="zh-CN" sz="2400" b="1"/>
              <a:t>”</a:t>
            </a:r>
            <a:r>
              <a:rPr sz="2400" b="1"/>
              <a:t>搭配，故选</a:t>
            </a:r>
            <a:r>
              <a:rPr lang="en-US" altLang="zh-CN" sz="2400" b="1"/>
              <a:t>C</a:t>
            </a:r>
            <a:r>
              <a:rPr sz="2400" b="1"/>
              <a:t>。</a:t>
            </a:r>
            <a:endParaRPr sz="2400" b="1"/>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74912" y="200"/>
            <a:ext cx="10852237" cy="648000"/>
          </a:xfrm>
        </p:spPr>
        <p:txBody>
          <a:bodyPr/>
          <a:p>
            <a:r>
              <a:rPr lang="zh-CN" altLang="en-US"/>
              <a:t>总结：</a:t>
            </a:r>
            <a:endParaRPr lang="zh-CN" altLang="en-US"/>
          </a:p>
        </p:txBody>
      </p:sp>
      <p:sp>
        <p:nvSpPr>
          <p:cNvPr id="3" name="内容占位符 2"/>
          <p:cNvSpPr>
            <a:spLocks noGrp="1"/>
          </p:cNvSpPr>
          <p:nvPr>
            <p:ph idx="1"/>
          </p:nvPr>
        </p:nvSpPr>
        <p:spPr>
          <a:xfrm>
            <a:off x="669925" y="647700"/>
            <a:ext cx="10852150" cy="6015990"/>
          </a:xfrm>
        </p:spPr>
        <p:txBody>
          <a:bodyPr/>
          <a:p>
            <a:r>
              <a:rPr lang="zh-CN" altLang="en-US" sz="2400" b="1">
                <a:solidFill>
                  <a:srgbClr val="00B050"/>
                </a:solidFill>
              </a:rPr>
              <a:t>（</a:t>
            </a:r>
            <a:r>
              <a:rPr lang="en-US" altLang="zh-CN" sz="2400" b="1">
                <a:solidFill>
                  <a:srgbClr val="00B050"/>
                </a:solidFill>
              </a:rPr>
              <a:t>1</a:t>
            </a:r>
            <a:r>
              <a:rPr sz="2400" b="1">
                <a:solidFill>
                  <a:srgbClr val="00B050"/>
                </a:solidFill>
              </a:rPr>
              <a:t>）</a:t>
            </a:r>
            <a:r>
              <a:rPr sz="2400" b="1">
                <a:solidFill>
                  <a:srgbClr val="00B050"/>
                </a:solidFill>
                <a:sym typeface="+mn-ea"/>
              </a:rPr>
              <a:t>言语理解与表达逻辑填空中常考</a:t>
            </a:r>
            <a:r>
              <a:rPr sz="2400" b="1">
                <a:solidFill>
                  <a:srgbClr val="00B050"/>
                </a:solidFill>
              </a:rPr>
              <a:t>复句关系及关联词</a:t>
            </a:r>
            <a:endParaRPr sz="2400" b="1">
              <a:solidFill>
                <a:srgbClr val="00B050"/>
              </a:solidFill>
            </a:endParaRPr>
          </a:p>
          <a:p>
            <a:r>
              <a:rPr sz="2400" b="1">
                <a:solidFill>
                  <a:srgbClr val="FF0000"/>
                </a:solidFill>
                <a:sym typeface="+mn-ea"/>
              </a:rPr>
              <a:t>并列关系</a:t>
            </a:r>
            <a:r>
              <a:rPr sz="2400" b="1">
                <a:sym typeface="+mn-ea"/>
              </a:rPr>
              <a:t>：既</a:t>
            </a:r>
            <a:r>
              <a:rPr sz="2400" b="1">
                <a:latin typeface="宋体" panose="02010600030101010101" pitchFamily="2" charset="-122"/>
                <a:ea typeface="宋体" panose="02010600030101010101" pitchFamily="2" charset="-122"/>
                <a:sym typeface="+mn-ea"/>
              </a:rPr>
              <a:t>……</a:t>
            </a:r>
            <a:r>
              <a:rPr sz="2400" b="1">
                <a:sym typeface="+mn-ea"/>
              </a:rPr>
              <a:t>又</a:t>
            </a:r>
            <a:r>
              <a:rPr sz="2400" b="1">
                <a:latin typeface="宋体" panose="02010600030101010101" pitchFamily="2" charset="-122"/>
                <a:ea typeface="宋体" panose="02010600030101010101" pitchFamily="2" charset="-122"/>
                <a:sym typeface="+mn-ea"/>
              </a:rPr>
              <a:t>……、</a:t>
            </a:r>
            <a:r>
              <a:rPr sz="2400" b="1">
                <a:sym typeface="+mn-ea"/>
              </a:rPr>
              <a:t>不是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而是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、是</a:t>
            </a:r>
            <a:r>
              <a:rPr sz="2400" b="1">
                <a:latin typeface="宋体" panose="02010600030101010101" pitchFamily="2" charset="-122"/>
                <a:ea typeface="宋体" panose="02010600030101010101" pitchFamily="2" charset="-122"/>
                <a:sym typeface="+mn-ea"/>
              </a:rPr>
              <a:t>……</a:t>
            </a:r>
            <a:r>
              <a:rPr sz="2400" b="1">
                <a:latin typeface="+mn-ea"/>
                <a:cs typeface="+mn-ea"/>
                <a:sym typeface="+mn-ea"/>
              </a:rPr>
              <a:t>不是</a:t>
            </a:r>
            <a:r>
              <a:rPr sz="2400" b="1">
                <a:latin typeface="宋体" panose="02010600030101010101" pitchFamily="2" charset="-122"/>
                <a:ea typeface="宋体" panose="02010600030101010101" pitchFamily="2" charset="-122"/>
                <a:sym typeface="+mn-ea"/>
              </a:rPr>
              <a:t>……</a:t>
            </a:r>
            <a:endParaRPr sz="2400" b="1">
              <a:sym typeface="+mn-ea"/>
            </a:endParaRPr>
          </a:p>
          <a:p>
            <a:r>
              <a:rPr sz="2400" b="1">
                <a:sym typeface="+mn-ea"/>
              </a:rPr>
              <a:t>承接关系：于是、然后、接着、继而</a:t>
            </a:r>
            <a:endParaRPr sz="2400" b="1">
              <a:sym typeface="+mn-ea"/>
            </a:endParaRPr>
          </a:p>
          <a:p>
            <a:r>
              <a:rPr sz="2400" b="1">
                <a:solidFill>
                  <a:srgbClr val="FF0000"/>
                </a:solidFill>
                <a:sym typeface="+mn-ea"/>
              </a:rPr>
              <a:t>递进关系</a:t>
            </a:r>
            <a:r>
              <a:rPr sz="2400" b="1">
                <a:sym typeface="+mn-ea"/>
              </a:rPr>
              <a:t>：不但</a:t>
            </a:r>
            <a:r>
              <a:rPr sz="2400" b="1">
                <a:latin typeface="宋体" panose="02010600030101010101" pitchFamily="2" charset="-122"/>
                <a:ea typeface="宋体" panose="02010600030101010101" pitchFamily="2" charset="-122"/>
                <a:sym typeface="+mn-ea"/>
              </a:rPr>
              <a:t>……</a:t>
            </a:r>
            <a:r>
              <a:rPr sz="2400" b="1">
                <a:sym typeface="+mn-ea"/>
              </a:rPr>
              <a:t>而且</a:t>
            </a:r>
            <a:r>
              <a:rPr sz="2400" b="1">
                <a:latin typeface="宋体" panose="02010600030101010101" pitchFamily="2" charset="-122"/>
                <a:ea typeface="宋体" panose="02010600030101010101" pitchFamily="2" charset="-122"/>
                <a:sym typeface="+mn-ea"/>
              </a:rPr>
              <a:t>……</a:t>
            </a:r>
            <a:r>
              <a:rPr sz="2400" b="1">
                <a:sym typeface="+mn-ea"/>
              </a:rPr>
              <a:t>、尚且</a:t>
            </a:r>
            <a:r>
              <a:rPr sz="2400" b="1">
                <a:latin typeface="宋体" panose="02010600030101010101" pitchFamily="2" charset="-122"/>
                <a:ea typeface="宋体" panose="02010600030101010101" pitchFamily="2" charset="-122"/>
                <a:sym typeface="+mn-ea"/>
              </a:rPr>
              <a:t>……</a:t>
            </a:r>
            <a:r>
              <a:rPr sz="2400" b="1">
                <a:sym typeface="+mn-ea"/>
              </a:rPr>
              <a:t>何况</a:t>
            </a:r>
            <a:r>
              <a:rPr sz="2400" b="1">
                <a:latin typeface="宋体" panose="02010600030101010101" pitchFamily="2" charset="-122"/>
                <a:ea typeface="宋体" panose="02010600030101010101" pitchFamily="2" charset="-122"/>
                <a:sym typeface="+mn-ea"/>
              </a:rPr>
              <a:t>……、</a:t>
            </a:r>
            <a:r>
              <a:rPr sz="2400" b="1">
                <a:sym typeface="+mn-ea"/>
              </a:rPr>
              <a:t>尤其、甚至</a:t>
            </a:r>
            <a:endParaRPr sz="2400" b="1">
              <a:sym typeface="+mn-ea"/>
            </a:endParaRPr>
          </a:p>
          <a:p>
            <a:r>
              <a:rPr sz="2400" b="1">
                <a:sym typeface="+mn-ea"/>
              </a:rPr>
              <a:t>选择关系：不是</a:t>
            </a:r>
            <a:r>
              <a:rPr sz="2400" b="1">
                <a:latin typeface="宋体" panose="02010600030101010101" pitchFamily="2" charset="-122"/>
                <a:ea typeface="宋体" panose="02010600030101010101" pitchFamily="2" charset="-122"/>
                <a:sym typeface="+mn-ea"/>
              </a:rPr>
              <a:t>…</a:t>
            </a:r>
            <a:r>
              <a:rPr sz="2400" b="1">
                <a:sym typeface="+mn-ea"/>
              </a:rPr>
              <a:t>就是</a:t>
            </a:r>
            <a:r>
              <a:rPr sz="2400" b="1">
                <a:latin typeface="宋体" panose="02010600030101010101" pitchFamily="2" charset="-122"/>
                <a:ea typeface="宋体" panose="02010600030101010101" pitchFamily="2" charset="-122"/>
                <a:sym typeface="+mn-ea"/>
              </a:rPr>
              <a:t>…</a:t>
            </a:r>
            <a:r>
              <a:rPr sz="2400" b="1">
                <a:sym typeface="+mn-ea"/>
              </a:rPr>
              <a:t>、是</a:t>
            </a:r>
            <a:r>
              <a:rPr sz="2400" b="1">
                <a:latin typeface="宋体" panose="02010600030101010101" pitchFamily="2" charset="-122"/>
                <a:ea typeface="宋体" panose="02010600030101010101" pitchFamily="2" charset="-122"/>
                <a:sym typeface="+mn-ea"/>
              </a:rPr>
              <a:t>…</a:t>
            </a:r>
            <a:r>
              <a:rPr sz="2400" b="1">
                <a:sym typeface="+mn-ea"/>
              </a:rPr>
              <a:t>还是</a:t>
            </a:r>
            <a:r>
              <a:rPr sz="2400" b="1">
                <a:latin typeface="宋体" panose="02010600030101010101" pitchFamily="2" charset="-122"/>
                <a:ea typeface="宋体" panose="02010600030101010101" pitchFamily="2" charset="-122"/>
                <a:sym typeface="+mn-ea"/>
              </a:rPr>
              <a:t>…</a:t>
            </a:r>
            <a:r>
              <a:rPr sz="2400" b="1">
                <a:sym typeface="+mn-ea"/>
              </a:rPr>
              <a:t>、与其</a:t>
            </a:r>
            <a:r>
              <a:rPr sz="2400" b="1">
                <a:latin typeface="宋体" panose="02010600030101010101" pitchFamily="2" charset="-122"/>
                <a:ea typeface="宋体" panose="02010600030101010101" pitchFamily="2" charset="-122"/>
                <a:sym typeface="+mn-ea"/>
              </a:rPr>
              <a:t>…</a:t>
            </a:r>
            <a:r>
              <a:rPr sz="2400" b="1">
                <a:sym typeface="+mn-ea"/>
              </a:rPr>
              <a:t>不如</a:t>
            </a:r>
            <a:r>
              <a:rPr sz="2400" b="1">
                <a:latin typeface="宋体" panose="02010600030101010101" pitchFamily="2" charset="-122"/>
                <a:ea typeface="宋体" panose="02010600030101010101" pitchFamily="2" charset="-122"/>
                <a:sym typeface="+mn-ea"/>
              </a:rPr>
              <a:t>…</a:t>
            </a:r>
            <a:r>
              <a:rPr sz="2400" b="1">
                <a:sym typeface="+mn-ea"/>
              </a:rPr>
              <a:t>、宁可</a:t>
            </a:r>
            <a:r>
              <a:rPr sz="2400" b="1">
                <a:latin typeface="宋体" panose="02010600030101010101" pitchFamily="2" charset="-122"/>
                <a:ea typeface="宋体" panose="02010600030101010101" pitchFamily="2" charset="-122"/>
                <a:sym typeface="+mn-ea"/>
              </a:rPr>
              <a:t>…</a:t>
            </a:r>
            <a:r>
              <a:rPr sz="2400" b="1">
                <a:sym typeface="+mn-ea"/>
              </a:rPr>
              <a:t>也不</a:t>
            </a:r>
            <a:r>
              <a:rPr sz="2400" b="1">
                <a:latin typeface="宋体" panose="02010600030101010101" pitchFamily="2" charset="-122"/>
                <a:ea typeface="宋体" panose="02010600030101010101" pitchFamily="2" charset="-122"/>
                <a:sym typeface="+mn-ea"/>
              </a:rPr>
              <a:t>…</a:t>
            </a:r>
            <a:endParaRPr sz="2400" b="1">
              <a:sym typeface="+mn-ea"/>
            </a:endParaRPr>
          </a:p>
          <a:p>
            <a:r>
              <a:rPr lang="zh-CN" altLang="en-US" sz="2400" b="1">
                <a:solidFill>
                  <a:srgbClr val="FF0000"/>
                </a:solidFill>
              </a:rPr>
              <a:t>转折关系</a:t>
            </a:r>
            <a:r>
              <a:rPr lang="zh-CN" altLang="en-US" sz="2400" b="1"/>
              <a:t>：虽然</a:t>
            </a:r>
            <a:r>
              <a:rPr sz="2400" b="1">
                <a:latin typeface="宋体" panose="02010600030101010101" pitchFamily="2" charset="-122"/>
                <a:ea typeface="宋体" panose="02010600030101010101" pitchFamily="2" charset="-122"/>
                <a:sym typeface="+mn-ea"/>
              </a:rPr>
              <a:t>……</a:t>
            </a:r>
            <a:r>
              <a:rPr lang="zh-CN" altLang="en-US" sz="2400" b="1"/>
              <a:t>但是</a:t>
            </a:r>
            <a:r>
              <a:rPr sz="2400" b="1">
                <a:latin typeface="宋体" panose="02010600030101010101" pitchFamily="2" charset="-122"/>
                <a:ea typeface="宋体" panose="02010600030101010101" pitchFamily="2" charset="-122"/>
                <a:sym typeface="+mn-ea"/>
              </a:rPr>
              <a:t>……</a:t>
            </a:r>
            <a:r>
              <a:rPr lang="zh-CN" altLang="en-US" sz="2400" b="1"/>
              <a:t>、但是、然而、只是、不过</a:t>
            </a:r>
            <a:endParaRPr lang="zh-CN" altLang="en-US" sz="2400" b="1"/>
          </a:p>
          <a:p>
            <a:r>
              <a:rPr lang="zh-CN" altLang="en-US" sz="2400" b="1"/>
              <a:t>假设关系：如果</a:t>
            </a:r>
            <a:r>
              <a:rPr sz="2400" b="1">
                <a:latin typeface="宋体" panose="02010600030101010101" pitchFamily="2" charset="-122"/>
                <a:ea typeface="宋体" panose="02010600030101010101" pitchFamily="2" charset="-122"/>
                <a:sym typeface="+mn-ea"/>
              </a:rPr>
              <a:t>……</a:t>
            </a:r>
            <a:r>
              <a:rPr lang="zh-CN" altLang="en-US" sz="2400" b="1"/>
              <a:t>那么</a:t>
            </a:r>
            <a:r>
              <a:rPr sz="2400" b="1">
                <a:latin typeface="宋体" panose="02010600030101010101" pitchFamily="2" charset="-122"/>
                <a:ea typeface="宋体" panose="02010600030101010101" pitchFamily="2" charset="-122"/>
                <a:sym typeface="+mn-ea"/>
              </a:rPr>
              <a:t>……</a:t>
            </a:r>
            <a:r>
              <a:rPr lang="zh-CN" altLang="en-US" sz="2400" b="1"/>
              <a:t>、即使</a:t>
            </a:r>
            <a:r>
              <a:rPr sz="2400" b="1">
                <a:latin typeface="宋体" panose="02010600030101010101" pitchFamily="2" charset="-122"/>
                <a:ea typeface="宋体" panose="02010600030101010101" pitchFamily="2" charset="-122"/>
                <a:sym typeface="+mn-ea"/>
              </a:rPr>
              <a:t>……</a:t>
            </a:r>
            <a:r>
              <a:rPr lang="zh-CN" altLang="en-US" sz="2400" b="1"/>
              <a:t>也</a:t>
            </a:r>
            <a:r>
              <a:rPr sz="2400" b="1">
                <a:latin typeface="宋体" panose="02010600030101010101" pitchFamily="2" charset="-122"/>
                <a:ea typeface="宋体" panose="02010600030101010101" pitchFamily="2" charset="-122"/>
                <a:sym typeface="+mn-ea"/>
              </a:rPr>
              <a:t>……</a:t>
            </a:r>
            <a:endParaRPr lang="zh-CN" altLang="en-US" sz="2400" b="1"/>
          </a:p>
          <a:p>
            <a:r>
              <a:rPr lang="zh-CN" altLang="en-US" sz="2400" b="1">
                <a:solidFill>
                  <a:srgbClr val="FF0000"/>
                </a:solidFill>
              </a:rPr>
              <a:t>条件关系</a:t>
            </a:r>
            <a:r>
              <a:rPr lang="zh-CN" altLang="en-US" sz="2400" b="1"/>
              <a:t>：只要</a:t>
            </a:r>
            <a:r>
              <a:rPr sz="2400" b="1">
                <a:latin typeface="宋体" panose="02010600030101010101" pitchFamily="2" charset="-122"/>
                <a:ea typeface="宋体" panose="02010600030101010101" pitchFamily="2" charset="-122"/>
                <a:sym typeface="+mn-ea"/>
              </a:rPr>
              <a:t>……</a:t>
            </a:r>
            <a:r>
              <a:rPr lang="zh-CN" altLang="en-US" sz="2400" b="1"/>
              <a:t>就</a:t>
            </a:r>
            <a:r>
              <a:rPr sz="2400" b="1">
                <a:latin typeface="宋体" panose="02010600030101010101" pitchFamily="2" charset="-122"/>
                <a:ea typeface="宋体" panose="02010600030101010101" pitchFamily="2" charset="-122"/>
                <a:sym typeface="+mn-ea"/>
              </a:rPr>
              <a:t>……</a:t>
            </a:r>
            <a:r>
              <a:rPr lang="zh-CN" altLang="en-US" sz="2400" b="1"/>
              <a:t>、只要</a:t>
            </a:r>
            <a:r>
              <a:rPr sz="2400" b="1">
                <a:latin typeface="宋体" panose="02010600030101010101" pitchFamily="2" charset="-122"/>
                <a:ea typeface="宋体" panose="02010600030101010101" pitchFamily="2" charset="-122"/>
                <a:sym typeface="+mn-ea"/>
              </a:rPr>
              <a:t>……</a:t>
            </a:r>
            <a:r>
              <a:rPr lang="zh-CN" altLang="en-US" sz="2400" b="1"/>
              <a:t>才</a:t>
            </a:r>
            <a:r>
              <a:rPr sz="2400" b="1">
                <a:latin typeface="宋体" panose="02010600030101010101" pitchFamily="2" charset="-122"/>
                <a:ea typeface="宋体" panose="02010600030101010101" pitchFamily="2" charset="-122"/>
                <a:sym typeface="+mn-ea"/>
              </a:rPr>
              <a:t>……</a:t>
            </a:r>
            <a:r>
              <a:rPr lang="zh-CN" altLang="en-US" sz="2400" b="1"/>
              <a:t>、无论（不论）</a:t>
            </a:r>
            <a:r>
              <a:rPr sz="2400" b="1">
                <a:latin typeface="宋体" panose="02010600030101010101" pitchFamily="2" charset="-122"/>
                <a:ea typeface="宋体" panose="02010600030101010101" pitchFamily="2" charset="-122"/>
                <a:sym typeface="+mn-ea"/>
              </a:rPr>
              <a:t>……</a:t>
            </a:r>
            <a:r>
              <a:rPr lang="zh-CN" altLang="en-US" sz="2400" b="1"/>
              <a:t>都</a:t>
            </a:r>
            <a:r>
              <a:rPr sz="2400" b="1">
                <a:latin typeface="宋体" panose="02010600030101010101" pitchFamily="2" charset="-122"/>
                <a:ea typeface="宋体" panose="02010600030101010101" pitchFamily="2" charset="-122"/>
                <a:sym typeface="+mn-ea"/>
              </a:rPr>
              <a:t>……</a:t>
            </a:r>
            <a:endParaRPr lang="zh-CN" altLang="en-US" sz="2400" b="1"/>
          </a:p>
          <a:p>
            <a:r>
              <a:rPr lang="zh-CN" altLang="en-US" sz="2400" b="1"/>
              <a:t>因果关系：因为</a:t>
            </a:r>
            <a:r>
              <a:rPr sz="2400" b="1">
                <a:latin typeface="宋体" panose="02010600030101010101" pitchFamily="2" charset="-122"/>
                <a:ea typeface="宋体" panose="02010600030101010101" pitchFamily="2" charset="-122"/>
                <a:sym typeface="+mn-ea"/>
              </a:rPr>
              <a:t>……</a:t>
            </a:r>
            <a:r>
              <a:rPr lang="zh-CN" altLang="en-US" sz="2400" b="1"/>
              <a:t>所以</a:t>
            </a:r>
            <a:r>
              <a:rPr sz="2400" b="1">
                <a:latin typeface="宋体" panose="02010600030101010101" pitchFamily="2" charset="-122"/>
                <a:ea typeface="宋体" panose="02010600030101010101" pitchFamily="2" charset="-122"/>
                <a:sym typeface="+mn-ea"/>
              </a:rPr>
              <a:t>……</a:t>
            </a:r>
            <a:r>
              <a:rPr lang="zh-CN" altLang="en-US" sz="2400" b="1"/>
              <a:t>、之所以</a:t>
            </a:r>
            <a:r>
              <a:rPr sz="2400" b="1">
                <a:latin typeface="宋体" panose="02010600030101010101" pitchFamily="2" charset="-122"/>
                <a:ea typeface="宋体" panose="02010600030101010101" pitchFamily="2" charset="-122"/>
                <a:sym typeface="+mn-ea"/>
              </a:rPr>
              <a:t>……</a:t>
            </a:r>
            <a:r>
              <a:rPr lang="zh-CN" altLang="en-US" sz="2400" b="1"/>
              <a:t>是因为</a:t>
            </a:r>
            <a:r>
              <a:rPr sz="2400" b="1">
                <a:latin typeface="宋体" panose="02010600030101010101" pitchFamily="2" charset="-122"/>
                <a:ea typeface="宋体" panose="02010600030101010101" pitchFamily="2" charset="-122"/>
                <a:sym typeface="+mn-ea"/>
              </a:rPr>
              <a:t>……</a:t>
            </a:r>
            <a:r>
              <a:rPr lang="zh-CN" altLang="en-US" sz="2400" b="1"/>
              <a:t>、既然</a:t>
            </a:r>
            <a:r>
              <a:rPr sz="2400" b="1">
                <a:latin typeface="宋体" panose="02010600030101010101" pitchFamily="2" charset="-122"/>
                <a:ea typeface="宋体" panose="02010600030101010101" pitchFamily="2" charset="-122"/>
                <a:sym typeface="+mn-ea"/>
              </a:rPr>
              <a:t>……</a:t>
            </a:r>
            <a:r>
              <a:rPr lang="zh-CN" altLang="en-US" sz="2400" b="1"/>
              <a:t>就</a:t>
            </a:r>
            <a:r>
              <a:rPr sz="2400" b="1">
                <a:latin typeface="宋体" panose="02010600030101010101" pitchFamily="2" charset="-122"/>
                <a:ea typeface="宋体" panose="02010600030101010101" pitchFamily="2" charset="-122"/>
                <a:sym typeface="+mn-ea"/>
              </a:rPr>
              <a:t>……</a:t>
            </a:r>
            <a:endParaRPr sz="2400" b="1">
              <a:latin typeface="宋体" panose="02010600030101010101" pitchFamily="2" charset="-122"/>
              <a:ea typeface="宋体" panose="02010600030101010101" pitchFamily="2" charset="-122"/>
              <a:sym typeface="+mn-ea"/>
            </a:endParaRPr>
          </a:p>
          <a:p>
            <a:r>
              <a:rPr sz="2400" b="1">
                <a:solidFill>
                  <a:srgbClr val="00B050"/>
                </a:solidFill>
                <a:latin typeface="+mn-ea"/>
                <a:cs typeface="+mn-ea"/>
                <a:sym typeface="+mn-ea"/>
              </a:rPr>
              <a:t>（</a:t>
            </a:r>
            <a:r>
              <a:rPr lang="en-US" altLang="zh-CN" sz="2400" b="1">
                <a:solidFill>
                  <a:srgbClr val="00B050"/>
                </a:solidFill>
                <a:latin typeface="+mn-ea"/>
                <a:cs typeface="+mn-ea"/>
                <a:sym typeface="+mn-ea"/>
              </a:rPr>
              <a:t>2</a:t>
            </a:r>
            <a:r>
              <a:rPr sz="2400" b="1">
                <a:solidFill>
                  <a:srgbClr val="00B050"/>
                </a:solidFill>
                <a:latin typeface="+mn-ea"/>
                <a:cs typeface="+mn-ea"/>
                <a:sym typeface="+mn-ea"/>
              </a:rPr>
              <a:t>）需要根据语境，认真分析前后分句之间的关系</a:t>
            </a:r>
            <a:endParaRPr lang="zh-CN" altLang="en-US" sz="2400" b="1">
              <a:solidFill>
                <a:schemeClr val="tx1"/>
              </a:solidFill>
            </a:endParaRPr>
          </a:p>
          <a:p>
            <a:endParaRPr lang="zh-CN" altLang="en-US" sz="2400" b="1"/>
          </a:p>
          <a:p>
            <a:endParaRPr lang="zh-CN" altLang="en-US" sz="2400" b="1"/>
          </a:p>
          <a:p>
            <a:endParaRPr lang="zh-CN" altLang="en-US" sz="2400" b="1"/>
          </a:p>
          <a:p>
            <a:endParaRPr lang="zh-CN" altLang="en-US" sz="2400" b="1"/>
          </a:p>
          <a:p>
            <a:endParaRPr lang="zh-CN" altLang="en-US" sz="2400" b="1"/>
          </a:p>
          <a:p>
            <a:endParaRPr lang="zh-CN" altLang="en-US" sz="2400" b="1"/>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endParaRPr lang="zh-CN" altLang="en-US"/>
          </a:p>
        </p:txBody>
      </p:sp>
      <p:sp>
        <p:nvSpPr>
          <p:cNvPr id="3" name="内容占位符 2"/>
          <p:cNvSpPr>
            <a:spLocks noGrp="1"/>
          </p:cNvSpPr>
          <p:nvPr>
            <p:ph idx="1"/>
          </p:nvPr>
        </p:nvSpPr>
        <p:spPr/>
        <p:txBody>
          <a:bodyPr/>
          <a:p>
            <a:r>
              <a:rPr lang="zh-CN" altLang="en-US" sz="2400" b="1">
                <a:solidFill>
                  <a:srgbClr val="00B050"/>
                </a:solidFill>
              </a:rPr>
              <a:t>真题</a:t>
            </a:r>
            <a:r>
              <a:rPr lang="en-US" altLang="zh-CN" sz="2400" b="1">
                <a:solidFill>
                  <a:srgbClr val="00B050"/>
                </a:solidFill>
              </a:rPr>
              <a:t>50</a:t>
            </a:r>
            <a:r>
              <a:rPr sz="2400" b="1"/>
              <a:t>（川</a:t>
            </a:r>
            <a:r>
              <a:rPr lang="en-US" altLang="zh-CN" sz="2400" b="1"/>
              <a:t>2019</a:t>
            </a:r>
            <a:r>
              <a:rPr sz="2400" b="1"/>
              <a:t>上</a:t>
            </a:r>
            <a:r>
              <a:rPr lang="en-US" altLang="zh-CN" sz="2400" b="1"/>
              <a:t>-</a:t>
            </a:r>
            <a:r>
              <a:rPr lang="zh-CN" altLang="en-US" sz="2400" b="1"/>
              <a:t>2</a:t>
            </a:r>
            <a:r>
              <a:rPr lang="en-US" altLang="zh-CN" sz="2400" b="1"/>
              <a:t>8</a:t>
            </a:r>
            <a:r>
              <a:rPr lang="zh-CN" altLang="en-US" sz="2400" b="1"/>
              <a:t>）：互联网发展初期，传统媒体出于新闻传播和培育新渠道的目的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网络媒体进行转载，“拿来主义”成为各大平台的“潜规则”。但过去一年来，这个定律似乎正在被打破。网络媒体迎来内容创业的风潮，付费社区、音频问答、在线课程等知识付费产品表现抢眼，互联网内容付费</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  </a:t>
            </a:r>
            <a:endParaRPr lang="zh-CN" altLang="en-US" sz="2400" b="1"/>
          </a:p>
          <a:p>
            <a:r>
              <a:rPr lang="zh-CN" altLang="en-US" sz="2400" b="1"/>
              <a:t>填入画横线部分最恰当的一项是：</a:t>
            </a:r>
            <a:endParaRPr lang="zh-CN" altLang="en-US" sz="2400" b="1"/>
          </a:p>
          <a:p>
            <a:r>
              <a:rPr lang="zh-CN" altLang="en-US" sz="2400" b="1"/>
              <a:t>A. 支持     蔚然成风          B.  允许     方兴未艾</a:t>
            </a:r>
            <a:endParaRPr lang="zh-CN" altLang="en-US" sz="2400" b="1"/>
          </a:p>
          <a:p>
            <a:r>
              <a:rPr lang="en-US" altLang="zh-CN" sz="2400" b="1"/>
              <a:t>C</a:t>
            </a:r>
            <a:r>
              <a:rPr lang="zh-CN" altLang="en-US" sz="2400" b="1"/>
              <a:t>. 默许     悄然兴起          D.  同意     深入人心</a:t>
            </a:r>
            <a:endParaRPr lang="zh-CN" altLang="en-US"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lang="en-US" altLang="zh-CN">
                <a:sym typeface="+mn-ea"/>
              </a:rPr>
              <a:t>1</a:t>
            </a:r>
            <a:r>
              <a:rPr>
                <a:sym typeface="+mn-ea"/>
              </a:rPr>
              <a:t>（续</a:t>
            </a:r>
            <a:r>
              <a:rPr lang="en-US" altLang="zh-CN">
                <a:sym typeface="+mn-ea"/>
              </a:rPr>
              <a:t>1</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51</a:t>
            </a:r>
            <a:r>
              <a:rPr sz="2400" b="1">
                <a:sym typeface="+mn-ea"/>
              </a:rPr>
              <a:t>（川</a:t>
            </a:r>
            <a:r>
              <a:rPr lang="en-US" altLang="zh-CN" sz="2400" b="1">
                <a:sym typeface="+mn-ea"/>
              </a:rPr>
              <a:t>2019</a:t>
            </a:r>
            <a:r>
              <a:rPr sz="2400" b="1">
                <a:sym typeface="+mn-ea"/>
              </a:rPr>
              <a:t>上</a:t>
            </a:r>
            <a:r>
              <a:rPr lang="en-US" altLang="zh-CN" sz="2400" b="1">
                <a:sym typeface="+mn-ea"/>
              </a:rPr>
              <a:t>-30</a:t>
            </a:r>
            <a:r>
              <a:rPr sz="2400" b="1">
                <a:sym typeface="+mn-ea"/>
              </a:rPr>
              <a:t>）：</a:t>
            </a:r>
            <a:r>
              <a:rPr lang="zh-CN" altLang="en-US" sz="2400" b="1"/>
              <a:t>金砖是中国传统窑砖烧制业中的珍品，古时专供宫殿等重要建筑使用，因质地坚细、敲之有金石之声而得名。帝制结束后，金砖不再被需要，制作手艺</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民间。20世纪80年代，砖瓦匠人金梅泉通过摸索，初步恢复了金砖的古法制作，令金砖</a:t>
            </a:r>
            <a:r>
              <a:rPr lang="en-US" altLang="zh-CN" sz="2400" b="1"/>
              <a:t>“</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en-US" altLang="zh-CN" sz="2400" b="1"/>
              <a:t>”</a:t>
            </a:r>
            <a:r>
              <a:rPr lang="zh-CN" altLang="en-US" sz="2400" b="1"/>
              <a:t>，该技艺被列入中国首批国家级非物质文化遗产名录。</a:t>
            </a:r>
            <a:endParaRPr lang="zh-CN" altLang="en-US" sz="2400" b="1"/>
          </a:p>
          <a:p>
            <a:r>
              <a:rPr lang="zh-CN" altLang="en-US" sz="2400" b="1"/>
              <a:t>填入画横线部分最恰当的一项是：</a:t>
            </a:r>
            <a:endParaRPr lang="zh-CN" altLang="en-US" sz="2400" b="1"/>
          </a:p>
          <a:p>
            <a:r>
              <a:rPr lang="zh-CN" altLang="en-US" sz="2400" b="1"/>
              <a:t>A. 散落    死而复生       B. 流落     柳暗花明</a:t>
            </a:r>
            <a:endParaRPr lang="zh-CN" altLang="en-US" sz="2400" b="1"/>
          </a:p>
          <a:p>
            <a:r>
              <a:rPr lang="zh-CN" altLang="en-US" sz="2400" b="1"/>
              <a:t>C. 流传    重见天日       D. 散失     卷土重来</a:t>
            </a:r>
            <a:endParaRPr lang="zh-CN" altLang="en-US" sz="2400" b="1"/>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lang="en-US" altLang="zh-CN">
                <a:sym typeface="+mn-ea"/>
              </a:rPr>
              <a:t>1</a:t>
            </a:r>
            <a:r>
              <a:rPr>
                <a:sym typeface="+mn-ea"/>
              </a:rPr>
              <a:t>（续</a:t>
            </a:r>
            <a:r>
              <a:rPr lang="en-US" altLang="zh-CN">
                <a:sym typeface="+mn-ea"/>
              </a:rPr>
              <a:t>2</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52</a:t>
            </a:r>
            <a:r>
              <a:rPr sz="2400" b="1">
                <a:sym typeface="+mn-ea"/>
              </a:rPr>
              <a:t>（川</a:t>
            </a:r>
            <a:r>
              <a:rPr lang="en-US" altLang="zh-CN" sz="2400" b="1">
                <a:sym typeface="+mn-ea"/>
              </a:rPr>
              <a:t>2012</a:t>
            </a:r>
            <a:r>
              <a:rPr sz="2400" b="1">
                <a:sym typeface="+mn-ea"/>
              </a:rPr>
              <a:t>上</a:t>
            </a:r>
            <a:r>
              <a:rPr lang="en-US" altLang="zh-CN" sz="2400" b="1">
                <a:sym typeface="+mn-ea"/>
              </a:rPr>
              <a:t>-28</a:t>
            </a:r>
            <a:r>
              <a:rPr sz="2400" b="1">
                <a:sym typeface="+mn-ea"/>
              </a:rPr>
              <a:t>）：</a:t>
            </a:r>
            <a:r>
              <a:rPr lang="zh-CN" altLang="en-US" sz="2400" b="1"/>
              <a:t>越来越多的年轻观众对京剧缺乏了解，不懂得欣赏京剧的美；还有一部分人对舶来品</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，认为都比国内的好，对于自己国家的传统艺术，却认为是老土的、过时的东西，而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另眼相看    不屑一顾                 B. 青眼有加    不足挂齿</a:t>
            </a:r>
            <a:endParaRPr lang="zh-CN" altLang="en-US" sz="2400" b="1"/>
          </a:p>
          <a:p>
            <a:r>
              <a:rPr lang="zh-CN" altLang="en-US" sz="2400" b="1"/>
              <a:t>C. 刮目相看    嗤之以鼻                 D. 一见钟情    充耳不闻</a:t>
            </a:r>
            <a:endParaRPr lang="zh-CN" altLang="en-US" sz="2400" b="1"/>
          </a:p>
          <a:p>
            <a:endParaRPr lang="zh-CN" altLang="en-US" sz="2400" b="1"/>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lang="en-US" altLang="zh-CN">
                <a:sym typeface="+mn-ea"/>
              </a:rPr>
              <a:t>1</a:t>
            </a:r>
            <a:r>
              <a:rPr>
                <a:sym typeface="+mn-ea"/>
              </a:rPr>
              <a:t>（续</a:t>
            </a:r>
            <a:r>
              <a:rPr lang="en-US" altLang="zh-CN">
                <a:sym typeface="+mn-ea"/>
              </a:rPr>
              <a:t>3</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53</a:t>
            </a:r>
            <a:r>
              <a:rPr sz="2400" b="1">
                <a:sym typeface="+mn-ea"/>
              </a:rPr>
              <a:t>（川</a:t>
            </a:r>
            <a:r>
              <a:rPr lang="en-US" altLang="zh-CN" sz="2400" b="1">
                <a:sym typeface="+mn-ea"/>
              </a:rPr>
              <a:t>2012</a:t>
            </a:r>
            <a:r>
              <a:rPr sz="2400" b="1">
                <a:sym typeface="+mn-ea"/>
              </a:rPr>
              <a:t>上</a:t>
            </a:r>
            <a:r>
              <a:rPr lang="en-US" altLang="zh-CN" sz="2400" b="1">
                <a:sym typeface="+mn-ea"/>
              </a:rPr>
              <a:t>-29</a:t>
            </a:r>
            <a:r>
              <a:rPr sz="2400" b="1">
                <a:sym typeface="+mn-ea"/>
              </a:rPr>
              <a:t>）：</a:t>
            </a:r>
            <a:r>
              <a:rPr sz="2400" b="1">
                <a:sym typeface="+mn-ea"/>
              </a:rPr>
              <a:t>鲁迅精神</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于当代文化建设的，首先就是在“立人”这件事上应该做什么和怎么做，产业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重要，但如果人“立”不住，产业将不可避免地空壳化。这不仅因为产业需要内容做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，更因为内容是需要人来创造的。</a:t>
            </a:r>
            <a:endParaRPr lang="zh-CN" altLang="en-US" sz="2400" b="1"/>
          </a:p>
          <a:p>
            <a:r>
              <a:rPr sz="2400" b="1">
                <a:sym typeface="+mn-ea"/>
              </a:rPr>
              <a:t>依次填入划横线部分最恰当的一项是（    ）。</a:t>
            </a:r>
            <a:endParaRPr lang="zh-CN" altLang="en-US" sz="2400" b="1"/>
          </a:p>
          <a:p>
            <a:r>
              <a:rPr sz="2400" b="1">
                <a:sym typeface="+mn-ea"/>
              </a:rPr>
              <a:t>A. 昭示  固然  支撑          B. 明示  当然  支持</a:t>
            </a:r>
            <a:endParaRPr lang="zh-CN" altLang="en-US" sz="2400" b="1"/>
          </a:p>
          <a:p>
            <a:r>
              <a:rPr sz="2400" b="1">
                <a:sym typeface="+mn-ea"/>
              </a:rPr>
              <a:t>C. 暗示  虽然  后盾          D. 显示  肯定  支柱</a:t>
            </a:r>
            <a:endParaRPr lang="zh-CN" altLang="en-US" sz="2400" b="1"/>
          </a:p>
          <a:p>
            <a:endParaRPr lang="zh-CN" altLang="en-US" sz="2400" b="1"/>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6362" y="54175"/>
            <a:ext cx="10852237" cy="648000"/>
          </a:xfrm>
        </p:spPr>
        <p:txBody>
          <a:bodyPr/>
          <a:p>
            <a:r>
              <a:rPr>
                <a:sym typeface="+mn-ea"/>
              </a:rPr>
              <a:t>作业</a:t>
            </a:r>
            <a:r>
              <a:rPr lang="en-US" altLang="zh-CN">
                <a:sym typeface="+mn-ea"/>
              </a:rPr>
              <a:t>1</a:t>
            </a:r>
            <a:r>
              <a:rPr>
                <a:sym typeface="+mn-ea"/>
              </a:rPr>
              <a:t>（续</a:t>
            </a:r>
            <a:r>
              <a:rPr lang="en-US" altLang="zh-CN">
                <a:sym typeface="+mn-ea"/>
              </a:rPr>
              <a:t>4</a:t>
            </a:r>
            <a:r>
              <a:rPr>
                <a:sym typeface="+mn-ea"/>
              </a:rPr>
              <a:t>）</a:t>
            </a:r>
            <a:endParaRPr lang="zh-CN" altLang="en-US"/>
          </a:p>
        </p:txBody>
      </p:sp>
      <p:sp>
        <p:nvSpPr>
          <p:cNvPr id="3" name="内容占位符 2"/>
          <p:cNvSpPr>
            <a:spLocks noGrp="1"/>
          </p:cNvSpPr>
          <p:nvPr>
            <p:ph idx="1"/>
          </p:nvPr>
        </p:nvSpPr>
        <p:spPr>
          <a:xfrm>
            <a:off x="446405" y="814705"/>
            <a:ext cx="10852150" cy="5901055"/>
          </a:xfrm>
        </p:spPr>
        <p:txBody>
          <a:bodyPr/>
          <a:p>
            <a:r>
              <a:rPr sz="2400" b="1">
                <a:solidFill>
                  <a:srgbClr val="00B050"/>
                </a:solidFill>
                <a:sym typeface="+mn-ea"/>
              </a:rPr>
              <a:t>真题</a:t>
            </a:r>
            <a:r>
              <a:rPr lang="en-US" altLang="zh-CN" sz="2400" b="1">
                <a:solidFill>
                  <a:srgbClr val="00B050"/>
                </a:solidFill>
                <a:sym typeface="+mn-ea"/>
              </a:rPr>
              <a:t>54</a:t>
            </a:r>
            <a:r>
              <a:rPr sz="2400" b="1">
                <a:sym typeface="+mn-ea"/>
              </a:rPr>
              <a:t>（川</a:t>
            </a:r>
            <a:r>
              <a:rPr lang="en-US" altLang="zh-CN" sz="2400" b="1">
                <a:sym typeface="+mn-ea"/>
              </a:rPr>
              <a:t>2012</a:t>
            </a:r>
            <a:r>
              <a:rPr sz="2400" b="1">
                <a:sym typeface="+mn-ea"/>
              </a:rPr>
              <a:t>上</a:t>
            </a:r>
            <a:r>
              <a:rPr lang="en-US" altLang="zh-CN" sz="2400" b="1">
                <a:sym typeface="+mn-ea"/>
              </a:rPr>
              <a:t>-30</a:t>
            </a:r>
            <a:r>
              <a:rPr sz="2400" b="1">
                <a:sym typeface="+mn-ea"/>
              </a:rPr>
              <a:t>）：</a:t>
            </a:r>
            <a:r>
              <a:rPr lang="zh-CN" altLang="en-US" sz="2400" b="1"/>
              <a:t>克罗地亚在入欧盟的过程中，将国内仅有的数十家大型国企卖给了外国投资者，而很多工厂企业也在入欧盟改革中纷纷关闭，有人说这将使得克罗地亚的发展</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。但是，克罗地亚目前的经济水平比起欧盟中那些负债累累的国家来说还是要</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，现在看来，加入欧盟后克罗地亚将负担援助他国的义务才是大问题，这恐怕与克罗地亚人的预期</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依次填入划横划线部分最恰当的一项是（    ）。</a:t>
            </a:r>
            <a:endParaRPr lang="zh-CN" altLang="en-US" sz="2400" b="1"/>
          </a:p>
          <a:p>
            <a:r>
              <a:rPr lang="zh-CN" altLang="en-US" sz="2400" b="1"/>
              <a:t>A. 难以可期   聊以自慰   相差甚大     B. 难以实现   稍胜一筹   相去甚远</a:t>
            </a:r>
            <a:endParaRPr lang="zh-CN" altLang="en-US" sz="2400" b="1"/>
          </a:p>
          <a:p>
            <a:r>
              <a:rPr lang="zh-CN" altLang="en-US" sz="2400" b="1"/>
              <a:t>C. 难以为继   略胜一筹   相差甚远     D. 难以持续   后来居上   相去良多</a:t>
            </a:r>
            <a:endParaRPr lang="zh-CN" altLang="en-US"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lang="en-US" altLang="zh-CN">
                <a:sym typeface="+mn-ea"/>
              </a:rPr>
              <a:t>1</a:t>
            </a:r>
            <a:r>
              <a:rPr>
                <a:sym typeface="+mn-ea"/>
              </a:rPr>
              <a:t>（续</a:t>
            </a:r>
            <a:r>
              <a:rPr lang="en-US" altLang="zh-CN">
                <a:sym typeface="+mn-ea"/>
              </a:rPr>
              <a:t>5</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55</a:t>
            </a:r>
            <a:r>
              <a:rPr sz="2400" b="1">
                <a:sym typeface="+mn-ea"/>
              </a:rPr>
              <a:t>（川</a:t>
            </a:r>
            <a:r>
              <a:rPr lang="en-US" altLang="zh-CN" sz="2400" b="1">
                <a:sym typeface="+mn-ea"/>
              </a:rPr>
              <a:t>2012</a:t>
            </a:r>
            <a:r>
              <a:rPr sz="2400" b="1">
                <a:sym typeface="+mn-ea"/>
              </a:rPr>
              <a:t>上</a:t>
            </a:r>
            <a:r>
              <a:rPr lang="en-US" altLang="zh-CN" sz="2400" b="1">
                <a:sym typeface="+mn-ea"/>
              </a:rPr>
              <a:t>-31</a:t>
            </a:r>
            <a:r>
              <a:rPr sz="2400" b="1">
                <a:sym typeface="+mn-ea"/>
              </a:rPr>
              <a:t>）：</a:t>
            </a:r>
            <a:r>
              <a:rPr lang="zh-CN" altLang="en-US" sz="2400" b="1"/>
              <a:t> 文化认同作为小到一个群体、大到一个民族向心力的有机“粘合剂”，是凝聚这个群体和民族伟大精神力量的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。文化认同如果缺失，社会语境便趋于焦虑，人们的价值取向便会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。因为文化认同相对于政治认同和社会认同，具有更深远的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基础    丧失    意义     B. 根本    丢失    价值</a:t>
            </a:r>
            <a:endParaRPr lang="zh-CN" altLang="en-US" sz="2400" b="1"/>
          </a:p>
          <a:p>
            <a:r>
              <a:rPr lang="zh-CN" altLang="en-US" sz="2400" b="1"/>
              <a:t>C. 根基    迷失    内涵     D. 基础    失落    涵义</a:t>
            </a:r>
            <a:endParaRPr lang="zh-CN" altLang="en-US" sz="2400" b="1"/>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8477</Words>
  <Application>WPS 演示</Application>
  <PresentationFormat>宽屏</PresentationFormat>
  <Paragraphs>221</Paragraphs>
  <Slides>27</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Arial</vt:lpstr>
      <vt:lpstr>宋体</vt:lpstr>
      <vt:lpstr>Wingdings</vt:lpstr>
      <vt:lpstr>微软雅黑</vt:lpstr>
      <vt:lpstr>Times New Roman</vt:lpstr>
      <vt:lpstr>Arial Unicode MS</vt:lpstr>
      <vt:lpstr>Office 主题​​</vt:lpstr>
      <vt:lpstr>公务员考试中的逻辑学</vt:lpstr>
      <vt:lpstr>作业讲评1</vt:lpstr>
      <vt:lpstr>作业讲评2</vt:lpstr>
      <vt:lpstr>作业讲评3</vt:lpstr>
      <vt:lpstr>作业讲评4</vt:lpstr>
      <vt:lpstr>作业讲评5</vt:lpstr>
      <vt:lpstr>作业讲评6</vt:lpstr>
      <vt:lpstr>四、言语理解与表达逻辑填空中常考关联词</vt:lpstr>
      <vt:lpstr>真题44</vt:lpstr>
      <vt:lpstr>PowerPoint 演示文稿</vt:lpstr>
      <vt:lpstr>真题45分析</vt:lpstr>
      <vt:lpstr>真题45分析</vt:lpstr>
      <vt:lpstr>（二）易混关联词的区别: 需要根据语境，认真分析前后分句之间的关系</vt:lpstr>
      <vt:lpstr>真题46分析</vt:lpstr>
      <vt:lpstr>2.区分并列关系与选择关系：</vt:lpstr>
      <vt:lpstr>PowerPoint 演示文稿</vt:lpstr>
      <vt:lpstr>3.区分假设关系与转折关系</vt:lpstr>
      <vt:lpstr>真题48分析</vt:lpstr>
      <vt:lpstr>4.区分充分条件与必要条件</vt:lpstr>
      <vt:lpstr>真题49分析</vt:lpstr>
      <vt:lpstr>总结：</vt:lpstr>
      <vt:lpstr>作业</vt:lpstr>
      <vt:lpstr>作业1（续1）</vt:lpstr>
      <vt:lpstr>作业1（续2）</vt:lpstr>
      <vt:lpstr>作业1（续3）</vt:lpstr>
      <vt:lpstr>作业1（续4）</vt:lpstr>
      <vt:lpstr>作业1（续5）</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50</cp:revision>
  <dcterms:created xsi:type="dcterms:W3CDTF">2019-06-19T02:08:00Z</dcterms:created>
  <dcterms:modified xsi:type="dcterms:W3CDTF">2020-03-02T11:06:53Z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