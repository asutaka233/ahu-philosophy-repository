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56" r:id="rId3"/>
    <p:sldId id="271" r:id="rId5"/>
    <p:sldId id="272" r:id="rId6"/>
    <p:sldId id="273" r:id="rId7"/>
    <p:sldId id="257" r:id="rId8"/>
    <p:sldId id="259" r:id="rId9"/>
    <p:sldId id="287" r:id="rId10"/>
    <p:sldId id="260" r:id="rId11"/>
    <p:sldId id="288" r:id="rId12"/>
    <p:sldId id="261" r:id="rId13"/>
    <p:sldId id="262" r:id="rId14"/>
    <p:sldId id="289" r:id="rId15"/>
    <p:sldId id="263" r:id="rId16"/>
    <p:sldId id="290" r:id="rId17"/>
    <p:sldId id="264" r:id="rId18"/>
    <p:sldId id="291" r:id="rId19"/>
    <p:sldId id="269" r:id="rId20"/>
    <p:sldId id="300" r:id="rId21"/>
    <p:sldId id="270" r:id="rId22"/>
    <p:sldId id="301" r:id="rId23"/>
    <p:sldId id="292" r:id="rId24"/>
    <p:sldId id="30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42"/>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567690" y="4159250"/>
            <a:ext cx="11220450" cy="1819275"/>
          </a:xfrm>
        </p:spPr>
        <p:txBody>
          <a:bodyPr/>
          <a:lstStyle/>
          <a:p>
            <a:r>
              <a:rPr lang="zh-CN" altLang="en-US" sz="4000" b="1"/>
              <a:t>第八讲：直接推理与三段论推理综合练习</a:t>
            </a:r>
            <a:endParaRPr lang="zh-CN" altLang="en-US" sz="4000" b="1"/>
          </a:p>
          <a:p>
            <a:r>
              <a:rPr lang="zh-CN" altLang="en-US" sz="3600" b="1">
                <a:solidFill>
                  <a:srgbClr val="FF0000"/>
                </a:solidFill>
                <a:sym typeface="+mn-ea"/>
              </a:rPr>
              <a:t>结合：《逻辑思维训练课件》中的逻辑</a:t>
            </a:r>
            <a:r>
              <a:rPr lang="en-US" altLang="zh-CN" sz="3600" b="1">
                <a:solidFill>
                  <a:srgbClr val="FF0000"/>
                </a:solidFill>
                <a:sym typeface="+mn-ea"/>
              </a:rPr>
              <a:t>8-</a:t>
            </a:r>
            <a:r>
              <a:rPr sz="3600" b="1">
                <a:solidFill>
                  <a:srgbClr val="FF0000"/>
                </a:solidFill>
                <a:sym typeface="+mn-ea"/>
              </a:rPr>
              <a:t>逻辑</a:t>
            </a:r>
            <a:r>
              <a:rPr lang="en-US" sz="3600" b="1">
                <a:solidFill>
                  <a:srgbClr val="FF0000"/>
                </a:solidFill>
                <a:sym typeface="+mn-ea"/>
              </a:rPr>
              <a:t>12</a:t>
            </a:r>
            <a:endParaRPr lang="en-US" altLang="zh-CN" sz="3600" b="1">
              <a:solidFill>
                <a:srgbClr val="FF0000"/>
              </a:solidFill>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341630"/>
            <a:ext cx="10852150" cy="5995670"/>
          </a:xfrm>
        </p:spPr>
        <p:txBody>
          <a:bodyPr/>
          <a:p>
            <a:r>
              <a:rPr lang="zh-CN" altLang="en-US" sz="2400" b="1">
                <a:solidFill>
                  <a:srgbClr val="00B050"/>
                </a:solidFill>
                <a:latin typeface="Times New Roman" panose="02020603050405020304" charset="0"/>
                <a:cs typeface="Times New Roman" panose="02020603050405020304" charset="0"/>
              </a:rPr>
              <a:t>真题</a:t>
            </a:r>
            <a:r>
              <a:rPr lang="en-US" altLang="zh-CN" sz="2400" b="1">
                <a:solidFill>
                  <a:srgbClr val="00B050"/>
                </a:solidFill>
                <a:latin typeface="Times New Roman" panose="02020603050405020304" charset="0"/>
                <a:cs typeface="Times New Roman" panose="02020603050405020304" charset="0"/>
              </a:rPr>
              <a:t>120</a:t>
            </a:r>
            <a:r>
              <a:rPr sz="2400" b="1">
                <a:solidFill>
                  <a:srgbClr val="00B050"/>
                </a:solidFill>
                <a:latin typeface="Times New Roman" panose="02020603050405020304" charset="0"/>
                <a:cs typeface="Times New Roman" panose="02020603050405020304" charset="0"/>
              </a:rPr>
              <a:t>分析</a:t>
            </a:r>
            <a:r>
              <a:rPr sz="2400" b="1">
                <a:latin typeface="Times New Roman" panose="02020603050405020304" charset="0"/>
                <a:cs typeface="Times New Roman" panose="02020603050405020304" charset="0"/>
              </a:rPr>
              <a:t>：</a:t>
            </a:r>
            <a:r>
              <a:rPr sz="2400" b="1">
                <a:solidFill>
                  <a:srgbClr val="FF0000"/>
                </a:solidFill>
                <a:latin typeface="宋体" panose="02010600030101010101" pitchFamily="2" charset="-122"/>
                <a:ea typeface="宋体" panose="02010600030101010101" pitchFamily="2" charset="-122"/>
                <a:cs typeface="Times New Roman" panose="02020603050405020304" charset="0"/>
              </a:rPr>
              <a:t>①</a:t>
            </a:r>
            <a:r>
              <a:rPr lang="zh-CN" altLang="en-US" sz="2400" b="1">
                <a:solidFill>
                  <a:srgbClr val="FF0000"/>
                </a:solidFill>
                <a:latin typeface="Times New Roman" panose="02020603050405020304" charset="0"/>
                <a:cs typeface="Times New Roman" panose="02020603050405020304" charset="0"/>
              </a:rPr>
              <a:t>一桩投毒谋杀案，作案者要么是甲，要么是乙，二者必有其一</a:t>
            </a:r>
            <a:r>
              <a:rPr lang="zh-CN" altLang="en-US" sz="2400" b="1">
                <a:latin typeface="Times New Roman" panose="02020603050405020304" charset="0"/>
                <a:cs typeface="Times New Roman" panose="02020603050405020304" charset="0"/>
              </a:rPr>
              <a:t>；</a:t>
            </a:r>
            <a:r>
              <a:rPr lang="zh-CN" altLang="en-US" sz="2400" b="1">
                <a:solidFill>
                  <a:srgbClr val="00B050"/>
                </a:solidFill>
                <a:latin typeface="宋体" panose="02010600030101010101" pitchFamily="2" charset="-122"/>
                <a:ea typeface="宋体" panose="02010600030101010101" pitchFamily="2" charset="-122"/>
                <a:cs typeface="Times New Roman" panose="02020603050405020304" charset="0"/>
              </a:rPr>
              <a:t>②</a:t>
            </a:r>
            <a:r>
              <a:rPr lang="zh-CN" altLang="en-US" sz="2400" b="1">
                <a:solidFill>
                  <a:srgbClr val="00B050"/>
                </a:solidFill>
                <a:latin typeface="Times New Roman" panose="02020603050405020304" charset="0"/>
                <a:cs typeface="Times New Roman" panose="02020603050405020304" charset="0"/>
              </a:rPr>
              <a:t>所用毒药或者是毒鼠强，或者是乐果，二者至少其一</a:t>
            </a:r>
            <a:r>
              <a:rPr lang="zh-CN" altLang="en-US" sz="2400" b="1">
                <a:latin typeface="Times New Roman" panose="02020603050405020304" charset="0"/>
                <a:cs typeface="Times New Roman" panose="02020603050405020304" charset="0"/>
              </a:rPr>
              <a:t>。</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如果上述断定为真，则以下哪项推断一定成立？</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I.该投毒案不是甲投毒鼠强所为。因此，一定是乙投乐果所为。</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II.在该案侦破中，发现甲投了毒鼠强。因此，案中的毒药不可能是乐果。</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III.该投毒案的作案者不是甲，并且所投的毒药不是毒鼠强。因此，一定是乙投乐果所为。</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A.只有I             B.只有II          C.只有III                   D.只有I和III</a:t>
            </a:r>
            <a:endParaRPr lang="zh-CN" altLang="en-US" sz="2400" b="1">
              <a:latin typeface="Times New Roman" panose="02020603050405020304" charset="0"/>
              <a:cs typeface="Times New Roman" panose="02020603050405020304" charset="0"/>
            </a:endParaRPr>
          </a:p>
          <a:p>
            <a:r>
              <a:rPr lang="zh-CN" altLang="en-US" sz="2400" b="1">
                <a:latin typeface="Times New Roman" panose="02020603050405020304" charset="0"/>
                <a:cs typeface="Times New Roman" panose="02020603050405020304" charset="0"/>
              </a:rPr>
              <a:t>分析：</a:t>
            </a:r>
            <a:r>
              <a:rPr lang="zh-CN" altLang="en-US" sz="2400" b="1">
                <a:solidFill>
                  <a:srgbClr val="00B050"/>
                </a:solidFill>
                <a:latin typeface="+mn-ea"/>
                <a:cs typeface="Times New Roman" panose="02020603050405020304" charset="0"/>
              </a:rPr>
              <a:t>①是不相容选言命题；②</a:t>
            </a:r>
            <a:r>
              <a:rPr sz="2400" b="1">
                <a:solidFill>
                  <a:srgbClr val="00B050"/>
                </a:solidFill>
                <a:latin typeface="+mn-ea"/>
                <a:cs typeface="Times New Roman" panose="02020603050405020304" charset="0"/>
                <a:sym typeface="+mn-ea"/>
              </a:rPr>
              <a:t>是相容选言命题</a:t>
            </a:r>
            <a:r>
              <a:rPr sz="2400" b="1">
                <a:latin typeface="+mn-ea"/>
                <a:cs typeface="Times New Roman" panose="02020603050405020304" charset="0"/>
                <a:sym typeface="+mn-ea"/>
              </a:rPr>
              <a:t>。</a:t>
            </a:r>
            <a:r>
              <a:rPr sz="2400" b="1">
                <a:latin typeface="Times New Roman" panose="02020603050405020304" charset="0"/>
                <a:cs typeface="Times New Roman" panose="02020603050405020304" charset="0"/>
                <a:sym typeface="+mn-ea"/>
              </a:rPr>
              <a:t>I不一定成立，可能是甲投乐果所为。</a:t>
            </a:r>
            <a:r>
              <a:rPr sz="2400" b="1">
                <a:latin typeface="Times New Roman" panose="02020603050405020304" charset="0"/>
                <a:cs typeface="Times New Roman" panose="02020603050405020304" charset="0"/>
                <a:sym typeface="+mn-ea"/>
              </a:rPr>
              <a:t>I</a:t>
            </a:r>
            <a:r>
              <a:rPr lang="en-US" altLang="zh-CN" sz="2400" b="1">
                <a:latin typeface="Times New Roman" panose="02020603050405020304" charset="0"/>
                <a:cs typeface="Times New Roman" panose="02020603050405020304" charset="0"/>
                <a:sym typeface="+mn-ea"/>
              </a:rPr>
              <a:t>I</a:t>
            </a:r>
            <a:r>
              <a:rPr sz="2400" b="1">
                <a:latin typeface="Times New Roman" panose="02020603050405020304" charset="0"/>
                <a:cs typeface="Times New Roman" panose="02020603050405020304" charset="0"/>
                <a:sym typeface="+mn-ea"/>
              </a:rPr>
              <a:t>也不一定成立，甲可能既投毒鼠强又乐果。</a:t>
            </a:r>
            <a:r>
              <a:rPr sz="2400" b="1">
                <a:solidFill>
                  <a:srgbClr val="00B050"/>
                </a:solidFill>
                <a:latin typeface="Times New Roman" panose="02020603050405020304" charset="0"/>
                <a:cs typeface="Times New Roman" panose="02020603050405020304" charset="0"/>
                <a:sym typeface="+mn-ea"/>
              </a:rPr>
              <a:t>III一定真，作案者不是甲，就是乙；所投的毒药不是毒鼠强，就一定是乐果</a:t>
            </a:r>
            <a:r>
              <a:rPr sz="2400" b="1">
                <a:latin typeface="Times New Roman" panose="02020603050405020304" charset="0"/>
                <a:cs typeface="Times New Roman" panose="02020603050405020304" charset="0"/>
                <a:sym typeface="+mn-ea"/>
              </a:rPr>
              <a:t>。故选</a:t>
            </a:r>
            <a:r>
              <a:rPr lang="en-US" altLang="zh-CN" sz="2400" b="1">
                <a:latin typeface="Times New Roman" panose="02020603050405020304" charset="0"/>
                <a:cs typeface="Times New Roman" panose="02020603050405020304" charset="0"/>
                <a:sym typeface="+mn-ea"/>
              </a:rPr>
              <a:t>C</a:t>
            </a:r>
            <a:r>
              <a:rPr sz="2400" b="1">
                <a:latin typeface="Times New Roman" panose="02020603050405020304" charset="0"/>
                <a:cs typeface="Times New Roman" panose="02020603050405020304" charset="0"/>
                <a:sym typeface="+mn-ea"/>
              </a:rPr>
              <a:t>。</a:t>
            </a:r>
            <a:endParaRPr lang="zh-CN" altLang="en-US" sz="2400" b="1">
              <a:latin typeface="+mn-ea"/>
              <a:cs typeface="Times New Roman" panose="02020603050405020304" charset="0"/>
            </a:endParaRPr>
          </a:p>
          <a:p>
            <a:endParaRPr lang="zh-CN" altLang="en-US" sz="2400" b="1">
              <a:latin typeface="+mn-ea"/>
              <a:cs typeface="Times New Roman" panose="0202060305040502030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作业</a:t>
            </a:r>
            <a:r>
              <a:rPr lang="en-US" altLang="zh-CN">
                <a:solidFill>
                  <a:srgbClr val="00B050"/>
                </a:solidFill>
                <a:sym typeface="+mn-ea"/>
              </a:rPr>
              <a:t>2</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solidFill>
                  <a:srgbClr val="00B050"/>
                </a:solidFill>
              </a:rPr>
              <a:t>除非不把理论当作教条，否则就会束缚思想</a:t>
            </a:r>
            <a:r>
              <a:rPr lang="zh-CN" altLang="en-US" sz="2400" b="1"/>
              <a:t>。以下各项都表达了与题干相同的含义，除了：</a:t>
            </a:r>
            <a:endParaRPr lang="zh-CN" altLang="en-US" sz="2400" b="1"/>
          </a:p>
          <a:p>
            <a:r>
              <a:rPr lang="zh-CN" altLang="en-US" sz="2400" b="1"/>
              <a:t>A.如果不把理论当作教条，就不会束缚思想</a:t>
            </a:r>
            <a:endParaRPr lang="zh-CN" altLang="en-US" sz="2400" b="1"/>
          </a:p>
          <a:p>
            <a:r>
              <a:rPr lang="zh-CN" altLang="en-US" sz="2400" b="1"/>
              <a:t>B.如果把理论当作教条，就会束缚思想</a:t>
            </a:r>
            <a:endParaRPr lang="zh-CN" altLang="en-US" sz="2400" b="1"/>
          </a:p>
          <a:p>
            <a:r>
              <a:rPr lang="zh-CN" altLang="en-US" sz="2400" b="1"/>
              <a:t>C.只有束缚思想，才会把理论当作教条</a:t>
            </a:r>
            <a:endParaRPr lang="zh-CN" altLang="en-US" sz="2400" b="1"/>
          </a:p>
          <a:p>
            <a:r>
              <a:rPr lang="zh-CN" altLang="en-US" sz="2400" b="1"/>
              <a:t>D.只有不把理论当作教条，才不会束缚思想</a:t>
            </a:r>
            <a:endParaRPr lang="zh-CN" altLang="en-US" sz="2400" b="1"/>
          </a:p>
          <a:p>
            <a:r>
              <a:rPr lang="zh-CN" altLang="en-US" sz="2400" b="1"/>
              <a:t>分析：</a:t>
            </a:r>
            <a:r>
              <a:rPr lang="en-US" altLang="zh-CN" sz="2400" b="1"/>
              <a:t>“</a:t>
            </a:r>
            <a:r>
              <a:rPr sz="2400" b="1">
                <a:solidFill>
                  <a:srgbClr val="00B050"/>
                </a:solidFill>
                <a:sym typeface="+mn-ea"/>
              </a:rPr>
              <a:t>除非不把理论当作教条，否则就会束缚思想</a:t>
            </a:r>
            <a:r>
              <a:rPr lang="en-US" altLang="zh-CN" sz="2400" b="1"/>
              <a:t>”</a:t>
            </a:r>
            <a:r>
              <a:rPr sz="2400" b="1"/>
              <a:t>等价于</a:t>
            </a:r>
            <a:r>
              <a:rPr lang="en-US" altLang="zh-CN" sz="2400" b="1"/>
              <a:t>“</a:t>
            </a:r>
            <a:r>
              <a:rPr sz="2400" b="1">
                <a:sym typeface="+mn-ea"/>
              </a:rPr>
              <a:t>如果把理论当作教条，就会束缚思想</a:t>
            </a:r>
            <a:r>
              <a:rPr lang="en-US" altLang="zh-CN" sz="2400" b="1">
                <a:sym typeface="+mn-ea"/>
              </a:rPr>
              <a:t>”(</a:t>
            </a:r>
            <a:r>
              <a:rPr sz="2400" b="1">
                <a:sym typeface="+mn-ea"/>
              </a:rPr>
              <a:t>即</a:t>
            </a:r>
            <a:r>
              <a:rPr lang="en-US" altLang="zh-CN" sz="2400" b="1">
                <a:sym typeface="+mn-ea"/>
              </a:rPr>
              <a:t>B),</a:t>
            </a:r>
            <a:r>
              <a:rPr sz="2400" b="1">
                <a:sym typeface="+mn-ea"/>
              </a:rPr>
              <a:t>由于</a:t>
            </a:r>
            <a:r>
              <a:rPr lang="en-US" altLang="zh-CN" sz="2400" b="1">
                <a:sym typeface="+mn-ea"/>
              </a:rPr>
              <a:t>(p</a:t>
            </a:r>
            <a:r>
              <a:rPr lang="en-US" altLang="zh-CN" sz="2400" b="1">
                <a:sym typeface="Symbol" panose="05050102010706020507" charset="0"/>
              </a:rPr>
              <a:t>q)(qp)</a:t>
            </a:r>
            <a:r>
              <a:rPr sz="2400" b="1">
                <a:sym typeface="Symbol" panose="05050102010706020507" charset="0"/>
              </a:rPr>
              <a:t>（即</a:t>
            </a:r>
            <a:r>
              <a:rPr lang="en-US" altLang="zh-CN" sz="2400" b="1">
                <a:sym typeface="Symbol" panose="05050102010706020507" charset="0"/>
              </a:rPr>
              <a:t>C)</a:t>
            </a:r>
            <a:r>
              <a:rPr sz="2400" b="1">
                <a:sym typeface="Symbol" panose="05050102010706020507" charset="0"/>
              </a:rPr>
              <a:t>。由于</a:t>
            </a:r>
            <a:r>
              <a:rPr lang="en-US" altLang="zh-CN" sz="2400" b="1">
                <a:sym typeface="+mn-ea"/>
              </a:rPr>
              <a:t>(p</a:t>
            </a:r>
            <a:r>
              <a:rPr lang="en-US" altLang="zh-CN" sz="2400" b="1">
                <a:sym typeface="Symbol" panose="05050102010706020507" charset="0"/>
              </a:rPr>
              <a:t>q)(qp)(pq)</a:t>
            </a:r>
            <a:r>
              <a:rPr sz="2400" b="1">
                <a:sym typeface="Symbol" panose="05050102010706020507" charset="0"/>
              </a:rPr>
              <a:t>（即</a:t>
            </a:r>
            <a:r>
              <a:rPr lang="en-US" altLang="zh-CN" sz="2400" b="1">
                <a:sym typeface="Symbol" panose="05050102010706020507" charset="0"/>
              </a:rPr>
              <a:t>D</a:t>
            </a:r>
            <a:r>
              <a:rPr sz="2400" b="1">
                <a:sym typeface="Symbol" panose="05050102010706020507" charset="0"/>
              </a:rPr>
              <a:t>），故选</a:t>
            </a:r>
            <a:r>
              <a:rPr lang="en-US" altLang="zh-CN" sz="2400" b="1">
                <a:sym typeface="Symbol" panose="05050102010706020507" charset="0"/>
              </a:rPr>
              <a:t>A</a:t>
            </a:r>
            <a:r>
              <a:rPr sz="2400" b="1">
                <a:sym typeface="Symbol" panose="05050102010706020507" charset="0"/>
              </a:rPr>
              <a:t>。</a:t>
            </a:r>
            <a:endParaRPr sz="2400" b="1">
              <a:sym typeface="Symbol" panose="05050102010706020507"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19075"/>
            <a:ext cx="10852150" cy="6118225"/>
          </a:xfrm>
        </p:spPr>
        <p:txBody>
          <a:bodyPr/>
          <a:p>
            <a:r>
              <a:rPr lang="zh-CN" altLang="en-US" sz="2400" b="1">
                <a:solidFill>
                  <a:srgbClr val="00B050"/>
                </a:solidFill>
              </a:rPr>
              <a:t>真题</a:t>
            </a:r>
            <a:r>
              <a:rPr lang="en-US" altLang="zh-CN" sz="2400" b="1">
                <a:solidFill>
                  <a:srgbClr val="00B050"/>
                </a:solidFill>
              </a:rPr>
              <a:t>121</a:t>
            </a:r>
            <a:r>
              <a:rPr sz="2400" b="1">
                <a:solidFill>
                  <a:srgbClr val="00B050"/>
                </a:solidFill>
              </a:rPr>
              <a:t>分析</a:t>
            </a:r>
            <a:r>
              <a:rPr sz="2400" b="1"/>
              <a:t>：</a:t>
            </a:r>
            <a:r>
              <a:rPr lang="zh-CN" altLang="en-US" sz="2400" b="1"/>
              <a:t>某单位组织职工进行体检，职工可自愿报名参加。老王碰到新来的小李，聊起此事。老王提醒小李说：“单位组织体检呢，赶紧报名去吧。”小李说：“我身体健康着呢，不用报了。”</a:t>
            </a:r>
            <a:endParaRPr lang="zh-CN" altLang="en-US" sz="2400" b="1"/>
          </a:p>
          <a:p>
            <a:r>
              <a:rPr lang="zh-CN" altLang="en-US" sz="2400" b="1"/>
              <a:t>以下除哪项外，都可以作为小李的回答所包含的假设？</a:t>
            </a:r>
            <a:endParaRPr lang="zh-CN" altLang="en-US" sz="2400" b="1"/>
          </a:p>
          <a:p>
            <a:r>
              <a:rPr lang="zh-CN" altLang="en-US" sz="2400" b="1"/>
              <a:t>A.如果身体不健康，则要报名参加体检</a:t>
            </a:r>
            <a:endParaRPr lang="zh-CN" altLang="en-US" sz="2400" b="1"/>
          </a:p>
          <a:p>
            <a:r>
              <a:rPr lang="zh-CN" altLang="en-US" sz="2400" b="1"/>
              <a:t>B.只要我身体健康，我就不必参加体检</a:t>
            </a:r>
            <a:endParaRPr lang="zh-CN" altLang="en-US" sz="2400" b="1"/>
          </a:p>
          <a:p>
            <a:r>
              <a:rPr lang="zh-CN" altLang="en-US" sz="2400" b="1"/>
              <a:t>C.凡是报名参加体检的，都是身体不健康的</a:t>
            </a:r>
            <a:endParaRPr lang="zh-CN" altLang="en-US" sz="2400" b="1"/>
          </a:p>
          <a:p>
            <a:r>
              <a:rPr lang="zh-CN" altLang="en-US" sz="2400" b="1"/>
              <a:t>D.只有身体不健康的人，才报名参加体检</a:t>
            </a:r>
            <a:endParaRPr lang="zh-CN" altLang="en-US" sz="2400" b="1"/>
          </a:p>
          <a:p>
            <a:r>
              <a:rPr lang="zh-CN" altLang="en-US" sz="2400" b="1"/>
              <a:t>分析：小李假设</a:t>
            </a:r>
            <a:r>
              <a:rPr lang="en-US" altLang="zh-CN" sz="2400" b="1"/>
              <a:t>“</a:t>
            </a:r>
            <a:r>
              <a:rPr sz="2400" b="1">
                <a:sym typeface="+mn-ea"/>
              </a:rPr>
              <a:t>只要我身体健康，就不用报名参加体检</a:t>
            </a:r>
            <a:r>
              <a:rPr lang="en-US" altLang="zh-CN" sz="2400" b="1">
                <a:sym typeface="+mn-ea"/>
              </a:rPr>
              <a:t>”</a:t>
            </a:r>
            <a:r>
              <a:rPr sz="2400" b="1">
                <a:sym typeface="+mn-ea"/>
              </a:rPr>
              <a:t>（</a:t>
            </a:r>
            <a:r>
              <a:rPr lang="en-US" altLang="zh-CN" sz="2400" b="1">
                <a:sym typeface="+mn-ea"/>
              </a:rPr>
              <a:t>(p</a:t>
            </a:r>
            <a:r>
              <a:rPr lang="en-US" altLang="zh-CN" sz="2400" b="1">
                <a:sym typeface="Symbol" panose="05050102010706020507" charset="0"/>
              </a:rPr>
              <a:t>q),</a:t>
            </a:r>
            <a:r>
              <a:rPr sz="2400" b="1">
                <a:sym typeface="+mn-ea"/>
              </a:rPr>
              <a:t>即</a:t>
            </a:r>
            <a:r>
              <a:rPr lang="en-US" altLang="zh-CN" sz="2400" b="1">
                <a:sym typeface="+mn-ea"/>
              </a:rPr>
              <a:t>B</a:t>
            </a:r>
            <a:r>
              <a:rPr sz="2400" b="1">
                <a:sym typeface="+mn-ea"/>
              </a:rPr>
              <a:t>），由于</a:t>
            </a:r>
            <a:r>
              <a:rPr lang="en-US" altLang="zh-CN" sz="2400" b="1">
                <a:sym typeface="+mn-ea"/>
              </a:rPr>
              <a:t>(p</a:t>
            </a:r>
            <a:r>
              <a:rPr lang="en-US" altLang="zh-CN" sz="2400" b="1">
                <a:sym typeface="Symbol" panose="05050102010706020507" charset="0"/>
              </a:rPr>
              <a:t>q)(qp)</a:t>
            </a:r>
            <a:r>
              <a:rPr sz="2400" b="1">
                <a:sym typeface="Symbol" panose="05050102010706020507" charset="0"/>
              </a:rPr>
              <a:t>（即</a:t>
            </a:r>
            <a:r>
              <a:rPr lang="en-US" altLang="zh-CN" sz="2400" b="1">
                <a:sym typeface="Symbol" panose="05050102010706020507" charset="0"/>
              </a:rPr>
              <a:t>C)(pq)</a:t>
            </a:r>
            <a:r>
              <a:rPr sz="2400" b="1">
                <a:sym typeface="Symbol" panose="05050102010706020507" charset="0"/>
              </a:rPr>
              <a:t>（即</a:t>
            </a:r>
            <a:r>
              <a:rPr lang="en-US" altLang="zh-CN" sz="2400" b="1">
                <a:sym typeface="Symbol" panose="05050102010706020507" charset="0"/>
              </a:rPr>
              <a:t>D</a:t>
            </a:r>
            <a:r>
              <a:rPr sz="2400" b="1">
                <a:sym typeface="Symbol" panose="05050102010706020507" charset="0"/>
              </a:rPr>
              <a:t>）</a:t>
            </a:r>
            <a:r>
              <a:rPr lang="en-US" altLang="zh-CN" sz="2400" b="1">
                <a:sym typeface="Symbol" panose="05050102010706020507" charset="0"/>
              </a:rPr>
              <a:t>,</a:t>
            </a:r>
            <a:r>
              <a:rPr sz="2400" b="1">
                <a:sym typeface="Symbol" panose="05050102010706020507" charset="0"/>
              </a:rPr>
              <a:t>故选</a:t>
            </a:r>
            <a:r>
              <a:rPr lang="en-US" altLang="zh-CN" sz="2400" b="1">
                <a:sym typeface="Symbol" panose="05050102010706020507" charset="0"/>
              </a:rPr>
              <a:t>A</a:t>
            </a:r>
            <a:r>
              <a:rPr sz="2400" b="1">
                <a:sym typeface="Symbol" panose="05050102010706020507" charset="0"/>
              </a:rPr>
              <a:t>。</a:t>
            </a:r>
            <a:endParaRPr sz="2400" b="1">
              <a:sym typeface="Symbol" panose="05050102010706020507"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一、直接推理</a:t>
            </a:r>
            <a:endParaRPr lang="zh-CN" altLang="en-US"/>
          </a:p>
        </p:txBody>
      </p:sp>
      <p:sp>
        <p:nvSpPr>
          <p:cNvPr id="3" name="内容占位符 2"/>
          <p:cNvSpPr>
            <a:spLocks noGrp="1"/>
          </p:cNvSpPr>
          <p:nvPr>
            <p:ph idx="1"/>
          </p:nvPr>
        </p:nvSpPr>
        <p:spPr/>
        <p:txBody>
          <a:bodyPr/>
          <a:p>
            <a:r>
              <a:rPr lang="en-US" altLang="zh-CN" sz="2400" b="1">
                <a:solidFill>
                  <a:srgbClr val="00B050"/>
                </a:solidFill>
                <a:latin typeface="+mn-ea"/>
                <a:cs typeface="+mn-ea"/>
              </a:rPr>
              <a:t>1.</a:t>
            </a:r>
            <a:r>
              <a:rPr sz="2400" b="1">
                <a:solidFill>
                  <a:srgbClr val="00B050"/>
                </a:solidFill>
                <a:latin typeface="+mn-ea"/>
                <a:cs typeface="+mn-ea"/>
                <a:sym typeface="+mn-ea"/>
              </a:rPr>
              <a:t>对当关系直接推理</a:t>
            </a:r>
            <a:r>
              <a:rPr sz="2400" b="1">
                <a:latin typeface="+mn-ea"/>
                <a:cs typeface="+mn-ea"/>
                <a:sym typeface="+mn-ea"/>
              </a:rPr>
              <a:t>（</a:t>
            </a:r>
            <a:r>
              <a:rPr sz="2400" b="1">
                <a:solidFill>
                  <a:srgbClr val="FF0000"/>
                </a:solidFill>
                <a:latin typeface="+mn-ea"/>
                <a:cs typeface="+mn-ea"/>
                <a:sym typeface="+mn-ea"/>
              </a:rPr>
              <a:t>基础知识参见逻辑思维训练课件中逻辑</a:t>
            </a:r>
            <a:r>
              <a:rPr lang="en-US" altLang="zh-CN" sz="2400" b="1">
                <a:solidFill>
                  <a:srgbClr val="FF0000"/>
                </a:solidFill>
                <a:latin typeface="+mn-ea"/>
                <a:cs typeface="+mn-ea"/>
                <a:sym typeface="+mn-ea"/>
              </a:rPr>
              <a:t>8-</a:t>
            </a:r>
            <a:r>
              <a:rPr sz="2400" b="1">
                <a:solidFill>
                  <a:srgbClr val="FF0000"/>
                </a:solidFill>
                <a:latin typeface="+mn-ea"/>
                <a:cs typeface="+mn-ea"/>
                <a:sym typeface="+mn-ea"/>
              </a:rPr>
              <a:t>逻辑</a:t>
            </a:r>
            <a:r>
              <a:rPr lang="en-US" altLang="zh-CN" sz="2400" b="1">
                <a:solidFill>
                  <a:srgbClr val="FF0000"/>
                </a:solidFill>
                <a:latin typeface="+mn-ea"/>
                <a:cs typeface="+mn-ea"/>
                <a:sym typeface="+mn-ea"/>
              </a:rPr>
              <a:t>9</a:t>
            </a:r>
            <a:r>
              <a:rPr sz="2400" b="1">
                <a:latin typeface="+mn-ea"/>
                <a:cs typeface="+mn-ea"/>
                <a:sym typeface="+mn-ea"/>
              </a:rPr>
              <a:t>）</a:t>
            </a:r>
            <a:endParaRPr sz="2400" b="1">
              <a:latin typeface="+mn-ea"/>
              <a:cs typeface="+mn-ea"/>
              <a:sym typeface="+mn-ea"/>
            </a:endParaRPr>
          </a:p>
          <a:p>
            <a:r>
              <a:rPr sz="2400" b="1">
                <a:latin typeface="+mn-ea"/>
                <a:cs typeface="+mn-ea"/>
                <a:sym typeface="+mn-ea"/>
              </a:rPr>
              <a:t>在考试中，有时题干只给出一个直言命题，要求根据该直言命题来判断其他命题的真假或者找到该命题的矛盾命题，解题时一定要注意判断题干与选项命题之间的关系。</a:t>
            </a:r>
            <a:endParaRPr sz="2400" b="1">
              <a:latin typeface="+mn-ea"/>
              <a:cs typeface="+mn-ea"/>
              <a:sym typeface="+mn-ea"/>
            </a:endParaRPr>
          </a:p>
          <a:p>
            <a:r>
              <a:rPr sz="2400" b="1">
                <a:latin typeface="+mn-ea"/>
                <a:cs typeface="+mn-ea"/>
                <a:sym typeface="+mn-ea"/>
              </a:rPr>
              <a:t>另外，当题干给出几个直言命题并且告知这几个直言命题中为真或为假的个数，却不知道具体哪个命题为真或为假时，解题关键</a:t>
            </a:r>
            <a:r>
              <a:rPr sz="2400" b="1">
                <a:solidFill>
                  <a:srgbClr val="00B050"/>
                </a:solidFill>
                <a:latin typeface="+mn-ea"/>
                <a:cs typeface="+mn-ea"/>
                <a:sym typeface="+mn-ea"/>
              </a:rPr>
              <a:t>在于找到具有矛盾关系的一对命题，然后绕开这对命题的真假，判断其他命题的真假从而得出答案</a:t>
            </a:r>
            <a:r>
              <a:rPr sz="2400" b="1">
                <a:latin typeface="+mn-ea"/>
                <a:cs typeface="+mn-ea"/>
                <a:sym typeface="+mn-ea"/>
              </a:rPr>
              <a:t>。</a:t>
            </a:r>
            <a:endParaRPr sz="2400" b="1">
              <a:latin typeface="+mn-ea"/>
              <a:cs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122</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在超市里有四个存物柜，打开柜子后发现，第一个柜子里写着：“所有的柜子里都装着购物袋。”第二个柜子里写着：“本柜子中有购物礼品。”第三个柜子里写着：“本柜子里没有食品。”第四个柜子里写着：“有些柜子里没有购物袋。”</a:t>
            </a:r>
            <a:endParaRPr lang="zh-CN" altLang="en-US" sz="2400" b="1"/>
          </a:p>
          <a:p>
            <a:r>
              <a:rPr lang="zh-CN" altLang="en-US" sz="2400" b="1"/>
              <a:t>如果只有一个柜子里的描述是真实的，以下肯定为真的是：</a:t>
            </a:r>
            <a:endParaRPr lang="zh-CN" altLang="en-US" sz="2400" b="1"/>
          </a:p>
          <a:p>
            <a:r>
              <a:rPr lang="zh-CN" altLang="en-US" sz="2400" b="1"/>
              <a:t>A.所有的柜子里都有购物袋</a:t>
            </a:r>
            <a:endParaRPr lang="zh-CN" altLang="en-US" sz="2400" b="1"/>
          </a:p>
          <a:p>
            <a:r>
              <a:rPr lang="zh-CN" altLang="en-US" sz="2400" b="1"/>
              <a:t>B.所有的柜子里都没有购物袋</a:t>
            </a:r>
            <a:endParaRPr lang="zh-CN" altLang="en-US" sz="2400" b="1"/>
          </a:p>
          <a:p>
            <a:r>
              <a:rPr lang="zh-CN" altLang="en-US" sz="2400" b="1"/>
              <a:t>C.所有的柜子里都没有购物礼品</a:t>
            </a:r>
            <a:endParaRPr lang="zh-CN" altLang="en-US" sz="2400" b="1"/>
          </a:p>
          <a:p>
            <a:r>
              <a:rPr lang="zh-CN" altLang="en-US" sz="2400" b="1"/>
              <a:t>D.第三个柜子里有食品</a:t>
            </a:r>
            <a:endParaRPr lang="zh-CN" altLang="en-US" sz="2400" b="1"/>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463550"/>
            <a:ext cx="10852150" cy="5873750"/>
          </a:xfrm>
        </p:spPr>
        <p:txBody>
          <a:bodyPr/>
          <a:p>
            <a:pPr>
              <a:spcAft>
                <a:spcPts val="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122</a:t>
            </a:r>
            <a:r>
              <a:rPr sz="2400" b="1">
                <a:solidFill>
                  <a:srgbClr val="00B050"/>
                </a:solidFill>
                <a:latin typeface="+mn-ea"/>
                <a:cs typeface="+mn-ea"/>
                <a:sym typeface="+mn-ea"/>
              </a:rPr>
              <a:t>分析：</a:t>
            </a:r>
            <a:r>
              <a:rPr lang="zh-CN" altLang="en-US" sz="2400" b="1"/>
              <a:t>在超市里有四个存物柜，打开柜子后发现，第一个柜子里写着：“</a:t>
            </a:r>
            <a:r>
              <a:rPr lang="zh-CN" altLang="en-US" sz="2400" b="1">
                <a:solidFill>
                  <a:srgbClr val="FF0000"/>
                </a:solidFill>
              </a:rPr>
              <a:t>所有的柜子里都装着购物袋</a:t>
            </a:r>
            <a:r>
              <a:rPr lang="zh-CN" altLang="en-US" sz="2400" b="1"/>
              <a:t>。”第二个柜子里写着：“本柜子中有购物礼品。”第三个柜子里写着：“本柜子里没有食品。”第四个柜子里写着：“</a:t>
            </a:r>
            <a:r>
              <a:rPr lang="zh-CN" altLang="en-US" sz="2400" b="1">
                <a:solidFill>
                  <a:srgbClr val="FF0000"/>
                </a:solidFill>
              </a:rPr>
              <a:t>有些柜子里没有购物袋</a:t>
            </a:r>
            <a:r>
              <a:rPr lang="zh-CN" altLang="en-US" sz="2400" b="1"/>
              <a:t>。”</a:t>
            </a:r>
            <a:endParaRPr lang="zh-CN" altLang="en-US" sz="2400" b="1"/>
          </a:p>
          <a:p>
            <a:pPr>
              <a:spcAft>
                <a:spcPts val="0"/>
              </a:spcAft>
            </a:pPr>
            <a:r>
              <a:rPr lang="zh-CN" altLang="en-US" sz="2400" b="1"/>
              <a:t>如果</a:t>
            </a:r>
            <a:r>
              <a:rPr lang="zh-CN" altLang="en-US" sz="2400" b="1">
                <a:solidFill>
                  <a:srgbClr val="00B050"/>
                </a:solidFill>
              </a:rPr>
              <a:t>只有一个柜子里的描述是真实的</a:t>
            </a:r>
            <a:r>
              <a:rPr lang="zh-CN" altLang="en-US" sz="2400" b="1"/>
              <a:t>，以下肯定为真的是：</a:t>
            </a:r>
            <a:endParaRPr lang="zh-CN" altLang="en-US" sz="2400" b="1"/>
          </a:p>
          <a:p>
            <a:pPr>
              <a:spcAft>
                <a:spcPts val="0"/>
              </a:spcAft>
            </a:pPr>
            <a:r>
              <a:rPr lang="zh-CN" altLang="en-US" sz="2400" b="1"/>
              <a:t>A.所有的柜子里都有购物袋            B.所有的柜子里都没有购物袋</a:t>
            </a:r>
            <a:endParaRPr lang="zh-CN" altLang="en-US" sz="2400" b="1"/>
          </a:p>
          <a:p>
            <a:pPr>
              <a:spcAft>
                <a:spcPts val="0"/>
              </a:spcAft>
            </a:pPr>
            <a:r>
              <a:rPr lang="zh-CN" altLang="en-US" sz="2400" b="1"/>
              <a:t>C.所有的柜子里都没有购物礼品      D.第三个柜子里有食品</a:t>
            </a:r>
            <a:endParaRPr lang="zh-CN" altLang="en-US" sz="2400" b="1"/>
          </a:p>
          <a:p>
            <a:pPr>
              <a:spcAft>
                <a:spcPts val="0"/>
              </a:spcAft>
            </a:pPr>
            <a:r>
              <a:rPr lang="zh-CN" altLang="en-US" sz="2400" b="1"/>
              <a:t>分析：</a:t>
            </a:r>
            <a:r>
              <a:rPr sz="2400" b="1">
                <a:solidFill>
                  <a:srgbClr val="00B050"/>
                </a:solidFill>
                <a:sym typeface="+mn-ea"/>
              </a:rPr>
              <a:t>第一个柜子与第四个柜子的描述相互矛盾，二者必有一真一假</a:t>
            </a:r>
            <a:r>
              <a:rPr sz="2400" b="1">
                <a:sym typeface="+mn-ea"/>
              </a:rPr>
              <a:t>，由于</a:t>
            </a:r>
            <a:r>
              <a:rPr lang="en-US" altLang="zh-CN" sz="2400" b="1">
                <a:sym typeface="+mn-ea"/>
              </a:rPr>
              <a:t>“</a:t>
            </a:r>
            <a:r>
              <a:rPr sz="2400" b="1">
                <a:solidFill>
                  <a:srgbClr val="00B050"/>
                </a:solidFill>
                <a:sym typeface="+mn-ea"/>
              </a:rPr>
              <a:t>只有一个柜子里的描述是真实的</a:t>
            </a:r>
            <a:r>
              <a:rPr lang="en-US" altLang="zh-CN" sz="2400" b="1">
                <a:sym typeface="+mn-ea"/>
              </a:rPr>
              <a:t>”</a:t>
            </a:r>
            <a:r>
              <a:rPr sz="2400" b="1">
                <a:sym typeface="+mn-ea"/>
              </a:rPr>
              <a:t>，故</a:t>
            </a:r>
            <a:r>
              <a:rPr sz="2400" b="1">
                <a:sym typeface="+mn-ea"/>
              </a:rPr>
              <a:t>第二个柜子与第三个柜子的描述为假，因此第二个柜子里没有</a:t>
            </a:r>
            <a:r>
              <a:rPr sz="2400" b="1">
                <a:sym typeface="+mn-ea"/>
              </a:rPr>
              <a:t>购物礼品，第三个柜子里有食品。故选</a:t>
            </a:r>
            <a:r>
              <a:rPr lang="en-US" altLang="zh-CN" sz="2400" b="1">
                <a:sym typeface="+mn-ea"/>
              </a:rPr>
              <a:t>D</a:t>
            </a:r>
            <a:r>
              <a:rPr sz="2400" b="1">
                <a:sym typeface="+mn-ea"/>
              </a:rPr>
              <a:t>。</a:t>
            </a:r>
            <a:endParaRPr sz="2400" b="1">
              <a:sym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86080" y="368935"/>
            <a:ext cx="10911205" cy="6363335"/>
          </a:xfrm>
        </p:spPr>
        <p:txBody>
          <a:bodyPr/>
          <a:p>
            <a:pPr>
              <a:spcAft>
                <a:spcPts val="80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123</a:t>
            </a:r>
            <a:r>
              <a:rPr sz="2400" b="1">
                <a:solidFill>
                  <a:srgbClr val="00B050"/>
                </a:solidFill>
                <a:sym typeface="+mn-ea"/>
              </a:rPr>
              <a:t>：</a:t>
            </a:r>
            <a:endParaRPr sz="2400" b="1">
              <a:sym typeface="+mn-ea"/>
            </a:endParaRPr>
          </a:p>
          <a:p>
            <a:pPr>
              <a:spcAft>
                <a:spcPts val="800"/>
              </a:spcAft>
            </a:pPr>
            <a:r>
              <a:rPr lang="zh-CN" altLang="en-US" sz="2400" b="1"/>
              <a:t>甲和乙都有可能受邀请参加某专家论坛。现在，甲得知了以下消息：</a:t>
            </a:r>
            <a:endParaRPr lang="zh-CN" altLang="en-US" sz="2400" b="1"/>
          </a:p>
          <a:p>
            <a:pPr>
              <a:spcAft>
                <a:spcPts val="800"/>
              </a:spcAft>
            </a:pPr>
            <a:r>
              <a:rPr lang="zh-CN" altLang="en-US" sz="2400" b="1"/>
              <a:t>（1）论坛主办方决定，至少邀请甲或乙中的一位。</a:t>
            </a:r>
            <a:endParaRPr lang="zh-CN" altLang="en-US" sz="2400" b="1"/>
          </a:p>
          <a:p>
            <a:pPr>
              <a:spcAft>
                <a:spcPts val="800"/>
              </a:spcAft>
            </a:pPr>
            <a:r>
              <a:rPr lang="zh-CN" altLang="en-US" sz="2400" b="1"/>
              <a:t>（2）论坛主办方决定不邀请甲。</a:t>
            </a:r>
            <a:endParaRPr lang="zh-CN" altLang="en-US" sz="2400" b="1"/>
          </a:p>
          <a:p>
            <a:pPr>
              <a:spcAft>
                <a:spcPts val="800"/>
              </a:spcAft>
            </a:pPr>
            <a:r>
              <a:rPr lang="zh-CN" altLang="en-US" sz="2400" b="1"/>
              <a:t>（3）论坛主办方一定会邀请甲。</a:t>
            </a:r>
            <a:endParaRPr lang="zh-CN" altLang="en-US" sz="2400" b="1"/>
          </a:p>
          <a:p>
            <a:pPr>
              <a:spcAft>
                <a:spcPts val="800"/>
              </a:spcAft>
            </a:pPr>
            <a:r>
              <a:rPr lang="zh-CN" altLang="en-US" sz="2400" b="1"/>
              <a:t>（4）论坛主办方决定邀请乙。</a:t>
            </a:r>
            <a:endParaRPr lang="zh-CN" altLang="en-US" sz="2400" b="1"/>
          </a:p>
          <a:p>
            <a:pPr>
              <a:spcAft>
                <a:spcPts val="800"/>
              </a:spcAft>
            </a:pPr>
            <a:r>
              <a:rPr lang="zh-CN" altLang="en-US" sz="2400" b="1"/>
              <a:t>假如上述消息中，两条为真，两条为假，则：</a:t>
            </a:r>
            <a:endParaRPr lang="zh-CN" altLang="en-US" sz="2400" b="1"/>
          </a:p>
          <a:p>
            <a:pPr>
              <a:spcAft>
                <a:spcPts val="800"/>
              </a:spcAft>
            </a:pPr>
            <a:r>
              <a:rPr lang="zh-CN" altLang="en-US" sz="2400" b="1"/>
              <a:t>A.论坛主办方决定邀请甲，不邀请乙   </a:t>
            </a:r>
            <a:endParaRPr lang="zh-CN" altLang="en-US" sz="2400" b="1"/>
          </a:p>
          <a:p>
            <a:pPr>
              <a:spcAft>
                <a:spcPts val="800"/>
              </a:spcAft>
            </a:pPr>
            <a:r>
              <a:rPr lang="zh-CN" altLang="en-US" sz="2400" b="1"/>
              <a:t>B.论坛主办方决定邀请乙，不邀请甲</a:t>
            </a:r>
            <a:endParaRPr lang="zh-CN" altLang="en-US" sz="2400" b="1"/>
          </a:p>
          <a:p>
            <a:pPr>
              <a:spcAft>
                <a:spcPts val="800"/>
              </a:spcAft>
            </a:pPr>
            <a:r>
              <a:rPr lang="zh-CN" altLang="en-US" sz="2400" b="1"/>
              <a:t>C.论坛主办方决定同时邀请甲和乙</a:t>
            </a:r>
            <a:endParaRPr lang="zh-CN" altLang="en-US" sz="2400" b="1"/>
          </a:p>
          <a:p>
            <a:pPr>
              <a:spcAft>
                <a:spcPts val="800"/>
              </a:spcAft>
            </a:pPr>
            <a:r>
              <a:rPr lang="zh-CN" altLang="en-US" sz="2400" b="1"/>
              <a:t>D.论坛主办方决定既不邀请甲，也不邀请乙</a:t>
            </a:r>
            <a:endParaRPr lang="zh-CN" altLang="en-US" sz="2400" b="1"/>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02235" y="368935"/>
            <a:ext cx="11934190" cy="6363335"/>
          </a:xfrm>
        </p:spPr>
        <p:txBody>
          <a:bodyPr/>
          <a:p>
            <a:pPr>
              <a:spcAft>
                <a:spcPts val="800"/>
              </a:spcAft>
            </a:pPr>
            <a:r>
              <a:rPr lang="zh-CN" altLang="en-US" sz="2400" b="1">
                <a:solidFill>
                  <a:srgbClr val="00B050"/>
                </a:solidFill>
              </a:rPr>
              <a:t>真题</a:t>
            </a:r>
            <a:r>
              <a:rPr lang="en-US" altLang="zh-CN" sz="2400" b="1">
                <a:solidFill>
                  <a:srgbClr val="00B050"/>
                </a:solidFill>
              </a:rPr>
              <a:t>123</a:t>
            </a:r>
            <a:r>
              <a:rPr sz="2400" b="1">
                <a:solidFill>
                  <a:srgbClr val="00B050"/>
                </a:solidFill>
              </a:rPr>
              <a:t>分析</a:t>
            </a:r>
            <a:r>
              <a:rPr sz="2400" b="1"/>
              <a:t>：</a:t>
            </a:r>
            <a:r>
              <a:rPr lang="zh-CN" altLang="en-US" sz="2400" b="1"/>
              <a:t>甲和乙都有可能受邀请参加某专家论坛。</a:t>
            </a:r>
            <a:r>
              <a:rPr sz="2400" b="1">
                <a:sym typeface="+mn-ea"/>
              </a:rPr>
              <a:t>甲得知了以下消息：</a:t>
            </a:r>
            <a:endParaRPr lang="zh-CN" altLang="en-US" sz="2400" b="1"/>
          </a:p>
          <a:p>
            <a:pPr>
              <a:spcAft>
                <a:spcPts val="800"/>
              </a:spcAft>
            </a:pPr>
            <a:r>
              <a:rPr lang="zh-CN" altLang="en-US" sz="2400" b="1"/>
              <a:t>（1）论坛主办方决定，至少邀请甲或乙中的一位；</a:t>
            </a:r>
            <a:endParaRPr lang="zh-CN" altLang="en-US" sz="2400" b="1"/>
          </a:p>
          <a:p>
            <a:pPr>
              <a:spcAft>
                <a:spcPts val="800"/>
              </a:spcAft>
            </a:pPr>
            <a:r>
              <a:rPr lang="zh-CN" altLang="en-US" sz="2400" b="1"/>
              <a:t>（2）</a:t>
            </a:r>
            <a:r>
              <a:rPr lang="zh-CN" altLang="en-US" sz="2400" b="1">
                <a:solidFill>
                  <a:srgbClr val="FF0000"/>
                </a:solidFill>
              </a:rPr>
              <a:t>论坛主办方决定不邀请甲</a:t>
            </a:r>
            <a:r>
              <a:rPr lang="zh-CN" altLang="en-US" sz="2400" b="1"/>
              <a:t>。（3）</a:t>
            </a:r>
            <a:r>
              <a:rPr lang="zh-CN" altLang="en-US" sz="2400" b="1">
                <a:solidFill>
                  <a:srgbClr val="FF0000"/>
                </a:solidFill>
              </a:rPr>
              <a:t>论坛主办方一定会邀请甲</a:t>
            </a:r>
            <a:r>
              <a:rPr lang="zh-CN" altLang="en-US" sz="2400" b="1"/>
              <a:t>。</a:t>
            </a:r>
            <a:endParaRPr lang="zh-CN" altLang="en-US" sz="2400" b="1"/>
          </a:p>
          <a:p>
            <a:pPr>
              <a:spcAft>
                <a:spcPts val="800"/>
              </a:spcAft>
            </a:pPr>
            <a:r>
              <a:rPr lang="zh-CN" altLang="en-US" sz="2400" b="1"/>
              <a:t>（4）论坛主办方决定邀请乙</a:t>
            </a:r>
            <a:endParaRPr lang="zh-CN" altLang="en-US" sz="2400" b="1"/>
          </a:p>
          <a:p>
            <a:pPr>
              <a:spcAft>
                <a:spcPts val="800"/>
              </a:spcAft>
            </a:pPr>
            <a:r>
              <a:rPr lang="zh-CN" altLang="en-US" sz="2400" b="1"/>
              <a:t>假如上述消息中，</a:t>
            </a:r>
            <a:r>
              <a:rPr lang="zh-CN" altLang="en-US" sz="2400" b="1">
                <a:solidFill>
                  <a:srgbClr val="FF0000"/>
                </a:solidFill>
              </a:rPr>
              <a:t>两条为真，两条为假</a:t>
            </a:r>
            <a:r>
              <a:rPr lang="zh-CN" altLang="en-US" sz="2400" b="1"/>
              <a:t>，则：</a:t>
            </a:r>
            <a:endParaRPr lang="zh-CN" altLang="en-US" sz="2400" b="1"/>
          </a:p>
          <a:p>
            <a:pPr>
              <a:spcAft>
                <a:spcPts val="800"/>
              </a:spcAft>
            </a:pPr>
            <a:r>
              <a:rPr lang="zh-CN" altLang="en-US" sz="2400" b="1"/>
              <a:t>A.论坛主办方决定邀请甲，不邀请乙；B.论坛主办方决定邀请乙，不邀请甲</a:t>
            </a:r>
            <a:endParaRPr lang="zh-CN" altLang="en-US" sz="2400" b="1"/>
          </a:p>
          <a:p>
            <a:pPr>
              <a:spcAft>
                <a:spcPts val="800"/>
              </a:spcAft>
            </a:pPr>
            <a:r>
              <a:rPr lang="zh-CN" altLang="en-US" sz="2400" b="1"/>
              <a:t>C.论坛主办方决定同时邀请甲和乙；D.论坛主办方决定既不邀请甲，也不邀请乙</a:t>
            </a:r>
            <a:endParaRPr lang="zh-CN" altLang="en-US" sz="2400" b="1"/>
          </a:p>
          <a:p>
            <a:pPr>
              <a:spcAft>
                <a:spcPts val="800"/>
              </a:spcAft>
            </a:pPr>
            <a:r>
              <a:rPr lang="zh-CN" altLang="en-US" sz="2400" b="1"/>
              <a:t>分析：（</a:t>
            </a:r>
            <a:r>
              <a:rPr lang="en-US" altLang="zh-CN" sz="2400" b="1"/>
              <a:t>2</a:t>
            </a:r>
            <a:r>
              <a:rPr sz="2400" b="1"/>
              <a:t>）与（</a:t>
            </a:r>
            <a:r>
              <a:rPr lang="en-US" altLang="zh-CN" sz="2400" b="1"/>
              <a:t>3</a:t>
            </a:r>
            <a:r>
              <a:rPr sz="2400" b="1"/>
              <a:t>）矛盾，</a:t>
            </a:r>
            <a:r>
              <a:rPr sz="2400" b="1">
                <a:solidFill>
                  <a:srgbClr val="00B050"/>
                </a:solidFill>
                <a:sym typeface="+mn-ea"/>
              </a:rPr>
              <a:t>二者必有一真一假，</a:t>
            </a:r>
            <a:r>
              <a:rPr sz="2400" b="1">
                <a:solidFill>
                  <a:schemeClr val="tx1"/>
                </a:solidFill>
                <a:sym typeface="+mn-ea"/>
              </a:rPr>
              <a:t>根据四条消息中</a:t>
            </a:r>
            <a:r>
              <a:rPr lang="en-US" altLang="zh-CN" sz="2400" b="1">
                <a:solidFill>
                  <a:srgbClr val="00B050"/>
                </a:solidFill>
                <a:sym typeface="+mn-ea"/>
              </a:rPr>
              <a:t>“</a:t>
            </a:r>
            <a:r>
              <a:rPr sz="2400" b="1">
                <a:solidFill>
                  <a:srgbClr val="FF0000"/>
                </a:solidFill>
                <a:sym typeface="+mn-ea"/>
              </a:rPr>
              <a:t>两条为真，两条为假</a:t>
            </a:r>
            <a:r>
              <a:rPr lang="en-US" altLang="zh-CN" sz="2400" b="1">
                <a:solidFill>
                  <a:schemeClr val="tx1"/>
                </a:solidFill>
                <a:sym typeface="+mn-ea"/>
              </a:rPr>
              <a:t>”</a:t>
            </a:r>
            <a:r>
              <a:rPr sz="2400" b="1">
                <a:solidFill>
                  <a:schemeClr val="tx1"/>
                </a:solidFill>
                <a:sym typeface="+mn-ea"/>
              </a:rPr>
              <a:t>可知：</a:t>
            </a:r>
            <a:r>
              <a:rPr sz="2400" b="1">
                <a:sym typeface="+mn-ea"/>
              </a:rPr>
              <a:t>（</a:t>
            </a:r>
            <a:r>
              <a:rPr lang="en-US" altLang="zh-CN" sz="2400" b="1">
                <a:sym typeface="+mn-ea"/>
              </a:rPr>
              <a:t>1</a:t>
            </a:r>
            <a:r>
              <a:rPr sz="2400" b="1">
                <a:sym typeface="+mn-ea"/>
              </a:rPr>
              <a:t>）与（</a:t>
            </a:r>
            <a:r>
              <a:rPr lang="en-US" altLang="zh-CN" sz="2400" b="1">
                <a:sym typeface="+mn-ea"/>
              </a:rPr>
              <a:t>4</a:t>
            </a:r>
            <a:r>
              <a:rPr sz="2400" b="1">
                <a:sym typeface="+mn-ea"/>
              </a:rPr>
              <a:t>）中</a:t>
            </a:r>
            <a:r>
              <a:rPr sz="2400" b="1">
                <a:solidFill>
                  <a:srgbClr val="00B050"/>
                </a:solidFill>
                <a:sym typeface="+mn-ea"/>
              </a:rPr>
              <a:t>必有一真一假。</a:t>
            </a:r>
            <a:r>
              <a:rPr sz="2400" b="1">
                <a:solidFill>
                  <a:schemeClr val="tx1"/>
                </a:solidFill>
                <a:sym typeface="+mn-ea"/>
              </a:rPr>
              <a:t>假设</a:t>
            </a:r>
            <a:r>
              <a:rPr sz="2400" b="1">
                <a:sym typeface="+mn-ea"/>
              </a:rPr>
              <a:t>（</a:t>
            </a:r>
            <a:r>
              <a:rPr lang="en-US" altLang="zh-CN" sz="2400" b="1">
                <a:sym typeface="+mn-ea"/>
              </a:rPr>
              <a:t>4</a:t>
            </a:r>
            <a:r>
              <a:rPr sz="2400" b="1">
                <a:sym typeface="+mn-ea"/>
              </a:rPr>
              <a:t>）为真，则（</a:t>
            </a:r>
            <a:r>
              <a:rPr lang="en-US" altLang="zh-CN" sz="2400" b="1">
                <a:sym typeface="+mn-ea"/>
              </a:rPr>
              <a:t>1</a:t>
            </a:r>
            <a:r>
              <a:rPr sz="2400" b="1">
                <a:sym typeface="+mn-ea"/>
              </a:rPr>
              <a:t>）也为真，与</a:t>
            </a:r>
            <a:r>
              <a:rPr lang="en-US" altLang="zh-CN" sz="2400" b="1">
                <a:sym typeface="+mn-ea"/>
              </a:rPr>
              <a:t>“1</a:t>
            </a:r>
            <a:r>
              <a:rPr sz="2400" b="1">
                <a:sym typeface="+mn-ea"/>
              </a:rPr>
              <a:t>）与（</a:t>
            </a:r>
            <a:r>
              <a:rPr lang="en-US" altLang="zh-CN" sz="2400" b="1">
                <a:sym typeface="+mn-ea"/>
              </a:rPr>
              <a:t>4</a:t>
            </a:r>
            <a:r>
              <a:rPr sz="2400" b="1">
                <a:sym typeface="+mn-ea"/>
              </a:rPr>
              <a:t>）中</a:t>
            </a:r>
            <a:r>
              <a:rPr sz="2400" b="1">
                <a:solidFill>
                  <a:srgbClr val="00B050"/>
                </a:solidFill>
                <a:sym typeface="+mn-ea"/>
              </a:rPr>
              <a:t>必有一真一假</a:t>
            </a:r>
            <a:r>
              <a:rPr lang="en-US" altLang="zh-CN" sz="2400" b="1">
                <a:sym typeface="+mn-ea"/>
              </a:rPr>
              <a:t>”</a:t>
            </a:r>
            <a:r>
              <a:rPr sz="2400" b="1">
                <a:sym typeface="+mn-ea"/>
              </a:rPr>
              <a:t>矛盾，故（</a:t>
            </a:r>
            <a:r>
              <a:rPr lang="en-US" altLang="zh-CN" sz="2400" b="1">
                <a:sym typeface="+mn-ea"/>
              </a:rPr>
              <a:t>4</a:t>
            </a:r>
            <a:r>
              <a:rPr sz="2400" b="1">
                <a:sym typeface="+mn-ea"/>
              </a:rPr>
              <a:t>）为假，（</a:t>
            </a:r>
            <a:r>
              <a:rPr lang="en-US" altLang="zh-CN" sz="2400" b="1">
                <a:sym typeface="+mn-ea"/>
              </a:rPr>
              <a:t>1</a:t>
            </a:r>
            <a:r>
              <a:rPr sz="2400" b="1">
                <a:sym typeface="+mn-ea"/>
              </a:rPr>
              <a:t>）为真，因此（</a:t>
            </a:r>
            <a:r>
              <a:rPr lang="en-US" altLang="zh-CN" sz="2400" b="1">
                <a:sym typeface="+mn-ea"/>
              </a:rPr>
              <a:t>3</a:t>
            </a:r>
            <a:r>
              <a:rPr sz="2400" b="1">
                <a:sym typeface="+mn-ea"/>
              </a:rPr>
              <a:t>）为真，（</a:t>
            </a:r>
            <a:r>
              <a:rPr lang="en-US" altLang="zh-CN" sz="2400" b="1">
                <a:sym typeface="+mn-ea"/>
              </a:rPr>
              <a:t>2</a:t>
            </a:r>
            <a:r>
              <a:rPr sz="2400" b="1">
                <a:sym typeface="+mn-ea"/>
              </a:rPr>
              <a:t>）为假。故选</a:t>
            </a:r>
            <a:r>
              <a:rPr lang="en-US" altLang="zh-CN" sz="2400" b="1">
                <a:sym typeface="+mn-ea"/>
              </a:rPr>
              <a:t>A</a:t>
            </a:r>
            <a:r>
              <a:rPr sz="2400" b="1">
                <a:sym typeface="+mn-ea"/>
              </a:rPr>
              <a:t>。</a:t>
            </a:r>
            <a:endParaRPr sz="2400" b="1">
              <a:solidFill>
                <a:schemeClr val="tx1"/>
              </a:solidFill>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51660"/>
            <a:ext cx="10852237" cy="648000"/>
          </a:xfrm>
        </p:spPr>
        <p:txBody>
          <a:bodyPr/>
          <a:p>
            <a:r>
              <a:rPr lang="en-US" altLang="zh-CN">
                <a:solidFill>
                  <a:srgbClr val="00B050"/>
                </a:solidFill>
                <a:latin typeface="+mn-ea"/>
                <a:cs typeface="+mn-ea"/>
                <a:sym typeface="+mn-ea"/>
              </a:rPr>
              <a:t>2.</a:t>
            </a:r>
            <a:r>
              <a:rPr>
                <a:solidFill>
                  <a:srgbClr val="00B050"/>
                </a:solidFill>
                <a:latin typeface="+mn-ea"/>
                <a:cs typeface="+mn-ea"/>
                <a:sym typeface="+mn-ea"/>
              </a:rPr>
              <a:t>命题变形直接推理</a:t>
            </a:r>
            <a:endParaRPr lang="zh-CN" altLang="en-US"/>
          </a:p>
        </p:txBody>
      </p:sp>
      <p:sp>
        <p:nvSpPr>
          <p:cNvPr id="3" name="内容占位符 2"/>
          <p:cNvSpPr>
            <a:spLocks noGrp="1"/>
          </p:cNvSpPr>
          <p:nvPr>
            <p:ph idx="1"/>
          </p:nvPr>
        </p:nvSpPr>
        <p:spPr>
          <a:xfrm>
            <a:off x="669925" y="1004570"/>
            <a:ext cx="10852150" cy="5444490"/>
          </a:xfrm>
        </p:spPr>
        <p:txBody>
          <a:bodyPr/>
          <a:p>
            <a:r>
              <a:rPr sz="2400" b="1">
                <a:solidFill>
                  <a:srgbClr val="FF0000"/>
                </a:solidFill>
                <a:latin typeface="+mn-ea"/>
                <a:cs typeface="+mn-ea"/>
                <a:sym typeface="+mn-ea"/>
              </a:rPr>
              <a:t>基础知识参见逻辑思维训练课件中逻辑</a:t>
            </a:r>
            <a:r>
              <a:rPr lang="en-US" altLang="zh-CN" sz="2400" b="1">
                <a:solidFill>
                  <a:srgbClr val="FF0000"/>
                </a:solidFill>
                <a:latin typeface="+mn-ea"/>
                <a:cs typeface="+mn-ea"/>
                <a:sym typeface="+mn-ea"/>
              </a:rPr>
              <a:t>10</a:t>
            </a:r>
            <a:endParaRPr lang="zh-CN" altLang="en-US" sz="2400" b="1"/>
          </a:p>
          <a:p>
            <a:r>
              <a:rPr lang="zh-CN" altLang="en-US" sz="2400" b="1">
                <a:solidFill>
                  <a:srgbClr val="00B050"/>
                </a:solidFill>
              </a:rPr>
              <a:t>直言命题的变形推理</a:t>
            </a:r>
            <a:r>
              <a:rPr lang="zh-CN" altLang="en-US" sz="2400" b="1"/>
              <a:t>就是通过改变前提中直言命题的联项或主项与谓项的位置，从而推出结论的推理，</a:t>
            </a:r>
            <a:r>
              <a:rPr lang="zh-CN" altLang="en-US" sz="2400" b="1">
                <a:solidFill>
                  <a:srgbClr val="00B050"/>
                </a:solidFill>
              </a:rPr>
              <a:t>包括换质推理和换位推理</a:t>
            </a:r>
            <a:r>
              <a:rPr lang="zh-CN" altLang="en-US" sz="2400" b="1"/>
              <a:t>。</a:t>
            </a:r>
            <a:endParaRPr lang="zh-CN" altLang="en-US" sz="2400" b="1"/>
          </a:p>
          <a:p>
            <a:r>
              <a:rPr lang="zh-CN" altLang="en-US" sz="2400" b="1">
                <a:solidFill>
                  <a:srgbClr val="00B050"/>
                </a:solidFill>
              </a:rPr>
              <a:t>1</a:t>
            </a:r>
            <a:r>
              <a:rPr lang="en-US" altLang="zh-CN" sz="2400" b="1">
                <a:solidFill>
                  <a:srgbClr val="00B050"/>
                </a:solidFill>
              </a:rPr>
              <a:t>.</a:t>
            </a:r>
            <a:r>
              <a:rPr lang="zh-CN" altLang="en-US" sz="2400" b="1">
                <a:solidFill>
                  <a:srgbClr val="00B050"/>
                </a:solidFill>
              </a:rPr>
              <a:t>换质推理</a:t>
            </a:r>
            <a:endParaRPr lang="zh-CN" altLang="en-US" sz="2400" b="1">
              <a:solidFill>
                <a:srgbClr val="00B050"/>
              </a:solidFill>
            </a:endParaRPr>
          </a:p>
          <a:p>
            <a:r>
              <a:rPr lang="zh-CN" altLang="en-US" sz="2400" b="1"/>
              <a:t>又称“换一个说法”，根据双重否定表肯定原则，将肯定的命题用否定的方式来表达，或者否定的命题用肯定的方式来表达。即通过改变前提中直言命题的联项，从而推出结论的推理方法。</a:t>
            </a:r>
            <a:endParaRPr lang="zh-CN" altLang="en-US" sz="2400" b="1"/>
          </a:p>
          <a:p>
            <a:r>
              <a:rPr lang="zh-CN" altLang="en-US" sz="2400" b="1">
                <a:solidFill>
                  <a:srgbClr val="00B050"/>
                </a:solidFill>
              </a:rPr>
              <a:t>2</a:t>
            </a:r>
            <a:r>
              <a:rPr lang="en-US" altLang="zh-CN" sz="2400" b="1">
                <a:solidFill>
                  <a:srgbClr val="00B050"/>
                </a:solidFill>
              </a:rPr>
              <a:t>.</a:t>
            </a:r>
            <a:r>
              <a:rPr lang="zh-CN" altLang="en-US" sz="2400" b="1">
                <a:solidFill>
                  <a:srgbClr val="00B050"/>
                </a:solidFill>
              </a:rPr>
              <a:t>换位推理</a:t>
            </a:r>
            <a:endParaRPr lang="zh-CN" altLang="en-US" sz="2400" b="1">
              <a:solidFill>
                <a:srgbClr val="00B050"/>
              </a:solidFill>
            </a:endParaRPr>
          </a:p>
          <a:p>
            <a:r>
              <a:rPr lang="zh-CN" altLang="en-US" sz="2400" b="1"/>
              <a:t>又称“倒过来说”，就是通过交换前提中直言命题的主项和谓项的位置，从而推出结论的推理方法。</a:t>
            </a:r>
            <a:endParaRPr lang="zh-CN" altLang="en-US"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rPr>
              <a:t>真题</a:t>
            </a:r>
            <a:r>
              <a:rPr lang="en-US" altLang="zh-CN">
                <a:solidFill>
                  <a:srgbClr val="00B050"/>
                </a:solidFill>
              </a:rPr>
              <a:t>124</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在美国，X研究院的所有院士都反对人类食用转基因食品，而专门生产转基因玉米的Y公司，其所有领导层人员都认为转基因食品是安全的，提倡人们放心食用。一些大学教授兼任Y公司的领导。</a:t>
            </a:r>
            <a:endParaRPr lang="zh-CN" altLang="en-US" sz="2400" b="1"/>
          </a:p>
          <a:p>
            <a:r>
              <a:rPr lang="zh-CN" altLang="en-US" sz="2400" b="1"/>
              <a:t>假设以上陈述为真，则以下哪项也一定为真？</a:t>
            </a:r>
            <a:endParaRPr lang="zh-CN" altLang="en-US" sz="2400" b="1"/>
          </a:p>
          <a:p>
            <a:r>
              <a:rPr lang="zh-CN" altLang="en-US" sz="2400" b="1"/>
              <a:t>A.有些大学教授是美国X研究院的院士</a:t>
            </a:r>
            <a:endParaRPr lang="zh-CN" altLang="en-US" sz="2400" b="1"/>
          </a:p>
          <a:p>
            <a:r>
              <a:rPr lang="zh-CN" altLang="en-US" sz="2400" b="1"/>
              <a:t>B.有些</a:t>
            </a:r>
            <a:r>
              <a:rPr sz="2400" b="1">
                <a:solidFill>
                  <a:srgbClr val="00B050"/>
                </a:solidFill>
                <a:sym typeface="+mn-ea"/>
              </a:rPr>
              <a:t>X</a:t>
            </a:r>
            <a:r>
              <a:rPr lang="zh-CN" altLang="en-US" sz="2400" b="1"/>
              <a:t>研究院院士支持人类食用转基因食品</a:t>
            </a:r>
            <a:endParaRPr lang="zh-CN" altLang="en-US" sz="2400" b="1"/>
          </a:p>
          <a:p>
            <a:r>
              <a:rPr lang="zh-CN" altLang="en-US" sz="2400" b="1"/>
              <a:t>C.一些大学教授支持人们食用转基因食品</a:t>
            </a:r>
            <a:endParaRPr lang="zh-CN" altLang="en-US" sz="2400" b="1"/>
          </a:p>
          <a:p>
            <a:r>
              <a:rPr lang="zh-CN" altLang="en-US" sz="2400" b="1"/>
              <a:t>D.有些大学教授不支持人们食用转基因食品</a:t>
            </a:r>
            <a:endParaRPr lang="zh-CN" altLang="en-US" sz="2400"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74955"/>
            <a:ext cx="10852150" cy="6062345"/>
          </a:xfrm>
        </p:spPr>
        <p:txBody>
          <a:bodyPr/>
          <a:p>
            <a:r>
              <a:rPr sz="2400" b="1">
                <a:solidFill>
                  <a:srgbClr val="00B050"/>
                </a:solidFill>
                <a:sym typeface="+mn-ea"/>
              </a:rPr>
              <a:t>真题</a:t>
            </a:r>
            <a:r>
              <a:rPr lang="en-US" altLang="zh-CN" sz="2400" b="1">
                <a:solidFill>
                  <a:srgbClr val="00B050"/>
                </a:solidFill>
                <a:sym typeface="+mn-ea"/>
              </a:rPr>
              <a:t>124</a:t>
            </a:r>
            <a:r>
              <a:rPr sz="2400">
                <a:solidFill>
                  <a:srgbClr val="00B050"/>
                </a:solidFill>
                <a:sym typeface="+mn-ea"/>
              </a:rPr>
              <a:t>：</a:t>
            </a:r>
            <a:r>
              <a:rPr lang="zh-CN" altLang="en-US" sz="2400" b="1"/>
              <a:t>在美国，</a:t>
            </a:r>
            <a:r>
              <a:rPr lang="zh-CN" altLang="en-US" sz="2400" b="1">
                <a:solidFill>
                  <a:srgbClr val="00B050"/>
                </a:solidFill>
                <a:latin typeface="宋体" panose="02010600030101010101" pitchFamily="2" charset="-122"/>
                <a:ea typeface="宋体" panose="02010600030101010101" pitchFamily="2" charset="-122"/>
              </a:rPr>
              <a:t>①</a:t>
            </a:r>
            <a:r>
              <a:rPr lang="zh-CN" altLang="en-US" sz="2400" b="1">
                <a:solidFill>
                  <a:srgbClr val="00B050"/>
                </a:solidFill>
              </a:rPr>
              <a:t>X研究院的所有院士都反对人类食用转基因食品</a:t>
            </a:r>
            <a:r>
              <a:rPr lang="zh-CN" altLang="en-US" sz="2400" b="1"/>
              <a:t>，而专门生产转基因玉米的</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Y公司</a:t>
            </a:r>
            <a:r>
              <a:rPr lang="zh-CN" altLang="en-US" sz="2400" b="1"/>
              <a:t>，其</a:t>
            </a:r>
            <a:r>
              <a:rPr lang="zh-CN" altLang="en-US" sz="2400" b="1">
                <a:solidFill>
                  <a:srgbClr val="FF0000"/>
                </a:solidFill>
              </a:rPr>
              <a:t>所有领导层人员</a:t>
            </a:r>
            <a:r>
              <a:rPr lang="zh-CN" altLang="en-US" sz="2400" b="1"/>
              <a:t>都认为转基因食品是安全的，</a:t>
            </a:r>
            <a:r>
              <a:rPr lang="zh-CN" altLang="en-US" sz="2400" b="1">
                <a:solidFill>
                  <a:srgbClr val="FF0000"/>
                </a:solidFill>
              </a:rPr>
              <a:t>提倡人们放心食用</a:t>
            </a:r>
            <a:r>
              <a:rPr lang="zh-CN" altLang="en-US" sz="2400" b="1"/>
              <a:t>。</a:t>
            </a:r>
            <a:r>
              <a:rPr lang="zh-CN" altLang="en-US" sz="2400" b="1">
                <a:solidFill>
                  <a:srgbClr val="00B050"/>
                </a:solidFill>
                <a:latin typeface="宋体" panose="02010600030101010101" pitchFamily="2" charset="-122"/>
                <a:ea typeface="宋体" panose="02010600030101010101" pitchFamily="2" charset="-122"/>
              </a:rPr>
              <a:t>③</a:t>
            </a:r>
            <a:r>
              <a:rPr lang="zh-CN" altLang="en-US" sz="2400" b="1">
                <a:solidFill>
                  <a:srgbClr val="00B050"/>
                </a:solidFill>
              </a:rPr>
              <a:t>一些大学教授兼任Y公司的领导</a:t>
            </a:r>
            <a:r>
              <a:rPr lang="zh-CN" altLang="en-US" sz="2400" b="1"/>
              <a:t>。</a:t>
            </a:r>
            <a:endParaRPr lang="zh-CN" altLang="en-US" sz="2400" b="1"/>
          </a:p>
          <a:p>
            <a:r>
              <a:rPr lang="zh-CN" altLang="en-US" sz="2400" b="1"/>
              <a:t>假设以上陈述为真，则以下哪项也一定为真？</a:t>
            </a:r>
            <a:endParaRPr lang="zh-CN" altLang="en-US" sz="2400" b="1"/>
          </a:p>
          <a:p>
            <a:r>
              <a:rPr lang="zh-CN" altLang="en-US" sz="2400" b="1"/>
              <a:t>A.有些大学教授是美国X研究院的院士</a:t>
            </a:r>
            <a:endParaRPr lang="zh-CN" altLang="en-US" sz="2400" b="1"/>
          </a:p>
          <a:p>
            <a:r>
              <a:rPr lang="zh-CN" altLang="en-US" sz="2400" b="1"/>
              <a:t>B.有些</a:t>
            </a:r>
            <a:r>
              <a:rPr sz="2400" b="1">
                <a:solidFill>
                  <a:srgbClr val="00B050"/>
                </a:solidFill>
                <a:sym typeface="+mn-ea"/>
              </a:rPr>
              <a:t>X</a:t>
            </a:r>
            <a:r>
              <a:rPr lang="zh-CN" altLang="en-US" sz="2400" b="1"/>
              <a:t>研究院院士支持人类食用转基因食品</a:t>
            </a:r>
            <a:endParaRPr lang="zh-CN" altLang="en-US" sz="2400" b="1"/>
          </a:p>
          <a:p>
            <a:r>
              <a:rPr lang="zh-CN" altLang="en-US" sz="2400" b="1"/>
              <a:t>C.一些大学教授支持人们食用转基因食品</a:t>
            </a:r>
            <a:endParaRPr lang="zh-CN" altLang="en-US" sz="2400" b="1"/>
          </a:p>
          <a:p>
            <a:r>
              <a:rPr lang="zh-CN" altLang="en-US" sz="2400" b="1"/>
              <a:t>D.有些大学教授不支持人们食用转基因食品</a:t>
            </a:r>
            <a:endParaRPr lang="zh-CN" altLang="en-US" sz="2400" b="1"/>
          </a:p>
          <a:p>
            <a:r>
              <a:rPr lang="zh-CN" altLang="en-US" sz="2400" b="1"/>
              <a:t>分析：</a:t>
            </a:r>
            <a:r>
              <a:rPr lang="en-US" altLang="zh-CN" sz="2400" b="1"/>
              <a:t>B</a:t>
            </a:r>
            <a:r>
              <a:rPr sz="2400" b="1"/>
              <a:t>与</a:t>
            </a:r>
            <a:r>
              <a:rPr lang="zh-CN" altLang="en-US" sz="2400" b="1">
                <a:latin typeface="+mn-ea"/>
              </a:rPr>
              <a:t>①</a:t>
            </a:r>
            <a:r>
              <a:rPr sz="2400" b="1">
                <a:latin typeface="+mn-ea"/>
              </a:rPr>
              <a:t>矛盾，排除</a:t>
            </a:r>
            <a:r>
              <a:rPr lang="en-US" altLang="zh-CN" sz="2400" b="1">
                <a:latin typeface="+mn-ea"/>
              </a:rPr>
              <a:t>B</a:t>
            </a:r>
            <a:r>
              <a:rPr sz="2400" b="1">
                <a:latin typeface="+mn-ea"/>
              </a:rPr>
              <a:t>。根据</a:t>
            </a:r>
            <a:r>
              <a:rPr lang="zh-CN" altLang="en-US" sz="2400" b="1">
                <a:latin typeface="+mn-ea"/>
              </a:rPr>
              <a:t>②与③可以得到</a:t>
            </a:r>
            <a:r>
              <a:rPr lang="en-US" altLang="zh-CN" sz="2400" b="1">
                <a:latin typeface="+mn-ea"/>
              </a:rPr>
              <a:t>C</a:t>
            </a:r>
            <a:r>
              <a:rPr sz="2400" b="1">
                <a:latin typeface="+mn-ea"/>
              </a:rPr>
              <a:t>正确。由</a:t>
            </a:r>
            <a:r>
              <a:rPr lang="en-US" altLang="zh-CN" sz="2400" b="1">
                <a:latin typeface="+mn-ea"/>
              </a:rPr>
              <a:t>“</a:t>
            </a:r>
            <a:r>
              <a:rPr sz="2400" b="1">
                <a:sym typeface="+mn-ea"/>
              </a:rPr>
              <a:t>一些大学教授支持</a:t>
            </a:r>
            <a:r>
              <a:rPr lang="en-US" altLang="zh-CN" sz="2400" b="1">
                <a:latin typeface="+mn-ea"/>
              </a:rPr>
              <a:t>”</a:t>
            </a:r>
            <a:r>
              <a:rPr sz="2400" b="1">
                <a:latin typeface="+mn-ea"/>
              </a:rPr>
              <a:t>不能够必然推出</a:t>
            </a:r>
            <a:r>
              <a:rPr lang="en-US" altLang="zh-CN" sz="2400" b="1">
                <a:latin typeface="+mn-ea"/>
              </a:rPr>
              <a:t>“</a:t>
            </a:r>
            <a:r>
              <a:rPr sz="2400" b="1">
                <a:sym typeface="+mn-ea"/>
              </a:rPr>
              <a:t>有些大学教授不支持</a:t>
            </a:r>
            <a:r>
              <a:rPr lang="en-US" altLang="zh-CN" sz="2400" b="1">
                <a:latin typeface="+mn-ea"/>
              </a:rPr>
              <a:t>”</a:t>
            </a:r>
            <a:r>
              <a:rPr sz="2400" b="1">
                <a:latin typeface="+mn-ea"/>
              </a:rPr>
              <a:t>，排除</a:t>
            </a:r>
            <a:r>
              <a:rPr lang="en-US" altLang="zh-CN" sz="2400" b="1">
                <a:latin typeface="+mn-ea"/>
              </a:rPr>
              <a:t>D</a:t>
            </a:r>
            <a:r>
              <a:rPr sz="2400" b="1">
                <a:latin typeface="+mn-ea"/>
              </a:rPr>
              <a:t>。由题干也无法</a:t>
            </a:r>
            <a:r>
              <a:rPr sz="2400" b="1">
                <a:latin typeface="+mn-ea"/>
                <a:sym typeface="+mn-ea"/>
              </a:rPr>
              <a:t>必然推出</a:t>
            </a:r>
            <a:r>
              <a:rPr lang="en-US" altLang="zh-CN" sz="2400" b="1">
                <a:latin typeface="+mn-ea"/>
                <a:sym typeface="+mn-ea"/>
              </a:rPr>
              <a:t>A</a:t>
            </a:r>
            <a:r>
              <a:rPr sz="2400" b="1">
                <a:latin typeface="+mn-ea"/>
                <a:sym typeface="+mn-ea"/>
              </a:rPr>
              <a:t>。故选</a:t>
            </a:r>
            <a:r>
              <a:rPr lang="en-US" altLang="zh-CN" sz="2400" b="1">
                <a:latin typeface="+mn-ea"/>
                <a:sym typeface="+mn-ea"/>
              </a:rPr>
              <a:t>C</a:t>
            </a:r>
            <a:r>
              <a:rPr sz="2400" b="1">
                <a:latin typeface="+mn-ea"/>
                <a:sym typeface="+mn-ea"/>
              </a:rPr>
              <a:t>。</a:t>
            </a:r>
            <a:endParaRPr sz="2400" b="1">
              <a:latin typeface="+mn-ea"/>
              <a:sym typeface="+mn-ea"/>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二、三段论推理</a:t>
            </a:r>
            <a:endParaRPr lang="zh-CN" altLang="en-US"/>
          </a:p>
        </p:txBody>
      </p:sp>
      <p:sp>
        <p:nvSpPr>
          <p:cNvPr id="3" name="内容占位符 2"/>
          <p:cNvSpPr>
            <a:spLocks noGrp="1"/>
          </p:cNvSpPr>
          <p:nvPr>
            <p:ph idx="1"/>
          </p:nvPr>
        </p:nvSpPr>
        <p:spPr/>
        <p:txBody>
          <a:bodyPr/>
          <a:p>
            <a:r>
              <a:rPr sz="2400" b="1">
                <a:solidFill>
                  <a:srgbClr val="FF0000"/>
                </a:solidFill>
                <a:latin typeface="+mn-ea"/>
                <a:cs typeface="+mn-ea"/>
                <a:sym typeface="+mn-ea"/>
              </a:rPr>
              <a:t>基础知识参见逻辑思维训练课件中逻辑</a:t>
            </a:r>
            <a:r>
              <a:rPr lang="en-US" altLang="zh-CN" sz="2400" b="1">
                <a:solidFill>
                  <a:srgbClr val="FF0000"/>
                </a:solidFill>
                <a:latin typeface="+mn-ea"/>
                <a:cs typeface="+mn-ea"/>
                <a:sym typeface="+mn-ea"/>
              </a:rPr>
              <a:t>11-12</a:t>
            </a:r>
            <a:endParaRPr lang="zh-CN" altLang="en-US" sz="2400" b="1"/>
          </a:p>
          <a:p>
            <a:r>
              <a:rPr lang="zh-CN" altLang="en-US" sz="2400" b="1">
                <a:solidFill>
                  <a:srgbClr val="00B050"/>
                </a:solidFill>
                <a:latin typeface="+mn-ea"/>
                <a:cs typeface="+mn-ea"/>
              </a:rPr>
              <a:t>真题</a:t>
            </a:r>
            <a:r>
              <a:rPr lang="en-US" altLang="zh-CN" sz="2400" b="1">
                <a:solidFill>
                  <a:srgbClr val="00B050"/>
                </a:solidFill>
                <a:latin typeface="+mn-ea"/>
                <a:cs typeface="+mn-ea"/>
              </a:rPr>
              <a:t>125</a:t>
            </a:r>
            <a:r>
              <a:rPr sz="2400" b="1">
                <a:latin typeface="+mn-ea"/>
                <a:cs typeface="+mn-ea"/>
              </a:rPr>
              <a:t>：</a:t>
            </a:r>
            <a:r>
              <a:rPr lang="zh-CN" altLang="en-US" sz="2400" b="1">
                <a:latin typeface="+mn-ea"/>
                <a:cs typeface="+mn-ea"/>
              </a:rPr>
              <a:t>某市有甲、乙、丙、丁四家书店，其中甲书店的各种图书都能在乙书店中找到，在乙书店出售的图书一定也在丙书店出售，而丙书店有一些图书在丁书店中也有销售。由此可以推出：</a:t>
            </a:r>
            <a:endParaRPr lang="zh-CN" altLang="en-US" sz="2400" b="1">
              <a:latin typeface="+mn-ea"/>
              <a:cs typeface="+mn-ea"/>
            </a:endParaRPr>
          </a:p>
          <a:p>
            <a:r>
              <a:rPr lang="zh-CN" altLang="en-US" sz="2400" b="1">
                <a:latin typeface="+mn-ea"/>
                <a:cs typeface="+mn-ea"/>
              </a:rPr>
              <a:t>A.甲书店中有一些图书能在丁书店中找到</a:t>
            </a:r>
            <a:endParaRPr lang="zh-CN" altLang="en-US" sz="2400" b="1">
              <a:latin typeface="+mn-ea"/>
              <a:cs typeface="+mn-ea"/>
            </a:endParaRPr>
          </a:p>
          <a:p>
            <a:r>
              <a:rPr lang="zh-CN" altLang="en-US" sz="2400" b="1">
                <a:latin typeface="+mn-ea"/>
                <a:cs typeface="+mn-ea"/>
              </a:rPr>
              <a:t>B.乙书店中有一些图书能在丁书店中找到</a:t>
            </a:r>
            <a:endParaRPr lang="zh-CN" altLang="en-US" sz="2400" b="1">
              <a:latin typeface="+mn-ea"/>
              <a:cs typeface="+mn-ea"/>
            </a:endParaRPr>
          </a:p>
          <a:p>
            <a:r>
              <a:rPr lang="zh-CN" altLang="en-US" sz="2400" b="1">
                <a:latin typeface="+mn-ea"/>
                <a:cs typeface="+mn-ea"/>
              </a:rPr>
              <a:t>C.丁书店中所有的图书都能在乙书店中找到</a:t>
            </a:r>
            <a:endParaRPr lang="zh-CN" altLang="en-US" sz="2400" b="1">
              <a:latin typeface="+mn-ea"/>
              <a:cs typeface="+mn-ea"/>
            </a:endParaRPr>
          </a:p>
          <a:p>
            <a:r>
              <a:rPr lang="zh-CN" altLang="en-US" sz="2400" b="1">
                <a:latin typeface="+mn-ea"/>
                <a:cs typeface="+mn-ea"/>
              </a:rPr>
              <a:t>D.甲书店中所有的图书都能在丙书店中找到</a:t>
            </a:r>
            <a:endParaRPr lang="zh-CN" altLang="en-US" sz="2400" b="1">
              <a:latin typeface="+mn-ea"/>
              <a:cs typeface="+mn-ea"/>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99720"/>
            <a:ext cx="10852150" cy="6037580"/>
          </a:xfrm>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125</a:t>
            </a:r>
            <a:r>
              <a:rPr sz="2400" b="1">
                <a:solidFill>
                  <a:srgbClr val="00B050"/>
                </a:solidFill>
                <a:latin typeface="+mn-ea"/>
                <a:cs typeface="+mn-ea"/>
              </a:rPr>
              <a:t>分析</a:t>
            </a:r>
            <a:r>
              <a:rPr sz="2400" b="1">
                <a:latin typeface="+mn-ea"/>
                <a:cs typeface="+mn-ea"/>
              </a:rPr>
              <a:t>：</a:t>
            </a:r>
            <a:r>
              <a:rPr lang="zh-CN" altLang="en-US" sz="2400" b="1">
                <a:latin typeface="+mn-ea"/>
                <a:cs typeface="+mn-ea"/>
              </a:rPr>
              <a:t>某市有甲、乙、丙、丁四家书店，其中</a:t>
            </a:r>
            <a:r>
              <a:rPr lang="zh-CN" altLang="en-US" sz="2400" b="1">
                <a:solidFill>
                  <a:srgbClr val="00B050"/>
                </a:solidFill>
                <a:latin typeface="+mn-ea"/>
                <a:cs typeface="+mn-ea"/>
              </a:rPr>
              <a:t>甲书店的</a:t>
            </a:r>
            <a:r>
              <a:rPr lang="zh-CN" altLang="en-US" sz="2400" b="1">
                <a:latin typeface="+mn-ea"/>
                <a:cs typeface="+mn-ea"/>
              </a:rPr>
              <a:t>各种图书</a:t>
            </a:r>
            <a:r>
              <a:rPr lang="zh-CN" altLang="en-US" sz="2400" b="1">
                <a:solidFill>
                  <a:srgbClr val="00B050"/>
                </a:solidFill>
                <a:latin typeface="+mn-ea"/>
                <a:cs typeface="+mn-ea"/>
              </a:rPr>
              <a:t>都能在乙书店中找到</a:t>
            </a:r>
            <a:r>
              <a:rPr lang="zh-CN" altLang="en-US" sz="2400" b="1">
                <a:latin typeface="+mn-ea"/>
                <a:cs typeface="+mn-ea"/>
              </a:rPr>
              <a:t>，在</a:t>
            </a:r>
            <a:r>
              <a:rPr lang="zh-CN" altLang="en-US" sz="2400" b="1">
                <a:solidFill>
                  <a:srgbClr val="FF0000"/>
                </a:solidFill>
                <a:latin typeface="+mn-ea"/>
                <a:cs typeface="+mn-ea"/>
              </a:rPr>
              <a:t>乙书店</a:t>
            </a:r>
            <a:r>
              <a:rPr lang="zh-CN" altLang="en-US" sz="2400" b="1">
                <a:latin typeface="+mn-ea"/>
                <a:cs typeface="+mn-ea"/>
              </a:rPr>
              <a:t>出售</a:t>
            </a:r>
            <a:r>
              <a:rPr lang="zh-CN" altLang="en-US" sz="2400" b="1">
                <a:solidFill>
                  <a:srgbClr val="FF0000"/>
                </a:solidFill>
                <a:latin typeface="+mn-ea"/>
                <a:cs typeface="+mn-ea"/>
              </a:rPr>
              <a:t>的</a:t>
            </a:r>
            <a:r>
              <a:rPr lang="zh-CN" altLang="en-US" sz="2400" b="1">
                <a:latin typeface="+mn-ea"/>
                <a:cs typeface="+mn-ea"/>
              </a:rPr>
              <a:t>图书</a:t>
            </a:r>
            <a:r>
              <a:rPr lang="zh-CN" altLang="en-US" sz="2400" b="1">
                <a:solidFill>
                  <a:srgbClr val="FF0000"/>
                </a:solidFill>
                <a:latin typeface="+mn-ea"/>
                <a:cs typeface="+mn-ea"/>
              </a:rPr>
              <a:t>一定也在丙书店</a:t>
            </a:r>
            <a:r>
              <a:rPr lang="zh-CN" altLang="en-US" sz="2400" b="1">
                <a:latin typeface="+mn-ea"/>
                <a:cs typeface="+mn-ea"/>
              </a:rPr>
              <a:t>出售，而丙书店有</a:t>
            </a:r>
            <a:r>
              <a:rPr lang="zh-CN" altLang="en-US" sz="2400" b="1">
                <a:solidFill>
                  <a:srgbClr val="FF0000"/>
                </a:solidFill>
                <a:latin typeface="+mn-ea"/>
                <a:cs typeface="+mn-ea"/>
              </a:rPr>
              <a:t>一些</a:t>
            </a:r>
            <a:r>
              <a:rPr lang="zh-CN" altLang="en-US" sz="2400" b="1">
                <a:latin typeface="+mn-ea"/>
                <a:cs typeface="+mn-ea"/>
              </a:rPr>
              <a:t>图书在丁书店中也有销售。由此可以推出：</a:t>
            </a:r>
            <a:endParaRPr lang="zh-CN" altLang="en-US" sz="2400" b="1">
              <a:latin typeface="+mn-ea"/>
              <a:cs typeface="+mn-ea"/>
            </a:endParaRPr>
          </a:p>
          <a:p>
            <a:r>
              <a:rPr lang="zh-CN" altLang="en-US" sz="2400" b="1">
                <a:latin typeface="+mn-ea"/>
                <a:cs typeface="+mn-ea"/>
              </a:rPr>
              <a:t>A.甲书店中有一些图书能在丁书店中找到</a:t>
            </a:r>
            <a:endParaRPr lang="zh-CN" altLang="en-US" sz="2400" b="1">
              <a:latin typeface="+mn-ea"/>
              <a:cs typeface="+mn-ea"/>
            </a:endParaRPr>
          </a:p>
          <a:p>
            <a:r>
              <a:rPr lang="zh-CN" altLang="en-US" sz="2400" b="1">
                <a:latin typeface="+mn-ea"/>
                <a:cs typeface="+mn-ea"/>
              </a:rPr>
              <a:t>B.乙书店中有一些图书能在丁书店中找到</a:t>
            </a:r>
            <a:endParaRPr lang="zh-CN" altLang="en-US" sz="2400" b="1">
              <a:latin typeface="+mn-ea"/>
              <a:cs typeface="+mn-ea"/>
            </a:endParaRPr>
          </a:p>
          <a:p>
            <a:r>
              <a:rPr lang="zh-CN" altLang="en-US" sz="2400" b="1">
                <a:latin typeface="+mn-ea"/>
                <a:cs typeface="+mn-ea"/>
              </a:rPr>
              <a:t>C.丁书店中所有的图书都能在乙书店中找到</a:t>
            </a:r>
            <a:endParaRPr lang="zh-CN" altLang="en-US" sz="2400" b="1">
              <a:latin typeface="+mn-ea"/>
              <a:cs typeface="+mn-ea"/>
            </a:endParaRPr>
          </a:p>
          <a:p>
            <a:r>
              <a:rPr lang="zh-CN" altLang="en-US" sz="2400" b="1">
                <a:latin typeface="+mn-ea"/>
                <a:cs typeface="+mn-ea"/>
              </a:rPr>
              <a:t>D.甲书店中所有的图书都能在丙书店中找到</a:t>
            </a:r>
            <a:endParaRPr lang="zh-CN" altLang="en-US" sz="2400" b="1">
              <a:latin typeface="+mn-ea"/>
              <a:cs typeface="+mn-ea"/>
            </a:endParaRPr>
          </a:p>
          <a:p>
            <a:r>
              <a:rPr lang="zh-CN" altLang="en-US" sz="2400" b="1">
                <a:latin typeface="+mn-ea"/>
                <a:cs typeface="+mn-ea"/>
              </a:rPr>
              <a:t>分析：</a:t>
            </a:r>
            <a:r>
              <a:rPr sz="2400" b="1">
                <a:solidFill>
                  <a:srgbClr val="FF0000"/>
                </a:solidFill>
                <a:latin typeface="+mn-ea"/>
                <a:cs typeface="+mn-ea"/>
                <a:sym typeface="+mn-ea"/>
              </a:rPr>
              <a:t>乙书店的书真包含甲书店的书，</a:t>
            </a:r>
            <a:r>
              <a:rPr sz="2400" b="1">
                <a:latin typeface="+mn-ea"/>
                <a:cs typeface="+mn-ea"/>
                <a:sym typeface="+mn-ea"/>
              </a:rPr>
              <a:t>丙</a:t>
            </a:r>
            <a:r>
              <a:rPr sz="2400" b="1">
                <a:latin typeface="+mn-ea"/>
                <a:cs typeface="+mn-ea"/>
                <a:sym typeface="+mn-ea"/>
              </a:rPr>
              <a:t>书店的书真包含</a:t>
            </a:r>
            <a:r>
              <a:rPr sz="2400" b="1">
                <a:latin typeface="+mn-ea"/>
                <a:cs typeface="+mn-ea"/>
                <a:sym typeface="+mn-ea"/>
              </a:rPr>
              <a:t>乙</a:t>
            </a:r>
            <a:r>
              <a:rPr sz="2400" b="1">
                <a:latin typeface="+mn-ea"/>
                <a:cs typeface="+mn-ea"/>
                <a:sym typeface="+mn-ea"/>
              </a:rPr>
              <a:t>书店的书，因此</a:t>
            </a:r>
            <a:r>
              <a:rPr sz="2400" b="1">
                <a:solidFill>
                  <a:srgbClr val="FF0000"/>
                </a:solidFill>
                <a:latin typeface="+mn-ea"/>
                <a:cs typeface="+mn-ea"/>
                <a:sym typeface="+mn-ea"/>
              </a:rPr>
              <a:t>丙书店的书真包含甲书店的书</a:t>
            </a:r>
            <a:r>
              <a:rPr sz="2400" b="1">
                <a:latin typeface="+mn-ea"/>
                <a:cs typeface="+mn-ea"/>
                <a:sym typeface="+mn-ea"/>
              </a:rPr>
              <a:t>，所以</a:t>
            </a:r>
            <a:r>
              <a:rPr lang="en-US" altLang="zh-CN" sz="2400" b="1">
                <a:latin typeface="+mn-ea"/>
                <a:cs typeface="+mn-ea"/>
                <a:sym typeface="+mn-ea"/>
              </a:rPr>
              <a:t>D</a:t>
            </a:r>
            <a:r>
              <a:rPr sz="2400" b="1">
                <a:latin typeface="+mn-ea"/>
                <a:cs typeface="+mn-ea"/>
                <a:sym typeface="+mn-ea"/>
              </a:rPr>
              <a:t>成立。丙书店的书与</a:t>
            </a:r>
            <a:r>
              <a:rPr sz="2400" b="1">
                <a:latin typeface="+mn-ea"/>
                <a:cs typeface="+mn-ea"/>
                <a:sym typeface="+mn-ea"/>
              </a:rPr>
              <a:t>丁</a:t>
            </a:r>
            <a:r>
              <a:rPr sz="2400" b="1">
                <a:latin typeface="+mn-ea"/>
                <a:cs typeface="+mn-ea"/>
                <a:sym typeface="+mn-ea"/>
              </a:rPr>
              <a:t>书店的书是交叉关系，</a:t>
            </a:r>
            <a:r>
              <a:rPr lang="en-US" altLang="zh-CN" sz="2400" b="1">
                <a:latin typeface="+mn-ea"/>
                <a:cs typeface="+mn-ea"/>
                <a:sym typeface="+mn-ea"/>
              </a:rPr>
              <a:t>ABC</a:t>
            </a:r>
            <a:r>
              <a:rPr sz="2400" b="1">
                <a:latin typeface="+mn-ea"/>
                <a:cs typeface="+mn-ea"/>
                <a:sym typeface="+mn-ea"/>
              </a:rPr>
              <a:t>均不能必然得出。</a:t>
            </a:r>
            <a:endParaRPr sz="2400" b="1">
              <a:latin typeface="+mn-ea"/>
              <a:cs typeface="+mn-ea"/>
              <a:sym typeface="+mn-ea"/>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126</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参与讲座的人曾跟军方有关联，他们所有人都相信UFO真的存在，而且大部分人觉得应该研究UFO问题。国家原子试验博物馆举行的讲座虽然规模不大，但演讲者都是非常可信的。由此可见，有些非常严谨的科学家也相信UFO真的存在。</a:t>
            </a:r>
            <a:endParaRPr lang="zh-CN" altLang="en-US" sz="2400" b="1"/>
          </a:p>
          <a:p>
            <a:r>
              <a:rPr lang="zh-CN" altLang="en-US" sz="2400" b="1"/>
              <a:t>以下哪项如果为真，最能支持上述论述？</a:t>
            </a:r>
            <a:endParaRPr lang="zh-CN" altLang="en-US" sz="2400" b="1"/>
          </a:p>
          <a:p>
            <a:r>
              <a:rPr lang="zh-CN" altLang="en-US" sz="2400" b="1"/>
              <a:t>A.有些科学家跟军方有关联</a:t>
            </a:r>
            <a:endParaRPr lang="zh-CN" altLang="en-US" sz="2400" b="1"/>
          </a:p>
          <a:p>
            <a:r>
              <a:rPr lang="zh-CN" altLang="en-US" sz="2400" b="1"/>
              <a:t>B.演讲者有些不是严谨的科学家</a:t>
            </a:r>
            <a:endParaRPr lang="zh-CN" altLang="en-US" sz="2400" b="1"/>
          </a:p>
          <a:p>
            <a:r>
              <a:rPr lang="zh-CN" altLang="en-US" sz="2400" b="1"/>
              <a:t>C.部分参与讲座的人是非常严谨的科学家</a:t>
            </a:r>
            <a:endParaRPr lang="zh-CN" altLang="en-US" sz="2400" b="1"/>
          </a:p>
          <a:p>
            <a:r>
              <a:rPr lang="zh-CN" altLang="en-US" sz="2400" b="1"/>
              <a:t>D.科学家的讲座都是非常严谨可信的</a:t>
            </a:r>
            <a:endParaRPr lang="zh-CN" altLang="en-US" sz="2400" b="1"/>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05740"/>
            <a:ext cx="10852150" cy="6651625"/>
          </a:xfrm>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126</a:t>
            </a:r>
            <a:r>
              <a:rPr sz="2400" b="1">
                <a:solidFill>
                  <a:srgbClr val="00B050"/>
                </a:solidFill>
                <a:latin typeface="+mn-ea"/>
                <a:cs typeface="+mn-ea"/>
                <a:sym typeface="+mn-ea"/>
              </a:rPr>
              <a:t>分析：</a:t>
            </a:r>
            <a:r>
              <a:rPr sz="2400" b="1">
                <a:solidFill>
                  <a:srgbClr val="FF0000"/>
                </a:solidFill>
                <a:latin typeface="宋体" panose="02010600030101010101" pitchFamily="2" charset="-122"/>
                <a:ea typeface="宋体" panose="02010600030101010101" pitchFamily="2" charset="-122"/>
                <a:cs typeface="+mn-ea"/>
                <a:sym typeface="+mn-ea"/>
              </a:rPr>
              <a:t>①</a:t>
            </a:r>
            <a:r>
              <a:rPr lang="zh-CN" altLang="en-US" sz="2400" b="1">
                <a:solidFill>
                  <a:srgbClr val="FF0000"/>
                </a:solidFill>
              </a:rPr>
              <a:t>参与讲座的人</a:t>
            </a:r>
            <a:r>
              <a:rPr lang="zh-CN" altLang="en-US" sz="2400" b="1"/>
              <a:t>曾跟军方有关联，他们所有人</a:t>
            </a:r>
            <a:r>
              <a:rPr lang="zh-CN" altLang="en-US" sz="2400" b="1">
                <a:solidFill>
                  <a:srgbClr val="FF0000"/>
                </a:solidFill>
              </a:rPr>
              <a:t>都相信UFO真的存在</a:t>
            </a:r>
            <a:r>
              <a:rPr lang="zh-CN" altLang="en-US" sz="2400" b="1"/>
              <a:t>，而且大部分人觉得应该研究UFO问题。国家原子试验博物馆举行的讲座虽然规模不大，但演讲者都是非常可信的。由此可见，</a:t>
            </a:r>
            <a:r>
              <a:rPr lang="zh-CN" altLang="en-US" sz="2400" b="1">
                <a:solidFill>
                  <a:srgbClr val="FF0000"/>
                </a:solidFill>
                <a:latin typeface="宋体" panose="02010600030101010101" pitchFamily="2" charset="-122"/>
                <a:ea typeface="宋体" panose="02010600030101010101" pitchFamily="2" charset="-122"/>
              </a:rPr>
              <a:t>③</a:t>
            </a:r>
            <a:r>
              <a:rPr lang="zh-CN" altLang="en-US" sz="2400" b="1">
                <a:solidFill>
                  <a:srgbClr val="FF0000"/>
                </a:solidFill>
              </a:rPr>
              <a:t>有些非常严谨的科学家也相信UFO真的存在</a:t>
            </a:r>
            <a:r>
              <a:rPr lang="zh-CN" altLang="en-US" sz="2400" b="1"/>
              <a:t>。</a:t>
            </a:r>
            <a:endParaRPr lang="zh-CN" altLang="en-US" sz="2400" b="1"/>
          </a:p>
          <a:p>
            <a:r>
              <a:rPr lang="zh-CN" altLang="en-US" sz="2400" b="1"/>
              <a:t>以下哪项如果为真，最能支持上述论述？</a:t>
            </a:r>
            <a:endParaRPr lang="zh-CN" altLang="en-US" sz="2400" b="1"/>
          </a:p>
          <a:p>
            <a:r>
              <a:rPr lang="zh-CN" altLang="en-US" sz="2400" b="1"/>
              <a:t>A.有些科学家跟军方有关联      C.部分参与讲座的人是非常严谨的科学家 </a:t>
            </a:r>
            <a:r>
              <a:rPr sz="2400" b="1">
                <a:sym typeface="+mn-ea"/>
              </a:rPr>
              <a:t> B.演讲者有些不是严谨的科学家  </a:t>
            </a:r>
            <a:r>
              <a:rPr lang="zh-CN" altLang="en-US" sz="2400" b="1"/>
              <a:t>D.科学家的讲座都是非常严谨可信的</a:t>
            </a:r>
            <a:endParaRPr lang="zh-CN" altLang="en-US" sz="2400" b="1"/>
          </a:p>
          <a:p>
            <a:r>
              <a:rPr lang="zh-CN" altLang="en-US" sz="2400" b="1"/>
              <a:t>分析：前提</a:t>
            </a:r>
            <a:r>
              <a:rPr sz="2400" b="1">
                <a:solidFill>
                  <a:srgbClr val="FF0000"/>
                </a:solidFill>
                <a:latin typeface="宋体" panose="02010600030101010101" pitchFamily="2" charset="-122"/>
                <a:ea typeface="宋体" panose="02010600030101010101" pitchFamily="2" charset="-122"/>
                <a:cs typeface="+mn-ea"/>
                <a:sym typeface="+mn-ea"/>
              </a:rPr>
              <a:t>①：</a:t>
            </a:r>
            <a:r>
              <a:rPr sz="2400" b="1">
                <a:solidFill>
                  <a:srgbClr val="FF0000"/>
                </a:solidFill>
                <a:latin typeface="+mn-ea"/>
                <a:cs typeface="+mn-ea"/>
                <a:sym typeface="+mn-ea"/>
              </a:rPr>
              <a:t>（所有）</a:t>
            </a:r>
            <a:r>
              <a:rPr sz="2400" b="1">
                <a:solidFill>
                  <a:srgbClr val="7030A0"/>
                </a:solidFill>
                <a:sym typeface="+mn-ea"/>
              </a:rPr>
              <a:t>参与讲座的人</a:t>
            </a:r>
            <a:r>
              <a:rPr sz="2400" b="1">
                <a:solidFill>
                  <a:srgbClr val="FF0000"/>
                </a:solidFill>
                <a:sym typeface="+mn-ea"/>
              </a:rPr>
              <a:t>都</a:t>
            </a:r>
            <a:r>
              <a:rPr sz="2400" b="1">
                <a:solidFill>
                  <a:srgbClr val="00B050"/>
                </a:solidFill>
                <a:sym typeface="+mn-ea"/>
              </a:rPr>
              <a:t>相信UFO真的存在</a:t>
            </a:r>
            <a:endParaRPr sz="2400" b="1">
              <a:solidFill>
                <a:srgbClr val="FF0000"/>
              </a:solidFill>
              <a:sym typeface="+mn-ea"/>
            </a:endParaRPr>
          </a:p>
          <a:p>
            <a:r>
              <a:rPr lang="zh-CN" altLang="en-US" sz="2400" b="1"/>
              <a:t>       </a:t>
            </a:r>
            <a:r>
              <a:rPr lang="zh-CN" altLang="en-US" sz="2400" b="1" u="sng"/>
              <a:t>  前提</a:t>
            </a:r>
            <a:r>
              <a:rPr sz="2400" b="1" u="sng">
                <a:solidFill>
                  <a:srgbClr val="FF0000"/>
                </a:solidFill>
                <a:latin typeface="宋体" panose="02010600030101010101" pitchFamily="2" charset="-122"/>
                <a:ea typeface="宋体" panose="02010600030101010101" pitchFamily="2" charset="-122"/>
                <a:sym typeface="+mn-ea"/>
              </a:rPr>
              <a:t>②：                                     </a:t>
            </a:r>
            <a:r>
              <a:rPr sz="2400" b="1" u="sng">
                <a:solidFill>
                  <a:srgbClr val="FF0000"/>
                </a:solidFill>
                <a:latin typeface="宋体" panose="02010600030101010101" pitchFamily="2" charset="-122"/>
                <a:ea typeface="宋体" panose="02010600030101010101" pitchFamily="2" charset="-122"/>
                <a:sym typeface="+mn-ea"/>
              </a:rPr>
              <a:t>        </a:t>
            </a:r>
            <a:endParaRPr sz="2400" b="1" u="sng">
              <a:solidFill>
                <a:srgbClr val="FF0000"/>
              </a:solidFill>
              <a:latin typeface="宋体" panose="02010600030101010101" pitchFamily="2" charset="-122"/>
              <a:ea typeface="宋体" panose="02010600030101010101" pitchFamily="2" charset="-122"/>
              <a:sym typeface="+mn-ea"/>
            </a:endParaRPr>
          </a:p>
          <a:p>
            <a:r>
              <a:rPr lang="zh-CN" altLang="en-US" sz="2400" b="1"/>
              <a:t>         结论：</a:t>
            </a:r>
            <a:r>
              <a:rPr sz="2400" b="1">
                <a:solidFill>
                  <a:srgbClr val="FF0000"/>
                </a:solidFill>
                <a:sym typeface="+mn-ea"/>
              </a:rPr>
              <a:t>有些</a:t>
            </a:r>
            <a:r>
              <a:rPr sz="2400" b="1">
                <a:solidFill>
                  <a:srgbClr val="7030A0"/>
                </a:solidFill>
                <a:sym typeface="+mn-ea"/>
              </a:rPr>
              <a:t>非常严谨的科学家</a:t>
            </a:r>
            <a:r>
              <a:rPr sz="2400" b="1">
                <a:solidFill>
                  <a:srgbClr val="FF0000"/>
                </a:solidFill>
                <a:sym typeface="+mn-ea"/>
              </a:rPr>
              <a:t>也</a:t>
            </a:r>
            <a:r>
              <a:rPr sz="2400" b="1">
                <a:solidFill>
                  <a:srgbClr val="00B050"/>
                </a:solidFill>
                <a:sym typeface="+mn-ea"/>
              </a:rPr>
              <a:t>相信UFO真的存在</a:t>
            </a:r>
            <a:endParaRPr sz="2400" b="1">
              <a:solidFill>
                <a:srgbClr val="00B050"/>
              </a:solidFill>
              <a:sym typeface="+mn-ea"/>
            </a:endParaRPr>
          </a:p>
          <a:p>
            <a:r>
              <a:rPr lang="zh-CN" altLang="en-US" sz="2400" b="1">
                <a:solidFill>
                  <a:schemeClr val="tx1"/>
                </a:solidFill>
                <a:sym typeface="+mn-ea"/>
              </a:rPr>
              <a:t>这是三段论推理。缺的前提一个包含</a:t>
            </a:r>
            <a:r>
              <a:rPr lang="en-US" altLang="zh-CN" sz="2400" b="1">
                <a:solidFill>
                  <a:schemeClr val="tx1"/>
                </a:solidFill>
                <a:sym typeface="+mn-ea"/>
              </a:rPr>
              <a:t>“</a:t>
            </a:r>
            <a:r>
              <a:rPr sz="2400" b="1">
                <a:solidFill>
                  <a:srgbClr val="7030A0"/>
                </a:solidFill>
                <a:sym typeface="+mn-ea"/>
              </a:rPr>
              <a:t>参与讲座的人</a:t>
            </a:r>
            <a:r>
              <a:rPr lang="en-US" altLang="zh-CN" sz="2400" b="1">
                <a:solidFill>
                  <a:schemeClr val="tx1"/>
                </a:solidFill>
                <a:sym typeface="+mn-ea"/>
              </a:rPr>
              <a:t>”</a:t>
            </a:r>
            <a:r>
              <a:rPr sz="2400" b="1">
                <a:solidFill>
                  <a:schemeClr val="tx1"/>
                </a:solidFill>
                <a:sym typeface="+mn-ea"/>
              </a:rPr>
              <a:t>和</a:t>
            </a:r>
            <a:r>
              <a:rPr lang="en-US" altLang="zh-CN" sz="2400" b="1">
                <a:solidFill>
                  <a:schemeClr val="tx1"/>
                </a:solidFill>
                <a:sym typeface="+mn-ea"/>
              </a:rPr>
              <a:t>“</a:t>
            </a:r>
            <a:r>
              <a:rPr sz="2400" b="1">
                <a:solidFill>
                  <a:srgbClr val="7030A0"/>
                </a:solidFill>
                <a:sym typeface="+mn-ea"/>
              </a:rPr>
              <a:t>非常严谨的科学家</a:t>
            </a:r>
            <a:r>
              <a:rPr lang="en-US" altLang="zh-CN" sz="2400" b="1">
                <a:solidFill>
                  <a:schemeClr val="tx1"/>
                </a:solidFill>
                <a:sym typeface="+mn-ea"/>
              </a:rPr>
              <a:t>”</a:t>
            </a:r>
            <a:r>
              <a:rPr sz="2400" b="1">
                <a:solidFill>
                  <a:schemeClr val="tx1"/>
                </a:solidFill>
                <a:sym typeface="+mn-ea"/>
              </a:rPr>
              <a:t>，故选</a:t>
            </a:r>
            <a:r>
              <a:rPr lang="en-US" altLang="zh-CN" sz="2400" b="1">
                <a:solidFill>
                  <a:schemeClr val="tx1"/>
                </a:solidFill>
                <a:sym typeface="+mn-ea"/>
              </a:rPr>
              <a:t>C</a:t>
            </a:r>
            <a:r>
              <a:rPr sz="2400" b="1">
                <a:solidFill>
                  <a:schemeClr val="tx1"/>
                </a:solidFill>
                <a:sym typeface="+mn-ea"/>
              </a:rPr>
              <a:t>。</a:t>
            </a:r>
            <a:endParaRPr sz="2400" b="1">
              <a:solidFill>
                <a:schemeClr val="tx1"/>
              </a:solidFill>
              <a:sym typeface="+mn-ea"/>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59915"/>
            <a:ext cx="10852237" cy="648000"/>
          </a:xfrm>
        </p:spPr>
        <p:txBody>
          <a:bodyPr/>
          <a:p>
            <a:r>
              <a:rPr lang="zh-CN" altLang="en-US"/>
              <a:t>作业</a:t>
            </a:r>
            <a:r>
              <a:rPr lang="en-US" altLang="zh-CN"/>
              <a:t>1</a:t>
            </a:r>
            <a:endParaRPr lang="en-US" altLang="zh-CN"/>
          </a:p>
        </p:txBody>
      </p:sp>
      <p:sp>
        <p:nvSpPr>
          <p:cNvPr id="3" name="内容占位符 2"/>
          <p:cNvSpPr>
            <a:spLocks noGrp="1"/>
          </p:cNvSpPr>
          <p:nvPr>
            <p:ph idx="1"/>
          </p:nvPr>
        </p:nvSpPr>
        <p:spPr>
          <a:xfrm>
            <a:off x="669925" y="1055370"/>
            <a:ext cx="10852150" cy="5281930"/>
          </a:xfrm>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127</a:t>
            </a:r>
            <a:r>
              <a:rPr sz="2400" b="1"/>
              <a:t>：</a:t>
            </a:r>
            <a:r>
              <a:rPr lang="zh-CN" altLang="en-US" sz="2400" b="1"/>
              <a:t>关于某商务宾馆前台的15名服务员，有如下三个判断：</a:t>
            </a:r>
            <a:endParaRPr lang="zh-CN" altLang="en-US" sz="2400" b="1"/>
          </a:p>
          <a:p>
            <a:r>
              <a:rPr lang="zh-CN" altLang="en-US" sz="2400" b="1"/>
              <a:t>I.有人会熟练地说英语</a:t>
            </a:r>
            <a:endParaRPr lang="zh-CN" altLang="en-US" sz="2400" b="1"/>
          </a:p>
          <a:p>
            <a:r>
              <a:rPr lang="zh-CN" altLang="en-US" sz="2400" b="1"/>
              <a:t>II.有人不会熟练地说英语</a:t>
            </a:r>
            <a:endParaRPr lang="zh-CN" altLang="en-US" sz="2400" b="1"/>
          </a:p>
          <a:p>
            <a:r>
              <a:rPr lang="zh-CN" altLang="en-US" sz="2400" b="1"/>
              <a:t>III.新来的小刘不会熟练地说英语</a:t>
            </a:r>
            <a:endParaRPr lang="zh-CN" altLang="en-US" sz="2400" b="1"/>
          </a:p>
          <a:p>
            <a:r>
              <a:rPr lang="zh-CN" altLang="en-US" sz="2400" b="1"/>
              <a:t>若这三个判断中只有一句为真，以下哪项也一定为真？</a:t>
            </a:r>
            <a:endParaRPr lang="zh-CN" altLang="en-US" sz="2400" b="1"/>
          </a:p>
          <a:p>
            <a:r>
              <a:rPr lang="zh-CN" altLang="en-US" sz="2400" b="1"/>
              <a:t>A.15名服务员都会熟练地说英语</a:t>
            </a:r>
            <a:endParaRPr lang="zh-CN" altLang="en-US" sz="2400" b="1"/>
          </a:p>
          <a:p>
            <a:r>
              <a:rPr lang="zh-CN" altLang="en-US" sz="2400" b="1"/>
              <a:t>B.15名服务员都不会熟练地说英语</a:t>
            </a:r>
            <a:endParaRPr lang="zh-CN" altLang="en-US" sz="2400" b="1"/>
          </a:p>
          <a:p>
            <a:r>
              <a:rPr lang="zh-CN" altLang="en-US" sz="2400" b="1"/>
              <a:t>C.仅有一人会熟练地说英语</a:t>
            </a:r>
            <a:endParaRPr lang="zh-CN" altLang="en-US" sz="2400" b="1"/>
          </a:p>
          <a:p>
            <a:r>
              <a:rPr lang="zh-CN" altLang="en-US" sz="2400" b="1"/>
              <a:t>D.仅有一人不会熟练地说英语</a:t>
            </a:r>
            <a:endParaRPr lang="zh-CN" altLang="en-US" sz="2400" b="1"/>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81940"/>
            <a:ext cx="10852150" cy="6055360"/>
          </a:xfrm>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127</a:t>
            </a:r>
            <a:r>
              <a:rPr sz="2400" b="1">
                <a:solidFill>
                  <a:srgbClr val="00B050"/>
                </a:solidFill>
                <a:latin typeface="+mn-ea"/>
                <a:cs typeface="+mn-ea"/>
              </a:rPr>
              <a:t>分析</a:t>
            </a:r>
            <a:r>
              <a:rPr sz="2400" b="1"/>
              <a:t>：</a:t>
            </a:r>
            <a:r>
              <a:rPr lang="zh-CN" altLang="en-US" sz="2400" b="1"/>
              <a:t>关于某商务宾馆前台的15名服务员，有如下三个判断：</a:t>
            </a:r>
            <a:endParaRPr lang="zh-CN" altLang="en-US" sz="2400" b="1"/>
          </a:p>
          <a:p>
            <a:r>
              <a:rPr lang="zh-CN" altLang="en-US" sz="2400" b="1"/>
              <a:t>I.有人会熟练地说英语               II.有人不会熟练地说英语</a:t>
            </a:r>
            <a:endParaRPr lang="zh-CN" altLang="en-US" sz="2400" b="1"/>
          </a:p>
          <a:p>
            <a:r>
              <a:rPr lang="zh-CN" altLang="en-US" sz="2400" b="1"/>
              <a:t>III.新来的小刘不会熟练地说英语</a:t>
            </a:r>
            <a:endParaRPr lang="zh-CN" altLang="en-US" sz="2400" b="1"/>
          </a:p>
          <a:p>
            <a:r>
              <a:rPr lang="zh-CN" altLang="en-US" sz="2400" b="1"/>
              <a:t>若这三个判断中只有一句为真，以下哪项也一定为真？</a:t>
            </a:r>
            <a:endParaRPr lang="zh-CN" altLang="en-US" sz="2400" b="1"/>
          </a:p>
          <a:p>
            <a:r>
              <a:rPr lang="zh-CN" altLang="en-US" sz="2400" b="1"/>
              <a:t>A.15名服务员都会熟练地说英语     B.15名服务员都不会熟练地说英语</a:t>
            </a:r>
            <a:endParaRPr lang="zh-CN" altLang="en-US" sz="2400" b="1"/>
          </a:p>
          <a:p>
            <a:r>
              <a:rPr lang="zh-CN" altLang="en-US" sz="2400" b="1"/>
              <a:t>C.仅有一人会熟练地说英语            D.仅有一人不会熟练地说英语</a:t>
            </a:r>
            <a:endParaRPr lang="zh-CN" altLang="en-US" sz="2400" b="1"/>
          </a:p>
          <a:p>
            <a:r>
              <a:rPr lang="zh-CN" altLang="en-US" sz="2400" b="1">
                <a:solidFill>
                  <a:schemeClr val="tx1"/>
                </a:solidFill>
              </a:rPr>
              <a:t>分析：</a:t>
            </a:r>
            <a:r>
              <a:rPr lang="zh-CN" altLang="en-US" sz="2400" b="1">
                <a:solidFill>
                  <a:srgbClr val="FF0000"/>
                </a:solidFill>
              </a:rPr>
              <a:t>假设</a:t>
            </a:r>
            <a:r>
              <a:rPr sz="2400" b="1">
                <a:solidFill>
                  <a:srgbClr val="FF0000"/>
                </a:solidFill>
                <a:sym typeface="+mn-ea"/>
              </a:rPr>
              <a:t>III为真，则II为真，与只有一句真矛盾</a:t>
            </a:r>
            <a:r>
              <a:rPr sz="2400" b="1">
                <a:sym typeface="+mn-ea"/>
              </a:rPr>
              <a:t>，故</a:t>
            </a:r>
            <a:r>
              <a:rPr lang="en-US" altLang="zh-CN" sz="2400" b="1">
                <a:sym typeface="+mn-ea"/>
              </a:rPr>
              <a:t>III</a:t>
            </a:r>
            <a:r>
              <a:rPr sz="2400" b="1">
                <a:sym typeface="+mn-ea"/>
              </a:rPr>
              <a:t>为假，故小刘会说英语，故</a:t>
            </a:r>
            <a:r>
              <a:rPr lang="en-US" altLang="zh-CN" sz="2400" b="1">
                <a:sym typeface="+mn-ea"/>
              </a:rPr>
              <a:t>I</a:t>
            </a:r>
            <a:r>
              <a:rPr sz="2400" b="1">
                <a:sym typeface="+mn-ea"/>
              </a:rPr>
              <a:t>真，</a:t>
            </a:r>
            <a:r>
              <a:rPr lang="en-US" altLang="zh-CN" sz="2400" b="1">
                <a:sym typeface="+mn-ea"/>
              </a:rPr>
              <a:t>II</a:t>
            </a:r>
            <a:r>
              <a:rPr sz="2400" b="1">
                <a:sym typeface="+mn-ea"/>
              </a:rPr>
              <a:t>假，即</a:t>
            </a:r>
            <a:r>
              <a:rPr lang="en-US" altLang="zh-CN" sz="2400" b="1">
                <a:sym typeface="+mn-ea"/>
              </a:rPr>
              <a:t>“</a:t>
            </a:r>
            <a:r>
              <a:rPr sz="2400" b="1">
                <a:sym typeface="+mn-ea"/>
              </a:rPr>
              <a:t>有人不会熟练地说英语</a:t>
            </a:r>
            <a:r>
              <a:rPr lang="en-US" altLang="zh-CN" sz="2400" b="1">
                <a:sym typeface="+mn-ea"/>
              </a:rPr>
              <a:t>”</a:t>
            </a:r>
            <a:r>
              <a:rPr sz="2400" b="1">
                <a:sym typeface="+mn-ea"/>
              </a:rPr>
              <a:t>为假，</a:t>
            </a:r>
            <a:r>
              <a:rPr sz="2400" b="1">
                <a:solidFill>
                  <a:srgbClr val="FF0000"/>
                </a:solidFill>
                <a:sym typeface="+mn-ea"/>
              </a:rPr>
              <a:t>故选</a:t>
            </a:r>
            <a:r>
              <a:rPr lang="en-US" altLang="zh-CN" sz="2400" b="1">
                <a:solidFill>
                  <a:srgbClr val="FF0000"/>
                </a:solidFill>
                <a:sym typeface="+mn-ea"/>
              </a:rPr>
              <a:t>A</a:t>
            </a:r>
            <a:r>
              <a:rPr lang="en-US" altLang="zh-CN" sz="2400" b="1">
                <a:sym typeface="+mn-ea"/>
              </a:rPr>
              <a:t>.</a:t>
            </a:r>
            <a:endParaRPr lang="en-US" altLang="zh-CN" sz="2400" b="1">
              <a:sym typeface="+mn-ea"/>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r>
              <a:rPr lang="en-US" altLang="zh-CN"/>
              <a:t>2</a:t>
            </a:r>
            <a:endParaRPr lang="en-US" altLang="zh-CN"/>
          </a:p>
        </p:txBody>
      </p:sp>
      <p:sp>
        <p:nvSpPr>
          <p:cNvPr id="3" name="内容占位符 2"/>
          <p:cNvSpPr>
            <a:spLocks noGrp="1"/>
          </p:cNvSpPr>
          <p:nvPr>
            <p:ph idx="1"/>
          </p:nvPr>
        </p:nvSpPr>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128</a:t>
            </a:r>
            <a:r>
              <a:rPr sz="2400" b="1"/>
              <a:t>：</a:t>
            </a:r>
            <a:r>
              <a:rPr lang="zh-CN" altLang="en-US" sz="2400" b="1"/>
              <a:t>出于安全考虑，使用年限超过10年的电梯必须更换钢索。在必须更换钢索的电梯中有一些是S品牌的。所有S品牌电梯都不存在安全隐患。由此可以推出：</a:t>
            </a:r>
            <a:endParaRPr lang="zh-CN" altLang="en-US" sz="2400" b="1"/>
          </a:p>
          <a:p>
            <a:r>
              <a:rPr lang="zh-CN" altLang="en-US" sz="2400" b="1"/>
              <a:t>A.有些存在安全隐患的电梯必须更换钢索</a:t>
            </a:r>
            <a:endParaRPr lang="zh-CN" altLang="en-US" sz="2400" b="1"/>
          </a:p>
          <a:p>
            <a:r>
              <a:rPr lang="zh-CN" altLang="en-US" sz="2400" b="1"/>
              <a:t>B.有些S品牌的电梯必须更换钢索</a:t>
            </a:r>
            <a:endParaRPr lang="zh-CN" altLang="en-US" sz="2400" b="1"/>
          </a:p>
          <a:p>
            <a:r>
              <a:rPr lang="zh-CN" altLang="en-US" sz="2400" b="1"/>
              <a:t>C.有些S品牌的电梯不需要更换钢索</a:t>
            </a:r>
            <a:endParaRPr lang="zh-CN" altLang="en-US" sz="2400" b="1"/>
          </a:p>
          <a:p>
            <a:r>
              <a:rPr lang="zh-CN" altLang="en-US" sz="2400" b="1"/>
              <a:t>D.所有必须更换钢索的电梯使用年限都超过了10年</a:t>
            </a:r>
            <a:endParaRPr lang="zh-CN" altLang="en-US" sz="2400" b="1"/>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187960"/>
            <a:ext cx="10852150" cy="6149340"/>
          </a:xfrm>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128</a:t>
            </a:r>
            <a:r>
              <a:rPr sz="2400" b="1">
                <a:solidFill>
                  <a:srgbClr val="00B050"/>
                </a:solidFill>
                <a:latin typeface="+mn-ea"/>
                <a:cs typeface="+mn-ea"/>
              </a:rPr>
              <a:t>分析</a:t>
            </a:r>
            <a:r>
              <a:rPr sz="2400" b="1"/>
              <a:t>：</a:t>
            </a:r>
            <a:r>
              <a:rPr lang="zh-CN" altLang="en-US" sz="2400" b="1"/>
              <a:t>出于安全考虑，</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使用年限超过10年的电梯必须更换钢索</a:t>
            </a:r>
            <a:r>
              <a:rPr lang="zh-CN" altLang="en-US" sz="2400" b="1"/>
              <a:t>。</a:t>
            </a:r>
            <a:r>
              <a:rPr lang="zh-CN" altLang="en-US" sz="2400" b="1">
                <a:solidFill>
                  <a:srgbClr val="00B050"/>
                </a:solidFill>
                <a:latin typeface="宋体" panose="02010600030101010101" pitchFamily="2" charset="-122"/>
                <a:ea typeface="宋体" panose="02010600030101010101" pitchFamily="2" charset="-122"/>
              </a:rPr>
              <a:t>②</a:t>
            </a:r>
            <a:r>
              <a:rPr lang="zh-CN" altLang="en-US" sz="2400" b="1"/>
              <a:t>在必须更换钢索的电梯中有一些是S品牌的。</a:t>
            </a:r>
            <a:r>
              <a:rPr lang="zh-CN" altLang="en-US" sz="2400" b="1">
                <a:solidFill>
                  <a:srgbClr val="FF0000"/>
                </a:solidFill>
                <a:latin typeface="宋体" panose="02010600030101010101" pitchFamily="2" charset="-122"/>
                <a:ea typeface="宋体" panose="02010600030101010101" pitchFamily="2" charset="-122"/>
              </a:rPr>
              <a:t>③</a:t>
            </a:r>
            <a:r>
              <a:rPr lang="zh-CN" altLang="en-US" sz="2400" b="1">
                <a:solidFill>
                  <a:srgbClr val="FF0000"/>
                </a:solidFill>
              </a:rPr>
              <a:t>所有S品牌电梯都不存在安全隐患</a:t>
            </a:r>
            <a:r>
              <a:rPr lang="zh-CN" altLang="en-US" sz="2400" b="1"/>
              <a:t>。由此可以推出：</a:t>
            </a:r>
            <a:endParaRPr lang="zh-CN" altLang="en-US" sz="2400" b="1"/>
          </a:p>
          <a:p>
            <a:r>
              <a:rPr lang="zh-CN" altLang="en-US" sz="2400" b="1"/>
              <a:t>A.有些存在安全隐患的电梯必须更换钢索</a:t>
            </a:r>
            <a:endParaRPr lang="zh-CN" altLang="en-US" sz="2400" b="1"/>
          </a:p>
          <a:p>
            <a:r>
              <a:rPr lang="zh-CN" altLang="en-US" sz="2400" b="1"/>
              <a:t>B.有些S品牌的电梯必须更换钢索  C.有些S品牌的电梯不需要更换钢索</a:t>
            </a:r>
            <a:endParaRPr lang="zh-CN" altLang="en-US" sz="2400" b="1"/>
          </a:p>
          <a:p>
            <a:r>
              <a:rPr lang="zh-CN" altLang="en-US" sz="2400" b="1"/>
              <a:t>D.所有必须更换钢索的电梯使用年限都超过了10年</a:t>
            </a:r>
            <a:endParaRPr lang="zh-CN" altLang="en-US" sz="2400" b="1"/>
          </a:p>
          <a:p>
            <a:r>
              <a:rPr lang="zh-CN" altLang="en-US" sz="2400" b="1"/>
              <a:t>分析：</a:t>
            </a:r>
            <a:r>
              <a:rPr lang="en-US" altLang="zh-CN" sz="2400" b="1">
                <a:solidFill>
                  <a:srgbClr val="00B050"/>
                </a:solidFill>
                <a:latin typeface="+mn-ea"/>
                <a:cs typeface="+mn-ea"/>
                <a:sym typeface="+mn-ea"/>
              </a:rPr>
              <a:t>SIP</a:t>
            </a:r>
            <a:r>
              <a:rPr lang="en-US" altLang="zh-CN" sz="2400" b="1">
                <a:solidFill>
                  <a:srgbClr val="00B050"/>
                </a:solidFill>
                <a:latin typeface="+mn-ea"/>
                <a:cs typeface="+mn-ea"/>
                <a:sym typeface="Symbol" panose="05050102010706020507" charset="0"/>
              </a:rPr>
              <a:t>PIS</a:t>
            </a:r>
            <a:r>
              <a:rPr sz="2400" b="1">
                <a:solidFill>
                  <a:srgbClr val="00B050"/>
                </a:solidFill>
                <a:latin typeface="+mn-ea"/>
                <a:cs typeface="+mn-ea"/>
                <a:sym typeface="+mn-ea"/>
              </a:rPr>
              <a:t>②</a:t>
            </a:r>
            <a:r>
              <a:rPr sz="2400" b="1">
                <a:solidFill>
                  <a:srgbClr val="00B050"/>
                </a:solidFill>
                <a:latin typeface="+mn-ea"/>
                <a:cs typeface="+mn-ea"/>
                <a:sym typeface="Symbol" panose="05050102010706020507" charset="0"/>
              </a:rPr>
              <a:t>换位得</a:t>
            </a:r>
            <a:r>
              <a:rPr lang="en-US" altLang="zh-CN" sz="2400" b="1">
                <a:solidFill>
                  <a:srgbClr val="00B050"/>
                </a:solidFill>
                <a:latin typeface="+mn-ea"/>
                <a:cs typeface="+mn-ea"/>
                <a:sym typeface="Symbol" panose="05050102010706020507" charset="0"/>
              </a:rPr>
              <a:t>“</a:t>
            </a:r>
            <a:r>
              <a:rPr sz="2400" b="1">
                <a:solidFill>
                  <a:srgbClr val="00B050"/>
                </a:solidFill>
                <a:latin typeface="+mn-ea"/>
                <a:cs typeface="+mn-ea"/>
                <a:sym typeface="+mn-ea"/>
              </a:rPr>
              <a:t>有一些S品牌的电梯必须更换钢索</a:t>
            </a:r>
            <a:r>
              <a:rPr lang="en-US" altLang="zh-CN" sz="2400" b="1">
                <a:solidFill>
                  <a:srgbClr val="00B050"/>
                </a:solidFill>
                <a:latin typeface="+mn-ea"/>
                <a:cs typeface="+mn-ea"/>
                <a:sym typeface="Symbol" panose="05050102010706020507" charset="0"/>
              </a:rPr>
              <a:t>”</a:t>
            </a:r>
            <a:r>
              <a:rPr sz="2400" b="1">
                <a:solidFill>
                  <a:srgbClr val="00B050"/>
                </a:solidFill>
                <a:latin typeface="+mn-ea"/>
                <a:cs typeface="+mn-ea"/>
                <a:sym typeface="Symbol" panose="05050102010706020507" charset="0"/>
              </a:rPr>
              <a:t>，即</a:t>
            </a:r>
            <a:r>
              <a:rPr lang="en-US" altLang="zh-CN" sz="2400" b="1">
                <a:solidFill>
                  <a:srgbClr val="00B050"/>
                </a:solidFill>
                <a:latin typeface="+mn-ea"/>
                <a:cs typeface="+mn-ea"/>
                <a:sym typeface="Symbol" panose="05050102010706020507" charset="0"/>
              </a:rPr>
              <a:t>B</a:t>
            </a:r>
            <a:r>
              <a:rPr sz="2400" b="1">
                <a:solidFill>
                  <a:srgbClr val="00B050"/>
                </a:solidFill>
                <a:latin typeface="+mn-ea"/>
                <a:cs typeface="+mn-ea"/>
                <a:sym typeface="Symbol" panose="05050102010706020507" charset="0"/>
              </a:rPr>
              <a:t>。</a:t>
            </a:r>
            <a:endParaRPr sz="2400" b="1">
              <a:solidFill>
                <a:srgbClr val="00B050"/>
              </a:solidFill>
              <a:latin typeface="+mn-ea"/>
              <a:cs typeface="+mn-ea"/>
              <a:sym typeface="Symbol" panose="05050102010706020507" charset="0"/>
            </a:endParaRPr>
          </a:p>
          <a:p>
            <a:r>
              <a:rPr sz="2400" b="1">
                <a:solidFill>
                  <a:srgbClr val="7030A0"/>
                </a:solidFill>
                <a:latin typeface="+mn-ea"/>
                <a:cs typeface="+mn-ea"/>
                <a:sym typeface="Symbol" panose="05050102010706020507" charset="0"/>
              </a:rPr>
              <a:t>由</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有些是</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推不出</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有些不</a:t>
            </a:r>
            <a:r>
              <a:rPr lang="en-US" altLang="zh-CN" sz="2400" b="1">
                <a:solidFill>
                  <a:srgbClr val="7030A0"/>
                </a:solidFill>
                <a:latin typeface="+mn-ea"/>
                <a:cs typeface="+mn-ea"/>
                <a:sym typeface="Symbol" panose="05050102010706020507" charset="0"/>
              </a:rPr>
              <a:t>”</a:t>
            </a:r>
            <a:r>
              <a:rPr lang="en-US" altLang="zh-CN" sz="2400" b="1">
                <a:solidFill>
                  <a:schemeClr val="tx1"/>
                </a:solidFill>
                <a:latin typeface="+mn-ea"/>
                <a:cs typeface="+mn-ea"/>
                <a:sym typeface="Symbol" panose="05050102010706020507" charset="0"/>
              </a:rPr>
              <a:t>,</a:t>
            </a:r>
            <a:r>
              <a:rPr sz="2400" b="1">
                <a:solidFill>
                  <a:schemeClr val="tx1"/>
                </a:solidFill>
                <a:latin typeface="+mn-ea"/>
                <a:cs typeface="+mn-ea"/>
                <a:sym typeface="Symbol" panose="05050102010706020507" charset="0"/>
              </a:rPr>
              <a:t>即由</a:t>
            </a:r>
            <a:r>
              <a:rPr lang="en-US" altLang="zh-CN" sz="2400" b="1">
                <a:solidFill>
                  <a:schemeClr val="tx1"/>
                </a:solidFill>
                <a:latin typeface="+mn-ea"/>
                <a:cs typeface="+mn-ea"/>
                <a:sym typeface="Symbol" panose="05050102010706020507" charset="0"/>
              </a:rPr>
              <a:t>B</a:t>
            </a:r>
            <a:r>
              <a:rPr sz="2400" b="1">
                <a:solidFill>
                  <a:schemeClr val="tx1"/>
                </a:solidFill>
                <a:latin typeface="+mn-ea"/>
                <a:cs typeface="+mn-ea"/>
                <a:sym typeface="Symbol" panose="05050102010706020507" charset="0"/>
              </a:rPr>
              <a:t>推不出</a:t>
            </a:r>
            <a:r>
              <a:rPr lang="en-US" altLang="zh-CN" sz="2400" b="1">
                <a:solidFill>
                  <a:schemeClr val="tx1"/>
                </a:solidFill>
                <a:latin typeface="+mn-ea"/>
                <a:cs typeface="+mn-ea"/>
                <a:sym typeface="Symbol" panose="05050102010706020507" charset="0"/>
              </a:rPr>
              <a:t>C</a:t>
            </a:r>
            <a:r>
              <a:rPr sz="2400" b="1">
                <a:solidFill>
                  <a:schemeClr val="tx1"/>
                </a:solidFill>
                <a:latin typeface="+mn-ea"/>
                <a:cs typeface="+mn-ea"/>
                <a:sym typeface="Symbol" panose="05050102010706020507" charset="0"/>
              </a:rPr>
              <a:t>。</a:t>
            </a:r>
            <a:r>
              <a:rPr lang="en-US" altLang="zh-CN" sz="2400" b="1">
                <a:solidFill>
                  <a:schemeClr val="tx1"/>
                </a:solidFill>
                <a:latin typeface="+mn-ea"/>
                <a:cs typeface="+mn-ea"/>
                <a:sym typeface="Symbol" panose="05050102010706020507" charset="0"/>
              </a:rPr>
              <a:t>SEP</a:t>
            </a:r>
            <a:r>
              <a:rPr lang="en-US" altLang="zh-CN" sz="2400" b="1">
                <a:solidFill>
                  <a:srgbClr val="00B050"/>
                </a:solidFill>
                <a:latin typeface="+mn-ea"/>
                <a:cs typeface="+mn-ea"/>
                <a:sym typeface="Symbol" panose="05050102010706020507" charset="0"/>
              </a:rPr>
              <a:t>PES</a:t>
            </a:r>
            <a:r>
              <a:rPr sz="2400" b="1">
                <a:solidFill>
                  <a:srgbClr val="FF0000"/>
                </a:solidFill>
                <a:latin typeface="宋体" panose="02010600030101010101" pitchFamily="2" charset="-122"/>
                <a:ea typeface="宋体" panose="02010600030101010101" pitchFamily="2" charset="-122"/>
                <a:sym typeface="+mn-ea"/>
              </a:rPr>
              <a:t>③</a:t>
            </a:r>
            <a:r>
              <a:rPr sz="2400" b="1">
                <a:solidFill>
                  <a:srgbClr val="FF0000"/>
                </a:solidFill>
                <a:latin typeface="+mn-ea"/>
                <a:sym typeface="+mn-ea"/>
              </a:rPr>
              <a:t>换位得</a:t>
            </a:r>
            <a:r>
              <a:rPr lang="en-US" altLang="zh-CN" sz="2400" b="1">
                <a:solidFill>
                  <a:srgbClr val="FF0000"/>
                </a:solidFill>
                <a:latin typeface="宋体" panose="02010600030101010101" pitchFamily="2" charset="-122"/>
                <a:ea typeface="宋体" panose="02010600030101010101" pitchFamily="2" charset="-122"/>
                <a:sym typeface="+mn-ea"/>
              </a:rPr>
              <a:t>“</a:t>
            </a:r>
            <a:r>
              <a:rPr sz="2400" b="1">
                <a:solidFill>
                  <a:srgbClr val="FF0000"/>
                </a:solidFill>
                <a:sym typeface="+mn-ea"/>
              </a:rPr>
              <a:t>所有存在安全隐患的电梯都不是</a:t>
            </a:r>
            <a:r>
              <a:rPr sz="2400" b="1">
                <a:solidFill>
                  <a:srgbClr val="FF0000"/>
                </a:solidFill>
                <a:sym typeface="+mn-ea"/>
              </a:rPr>
              <a:t>S品牌的</a:t>
            </a:r>
            <a:r>
              <a:rPr lang="en-US" altLang="zh-CN" sz="2400" b="1">
                <a:solidFill>
                  <a:srgbClr val="FF0000"/>
                </a:solidFill>
                <a:latin typeface="宋体" panose="02010600030101010101" pitchFamily="2" charset="-122"/>
                <a:ea typeface="宋体" panose="02010600030101010101" pitchFamily="2" charset="-122"/>
                <a:sym typeface="+mn-ea"/>
              </a:rPr>
              <a:t>”</a:t>
            </a:r>
            <a:r>
              <a:rPr sz="2400" b="1">
                <a:solidFill>
                  <a:srgbClr val="FF0000"/>
                </a:solidFill>
                <a:latin typeface="宋体" panose="02010600030101010101" pitchFamily="2" charset="-122"/>
                <a:ea typeface="宋体" panose="02010600030101010101" pitchFamily="2" charset="-122"/>
                <a:sym typeface="+mn-ea"/>
              </a:rPr>
              <a:t>，</a:t>
            </a:r>
            <a:r>
              <a:rPr sz="2400" b="1">
                <a:solidFill>
                  <a:schemeClr val="tx1"/>
                </a:solidFill>
                <a:latin typeface="+mn-ea"/>
                <a:cs typeface="+mn-ea"/>
                <a:sym typeface="+mn-ea"/>
              </a:rPr>
              <a:t>可见</a:t>
            </a:r>
            <a:r>
              <a:rPr lang="en-US" altLang="zh-CN" sz="2400" b="1">
                <a:solidFill>
                  <a:schemeClr val="tx1"/>
                </a:solidFill>
                <a:latin typeface="+mn-ea"/>
                <a:cs typeface="+mn-ea"/>
                <a:sym typeface="+mn-ea"/>
              </a:rPr>
              <a:t>“</a:t>
            </a:r>
            <a:r>
              <a:rPr sz="2400" b="1">
                <a:solidFill>
                  <a:schemeClr val="tx1"/>
                </a:solidFill>
                <a:latin typeface="+mn-ea"/>
                <a:cs typeface="+mn-ea"/>
                <a:sym typeface="+mn-ea"/>
              </a:rPr>
              <a:t>存在安全隐患</a:t>
            </a:r>
            <a:r>
              <a:rPr lang="en-US" altLang="zh-CN" sz="2400" b="1">
                <a:solidFill>
                  <a:schemeClr val="tx1"/>
                </a:solidFill>
                <a:latin typeface="+mn-ea"/>
                <a:cs typeface="+mn-ea"/>
                <a:sym typeface="+mn-ea"/>
              </a:rPr>
              <a:t>”</a:t>
            </a:r>
            <a:r>
              <a:rPr sz="2400" b="1">
                <a:solidFill>
                  <a:schemeClr val="tx1"/>
                </a:solidFill>
                <a:latin typeface="+mn-ea"/>
                <a:cs typeface="+mn-ea"/>
                <a:sym typeface="+mn-ea"/>
              </a:rPr>
              <a:t>与</a:t>
            </a:r>
            <a:r>
              <a:rPr lang="en-US" altLang="zh-CN" sz="2400" b="1">
                <a:solidFill>
                  <a:schemeClr val="tx1"/>
                </a:solidFill>
                <a:latin typeface="+mn-ea"/>
                <a:cs typeface="+mn-ea"/>
                <a:sym typeface="+mn-ea"/>
              </a:rPr>
              <a:t>“</a:t>
            </a:r>
            <a:r>
              <a:rPr sz="2400" b="1">
                <a:solidFill>
                  <a:schemeClr val="tx1"/>
                </a:solidFill>
                <a:latin typeface="+mn-ea"/>
                <a:cs typeface="+mn-ea"/>
                <a:sym typeface="+mn-ea"/>
              </a:rPr>
              <a:t>更换钢索</a:t>
            </a:r>
            <a:r>
              <a:rPr lang="en-US" altLang="zh-CN" sz="2400" b="1">
                <a:solidFill>
                  <a:schemeClr val="tx1"/>
                </a:solidFill>
                <a:latin typeface="+mn-ea"/>
                <a:cs typeface="+mn-ea"/>
                <a:sym typeface="+mn-ea"/>
              </a:rPr>
              <a:t>”</a:t>
            </a:r>
            <a:r>
              <a:rPr sz="2400" b="1">
                <a:solidFill>
                  <a:schemeClr val="tx1"/>
                </a:solidFill>
                <a:latin typeface="+mn-ea"/>
                <a:cs typeface="+mn-ea"/>
                <a:sym typeface="+mn-ea"/>
              </a:rPr>
              <a:t>之间没有必然联系，</a:t>
            </a:r>
            <a:r>
              <a:rPr lang="en-US" altLang="zh-CN" sz="2400" b="1">
                <a:solidFill>
                  <a:schemeClr val="tx1"/>
                </a:solidFill>
                <a:latin typeface="+mn-ea"/>
                <a:cs typeface="+mn-ea"/>
                <a:sym typeface="+mn-ea"/>
              </a:rPr>
              <a:t>A</a:t>
            </a:r>
            <a:r>
              <a:rPr sz="2400" b="1">
                <a:solidFill>
                  <a:schemeClr val="tx1"/>
                </a:solidFill>
                <a:latin typeface="+mn-ea"/>
                <a:cs typeface="+mn-ea"/>
                <a:sym typeface="+mn-ea"/>
              </a:rPr>
              <a:t>不一定真。</a:t>
            </a:r>
            <a:r>
              <a:rPr lang="en-US" altLang="zh-CN" sz="2400" b="1">
                <a:solidFill>
                  <a:schemeClr val="tx1"/>
                </a:solidFill>
                <a:latin typeface="+mn-ea"/>
                <a:cs typeface="+mn-ea"/>
                <a:sym typeface="Symbol" panose="05050102010706020507" charset="0"/>
              </a:rPr>
              <a:t>SAP</a:t>
            </a:r>
            <a:r>
              <a:rPr lang="en-US" altLang="zh-CN" sz="2400" b="1">
                <a:solidFill>
                  <a:srgbClr val="00B050"/>
                </a:solidFill>
                <a:latin typeface="+mn-ea"/>
                <a:cs typeface="+mn-ea"/>
                <a:sym typeface="Symbol" panose="05050102010706020507" charset="0"/>
              </a:rPr>
              <a:t>PIS</a:t>
            </a:r>
            <a:r>
              <a:rPr sz="2400" b="1">
                <a:solidFill>
                  <a:srgbClr val="FF0000"/>
                </a:solidFill>
                <a:latin typeface="+mj-ea"/>
                <a:ea typeface="+mj-ea"/>
                <a:cs typeface="+mj-ea"/>
                <a:sym typeface="+mn-ea"/>
              </a:rPr>
              <a:t>①换位得</a:t>
            </a:r>
            <a:r>
              <a:rPr lang="en-US" altLang="zh-CN" sz="2400" b="1">
                <a:solidFill>
                  <a:srgbClr val="FF0000"/>
                </a:solidFill>
                <a:latin typeface="+mj-ea"/>
                <a:ea typeface="+mj-ea"/>
                <a:cs typeface="+mj-ea"/>
                <a:sym typeface="+mn-ea"/>
              </a:rPr>
              <a:t>“</a:t>
            </a:r>
            <a:r>
              <a:rPr sz="2400" b="1">
                <a:solidFill>
                  <a:srgbClr val="00B050"/>
                </a:solidFill>
                <a:latin typeface="+mj-ea"/>
                <a:ea typeface="+mj-ea"/>
                <a:cs typeface="+mj-ea"/>
                <a:sym typeface="+mn-ea"/>
              </a:rPr>
              <a:t>有些</a:t>
            </a:r>
            <a:r>
              <a:rPr sz="2400" b="1">
                <a:solidFill>
                  <a:srgbClr val="FF0000"/>
                </a:solidFill>
                <a:sym typeface="+mn-ea"/>
              </a:rPr>
              <a:t>必须更换钢索的电梯</a:t>
            </a:r>
            <a:r>
              <a:rPr sz="2400" b="1">
                <a:solidFill>
                  <a:srgbClr val="FF0000"/>
                </a:solidFill>
                <a:sym typeface="+mn-ea"/>
              </a:rPr>
              <a:t>使用年限超过10年</a:t>
            </a:r>
            <a:r>
              <a:rPr lang="en-US" altLang="zh-CN" sz="2400" b="1">
                <a:solidFill>
                  <a:srgbClr val="FF0000"/>
                </a:solidFill>
                <a:sym typeface="+mn-ea"/>
              </a:rPr>
              <a:t>”</a:t>
            </a:r>
            <a:r>
              <a:rPr sz="2400" b="1">
                <a:solidFill>
                  <a:schemeClr val="tx1"/>
                </a:solidFill>
                <a:sym typeface="+mn-ea"/>
              </a:rPr>
              <a:t>，不能推理</a:t>
            </a:r>
            <a:r>
              <a:rPr lang="en-US" altLang="zh-CN" sz="2400" b="1">
                <a:solidFill>
                  <a:schemeClr val="tx1"/>
                </a:solidFill>
                <a:sym typeface="+mn-ea"/>
              </a:rPr>
              <a:t>D</a:t>
            </a:r>
            <a:r>
              <a:rPr sz="2400" b="1">
                <a:solidFill>
                  <a:schemeClr val="tx1"/>
                </a:solidFill>
                <a:sym typeface="+mn-ea"/>
              </a:rPr>
              <a:t>，故选</a:t>
            </a:r>
            <a:r>
              <a:rPr lang="en-US" altLang="zh-CN" sz="2400" b="1">
                <a:solidFill>
                  <a:schemeClr val="tx1"/>
                </a:solidFill>
                <a:sym typeface="+mn-ea"/>
              </a:rPr>
              <a:t>B</a:t>
            </a:r>
            <a:r>
              <a:rPr sz="2400" b="1">
                <a:solidFill>
                  <a:schemeClr val="tx1"/>
                </a:solidFill>
                <a:sym typeface="+mn-ea"/>
              </a:rPr>
              <a:t>。</a:t>
            </a:r>
            <a:endParaRPr sz="2400" b="1">
              <a:solidFill>
                <a:schemeClr val="tx1"/>
              </a:solidFill>
              <a:latin typeface="宋体" panose="02010600030101010101" pitchFamily="2" charset="-122"/>
              <a:ea typeface="宋体" panose="02010600030101010101" pitchFamily="2" charset="-122"/>
              <a:cs typeface="+mn-ea"/>
              <a:sym typeface="+mn-ea"/>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r>
              <a:rPr lang="en-US" altLang="zh-CN"/>
              <a:t>3</a:t>
            </a:r>
            <a:endParaRPr lang="en-US" altLang="zh-CN"/>
          </a:p>
        </p:txBody>
      </p:sp>
      <p:sp>
        <p:nvSpPr>
          <p:cNvPr id="3" name="内容占位符 2"/>
          <p:cNvSpPr>
            <a:spLocks noGrp="1"/>
          </p:cNvSpPr>
          <p:nvPr>
            <p:ph idx="1"/>
          </p:nvPr>
        </p:nvSpPr>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129</a:t>
            </a:r>
            <a:r>
              <a:rPr sz="2400" b="1">
                <a:latin typeface="+mn-ea"/>
                <a:cs typeface="+mn-ea"/>
              </a:rPr>
              <a:t>：</a:t>
            </a:r>
            <a:r>
              <a:rPr lang="zh-CN" altLang="en-US" sz="2400" b="1">
                <a:latin typeface="+mn-ea"/>
                <a:cs typeface="+mn-ea"/>
              </a:rPr>
              <a:t>某知名跨国公司的总部员工中，所有懂英语的都不精通印尼语，有些懂英语的不精通西班牙语，有些懂韩语的精通印尼语，所有懂韩语的都精通西班牙语，有些懂韩语的精通英语。</a:t>
            </a:r>
            <a:endParaRPr lang="zh-CN" altLang="en-US" sz="2400" b="1">
              <a:latin typeface="+mn-ea"/>
              <a:cs typeface="+mn-ea"/>
            </a:endParaRPr>
          </a:p>
          <a:p>
            <a:r>
              <a:rPr lang="zh-CN" altLang="en-US" sz="2400" b="1">
                <a:latin typeface="+mn-ea"/>
                <a:cs typeface="+mn-ea"/>
              </a:rPr>
              <a:t>如果以上陈述为真，以下除哪项外也一定为真？</a:t>
            </a:r>
            <a:endParaRPr lang="zh-CN" altLang="en-US" sz="2400" b="1">
              <a:latin typeface="+mn-ea"/>
              <a:cs typeface="+mn-ea"/>
            </a:endParaRPr>
          </a:p>
          <a:p>
            <a:r>
              <a:rPr lang="zh-CN" altLang="en-US" sz="2400" b="1">
                <a:latin typeface="+mn-ea"/>
                <a:cs typeface="+mn-ea"/>
              </a:rPr>
              <a:t>A.有些懂韩语的员工不精通印尼语</a:t>
            </a:r>
            <a:endParaRPr lang="zh-CN" altLang="en-US" sz="2400" b="1">
              <a:latin typeface="+mn-ea"/>
              <a:cs typeface="+mn-ea"/>
            </a:endParaRPr>
          </a:p>
          <a:p>
            <a:r>
              <a:rPr lang="zh-CN" altLang="en-US" sz="2400" b="1">
                <a:latin typeface="+mn-ea"/>
                <a:cs typeface="+mn-ea"/>
              </a:rPr>
              <a:t>B.有些懂印尼语的不精通西班牙语</a:t>
            </a:r>
            <a:endParaRPr lang="zh-CN" altLang="en-US" sz="2400" b="1">
              <a:latin typeface="+mn-ea"/>
              <a:cs typeface="+mn-ea"/>
            </a:endParaRPr>
          </a:p>
          <a:p>
            <a:r>
              <a:rPr lang="zh-CN" altLang="en-US" sz="2400" b="1">
                <a:latin typeface="+mn-ea"/>
                <a:cs typeface="+mn-ea"/>
              </a:rPr>
              <a:t>C.有些懂韩语的员工不精通英语</a:t>
            </a:r>
            <a:endParaRPr lang="zh-CN" altLang="en-US" sz="2400" b="1">
              <a:latin typeface="+mn-ea"/>
              <a:cs typeface="+mn-ea"/>
            </a:endParaRPr>
          </a:p>
          <a:p>
            <a:r>
              <a:rPr lang="zh-CN" altLang="en-US" sz="2400" b="1">
                <a:latin typeface="+mn-ea"/>
                <a:cs typeface="+mn-ea"/>
              </a:rPr>
              <a:t>D.有些懂英语的不精通韩语</a:t>
            </a:r>
            <a:endParaRPr lang="zh-CN" altLang="en-US" sz="2400" b="1">
              <a:latin typeface="+mn-ea"/>
              <a:cs typeface="+mn-ea"/>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531495"/>
            <a:ext cx="10852150" cy="5805805"/>
          </a:xfrm>
        </p:spPr>
        <p:txBody>
          <a:bodyPr/>
          <a:p>
            <a:r>
              <a:rPr lang="zh-CN" altLang="en-US" sz="2400" b="1">
                <a:solidFill>
                  <a:srgbClr val="00B050"/>
                </a:solidFill>
                <a:latin typeface="+mn-ea"/>
                <a:cs typeface="+mn-ea"/>
              </a:rPr>
              <a:t>真题</a:t>
            </a:r>
            <a:r>
              <a:rPr lang="en-US" altLang="zh-CN" sz="2400" b="1">
                <a:solidFill>
                  <a:srgbClr val="00B050"/>
                </a:solidFill>
                <a:latin typeface="+mn-ea"/>
                <a:cs typeface="+mn-ea"/>
              </a:rPr>
              <a:t>129</a:t>
            </a:r>
            <a:r>
              <a:rPr sz="2400" b="1">
                <a:solidFill>
                  <a:srgbClr val="00B050"/>
                </a:solidFill>
                <a:latin typeface="+mn-ea"/>
                <a:cs typeface="+mn-ea"/>
              </a:rPr>
              <a:t>分析</a:t>
            </a:r>
            <a:r>
              <a:rPr sz="2400" b="1">
                <a:latin typeface="+mn-ea"/>
                <a:cs typeface="+mn-ea"/>
              </a:rPr>
              <a:t>：</a:t>
            </a:r>
            <a:r>
              <a:rPr lang="zh-CN" altLang="en-US" sz="2400" b="1">
                <a:latin typeface="+mn-ea"/>
                <a:cs typeface="+mn-ea"/>
              </a:rPr>
              <a:t>某知名跨国公司的总部员工中，</a:t>
            </a:r>
            <a:r>
              <a:rPr lang="zh-CN" altLang="en-US" sz="2400" b="1">
                <a:solidFill>
                  <a:srgbClr val="FF0000"/>
                </a:solidFill>
                <a:latin typeface="宋体" panose="02010600030101010101" pitchFamily="2" charset="-122"/>
                <a:ea typeface="宋体" panose="02010600030101010101" pitchFamily="2" charset="-122"/>
                <a:cs typeface="+mn-ea"/>
              </a:rPr>
              <a:t>①</a:t>
            </a:r>
            <a:r>
              <a:rPr lang="zh-CN" altLang="en-US" sz="2400" b="1">
                <a:solidFill>
                  <a:srgbClr val="FF0000"/>
                </a:solidFill>
                <a:latin typeface="+mn-ea"/>
                <a:cs typeface="+mn-ea"/>
              </a:rPr>
              <a:t>所有懂英语的都不精通印尼语</a:t>
            </a:r>
            <a:r>
              <a:rPr lang="zh-CN" altLang="en-US" sz="2400" b="1">
                <a:solidFill>
                  <a:schemeClr val="tx1"/>
                </a:solidFill>
                <a:latin typeface="+mn-ea"/>
                <a:cs typeface="+mn-ea"/>
              </a:rPr>
              <a:t>，</a:t>
            </a:r>
            <a:r>
              <a:rPr lang="zh-CN" altLang="en-US" sz="2400" b="1">
                <a:solidFill>
                  <a:srgbClr val="FF0000"/>
                </a:solidFill>
                <a:latin typeface="宋体" panose="02010600030101010101" pitchFamily="2" charset="-122"/>
                <a:ea typeface="宋体" panose="02010600030101010101" pitchFamily="2" charset="-122"/>
                <a:cs typeface="+mn-ea"/>
              </a:rPr>
              <a:t>②</a:t>
            </a:r>
            <a:r>
              <a:rPr lang="zh-CN" altLang="en-US" sz="2400" b="1">
                <a:latin typeface="+mn-ea"/>
                <a:cs typeface="+mn-ea"/>
              </a:rPr>
              <a:t>有些懂英语的不精通西班牙语，</a:t>
            </a:r>
            <a:r>
              <a:rPr lang="zh-CN" altLang="en-US" sz="2400" b="1">
                <a:solidFill>
                  <a:srgbClr val="FF0000"/>
                </a:solidFill>
                <a:latin typeface="宋体" panose="02010600030101010101" pitchFamily="2" charset="-122"/>
                <a:ea typeface="宋体" panose="02010600030101010101" pitchFamily="2" charset="-122"/>
                <a:cs typeface="+mn-ea"/>
              </a:rPr>
              <a:t>③</a:t>
            </a:r>
            <a:r>
              <a:rPr lang="zh-CN" altLang="en-US" sz="2400" b="1">
                <a:solidFill>
                  <a:srgbClr val="00B050"/>
                </a:solidFill>
                <a:latin typeface="+mn-ea"/>
                <a:cs typeface="+mn-ea"/>
              </a:rPr>
              <a:t>有些懂韩语的精通印尼语</a:t>
            </a:r>
            <a:r>
              <a:rPr lang="zh-CN" altLang="en-US" sz="2400" b="1">
                <a:latin typeface="+mn-ea"/>
                <a:cs typeface="+mn-ea"/>
              </a:rPr>
              <a:t>，</a:t>
            </a:r>
            <a:r>
              <a:rPr lang="zh-CN" altLang="en-US" sz="2400" b="1">
                <a:solidFill>
                  <a:srgbClr val="FF0000"/>
                </a:solidFill>
                <a:latin typeface="宋体" panose="02010600030101010101" pitchFamily="2" charset="-122"/>
                <a:ea typeface="宋体" panose="02010600030101010101" pitchFamily="2" charset="-122"/>
                <a:cs typeface="+mn-ea"/>
              </a:rPr>
              <a:t>④</a:t>
            </a:r>
            <a:r>
              <a:rPr lang="zh-CN" altLang="en-US" sz="2400" b="1">
                <a:solidFill>
                  <a:srgbClr val="00B050"/>
                </a:solidFill>
                <a:latin typeface="+mn-ea"/>
                <a:cs typeface="+mn-ea"/>
              </a:rPr>
              <a:t>所有懂韩语的都精通西班牙语</a:t>
            </a:r>
            <a:r>
              <a:rPr lang="zh-CN" altLang="en-US" sz="2400" b="1">
                <a:latin typeface="+mn-ea"/>
                <a:cs typeface="+mn-ea"/>
              </a:rPr>
              <a:t>，</a:t>
            </a:r>
            <a:r>
              <a:rPr lang="zh-CN" altLang="en-US" sz="2400" b="1">
                <a:solidFill>
                  <a:srgbClr val="FF0000"/>
                </a:solidFill>
                <a:latin typeface="宋体" panose="02010600030101010101" pitchFamily="2" charset="-122"/>
                <a:ea typeface="宋体" panose="02010600030101010101" pitchFamily="2" charset="-122"/>
                <a:cs typeface="+mn-ea"/>
              </a:rPr>
              <a:t>⑤</a:t>
            </a:r>
            <a:r>
              <a:rPr lang="zh-CN" altLang="en-US" sz="2400" b="1">
                <a:solidFill>
                  <a:srgbClr val="FF0000"/>
                </a:solidFill>
                <a:latin typeface="+mn-ea"/>
                <a:cs typeface="+mn-ea"/>
              </a:rPr>
              <a:t>有些懂韩语的精通英语。</a:t>
            </a:r>
            <a:endParaRPr lang="zh-CN" altLang="en-US" sz="2400" b="1">
              <a:latin typeface="+mn-ea"/>
              <a:cs typeface="+mn-ea"/>
            </a:endParaRPr>
          </a:p>
          <a:p>
            <a:r>
              <a:rPr lang="zh-CN" altLang="en-US" sz="2400" b="1">
                <a:latin typeface="+mn-ea"/>
                <a:cs typeface="+mn-ea"/>
              </a:rPr>
              <a:t>如果以上陈述为真，以下</a:t>
            </a:r>
            <a:r>
              <a:rPr lang="zh-CN" altLang="en-US" sz="2400" b="1">
                <a:solidFill>
                  <a:srgbClr val="00B050"/>
                </a:solidFill>
                <a:latin typeface="+mn-ea"/>
                <a:cs typeface="+mn-ea"/>
              </a:rPr>
              <a:t>除哪项外</a:t>
            </a:r>
            <a:r>
              <a:rPr lang="zh-CN" altLang="en-US" sz="2400" b="1">
                <a:latin typeface="+mn-ea"/>
                <a:cs typeface="+mn-ea"/>
              </a:rPr>
              <a:t>也一定为真？</a:t>
            </a:r>
            <a:endParaRPr lang="zh-CN" altLang="en-US" sz="2400" b="1">
              <a:latin typeface="+mn-ea"/>
              <a:cs typeface="+mn-ea"/>
            </a:endParaRPr>
          </a:p>
          <a:p>
            <a:r>
              <a:rPr lang="zh-CN" altLang="en-US" sz="2400" b="1">
                <a:latin typeface="+mn-ea"/>
                <a:cs typeface="+mn-ea"/>
              </a:rPr>
              <a:t>A.有些懂韩语的员工不精通印尼语     B.有些懂印尼语的不精通西班牙语</a:t>
            </a:r>
            <a:endParaRPr lang="zh-CN" altLang="en-US" sz="2400" b="1">
              <a:latin typeface="+mn-ea"/>
              <a:cs typeface="+mn-ea"/>
            </a:endParaRPr>
          </a:p>
          <a:p>
            <a:r>
              <a:rPr lang="zh-CN" altLang="en-US" sz="2400" b="1">
                <a:latin typeface="+mn-ea"/>
                <a:cs typeface="+mn-ea"/>
              </a:rPr>
              <a:t>C.有些懂韩语的员工不精通英语        D.有些懂英语的不精通韩语</a:t>
            </a:r>
            <a:endParaRPr lang="zh-CN" altLang="en-US" sz="2400" b="1">
              <a:latin typeface="+mn-ea"/>
              <a:cs typeface="+mn-ea"/>
            </a:endParaRPr>
          </a:p>
          <a:p>
            <a:r>
              <a:rPr lang="zh-CN" altLang="en-US" sz="2400" b="1">
                <a:latin typeface="+mn-ea"/>
                <a:cs typeface="+mn-ea"/>
              </a:rPr>
              <a:t>分析：根据</a:t>
            </a:r>
            <a:r>
              <a:rPr sz="2400" b="1">
                <a:solidFill>
                  <a:srgbClr val="FF0000"/>
                </a:solidFill>
                <a:latin typeface="宋体" panose="02010600030101010101" pitchFamily="2" charset="-122"/>
                <a:ea typeface="宋体" panose="02010600030101010101" pitchFamily="2" charset="-122"/>
                <a:cs typeface="+mn-ea"/>
                <a:sym typeface="+mn-ea"/>
              </a:rPr>
              <a:t>①⑤</a:t>
            </a:r>
            <a:r>
              <a:rPr sz="2400" b="1">
                <a:solidFill>
                  <a:srgbClr val="FF0000"/>
                </a:solidFill>
                <a:latin typeface="+mn-ea"/>
                <a:cs typeface="+mn-ea"/>
                <a:sym typeface="+mn-ea"/>
              </a:rPr>
              <a:t>可知</a:t>
            </a:r>
            <a:r>
              <a:rPr lang="en-US" altLang="zh-CN" sz="2400" b="1">
                <a:solidFill>
                  <a:srgbClr val="FF0000"/>
                </a:solidFill>
                <a:latin typeface="+mn-ea"/>
                <a:cs typeface="+mn-ea"/>
                <a:sym typeface="+mn-ea"/>
              </a:rPr>
              <a:t>A</a:t>
            </a:r>
            <a:r>
              <a:rPr sz="2400" b="1">
                <a:solidFill>
                  <a:srgbClr val="FF0000"/>
                </a:solidFill>
                <a:latin typeface="+mn-ea"/>
                <a:cs typeface="+mn-ea"/>
                <a:sym typeface="+mn-ea"/>
              </a:rPr>
              <a:t>项正确。根据</a:t>
            </a:r>
            <a:r>
              <a:rPr sz="2400" b="1">
                <a:solidFill>
                  <a:srgbClr val="FF0000"/>
                </a:solidFill>
                <a:latin typeface="宋体" panose="02010600030101010101" pitchFamily="2" charset="-122"/>
                <a:ea typeface="宋体" panose="02010600030101010101" pitchFamily="2" charset="-122"/>
                <a:cs typeface="+mn-ea"/>
                <a:sym typeface="+mn-ea"/>
              </a:rPr>
              <a:t>④可知：</a:t>
            </a:r>
            <a:r>
              <a:rPr sz="2400" b="1">
                <a:latin typeface="+mn-ea"/>
                <a:cs typeface="+mn-ea"/>
                <a:sym typeface="+mn-ea"/>
              </a:rPr>
              <a:t>有些懂韩语的精通西班牙语，</a:t>
            </a:r>
            <a:r>
              <a:rPr sz="2400" b="1">
                <a:solidFill>
                  <a:srgbClr val="7030A0"/>
                </a:solidFill>
                <a:latin typeface="+mn-ea"/>
                <a:cs typeface="+mn-ea"/>
                <a:sym typeface="Symbol" panose="05050102010706020507" charset="0"/>
              </a:rPr>
              <a:t>由</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有些是</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推不出</a:t>
            </a:r>
            <a:r>
              <a:rPr lang="en-US" altLang="zh-CN" sz="2400" b="1">
                <a:solidFill>
                  <a:srgbClr val="7030A0"/>
                </a:solidFill>
                <a:latin typeface="+mn-ea"/>
                <a:cs typeface="+mn-ea"/>
                <a:sym typeface="Symbol" panose="05050102010706020507" charset="0"/>
              </a:rPr>
              <a:t>“</a:t>
            </a:r>
            <a:r>
              <a:rPr sz="2400" b="1">
                <a:solidFill>
                  <a:srgbClr val="7030A0"/>
                </a:solidFill>
                <a:latin typeface="+mn-ea"/>
                <a:cs typeface="+mn-ea"/>
                <a:sym typeface="Symbol" panose="05050102010706020507" charset="0"/>
              </a:rPr>
              <a:t>有些不</a:t>
            </a:r>
            <a:r>
              <a:rPr lang="en-US" altLang="zh-CN" sz="2400" b="1">
                <a:solidFill>
                  <a:srgbClr val="7030A0"/>
                </a:solidFill>
                <a:latin typeface="+mn-ea"/>
                <a:cs typeface="+mn-ea"/>
                <a:sym typeface="Symbol" panose="05050102010706020507" charset="0"/>
              </a:rPr>
              <a:t>”</a:t>
            </a:r>
            <a:r>
              <a:rPr sz="2400" b="1">
                <a:solidFill>
                  <a:schemeClr val="tx1"/>
                </a:solidFill>
                <a:latin typeface="+mn-ea"/>
                <a:cs typeface="+mn-ea"/>
                <a:sym typeface="Symbol" panose="05050102010706020507" charset="0"/>
              </a:rPr>
              <a:t>，故</a:t>
            </a:r>
            <a:r>
              <a:rPr lang="en-US" altLang="zh-CN" sz="2400" b="1">
                <a:solidFill>
                  <a:schemeClr val="tx1"/>
                </a:solidFill>
                <a:latin typeface="+mn-ea"/>
                <a:cs typeface="+mn-ea"/>
                <a:sym typeface="Symbol" panose="05050102010706020507" charset="0"/>
              </a:rPr>
              <a:t>B</a:t>
            </a:r>
            <a:r>
              <a:rPr sz="2400" b="1">
                <a:solidFill>
                  <a:schemeClr val="tx1"/>
                </a:solidFill>
                <a:latin typeface="+mn-ea"/>
                <a:cs typeface="+mn-ea"/>
                <a:sym typeface="Symbol" panose="05050102010706020507" charset="0"/>
              </a:rPr>
              <a:t>项不一定真。根据</a:t>
            </a:r>
            <a:r>
              <a:rPr sz="2400" b="1">
                <a:solidFill>
                  <a:srgbClr val="FF0000"/>
                </a:solidFill>
                <a:latin typeface="+mn-ea"/>
                <a:cs typeface="+mn-ea"/>
                <a:sym typeface="+mn-ea"/>
              </a:rPr>
              <a:t>①③可知</a:t>
            </a:r>
            <a:r>
              <a:rPr lang="en-US" altLang="zh-CN" sz="2400" b="1">
                <a:solidFill>
                  <a:srgbClr val="FF0000"/>
                </a:solidFill>
                <a:latin typeface="+mn-ea"/>
                <a:cs typeface="+mn-ea"/>
                <a:sym typeface="+mn-ea"/>
              </a:rPr>
              <a:t>C</a:t>
            </a:r>
            <a:r>
              <a:rPr sz="2400" b="1">
                <a:solidFill>
                  <a:srgbClr val="FF0000"/>
                </a:solidFill>
                <a:latin typeface="+mn-ea"/>
                <a:cs typeface="+mn-ea"/>
                <a:sym typeface="+mn-ea"/>
              </a:rPr>
              <a:t>项正确。根据②④可知</a:t>
            </a:r>
            <a:r>
              <a:rPr lang="en-US" altLang="zh-CN" sz="2400" b="1">
                <a:solidFill>
                  <a:srgbClr val="FF0000"/>
                </a:solidFill>
                <a:latin typeface="+mn-ea"/>
                <a:cs typeface="+mn-ea"/>
                <a:sym typeface="+mn-ea"/>
              </a:rPr>
              <a:t>D</a:t>
            </a:r>
            <a:r>
              <a:rPr sz="2400" b="1">
                <a:solidFill>
                  <a:srgbClr val="FF0000"/>
                </a:solidFill>
                <a:latin typeface="+mn-ea"/>
                <a:cs typeface="+mn-ea"/>
                <a:sym typeface="+mn-ea"/>
              </a:rPr>
              <a:t>正确。故选</a:t>
            </a:r>
            <a:r>
              <a:rPr lang="en-US" altLang="zh-CN" sz="2400" b="1">
                <a:solidFill>
                  <a:srgbClr val="FF0000"/>
                </a:solidFill>
                <a:latin typeface="+mn-ea"/>
                <a:cs typeface="+mn-ea"/>
                <a:sym typeface="+mn-ea"/>
              </a:rPr>
              <a:t>B</a:t>
            </a:r>
            <a:endParaRPr lang="en-US" altLang="zh-CN" sz="2400" b="1">
              <a:solidFill>
                <a:srgbClr val="FF0000"/>
              </a:solidFill>
              <a:latin typeface="+mn-ea"/>
              <a:cs typeface="+mn-ea"/>
              <a:sym typeface="+mn-ea"/>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5129</Words>
  <Application>WPS 演示</Application>
  <PresentationFormat>宽屏</PresentationFormat>
  <Paragraphs>182</Paragraphs>
  <Slides>22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Arial</vt:lpstr>
      <vt:lpstr>宋体</vt:lpstr>
      <vt:lpstr>Wingdings</vt:lpstr>
      <vt:lpstr>微软雅黑</vt:lpstr>
      <vt:lpstr>Times New Roman</vt:lpstr>
      <vt:lpstr>Symbol</vt:lpstr>
      <vt:lpstr>Arial Unicode MS</vt:lpstr>
      <vt:lpstr>Office 主题​​</vt:lpstr>
      <vt:lpstr>公务员考试中的逻辑学</vt:lpstr>
      <vt:lpstr>PowerPoint 演示文稿</vt:lpstr>
      <vt:lpstr>作业2分析</vt:lpstr>
      <vt:lpstr>PowerPoint 演示文稿</vt:lpstr>
      <vt:lpstr>一、直接推理</vt:lpstr>
      <vt:lpstr>真题122</vt:lpstr>
      <vt:lpstr>PowerPoint 演示文稿</vt:lpstr>
      <vt:lpstr>PowerPoint 演示文稿</vt:lpstr>
      <vt:lpstr>PowerPoint 演示文稿</vt:lpstr>
      <vt:lpstr>2.命题变形直接推理</vt:lpstr>
      <vt:lpstr>真题124</vt:lpstr>
      <vt:lpstr>PowerPoint 演示文稿</vt:lpstr>
      <vt:lpstr>二、三段论推理</vt:lpstr>
      <vt:lpstr>PowerPoint 演示文稿</vt:lpstr>
      <vt:lpstr>真题126</vt:lpstr>
      <vt:lpstr>PowerPoint 演示文稿</vt:lpstr>
      <vt:lpstr>作业1</vt:lpstr>
      <vt:lpstr>PowerPoint 演示文稿</vt:lpstr>
      <vt:lpstr>作业2</vt:lpstr>
      <vt:lpstr>PowerPoint 演示文稿</vt:lpstr>
      <vt:lpstr>作业3</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47</cp:revision>
  <dcterms:created xsi:type="dcterms:W3CDTF">2019-06-19T02:08:00Z</dcterms:created>
  <dcterms:modified xsi:type="dcterms:W3CDTF">2020-05-09T01:29:42Z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2052-11.1.0.9662</vt:lpwstr>
  </property>
</Properties>
</file>